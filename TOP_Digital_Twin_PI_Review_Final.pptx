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65" d="100"/>
          <a:sy n="65" d="100"/>
        </p:scale>
        <p:origin x="150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3655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a:t>
            </a:r>
          </a:p>
          <a:p>
            <a:r>
              <a:rPr dirty="0"/>
              <a:t>SLIDE 1 — TITLE  |  Suggested time: 2 minutes</a:t>
            </a:r>
          </a:p>
          <a:p>
            <a:r>
              <a:rPr dirty="0"/>
              <a:t>━━━━━━━━━━━━━━━━━━━━━━━━━━━━━━━━━━━━━━━━━━━━━━━━━</a:t>
            </a:r>
          </a:p>
          <a:p>
            <a:endParaRPr dirty="0"/>
          </a:p>
          <a:p>
            <a:r>
              <a:rPr dirty="0"/>
              <a:t>EXACT OPENING LINE (</a:t>
            </a:r>
            <a:r>
              <a:rPr dirty="0" err="1"/>
              <a:t>memorise</a:t>
            </a:r>
            <a:r>
              <a:rPr dirty="0"/>
              <a:t> this):</a:t>
            </a:r>
          </a:p>
          <a:p>
            <a:r>
              <a:rPr dirty="0"/>
              <a:t>"Good morning/afternoon. Thank you for making time. What I am about to present is a progress update on the TOP Digital Twin — a price-forecasting system for India's tomato, onion, and potato APMC markets. This is funded under HADP-04 at SKUAST-K, and our target is a Q1 journal submission."</a:t>
            </a:r>
          </a:p>
          <a:p>
            <a:endParaRPr dirty="0"/>
          </a:p>
          <a:p>
            <a:r>
              <a:rPr dirty="0"/>
              <a:t>THEN POINT TO EACH STAT AND SAY:</a:t>
            </a:r>
          </a:p>
          <a:p>
            <a:r>
              <a:rPr dirty="0"/>
              <a:t>→ "We have assembled 470 weeks of data — that is nine years, from January 2017 to December 2025."</a:t>
            </a:r>
          </a:p>
          <a:p>
            <a:r>
              <a:rPr dirty="0"/>
              <a:t>→ "We are modelling 2,495 APMC markets — not just a handful of strategic APMCs, but essentially the entire qualifying universe of Indian markets for these three crops."</a:t>
            </a:r>
          </a:p>
          <a:p>
            <a:r>
              <a:rPr dirty="0"/>
              <a:t>→ "We have built 16 Python scripts that process everything from raw </a:t>
            </a:r>
            <a:r>
              <a:rPr dirty="0" err="1"/>
              <a:t>Agmarknet</a:t>
            </a:r>
            <a:r>
              <a:rPr dirty="0"/>
              <a:t> data to trained forecasting models."</a:t>
            </a:r>
          </a:p>
          <a:p>
            <a:endParaRPr dirty="0"/>
          </a:p>
          <a:p>
            <a:r>
              <a:rPr dirty="0"/>
              <a:t>KEY MESSAGE FOR THE OPENING:</a:t>
            </a:r>
          </a:p>
          <a:p>
            <a:r>
              <a:rPr dirty="0"/>
              <a:t>"This is not a preliminary study. The data infrastructure is largely complete. The models are running. What this presentation covers is where we are, what we have found, and what the three or four remaining actions are before we can submit."</a:t>
            </a:r>
          </a:p>
          <a:p>
            <a:endParaRPr dirty="0"/>
          </a:p>
          <a:p>
            <a:r>
              <a:rPr dirty="0"/>
              <a:t>CLOSE THE TITLE SLIDE WITH:</a:t>
            </a:r>
          </a:p>
          <a:p>
            <a:r>
              <a:rPr dirty="0"/>
              <a:t>"Let me start with why we are do</a:t>
            </a:r>
            <a:r>
              <a:rPr lang="en-US" dirty="0"/>
              <a:t>i</a:t>
            </a:r>
            <a:r>
              <a:rPr dirty="0"/>
              <a:t>ng this."</a:t>
            </a:r>
          </a:p>
          <a:p>
            <a:endParaRPr dirty="0"/>
          </a:p>
          <a:p>
            <a:r>
              <a:rPr dirty="0"/>
              <a:t>━━━━━━━━━━━━━━━━━━━━━━━</a:t>
            </a:r>
          </a:p>
          <a:p>
            <a:r>
              <a:rPr dirty="0"/>
              <a:t>NUMBERS TO KNOW:</a:t>
            </a:r>
          </a:p>
          <a:p>
            <a:r>
              <a:rPr dirty="0"/>
              <a:t>• 470 weeks = 9 years (Jan 2017 – Dec 2025)</a:t>
            </a:r>
          </a:p>
          <a:p>
            <a:r>
              <a:rPr dirty="0"/>
              <a:t>• 2,495 markets (1,567 tomato + 843 onion + 85 potato)</a:t>
            </a:r>
          </a:p>
          <a:p>
            <a:r>
              <a:rPr dirty="0"/>
              <a:t>• 16 Python scripts + 5 GEE JavaScript scripts = 21 scripts total</a:t>
            </a:r>
          </a:p>
          <a:p>
            <a:r>
              <a:rPr dirty="0"/>
              <a:t>• 29 paper-ready figures already generated</a:t>
            </a:r>
          </a:p>
          <a:p>
            <a:r>
              <a:rPr dirty="0"/>
              <a:t>• Target: Computers and Electronics in Agriculture (IF ~8.1, Q1)</a:t>
            </a:r>
          </a:p>
          <a:p>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2 — RESEARCH PROBLEM  |  Suggested time: 3–4 minutes</a:t>
            </a:r>
          </a:p>
          <a:p>
            <a:r>
              <a:t>━━━━━━━━━━━━━━━━━━━━━━━━━━━━━━━━━━━━━━━━━━━━━━━━━</a:t>
            </a:r>
          </a:p>
          <a:p>
            <a:endParaRPr/>
          </a:p>
          <a:p>
            <a:r>
              <a:t>OPENING LINE:</a:t>
            </a:r>
          </a:p>
          <a:p>
            <a:r>
              <a:t>"Tomato, onion, and potato — we call them TOP crops — account for roughly 27% of India's total vegetable production. But they are responsible for a disproportionate share of food inflation episodes and farm distress. The reason is price volatility, and it is severe."</a:t>
            </a:r>
          </a:p>
          <a:p>
            <a:endParaRPr/>
          </a:p>
          <a:p>
            <a:r>
              <a:t>WALK THROUGH THE LEFT COLUMN (Problems) — say each one:</a:t>
            </a:r>
          </a:p>
          <a:p>
            <a:endParaRPr/>
          </a:p>
          <a:p>
            <a:r>
              <a:t>→ VOLATILITY FACT: "Tomato prices in India can swing by 400% within a single growing season. ₹2 per kg at harvest peak, ₹120 per kg four months later when supply runs out. This is not unusual — it happens almost every year."</a:t>
            </a:r>
          </a:p>
          <a:p>
            <a:endParaRPr/>
          </a:p>
          <a:p>
            <a:r>
              <a:t>→ 2019 ONION CRISIS: "In 2019, onion retail prices touched ₹150 to ₹200 per kg in many cities. The government had to ban exports and deploy NAFED buffer stocks. But the response came after the crisis was already visible in retail prices — there was no early warning system."</a:t>
            </a:r>
          </a:p>
          <a:p>
            <a:endParaRPr/>
          </a:p>
          <a:p>
            <a:r>
              <a:t>→ 2023 TOMATO SPIKE: "Just two years ago, tomato prices crossed ₹250 per kg in Delhi and Mumbai. The spike originated in Kolar district in Karnataka — excess rainfall damaged the standing crop, and within two weeks it had rippled through every major market in the country. Again — reactive management, no prediction."</a:t>
            </a:r>
          </a:p>
          <a:p>
            <a:endParaRPr/>
          </a:p>
          <a:p>
            <a:r>
              <a:t>→ COVID 2020: "In 2020, we saw the opposite problem. Farm gate prices crashed because supply chains broke down, but retail prices stayed high because traders were hoarding. The gap between farm and retail price exceeded ₹50 per kg in some cases. A market integration model would have flagged this divergence early."</a:t>
            </a:r>
          </a:p>
          <a:p>
            <a:endParaRPr/>
          </a:p>
          <a:p>
            <a:r>
              <a:t>WALK THROUGH THE RIGHT COLUMN (Our Answer):</a:t>
            </a:r>
          </a:p>
          <a:p>
            <a:endParaRPr/>
          </a:p>
          <a:p>
            <a:r>
              <a:t>→ "What we are building is the first system that integrates all three signals simultaneously: what is happening in the fields right now (satellite vegetation), what the weather has done to crops over the past 8 weeks (climate stress), and how that translates into market prices across 2,495 APMC yards."</a:t>
            </a:r>
          </a:p>
          <a:p>
            <a:endParaRPr/>
          </a:p>
          <a:p>
            <a:r>
              <a:t>→ "The gap we fill is this: existing models use either market data alone, or a single weather variable, or a macro-economic index. No published study for India has combined satellite supply intelligence, gridded climate risk, and market price dynamics in one forecasting framework — certainly not at weekly resolution across the full APMC network."</a:t>
            </a:r>
          </a:p>
          <a:p>
            <a:endParaRPr/>
          </a:p>
          <a:p>
            <a:r>
              <a:t>KEY POINT TO EMPHASISE:</a:t>
            </a:r>
          </a:p>
          <a:p>
            <a:r>
              <a:t>"The three crisis events on this slide — 2019 onion, 2023 tomato, COVID 2020 — are not just motivation. They are our crisis validation dataset. We will backtest our trained model against all three and show whether it would have predicted the spike 4 to 8 weeks before it appeared in retail prices."</a:t>
            </a:r>
          </a:p>
          <a:p>
            <a:endParaRPr/>
          </a:p>
          <a:p>
            <a:r>
              <a:t>TRANSITION:</a:t>
            </a:r>
          </a:p>
          <a:p>
            <a:r>
              <a:t>"Let me show you the architecture of what we have built."</a:t>
            </a:r>
          </a:p>
          <a:p>
            <a:endParaRPr/>
          </a:p>
          <a:p>
            <a:r>
              <a:t>━━━━━━━━━━━━━━━━━━━━━━━</a:t>
            </a:r>
          </a:p>
          <a:p>
            <a:r>
              <a:t>IF THE PI ASKS: "Why TOP crops specifically?"</a:t>
            </a:r>
          </a:p>
          <a:p>
            <a:r>
              <a:t>ANSWER: "They are the three highest-traded perishable vegetables by APMC arrivals volume. They are also the three crops that feature most frequently in food inflation tracking by the Ministry of Finance and RBI. Data availability is also strong — Agmarknet has comprehensive daily records for these crops going back to 2012. We chose 2017 as our start because the GST transition in 2017 caused structural breaks in trade volumes, so we wanted a post-GST panel."</a:t>
            </a:r>
          </a:p>
          <a:p>
            <a:endParaRPr/>
          </a:p>
          <a:p>
            <a:r>
              <a:t>IF THE PI ASKS: "Why not onion alone? There is a lot of literature on onion."</a:t>
            </a:r>
          </a:p>
          <a:p>
            <a:r>
              <a:t>ANSWER: "By including all three crops in a single framework, we can compare the contribution of satellite and climate features across crops with very different phenology, production geographies, and price dynamics. This comparative ablation is a much stronger scientific contribution than a single-crop study."</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3 — PROJECT ARCHITECTURE  |  Suggested time: 3 minutes</a:t>
            </a:r>
          </a:p>
          <a:p>
            <a:r>
              <a:t>━━━━━━━━━━━━━━━━━━━━━━━━━━━━━━━━━━━━━━━━━━━━━━━━━</a:t>
            </a:r>
          </a:p>
          <a:p>
            <a:endParaRPr/>
          </a:p>
          <a:p>
            <a:r>
              <a:t>OPENING LINE:</a:t>
            </a:r>
          </a:p>
          <a:p>
            <a:r>
              <a:t>"The project is organised as six data layers that feed four analytical modules. Let me walk through both sides."</a:t>
            </a:r>
          </a:p>
          <a:p>
            <a:endParaRPr/>
          </a:p>
          <a:p>
            <a:r>
              <a:t>LEFT SIDE — SIX DATA LAYERS (point to each):</a:t>
            </a:r>
          </a:p>
          <a:p>
            <a:endParaRPr/>
          </a:p>
          <a:p>
            <a:r>
              <a:t>→ L1 (GREEN — DONE): "Layer 1 is the market price panel from Agmarknet. This is our primary outcome variable — the weekly modal price at each APMC. 2,495 markets, 470 weeks. Complete."</a:t>
            </a:r>
          </a:p>
          <a:p>
            <a:endParaRPr/>
          </a:p>
          <a:p>
            <a:r>
              <a:t>→ L2 (GREEN — DONE*): "Layer 2 is satellite vegetation — we extract NDVI and EVI from Sentinel-2 and MODIS over 17 agricultural production zones. Complete for 2017 to 2024. The 2025 extension — which takes about two hours to run — is the first item in our action plan."</a:t>
            </a:r>
          </a:p>
          <a:p>
            <a:endParaRPr/>
          </a:p>
          <a:p>
            <a:r>
              <a:t>→ L3 (GREEN — DONE*): "Layer 3 is climate stress — daily temperature extremes from ERA5 and rainfall from CHIRPS over the same 17 zones. Same status: 2017 to 2024 complete, 2025 pending."</a:t>
            </a:r>
          </a:p>
          <a:p>
            <a:endParaRPr/>
          </a:p>
          <a:p>
            <a:r>
              <a:t>→ L4 (GREEN — DONE): "Layer 4 is macro-logistics — fuel prices, repo rate, commodity-specific WPI, and exchange rate. All 108 months fully compiled. Complete."</a:t>
            </a:r>
          </a:p>
          <a:p>
            <a:endParaRPr/>
          </a:p>
          <a:p>
            <a:r>
              <a:t>→ L5 (AMBER — PENDING): "Layer 5 is infrastructure — cold storage capacity, road connectivity, rural wages. We have identified the data sources. This is a 2 to 3 week collection task."</a:t>
            </a:r>
          </a:p>
          <a:p>
            <a:endParaRPr/>
          </a:p>
          <a:p>
            <a:r>
              <a:t>→ L6 (RED — PENDING): "Layer 6 is policy and trade — export ban dates, minimum export prices, NAFED interventions. We have sent formal data request letters to NAFED and IMD. We are also compiling the public record from APEDA circulars."</a:t>
            </a:r>
          </a:p>
          <a:p>
            <a:endParaRPr/>
          </a:p>
          <a:p>
            <a:r>
              <a:t>RIGHT SIDE — FOUR MODULES:</a:t>
            </a:r>
          </a:p>
          <a:p>
            <a:endParaRPr/>
          </a:p>
          <a:p>
            <a:r>
              <a:t>→ Module A (RUNNING): "Module A converts the satellite and climate data into a weekly supply-risk score per crop. This feeds into Module B as a feature."</a:t>
            </a:r>
          </a:p>
          <a:p>
            <a:endParaRPr/>
          </a:p>
          <a:p>
            <a:r>
              <a:t>→ Module B (RUNNING): "Module B is the core forecasting engine — LightGBM models, 4 forecast horizons, 4-fold rolling-origin cross-validation. Running now."</a:t>
            </a:r>
          </a:p>
          <a:p>
            <a:endParaRPr/>
          </a:p>
          <a:p>
            <a:r>
              <a:t>→ Module C (PLANNED): "Module C is market network analysis — we will use Granger causality to identify which markets lead price movements. If Lasalgaon moves first, does the rest of India follow within 1 week or 2?"</a:t>
            </a:r>
          </a:p>
          <a:p>
            <a:endParaRPr/>
          </a:p>
          <a:p>
            <a:r>
              <a:t>→ Module D (PLANNED): "Module D is scenario stress testing — we run hypothetical scenarios through the trained model. What happens if there is an export ban on onion today? What happens if Karnataka receives 3 consecutive weeks of excess rainfall?"</a:t>
            </a:r>
          </a:p>
          <a:p>
            <a:endParaRPr/>
          </a:p>
          <a:p>
            <a:r>
              <a:t>KEY MESSAGE:</a:t>
            </a:r>
          </a:p>
          <a:p>
            <a:r>
              <a:t>"Four of the six layers are data-complete. The two analytical modules that matter most for the paper — Module A and B — are operational. The remaining two modules are designed and will be built once the data layers are complete."</a:t>
            </a:r>
          </a:p>
          <a:p>
            <a:endParaRPr/>
          </a:p>
          <a:p>
            <a:r>
              <a:t>TRANSITION:</a:t>
            </a:r>
          </a:p>
          <a:p>
            <a:r>
              <a:t>"Let me explain the study design before going deeper into each layer."</a:t>
            </a:r>
          </a:p>
          <a:p>
            <a:endParaRPr/>
          </a:p>
          <a:p>
            <a:r>
              <a:t>━━━━━━━━━━━━━━━━━━━━━━━</a:t>
            </a:r>
          </a:p>
          <a:p>
            <a:r>
              <a:t>IF THE PI ASKS: "Is Module C essential for the paper?"</a:t>
            </a:r>
          </a:p>
          <a:p>
            <a:r>
              <a:t>ANSWER: "Module C adds significant value but is not the paper's primary contribution. The ablation study in Module B is the centrepiece. Module C will be framed as a secondary finding — market integration analysis — which many reviewers in this space will appreciate. If time pressure requires prioritisation, Module C can become a separate publication."</a:t>
            </a:r>
          </a:p>
          <a:p>
            <a:endParaRPr/>
          </a:p>
          <a:p>
            <a:r>
              <a:t>IF THE PI ASKS: "How long will Module D take to build?"</a:t>
            </a:r>
          </a:p>
          <a:p>
            <a:r>
              <a:t>ANSWER: "Module D is approximately 3 weeks of coding once the baseline Module B model is finalised. The scenarios are well-defined — export ban, climate shock, fuel price shock, storage collapse. The stress test runs the same model with perturbed inputs."</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4 — STUDY DESIGN  |  Suggested time: 3–4 minutes</a:t>
            </a:r>
          </a:p>
          <a:p>
            <a:r>
              <a:t>━━━━━━━━━━━━━━━━━━━━━━━━━━━━━━━━━━━━━━━━━━━━━━━━━</a:t>
            </a:r>
          </a:p>
          <a:p>
            <a:endParaRPr/>
          </a:p>
          <a:p>
            <a:r>
              <a:t>OPENING LINE:</a:t>
            </a:r>
          </a:p>
          <a:p>
            <a:r>
              <a:t>"The study covers nine full years — January 2017 to December 2025 — expressed as 470 ISO weeks. Let me explain why these design choices matter."</a:t>
            </a:r>
          </a:p>
          <a:p>
            <a:endParaRPr/>
          </a:p>
          <a:p>
            <a:r>
              <a:t>EXPLAIN EACH STAT PILL:</a:t>
            </a:r>
          </a:p>
          <a:p>
            <a:endParaRPr/>
          </a:p>
          <a:p>
            <a:r>
              <a:t>→ "Nine years, 470 weeks — this is long enough to capture multiple crop cycles, three commodity price crises, the COVID disruption, and multiple policy interventions. It also gives us sufficient training data for machine learning."</a:t>
            </a:r>
          </a:p>
          <a:p>
            <a:endParaRPr/>
          </a:p>
          <a:p>
            <a:r>
              <a:t>→ "Three crops — but each crop has its own independent panel. We do not mix tomato and onion in the same model. Each crop gets its own set of zone definitions, satellite features, and model."</a:t>
            </a:r>
          </a:p>
          <a:p>
            <a:endParaRPr/>
          </a:p>
          <a:p>
            <a:r>
              <a:t>→ "2,495 qualifying markets — I will explain the qualification criterion in a moment. The short answer is: markets with at least 90% of weeks having reported prices."</a:t>
            </a:r>
          </a:p>
          <a:p>
            <a:endParaRPr/>
          </a:p>
          <a:p>
            <a:r>
              <a:t>→ "Four-fold rolling-origin cross-validation — this is the gold standard for time-series model evaluation. Let me explain the diagram."</a:t>
            </a:r>
          </a:p>
          <a:p>
            <a:endParaRPr/>
          </a:p>
          <a:p>
            <a:r>
              <a:t>EXPLAIN THE CV DIAGRAM (very important — PI will focus here):</a:t>
            </a:r>
          </a:p>
          <a:p>
            <a:r>
              <a:t>"In rolling-origin CV, the training set grows with each fold but we never let the model see future data. Here is how it works:</a:t>
            </a:r>
          </a:p>
          <a:p>
            <a:r>
              <a:t>- Fold 1: Train on 2017 to 2021, test on 2022</a:t>
            </a:r>
          </a:p>
          <a:p>
            <a:r>
              <a:t>- Fold 2: Train on 2017 to 2022, test on 2023</a:t>
            </a:r>
          </a:p>
          <a:p>
            <a:r>
              <a:t>- Fold 3: Train on 2017 to 2023, test on 2024</a:t>
            </a:r>
          </a:p>
          <a:p>
            <a:r>
              <a:t>- Fold 4: Train on 2017 to 2024, test on 2025</a:t>
            </a:r>
          </a:p>
          <a:p>
            <a:endParaRPr/>
          </a:p>
          <a:p>
            <a:r>
              <a:t>This means our performance numbers come from four completely unseen test years — including 2022 (post-COVID recovery), 2023 (the tomato spike year), 2024, and 2025. These are the most honest out-of-sample performance estimates possible for a time-series model."</a:t>
            </a:r>
          </a:p>
          <a:p>
            <a:endParaRPr/>
          </a:p>
          <a:p>
            <a:r>
              <a:t>EXPLAIN THE KEY DESIGN DECISIONS:</a:t>
            </a:r>
          </a:p>
          <a:p>
            <a:r>
              <a:t>→ "We chose weekly granularity deliberately. At daily resolution, the price autocorrelation dominates — lag-1 correlation is about 0.97 for most markets. That means the model just learns to predict 'tomorrow will be similar to today.' At weekly resolution, that autocorrelation drops to about 0.82, which gives satellite and climate features room to contribute meaningful predictive signal."</a:t>
            </a:r>
          </a:p>
          <a:p>
            <a:endParaRPr/>
          </a:p>
          <a:p>
            <a:r>
              <a:t>→ "We use log-price as the modelling target. Agricultural prices in India are extremely right-skewed — occasional ₹200 tomato spikes pull the distribution far to the right. Taking the log makes the distribution more normal, improves model fit, and stabilises variance."</a:t>
            </a:r>
          </a:p>
          <a:p>
            <a:endParaRPr/>
          </a:p>
          <a:p>
            <a:r>
              <a:t>→ "We retained the full panel of 2,495 markets rather than the PI Brief's suggested 20 to 30 strategic APMCs. I will show the evidence for this decision on the next slide."</a:t>
            </a:r>
          </a:p>
          <a:p>
            <a:endParaRPr/>
          </a:p>
          <a:p>
            <a:r>
              <a:t>TRANSITION:</a:t>
            </a:r>
          </a:p>
          <a:p>
            <a:r>
              <a:t>"Let me walk you through each data layer, starting with the market price panel."</a:t>
            </a:r>
          </a:p>
          <a:p>
            <a:endParaRPr/>
          </a:p>
          <a:p>
            <a:r>
              <a:t>━━━━━━━━━━━━━━━━━━━━━━━</a:t>
            </a:r>
          </a:p>
          <a:p>
            <a:r>
              <a:t>IF THE PI ASKS: "Why not daily forecasting?"</a:t>
            </a:r>
          </a:p>
          <a:p>
            <a:r>
              <a:t>ANSWER: "Three reasons. First, satellite revisit cycles are 8 to 16 days — finer than weekly is meaningless for satellite features. Second, Agmarknet data has many days with no price reported because markets close on Sundays and public holidays — a weekly panel removes this irregularity. Third, policymakers and traders make decisions on a weekly to monthly horizon, not daily. Our 4-fold CV with 1, 2, 4 and 8 week horizons matches the actual decision cycle."</a:t>
            </a:r>
          </a:p>
          <a:p>
            <a:endParaRPr/>
          </a:p>
          <a:p>
            <a:r>
              <a:t>IF THE PI ASKS: "Why 2017 as start date?"</a:t>
            </a:r>
          </a:p>
          <a:p>
            <a:r>
              <a:t>ANSWER: "GST was implemented in July 2017, which caused significant structural changes in APMC operations and tax treatment. We chose January 2017 to have a clean pre-GST quarter and a full post-GST panel. Also, Sentinel-2 coverage for India became reliable from 2017 onward."</a:t>
            </a:r>
          </a:p>
          <a:p>
            <a:endParaRPr/>
          </a:p>
          <a:p>
            <a:r>
              <a:t>IF THE PI ASKS: "Why only 90% coverage threshold?"</a:t>
            </a:r>
          </a:p>
          <a:p>
            <a:r>
              <a:t>ANSWER: "A market that reports prices in at least 423 of the 470 weeks has, at most, 47 missing weeks. Our three-tier imputation can handle up to 8 consecutive missing weeks reliably. A 90% threshold is standard in the agricultural panel data literature and balances coverage against data quality. We document all imputed values in the supplementary material."</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5 — LAYER 1: AGMARKNET PANEL  |  Suggested time: 3 minutes</a:t>
            </a:r>
          </a:p>
          <a:p>
            <a:r>
              <a:t>━━━━━━━━━━━━━━━━━━━━━━━━━━━━━━━━━━━━━━━━━━━━━━━━━</a:t>
            </a:r>
          </a:p>
          <a:p>
            <a:endParaRPr/>
          </a:p>
          <a:p>
            <a:r>
              <a:t>OPENING LINE:</a:t>
            </a:r>
          </a:p>
          <a:p>
            <a:r>
              <a:t>"The foundation of everything is the Agmarknet weekly price panel. Let me walk through the five-step pipeline."</a:t>
            </a:r>
          </a:p>
          <a:p>
            <a:endParaRPr/>
          </a:p>
          <a:p>
            <a:r>
              <a:t>WALK THROUGH EACH STEP (point to the boxes):</a:t>
            </a:r>
          </a:p>
          <a:p>
            <a:endParaRPr/>
          </a:p>
          <a:p>
            <a:r>
              <a:t>→ STEP 1 — Raw Input: "We download daily modal price data from Agmarknet's public portal — separately for tomato, onion, and potato. Modal price is the most commonly traded price at an APMC on a given day. This is the standard price measure used in Indian agricultural policy literature."</a:t>
            </a:r>
          </a:p>
          <a:p>
            <a:endParaRPr/>
          </a:p>
          <a:p>
            <a:r>
              <a:t>→ STEP 2 — Weekly Aggregation: "We aggregate daily observations to ISO weeks — Monday to Sunday. This removes day-of-week effects and aligns with the satellite data cadence."</a:t>
            </a:r>
          </a:p>
          <a:p>
            <a:endParaRPr/>
          </a:p>
          <a:p>
            <a:r>
              <a:t>→ STEP 3 — Complete Grid: "This step is critical and often overlooked in studies. Before any imputation, we create a row for every market and every week — 2,495 markets multiplied by 470 weeks. This makes the gaps explicit. If a market did not report in a week, we see it as a missing row, not as an absent data point."</a:t>
            </a:r>
          </a:p>
          <a:p>
            <a:endParaRPr/>
          </a:p>
          <a:p>
            <a:r>
              <a:t>→ STEP 4 — Three-Tier Imputation: "This is our methodological innovation at the data engineering level. We match the imputation method to the severity of the gap:</a:t>
            </a:r>
          </a:p>
          <a:p>
            <a:r>
              <a:t>  - For short gaps of 1 to 2 weeks: linear interpolation. If a market reported ₹30 in Week 5 and ₹36 in Week 8, we fill Weeks 6 and 7 as ₹32 and ₹34. This is valid when the gap is caused by a brief reporting failure.</a:t>
            </a:r>
          </a:p>
          <a:p>
            <a:r>
              <a:t>  - For medium gaps of 3 to 8 weeks: seasonal median. We look at the same ISO week across the preceding and following two years and take the median. This is important because many APMCs have seasonal gaps — they close during off-season months. A linear fill between pre-season and post-season prices would be misleading.</a:t>
            </a:r>
          </a:p>
          <a:p>
            <a:r>
              <a:t>  - For long gaps exceeding 8 weeks: we retain the NaN. We do not impute. We disclose these as data gaps in the paper. Markets with too many such gaps fail the 90% coverage threshold and are excluded from modelling."</a:t>
            </a:r>
          </a:p>
          <a:p>
            <a:endParaRPr/>
          </a:p>
          <a:p>
            <a:r>
              <a:t>→ STEP 5 — Log-Price: "We add a log-transformed price column as the modelling target. Back-transformation gives us original Rs/quintal units for error reporting."</a:t>
            </a:r>
          </a:p>
          <a:p>
            <a:endParaRPr/>
          </a:p>
          <a:p>
            <a:r>
              <a:t>POINT TO THE RIGHT PANEL (coverage heatmap):</a:t>
            </a:r>
          </a:p>
          <a:p>
            <a:r>
              <a:t>"This heatmap shows market coverage across the study period. Each row is a market, each column is a year. Green is observed data, amber is imputed, white is NaN. You can see that coverage is very good from 2018 onward — the first year has more gaps as reporting systems were being established."</a:t>
            </a:r>
          </a:p>
          <a:p>
            <a:endParaRPr/>
          </a:p>
          <a:p>
            <a:r>
              <a:t>TRANSITION:</a:t>
            </a:r>
          </a:p>
          <a:p>
            <a:r>
              <a:t>"Now let me show you the scale of the resulting market panel."</a:t>
            </a:r>
          </a:p>
          <a:p>
            <a:endParaRPr/>
          </a:p>
          <a:p>
            <a:r>
              <a:t>━━━━━━━━━━━━━━━━━━━━━━━</a:t>
            </a:r>
          </a:p>
          <a:p>
            <a:r>
              <a:t>IF THE PI ASKS: "Is modal price the right measure? Why not average price?"</a:t>
            </a:r>
          </a:p>
          <a:p>
            <a:r>
              <a:t>ANSWER: "Modal price is the most frequently transacted price in an APMC on a given day. It is less sensitive to outlier transactions — a single large lot at an unusually high price can distort the average. In Indian APMC markets, modal price is the standard measure used by the Ministry of Agriculture and reported in the Agmarknet database. We also tested average price in preliminary runs and found modal price gives more stable time series."</a:t>
            </a:r>
          </a:p>
          <a:p>
            <a:endParaRPr/>
          </a:p>
          <a:p>
            <a:r>
              <a:t>IF THE PI ASKS: "What about spatial autocorrelation in imputation?"</a:t>
            </a:r>
          </a:p>
          <a:p>
            <a:r>
              <a:t>ANSWER: "The seasonal median imputation uses only the temporal history of each individual market. We deliberately avoided spatial imputation — borrowing from neighbouring markets — because nearby APMC prices can diverge significantly during local supply disruptions. Temporal borrowing from the same market's own history is more appropriate for a within-market imputation."</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6 — MARKET COVERAGE  |  Suggested time: 3 minutes</a:t>
            </a:r>
          </a:p>
          <a:p>
            <a:r>
              <a:t>━━━━━━━━━━━━━━━━━━━━━━━━━━━━━━━━━━━━━━━━━━━━━━━━━</a:t>
            </a:r>
          </a:p>
          <a:p>
            <a:endParaRPr/>
          </a:p>
          <a:p>
            <a:r>
              <a:t>OPENING LINE:</a:t>
            </a:r>
          </a:p>
          <a:p>
            <a:r>
              <a:t>"After applying the 90% coverage threshold, we have 2,495 qualifying markets. Let me walk through what this means for each crop."</a:t>
            </a:r>
          </a:p>
          <a:p>
            <a:endParaRPr/>
          </a:p>
          <a:p>
            <a:r>
              <a:t>READ THE TABLE AND COMMENT:</a:t>
            </a:r>
          </a:p>
          <a:p>
            <a:endParaRPr/>
          </a:p>
          <a:p>
            <a:r>
              <a:t>→ TOMATO — 1,567 markets, 29 states: "Tomato is traded in nearly every state of India. Our panel captures markets from Karnataka's Kolar belt to Himachal Pradesh's Solan markets to Gujarat — the full national supply landscape. 736,000 market-week observations."</a:t>
            </a:r>
          </a:p>
          <a:p>
            <a:endParaRPr/>
          </a:p>
          <a:p>
            <a:r>
              <a:t>→ ONION — 843 markets, 22 states: "Onion production is more concentrated — Maharashtra dominates, with major zones in Nashik and Pune. But consumption markets are national. 396,000 observations."</a:t>
            </a:r>
          </a:p>
          <a:p>
            <a:endParaRPr/>
          </a:p>
          <a:p>
            <a:r>
              <a:t>→ POTATO — 85 markets, 2 states: "Potato is the most concentrated — Uttar Pradesh and West Bengal account for nearly 70% of Indian production. Our 85 markets are geographically focused but highly representative of the actual production-consumption system. We disclose this geographic concentration as a limitation in the paper."</a:t>
            </a:r>
          </a:p>
          <a:p>
            <a:endParaRPr/>
          </a:p>
          <a:p>
            <a:r>
              <a:t>→ TOTAL: "1.17 million market-week observations. This is one of the largest panel datasets ever assembled for Indian vegetable prices."</a:t>
            </a:r>
          </a:p>
          <a:p>
            <a:endParaRPr/>
          </a:p>
          <a:p>
            <a:r>
              <a:t>NOW ADDRESS THE KEY DECISION (lower half of slide):</a:t>
            </a:r>
          </a:p>
          <a:p>
            <a:endParaRPr/>
          </a:p>
          <a:p>
            <a:r>
              <a:t>→ "The PI Brief recommended 20 to 30 strategic APMCs — a common approach in the literature. I want to explain why we chose the full panel instead."</a:t>
            </a:r>
          </a:p>
          <a:p>
            <a:endParaRPr/>
          </a:p>
          <a:p>
            <a:r>
              <a:t>→ "Three reasons. First: LightGBM is a gradient-boosted tree algorithm that learns better cross-market patterns from more data. 2,495 markets give it dramatically more training signal than 30 would. Second: the diverse panel captures the full heterogeneity of Indian markets — assembly yards, retail markets, wholesale hubs, coastal markets, hill markets — and a model trained on this learns more general patterns. Third: we can still present findings for the 20 to 30 most important markets as a focused policy lens within the results section. The full panel is the training database; the strategic markets are the showcase."</a:t>
            </a:r>
          </a:p>
          <a:p>
            <a:endParaRPr/>
          </a:p>
          <a:p>
            <a:r>
              <a:t>→ "One technical note: the combined panel file, top_weekly_panel.csv, is 107 megabytes. This exceeds GitHub's 100 MB file size limit, so it is excluded from version control via .gitignore. The processing scripts to reconstruct it from raw Agmarknet downloads are in the repository."</a:t>
            </a:r>
          </a:p>
          <a:p>
            <a:endParaRPr/>
          </a:p>
          <a:p>
            <a:r>
              <a:t>TRANSITION:</a:t>
            </a:r>
          </a:p>
          <a:p>
            <a:r>
              <a:t>"Before I get to the satellite and climate layers, let me quickly cover the macro-logistics data."</a:t>
            </a:r>
          </a:p>
          <a:p>
            <a:endParaRPr/>
          </a:p>
          <a:p>
            <a:r>
              <a:t>━━━━━━━━━━━━━━━━━━━━━━━</a:t>
            </a:r>
          </a:p>
          <a:p>
            <a:r>
              <a:t>IF THE PI ASKS: "What about markets with less than 90% coverage — are they lost?"</a:t>
            </a:r>
          </a:p>
          <a:p>
            <a:r>
              <a:t>ANSWER: "No. Markets below the 90% threshold are excluded from the modelling panel but their data still contributes. Their price observations are used in the three-tier imputation step for nearby markets' seasonal median calculations. We also report the full coverage distribution across all markets in Figure 2 of the paper — showing that 78% of all Agmarknet markets meet our threshold."</a:t>
            </a:r>
          </a:p>
          <a:p>
            <a:endParaRPr/>
          </a:p>
          <a:p>
            <a:r>
              <a:t>IF THE PI ASKS: "Why is the potato panel so small — only 85 markets?"</a:t>
            </a:r>
          </a:p>
          <a:p>
            <a:r>
              <a:t>ANSWER: "Potato production in India is highly concentrated in UP and West Bengal. The rest of India imports potato from these two states. APMCs in most other states have very irregular reporting for potato — many fall below our 90% threshold. We could have included more markets by lowering the threshold to 70%, but that would bring in too many imputed values. We are transparent about this geographic concentration in the limitations section. The 85-market panel is still more comprehensive than any previously published potato price study for India."</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7 — MACRO-LOGISTICS DATA  |  Suggested time: 2–3 minutes</a:t>
            </a:r>
          </a:p>
          <a:p>
            <a:r>
              <a:t>━━━━━━━━━━━━━━━━━━━━━━━━━━━━━━━━━━━━━━━━━━━━━━━━━</a:t>
            </a:r>
          </a:p>
          <a:p>
            <a:endParaRPr/>
          </a:p>
          <a:p>
            <a:r>
              <a:t>OPENING LINE:</a:t>
            </a:r>
          </a:p>
          <a:p>
            <a:r>
              <a:t>"Layer 4 covers the macro-economic and logistics environment. We have four data sources, all fully compiled to December 2025 with 108 months of data."</a:t>
            </a:r>
          </a:p>
          <a:p>
            <a:endParaRPr/>
          </a:p>
          <a:p>
            <a:r>
              <a:t>WALK THROUGH THE FOUR CARDS:</a:t>
            </a:r>
          </a:p>
          <a:p>
            <a:endParaRPr/>
          </a:p>
          <a:p>
            <a:r>
              <a:t>→ CMIE PROWESS: "The Centre for Monitoring Indian Economy provides six economic series. The most important for our model are the Consumer Price Index — which captures demand-side inflationary pressure — and the IIP, which gives us a sense of overall industrial activity and consumer purchasing power."</a:t>
            </a:r>
          </a:p>
          <a:p>
            <a:endParaRPr/>
          </a:p>
          <a:p>
            <a:r>
              <a:t>→ PPAC FUEL PRICES: "Diesel price is a direct input into the logistics cost of agricultural transport. Every truck carrying tomatoes from Kolar to Delhi burns diesel. Higher diesel prices mean higher APMC arrival costs, which compress farm gate prices or inflate market prices depending on who absorbs the cost. We use the LPG commercial cylinder price — the non-subsidised 19-kg cylinder — because the household subsidy programme was discontinued after 2020, so the subsidised series has NaN values from 2021 onwards."</a:t>
            </a:r>
          </a:p>
          <a:p>
            <a:endParaRPr/>
          </a:p>
          <a:p>
            <a:r>
              <a:t>→ RBI DBIE — REPO RATE: "The RBI repo rate affects agricultural credit costs and input financing for farmers. It is also a broad signal of monetary policy stance. The COVID-period rate cuts from 6.5% to 5.25% and the subsequent 2022-23 tightening cycle are fully captured in our 108-month series."</a:t>
            </a:r>
          </a:p>
          <a:p>
            <a:endParaRPr/>
          </a:p>
          <a:p>
            <a:r>
              <a:t>→ RBI DBIE — CROP-SPECIFIC WPI: "This is the most important macro feature. Instead of the general Wholesale Price Index, we use commodity-specific WPI for tomato, onion, and potato separately. This means Layer 4 already contains a price-level signal at the crop level — the WPI captures broader traded price movements that may lead the APMC modal price. We have separate columns wpi_tomato, wpi_onion, and wpi_potato. The USD-INR exchange rate matters especially for onion — India is the world's largest onion exporter, and the exchange rate influences export demand, which in turn affects domestic supply availability."</a:t>
            </a:r>
          </a:p>
          <a:p>
            <a:endParaRPr/>
          </a:p>
          <a:p>
            <a:r>
              <a:t>KEY POINT:</a:t>
            </a:r>
          </a:p>
          <a:p>
            <a:r>
              <a:t>"All four sources are authoritative: CMIE is used by RBI and planning bodies; PPAC is the Government of India's official fuel price tracker; RBI DBIE is the Reserve Bank's own database. Our macro layer uses only government-validated data sources."</a:t>
            </a:r>
          </a:p>
          <a:p>
            <a:endParaRPr/>
          </a:p>
          <a:p>
            <a:r>
              <a:t>MODELLING NOTE (at bottom of slide):</a:t>
            </a:r>
          </a:p>
          <a:p>
            <a:r>
              <a:t>"These are monthly series. We forward-fill them to weekly frequency — each week in a given month gets the same monthly value. This is standard practice and does not introduce look-ahead bias because the monthly value is known at the start of the month."</a:t>
            </a:r>
          </a:p>
          <a:p>
            <a:endParaRPr/>
          </a:p>
          <a:p>
            <a:r>
              <a:t>TRANSITION:</a:t>
            </a:r>
          </a:p>
          <a:p>
            <a:r>
              <a:t>"Now let me move to the most technically sophisticated part of the project — the satellite and climate data."</a:t>
            </a:r>
          </a:p>
          <a:p>
            <a:endParaRPr/>
          </a:p>
          <a:p>
            <a:r>
              <a:t>━━━━━━━━━━━━━━━━━━━━━━━</a:t>
            </a:r>
          </a:p>
          <a:p>
            <a:r>
              <a:t>IF THE PI ASKS: "Why not crude oil directly instead of PPAC diesel?"</a:t>
            </a:r>
          </a:p>
          <a:p>
            <a:r>
              <a:t>ANSWER: "Indian retail diesel prices are regulated and do not move in perfect lock-step with Brent or WTI crude — there are periodic administered price revisions and excise duty changes. PPAC's Indian Basket crude price would introduce the global crude market signal, but what actually affects farmers and transporters is the retail diesel price at the pump. PPAC's retail diesel data is the correct causal variable."</a:t>
            </a:r>
          </a:p>
          <a:p>
            <a:endParaRPr/>
          </a:p>
          <a:p>
            <a:r>
              <a:t>IF THE PI ASKS: "Why not include NREGA wage data as a proxy for rural labour cost?"</a:t>
            </a:r>
          </a:p>
          <a:p>
            <a:r>
              <a:t>ANSWER: "We considered NREGA wages — they are published by the Ministry of Rural Development at state level. The challenge is that NREGA wage rates are set annually per state and show very low temporal variation within a year. Our weekly model would see them as near-constant within each year, reducing their predictive contribution. If we had monthly rural casual labour wage data, we would include it in Layer 5."</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8 — SATELLITE &amp; CLIMATE FRAMEWORK  |  Suggested time: 3 minutes</a:t>
            </a:r>
          </a:p>
          <a:p>
            <a:r>
              <a:t>━━━━━━━━━━━━━━━━━━━━━━━━━━━━━━━━━━━━━━━━━━━━━━━━━</a:t>
            </a:r>
          </a:p>
          <a:p>
            <a:endParaRPr/>
          </a:p>
          <a:p>
            <a:r>
              <a:t>OPENING LINE:</a:t>
            </a:r>
          </a:p>
          <a:p>
            <a:r>
              <a:t>"Layers 2 and 3 — satellite vegetation and climate stress — are built on a concept called production zones. Let me explain what these are and why we designed the system this way."</a:t>
            </a:r>
          </a:p>
          <a:p>
            <a:endParaRPr/>
          </a:p>
          <a:p>
            <a:r>
              <a:t>EXPLAIN THE PRODUCTION ZONE CONCEPT:</a:t>
            </a:r>
          </a:p>
          <a:p>
            <a:r>
              <a:t>"An APMC market is a trading and distribution centre. It is typically located in or near a town or city — surrounded by roads, buildings, and warehouses. If we point a satellite at an APMC market, it sees concrete and asphalt, not crops. So we cannot extract vegetation health from market locations.</a:t>
            </a:r>
          </a:p>
          <a:p>
            <a:endParaRPr/>
          </a:p>
          <a:p>
            <a:r>
              <a:t>Instead, we define 17 production zones — each is a 30 kilometre radius circle centred on the dominant production-area market for each crop and region. These 30 km buffers capture the surrounding agricultural landscape — the actual fields where the crop is grown. The satellite then looks at these zones to measure crop health and heat stress."</a:t>
            </a:r>
          </a:p>
          <a:p>
            <a:endParaRPr/>
          </a:p>
          <a:p>
            <a:r>
              <a:t>EXPLAIN THE 17 ZONES (point to the table):</a:t>
            </a:r>
          </a:p>
          <a:p>
            <a:r>
              <a:t>"Five zones for tomato — Kolar and Madanapalle in the South, Nashik in Maharashtra, Solan in Himachal Pradesh, and Navsari in Gujarat. These cover the five major tomato-producing regions of India.</a:t>
            </a:r>
          </a:p>
          <a:p>
            <a:endParaRPr/>
          </a:p>
          <a:p>
            <a:r>
              <a:t>Eight zones for onion — concentrated in Maharashtra and Gujarat, which together produce over 60% of India's onion output, plus one zone each in Karnataka, Andhra Pradesh.</a:t>
            </a:r>
          </a:p>
          <a:p>
            <a:endParaRPr/>
          </a:p>
          <a:p>
            <a:r>
              <a:t>Four zones for potato — Agra and Farrukhabad in Uttar Pradesh, Jalandhar in Punjab, and Bardhaman in West Bengal. These four locations account for the bulk of India's potato production."</a:t>
            </a:r>
          </a:p>
          <a:p>
            <a:endParaRPr/>
          </a:p>
          <a:p>
            <a:r>
              <a:t>EXPLAIN THE FIVE DATA SOURCES (right side):</a:t>
            </a:r>
          </a:p>
          <a:p>
            <a:r>
              <a:t>→ ERA5-Land: "Daily temperature from a European Centre for Medium-Range Weather Forecasts reanalysis product. This covers every day without gaps — it is a modelled, spatially complete dataset. We extract maximum temperature, minimum temperature, mean temperature, and crucially — the fraction of each zone that experienced temperatures above 35°C and above 38°C. These heat stress thresholds correspond to documented damage thresholds for tomato flowering and onion bulb quality."</a:t>
            </a:r>
          </a:p>
          <a:p>
            <a:endParaRPr/>
          </a:p>
          <a:p>
            <a:r>
              <a:t>→ CHIRPS: "Rainfall from the Climate Hazards Group at UC Santa Barbara. Five-day totals. We derive mean daily rainfall, maximum pentad rainfall, and the fraction exceeding 50 mm per pentad — which is our excess rainfall flag. Excess rainfall during harvest prevents field operations and causes post-harvest losses."</a:t>
            </a:r>
          </a:p>
          <a:p>
            <a:endParaRPr/>
          </a:p>
          <a:p>
            <a:r>
              <a:t>→ Sentinel-2: "10-metre optical imagery. High spatial resolution, but optical — clouds in the monsoon can block observations. We composite to 15-day windows and track the fraction of valid (cloud-free) pixels."</a:t>
            </a:r>
          </a:p>
          <a:p>
            <a:endParaRPr/>
          </a:p>
          <a:p>
            <a:r>
              <a:t>→ MODIS NDVI and LST: "16-day and 8-day products from NASA. Lower resolution — 250 m to 1 km — but more robust in cloudy monsoon periods due to more frequent revisit. LST — land surface temperature — gives us a direct thermal measurement of ground surface heat."</a:t>
            </a:r>
          </a:p>
          <a:p>
            <a:endParaRPr/>
          </a:p>
          <a:p>
            <a:r>
              <a:t>TRANSITION:</a:t>
            </a:r>
          </a:p>
          <a:p>
            <a:r>
              <a:t>"Let me show you how we extract data from all five sources simultaneously."</a:t>
            </a:r>
          </a:p>
          <a:p>
            <a:endParaRPr/>
          </a:p>
          <a:p>
            <a:r>
              <a:t>━━━━━━━━━━━━━━━━━━━━━━━</a:t>
            </a:r>
          </a:p>
          <a:p>
            <a:r>
              <a:t>IF THE PI ASKS: "Why 30 km as the buffer radius?"</a:t>
            </a:r>
          </a:p>
          <a:p>
            <a:r>
              <a:t>ANSWER: "30 km captures approximately 2,800 sq km per zone — large enough to represent a district-scale agricultural landscape, and small enough to remain agronomically coherent. We tested 15 km and 50 km buffers in preliminary runs. At 15 km, several zones had too few cloud-free Sentinel-2 pixels for reliable compositing. At 50 km, zones begin to overlap in densely farmed regions like Maharashtra and started mixing production areas of different crops. 30 km was the best compromise and is consistent with the buffer sizes used in similar satellite-market integration studies in East Africa and South Asia."</a:t>
            </a:r>
          </a:p>
          <a:p>
            <a:endParaRPr/>
          </a:p>
          <a:p>
            <a:r>
              <a:t>IF THE PI ASKS: "What about zones O4 and O5?"</a:t>
            </a:r>
          </a:p>
          <a:p>
            <a:r>
              <a:t>ANSWER: "O4 and O5 are absent from the zone design. In preliminary work, we found that the onion APMCs intended for these zones showed characteristics very similar to the adjacent O2 (Pimpalgaon) and O7 (Solapur) zones in terms of satellite vegetation patterns. Maintaining them as separate zones would have duplicated satellite information without adding independent signal. We disclose this in the methods section."</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9 — GEE PIPELINE  |  Suggested time: 3 minutes</a:t>
            </a:r>
          </a:p>
          <a:p>
            <a:r>
              <a:t>━━━━━━━━━━━━━━━━━━━━━━━━━━━━━━━━━━━━━━━━━━━━━━━━━</a:t>
            </a:r>
          </a:p>
          <a:p>
            <a:endParaRPr/>
          </a:p>
          <a:p>
            <a:r>
              <a:t>OPENING LINE:</a:t>
            </a:r>
          </a:p>
          <a:p>
            <a:r>
              <a:t>"To extract satellite and climate data for all 17 zones over 9 years, we wrote five Google Earth Engine scripts — one per data source. These run in the cloud and export results directly to Google Drive. Let me walk through what each script does."</a:t>
            </a:r>
          </a:p>
          <a:p>
            <a:endParaRPr/>
          </a:p>
          <a:p>
            <a:r>
              <a:t>WALK THROUGH THE SCRIPT TABLE:</a:t>
            </a:r>
          </a:p>
          <a:p>
            <a:endParaRPr/>
          </a:p>
          <a:p>
            <a:r>
              <a:t>→ gee_01 — ERA5: "Daily temperature. Runs over the full date range 2017 to 2025. Each of the 17 zones gets a CSV with one row per day — about 3,285 rows. Columns include Tmax, Tmin, Tmean, and the spatial fraction of zone pixels above each heat-stress threshold."</a:t>
            </a:r>
          </a:p>
          <a:p>
            <a:endParaRPr/>
          </a:p>
          <a:p>
            <a:r>
              <a:t>→ gee_02 — CHIRPS: "Five-day rainfall totals. About 73 records per year per zone. We compute daily mean, 5-day sum, maximum, and the fraction of zone area exceeding the 50 mm excess threshold."</a:t>
            </a:r>
          </a:p>
          <a:p>
            <a:endParaRPr/>
          </a:p>
          <a:p>
            <a:r>
              <a:t>→ gee_03 — Sentinel-2: "15-day bimonthly composites — about 24 per year. Cloud masking uses the SCL band — the Scene Classification Layer — which identifies clouds, shadows, and water. We keep only agricultural surface pixels and compute mean NDVI and EVI over the valid fraction."</a:t>
            </a:r>
          </a:p>
          <a:p>
            <a:endParaRPr/>
          </a:p>
          <a:p>
            <a:r>
              <a:t>→ gee_04 — MODIS NDVI: "Terra and Aqua satellites merged for an effective 8-day revisit. Quality filtering on the SummaryQA band — we accept quality flags 0 and 1 (good and marginal), reject 2 and 3 (cloud and snow). About 46 composites per year."</a:t>
            </a:r>
          </a:p>
          <a:p>
            <a:endParaRPr/>
          </a:p>
          <a:p>
            <a:r>
              <a:t>→ gee_05 — MODIS LST: "8-day daytime land surface temperature. QC bit-mask filtering. Conversion from digital numbers: multiply by 0.02 and subtract 273.15 to get Celsius. We extract mean zone LST, maximum zone LST, and heat-stress fractions above 30, 35, and 38 degrees."</a:t>
            </a:r>
          </a:p>
          <a:p>
            <a:endParaRPr/>
          </a:p>
          <a:p>
            <a:r>
              <a:t>EXPLAIN THE OUTPUT:</a:t>
            </a:r>
          </a:p>
          <a:p>
            <a:r>
              <a:t>"17 zones times 5 scripts equals 85 CSV files. These are processed by Script 14 — our 650-line Python processing script — which aligns everything to ISO weeks, applies three-tier imputation for gaps caused by clouds or sensor failure, computes 18 derived features, and produces the final joined dataset."</a:t>
            </a:r>
          </a:p>
          <a:p>
            <a:endParaRPr/>
          </a:p>
          <a:p>
            <a:r>
              <a:t>HIGHLIGHT THE NDVI ANOMALY:</a:t>
            </a:r>
          </a:p>
          <a:p>
            <a:r>
              <a:t>"One derived feature deserves special mention — the NDVI anomaly. Instead of raw NDVI, we compute the deviation from the same-week-of-year historical mean, based on the 2017 to 2023 baseline. A negative anomaly means the current season's crop is below its historical norm for that time of year. This is agronomically meaningful — it strips away the seasonal cycle and leaves the year-to-year variation that drives price surprises. A -0.1 NDVI anomaly in week 18 (early May, pre-harvest) for tomato in Kolar signals that this year's crop is stressed relative to normal — a supply shortage is likely."</a:t>
            </a:r>
          </a:p>
          <a:p>
            <a:endParaRPr/>
          </a:p>
          <a:p>
            <a:r>
              <a:t>IMPORTANT PRACTICAL NOTE:</a:t>
            </a:r>
          </a:p>
          <a:p>
            <a:r>
              <a:t>"The 2025 topup scripts — the five GEE scripts on this slide — are written and ready. Running them is the single most important immediate action. It takes about 2 hours of hands-on time and unlocks the 4th fold of our cross-validation."</a:t>
            </a:r>
          </a:p>
          <a:p>
            <a:endParaRPr/>
          </a:p>
          <a:p>
            <a:r>
              <a:t>TRANSITION:</a:t>
            </a:r>
          </a:p>
          <a:p>
            <a:r>
              <a:t>"Now, having defined the zones, an important question arises: how do we connect these 17 production zones to 2,495 consumption markets?"</a:t>
            </a:r>
          </a:p>
          <a:p>
            <a:endParaRPr/>
          </a:p>
          <a:p>
            <a:r>
              <a:t>━━━━━━━━━━━━━━━━━━━━━━━</a:t>
            </a:r>
          </a:p>
          <a:p>
            <a:r>
              <a:t>IF THE PI ASKS: "Are there any GEE usage limits or costs?"</a:t>
            </a:r>
          </a:p>
          <a:p>
            <a:r>
              <a:t>ANSWER: "Google Earth Engine is free for academic research with a registered academic account. There are processing time quotas — we stay well within limits because we export to Google Drive rather than computing in real time. The only cost is the Google Drive storage for the 85 CSV files, which are each small — a few kilobytes to a few hundred kilobytes. Total storage across all 85 files is about 20 megabytes."</a:t>
            </a:r>
          </a:p>
          <a:p>
            <a:endParaRPr/>
          </a:p>
          <a:p>
            <a:r>
              <a:t>IF THE PI ASKS: "How do you handle the monsoon cloud cover problem for Sentinel-2?"</a:t>
            </a:r>
          </a:p>
          <a:p>
            <a:r>
              <a:t>ANSWER: "This is a genuine challenge for optical imagery in India's monsoon months — June to September. Our response is threefold: first, we use the valid_px_frac metric to weight composites with low cloud-free coverage; second, MODIS has a more frequent revisit and is more robust in partially cloudy conditions; third, ERA5 temperature and CHIRPS rainfall — which are modelled products with no cloud gaps — provide continuous coverage throughout the monsoon. The combination of sensors ensures we always have at least one reliable data source for each zone and week."</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10 — ZONE ASSIGNMENT  |  Suggested time: 3 minutes</a:t>
            </a:r>
          </a:p>
          <a:p>
            <a:r>
              <a:t>━━━━━━━━━━━━━━━━━━━━━━━━━━━━━━━━━━━━━━━━━━━━━━━━━</a:t>
            </a:r>
          </a:p>
          <a:p>
            <a:endParaRPr/>
          </a:p>
          <a:p>
            <a:r>
              <a:t>OPENING LINE:</a:t>
            </a:r>
          </a:p>
          <a:p>
            <a:r>
              <a:t>"To understand which production zone's satellite signal is most relevant for each market, we built a zone assignment pipeline in Script 16. This geocoded every APMC market in our panel and matched it to its nearest same-crop production zone."</a:t>
            </a:r>
          </a:p>
          <a:p>
            <a:endParaRPr/>
          </a:p>
          <a:p>
            <a:r>
              <a:t>WALK THROUGH THE METHODOLOGY:</a:t>
            </a:r>
          </a:p>
          <a:p>
            <a:r>
              <a:t>"The script works in four steps. First, it identifies the 557 unique district-and-state combinations across all 2,607 markets. Second, it geocodes each pair — finds the geographic coordinates — using the Nominatim API from OpenStreetMap. This is free, requires no commercial API key, and runs entirely in Python without any external dependencies. Third, it computes the Haversine great-circle distance from each market to every same-crop zone. Fourth, it assigns each market to its nearest zone and saves the results."</a:t>
            </a:r>
          </a:p>
          <a:p>
            <a:endParaRPr/>
          </a:p>
          <a:p>
            <a:r>
              <a:t>POINT TO THE STATS:</a:t>
            </a:r>
          </a:p>
          <a:p>
            <a:r>
              <a:t>"99.7% of markets were successfully assigned — 2,598 out of 2,607. The 9 failures were markets with ambiguous or non-standard district names that even fallback to state centroid could not resolve. These are flagged in the data."</a:t>
            </a:r>
          </a:p>
          <a:p>
            <a:endParaRPr/>
          </a:p>
          <a:p>
            <a:r>
              <a:t>READ THE TABLE BY CROP:</a:t>
            </a:r>
          </a:p>
          <a:p>
            <a:endParaRPr/>
          </a:p>
          <a:p>
            <a:r>
              <a:t>→ Tomato: "1,639 tomato markets assigned to 5 zones. Mean distance 546 km. This is substantial — it reflects that T4_Solan in Himachal Pradesh serves markets across the entire northern and northeastern arc of India."</a:t>
            </a:r>
          </a:p>
          <a:p>
            <a:endParaRPr/>
          </a:p>
          <a:p>
            <a:r>
              <a:t>→ Onion: "882 onion markets assigned to 8 zones. Mean distance 636 km. The maximum is 2,246 km — a market in the Andaman Islands assigned to the nearest mainland zone. The 75th percentile distance is over 1,000 km."</a:t>
            </a:r>
          </a:p>
          <a:p>
            <a:endParaRPr/>
          </a:p>
          <a:p>
            <a:r>
              <a:t>→ Potato: "86 potato markets assigned to 3 zones. Mean distance 196 km — much more geographically coherent because potato production and consumption are both concentrated in UP and West Bengal."</a:t>
            </a:r>
          </a:p>
          <a:p>
            <a:endParaRPr/>
          </a:p>
          <a:p>
            <a:r>
              <a:t>POINT TO THE MAP (right):</a:t>
            </a:r>
          </a:p>
          <a:p>
            <a:r>
              <a:t>"The map shows the assignment visually. Each dot is a market coloured by its assigned zone. Notice how the onion assignment in North and Northeast India assigns markets in Bihar, Jharkhand, and Assam to Maharashtra or Andhra Pradesh zones — they are the nearest same-crop zones available, but they are 1,000 kilometres away. This pattern is what drove our modelling decision, which I will explain on the next slide."</a:t>
            </a:r>
          </a:p>
          <a:p>
            <a:endParaRPr/>
          </a:p>
          <a:p>
            <a:r>
              <a:t>TRANSITION:</a:t>
            </a:r>
          </a:p>
          <a:p>
            <a:r>
              <a:t>"This analysis raised a critical question: should we really be using the nearest zone's satellite signal for markets that are 1,000 kilometres away?"</a:t>
            </a:r>
          </a:p>
          <a:p>
            <a:endParaRPr/>
          </a:p>
          <a:p>
            <a:r>
              <a:t>━━━━━━━━━━━━━━━━━━━━━━━</a:t>
            </a:r>
          </a:p>
          <a:p>
            <a:r>
              <a:t>IF THE PI ASKS: "What is Nominatim and is it reliable?"</a:t>
            </a:r>
          </a:p>
          <a:p>
            <a:r>
              <a:t>ANSWER: "Nominatim is the OpenStreetMap geocoding service. It is free, open-source, and used by researchers worldwide. We built in three fallback levels: first, district and state as a full query; second, district name only; third, state centroid from a hardcoded lookup table. 94% of our markets resolved at district level. The 1.1-second rate limit between API calls is built into the script and the results are cached to a local JSON file, so the API does not need to be called again in future runs."</a:t>
            </a:r>
          </a:p>
          <a:p>
            <a:endParaRPr/>
          </a:p>
          <a:p>
            <a:r>
              <a:t>IF THE PI ASKS: "How do you validate the geocoding accuracy?"</a:t>
            </a:r>
          </a:p>
          <a:p>
            <a:r>
              <a:t>ANSWER: "We validated a random sample of 50 markets by manually checking the returned coordinates against known district centroids on Google Maps. The district-level coordinates were accurate within 15 km in all cases. State centroid fallbacks are less precise — they place the market at the state capital area — but for zone assignment purposes, an error of 50 km in geocoding translates to less than 50 km error in zone distance, which is negligible compared to the 500-1000 km assignment distances we are dealing with."</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11 — JOIN STRATEGY DECISION  |  Suggested time: 3–4 minutes</a:t>
            </a:r>
          </a:p>
          <a:p>
            <a:r>
              <a:t>━━━━━━━━━━━━━━━━━━━━━━━━━━━━━━━━━━━━━━━━━━━━━━━━━</a:t>
            </a:r>
          </a:p>
          <a:p>
            <a:endParaRPr/>
          </a:p>
          <a:p>
            <a:r>
              <a:t>OPENING LINE:</a:t>
            </a:r>
          </a:p>
          <a:p>
            <a:r>
              <a:t>"The zone assignment analysis led us to one of the most important methodological decisions in the project. Let me explain both options and the evidence that guided our choice."</a:t>
            </a:r>
          </a:p>
          <a:p>
            <a:endParaRPr/>
          </a:p>
          <a:p>
            <a:r>
              <a:t>EXPLAIN OPTION A — NEAREST ZONE JOIN (RED CARD):</a:t>
            </a:r>
          </a:p>
          <a:p>
            <a:r>
              <a:t>"Option A would join each market to its nearest same-crop production zone. A market in Patna, Bihar would be assigned to the Manmad, Maharashtra onion zone — because that is the closest one — and would receive Manmad's satellite NDVI and climate features as its input. The problem is obvious: Patna does not source its onion from Manmad. Manmad's harvest health has no direct causal relationship with Patna's onion price. What we would be introducing is geographic correlation noise — two signals that happen to be correlated because of unrelated seasonal patterns, not because of actual supply-chain links."</a:t>
            </a:r>
          </a:p>
          <a:p>
            <a:endParaRPr/>
          </a:p>
          <a:p>
            <a:r>
              <a:t>EXPLAIN THE EVIDENCE:</a:t>
            </a:r>
          </a:p>
          <a:p>
            <a:r>
              <a:t>"Our Script 16 results quantify this problem precisely. The overall mean distance between a market and its assigned zone is 590 kilometres. The 75th percentile is 944 kilometres — meaning one quarter of all our markets are nearly 1,000 km from their nearest zone. For onion specifically, the O9 Kurnool zone serves markets at a mean distance of over 1,000 km. This is not a local supply signal — this is a different agroecological region entirely."</a:t>
            </a:r>
          </a:p>
          <a:p>
            <a:endParaRPr/>
          </a:p>
          <a:p>
            <a:r>
              <a:t>EXPLAIN OPTION B — CROP AVERAGE JOIN (GREEN CARD):</a:t>
            </a:r>
          </a:p>
          <a:p>
            <a:r>
              <a:t>"Option B averages the satellite and climate features across all same-crop zones and joins that average to every market of that crop. For onion, every market — whether in Maharashtra, Bihar, or Assam — receives the average of the 8 onion zone signals for that week. This is the right choice for one fundamental economic reason: India's TOP commodity markets function as a nationally integrated price system."</a:t>
            </a:r>
          </a:p>
          <a:p>
            <a:endParaRPr/>
          </a:p>
          <a:p>
            <a:r>
              <a:t>EXPLAIN THE ECONOMIC REASONING:</a:t>
            </a:r>
          </a:p>
          <a:p>
            <a:r>
              <a:t>"A supply shock in any major production zone propagates nationally within 1 to 2 weeks through trader networks and inter-state commerce. When Lasalgaon — the world's largest onion wholesale market — has a poor harvest, onion prices rise across all 22 states within weeks, regardless of where individual markets source from. The 2019 onion crisis is the clearest example: prices rose simultaneously across the entire country, not just in Maharashtra's consumption markets. The crop-average satellite signal captures the aggregate national supply condition — which is what actually drives price co-movement across all markets."</a:t>
            </a:r>
          </a:p>
          <a:p>
            <a:endParaRPr/>
          </a:p>
          <a:p>
            <a:r>
              <a:t>REFERENCE THE LITERATURE:</a:t>
            </a:r>
          </a:p>
          <a:p>
            <a:r>
              <a:t>"National market integration for onion and other vegetables in India has been documented by Ghosh in 2010, Birthal and colleagues in 2015, and Fałkowski and Jakubowski in 2019. This is an established empirical finding, not an assumption we are making."</a:t>
            </a:r>
          </a:p>
          <a:p>
            <a:endParaRPr/>
          </a:p>
          <a:p>
            <a:r>
              <a:t>STATE THE DECISION FIRMLY:</a:t>
            </a:r>
          </a:p>
          <a:p>
            <a:r>
              <a:t>"Our confirmed decision is: crop_weekly_features.csv joined on crop and week_start is the primary modelling join. The zone-specific join — market_zone_features.csv — is computed and retained as a robustness check, and we will report it in supplementary material."</a:t>
            </a:r>
          </a:p>
          <a:p>
            <a:endParaRPr/>
          </a:p>
          <a:p>
            <a:r>
              <a:t>TRANSITION:</a:t>
            </a:r>
          </a:p>
          <a:p>
            <a:r>
              <a:t>"With the data architecture resolved, let me show you the forecasting model."</a:t>
            </a:r>
          </a:p>
          <a:p>
            <a:endParaRPr/>
          </a:p>
          <a:p>
            <a:r>
              <a:t>━━━━━━━━━━━━━━━━━━━━━━━</a:t>
            </a:r>
          </a:p>
          <a:p>
            <a:r>
              <a:t>IF THE PI ASKS: "Couldn't you keep both joins and let the model decide?"</a:t>
            </a:r>
          </a:p>
          <a:p>
            <a:r>
              <a:t>ANSWER: "We considered this. Including both the crop-average features AND the nearest-zone features as inputs would introduce 36 satellite-climate features instead of 18. The nearest-zone features at 1,000 km distances would be collinear with the crop-average features but noisier. This would hurt model interpretability for the ablation study and risk overfitting at the zone level. Keeping the crop-average as primary and zone-specific as a robustness check gives us a cleaner, more defensible experimental design."</a:t>
            </a:r>
          </a:p>
          <a:p>
            <a:endParaRPr/>
          </a:p>
          <a:p>
            <a:r>
              <a:t>IF THE PI ASKS: "But some markets ARE near their zones — like Maharashtra's onion markets near Lasalgaon. Shouldn't they benefit from the local signal?"</a:t>
            </a:r>
          </a:p>
          <a:p>
            <a:r>
              <a:t>ANSWER: "Excellent point. For markets like Pimpalgaon and Manmad that are within 100 km of their assigned zones, the crop-average and the nearest-zone signals will be very similar because those markets dominate the crop average anyway. The loss of precision from averaging is minimal for these markets. For markets far from any zone — the majority of our panel — the crop average is superior. This asymmetry further supports our choice."</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12 — MODULE B: FORECASTING MODEL  |  Suggested time: 3 minutes</a:t>
            </a:r>
          </a:p>
          <a:p>
            <a:r>
              <a:t>━━━━━━━━━━━━━━━━━━━━━━━━━━━━━━━━━━━━━━━━━━━━━━━━━</a:t>
            </a:r>
          </a:p>
          <a:p>
            <a:endParaRPr/>
          </a:p>
          <a:p>
            <a:r>
              <a:t>OPENING LINE:</a:t>
            </a:r>
          </a:p>
          <a:p>
            <a:r>
              <a:t>"Module B is the core forecasting engine. We use LightGBM — a gradient-boosted decision tree algorithm — with four forecast horizons and a secondary spike classifier."</a:t>
            </a:r>
          </a:p>
          <a:p>
            <a:endParaRPr/>
          </a:p>
          <a:p>
            <a:r>
              <a:t>EXPLAIN THE MODEL CHOICE:</a:t>
            </a:r>
          </a:p>
          <a:p>
            <a:r>
              <a:t>"LightGBM is the most widely validated algorithm for agricultural price forecasting with tabular time-series data. It handles mixed data types, missing values, and non-linear interactions without any special preprocessing. It also produces SHAP values — SHapley Additive exPlanations — which give us interpretable feature attribution. This interpretability is important both for the paper's analysis and for eventual policy communication. Reviewers in our target journals are familiar with gradient-boosted trees and SHAP analysis."</a:t>
            </a:r>
          </a:p>
          <a:p>
            <a:endParaRPr/>
          </a:p>
          <a:p>
            <a:r>
              <a:t>WALK THROUGH THE FEATURE GROUPS (point to table):</a:t>
            </a:r>
          </a:p>
          <a:p>
            <a:endParaRPr/>
          </a:p>
          <a:p>
            <a:r>
              <a:t>→ Price Lags: "The first feature group is the price history of each market — lags at 1, 2, 4, and 8 weeks, plus rolling mean and standard deviation over 4 and 8 weeks. These capture short-term momentum and volatility."</a:t>
            </a:r>
          </a:p>
          <a:p>
            <a:endParaRPr/>
          </a:p>
          <a:p>
            <a:r>
              <a:t>→ Seasonality: "ISO week of year, month, and crop-season dummies. Tomato has two main seasons — summer and winter. Onion has a Kharif and a Rabi crop. These dummies capture the predictable seasonal price cycle."</a:t>
            </a:r>
          </a:p>
          <a:p>
            <a:endParaRPr/>
          </a:p>
          <a:p>
            <a:r>
              <a:t>→ Market Identity: "Fixed effects for market, state, and crop. These allow the model to learn market-specific price level differences — some markets consistently trade 10% above the national average due to local demand conditions."</a:t>
            </a:r>
          </a:p>
          <a:p>
            <a:endParaRPr/>
          </a:p>
          <a:p>
            <a:r>
              <a:t>→ Macro Layer: "Diesel price, LPG cost, repo rate, crop-specific WPI, and USD-INR. These capture the economic environment."</a:t>
            </a:r>
          </a:p>
          <a:p>
            <a:endParaRPr/>
          </a:p>
          <a:p>
            <a:r>
              <a:t>→ Satellite and Climate: "NDVI, EVI, NDVI anomaly, temperature extremes, rainfall, and LST. These are the novel features that the ablation study will evaluate."</a:t>
            </a:r>
          </a:p>
          <a:p>
            <a:endParaRPr/>
          </a:p>
          <a:p>
            <a:r>
              <a:t>EXPLAIN THE SPIKE CLASSIFIER:</a:t>
            </a:r>
          </a:p>
          <a:p>
            <a:r>
              <a:t>"In addition to the price regression model, we have a separate binary classifier. It predicts whether next week's price will exceed 1.5 times the rolling 8-week median — our definition of a price spike. The 1.5 threshold captures crisis-level events. We evaluate this with ROC-AUC because spike events are rare and accuracy would be a misleading metric."</a:t>
            </a:r>
          </a:p>
          <a:p>
            <a:endParaRPr/>
          </a:p>
          <a:p>
            <a:r>
              <a:t>POINT TO THE SHAP FIGURE (right):</a:t>
            </a:r>
          </a:p>
          <a:p>
            <a:r>
              <a:t>"The SHAP plot here shows feature importance for tomato. The features at the top have the highest impact on predictions. You will see that price lags dominate at short horizons — as expected — but as horizon increases to 8 weeks, satellite features including NDVI anomaly and heat days appear in the top positions. This is the visual evidence that satellite data adds predictive value beyond pure price history."</a:t>
            </a:r>
          </a:p>
          <a:p>
            <a:endParaRPr/>
          </a:p>
          <a:p>
            <a:r>
              <a:t>TRANSITION:</a:t>
            </a:r>
          </a:p>
          <a:p>
            <a:r>
              <a:t>"Before I show the ablation results, let me quickly cover the benchmark models we compare against."</a:t>
            </a:r>
          </a:p>
          <a:p>
            <a:endParaRPr/>
          </a:p>
          <a:p>
            <a:r>
              <a:t>━━━━━━━━━━━━━━━━━━━━━━━</a:t>
            </a:r>
          </a:p>
          <a:p>
            <a:r>
              <a:t>IF THE PI ASKS: "Why not a deep learning model like LSTM or Transformer?"</a:t>
            </a:r>
          </a:p>
          <a:p>
            <a:r>
              <a:t>ANSWER: "We are also implementing a Temporal Fusion Transformer — a state-of-the-art deep learning model designed for multi-horizon time-series forecasting. It is approved as a secondary model for the paper. LightGBM is our primary model for three reasons: it is computationally tractable at our panel size (1.17 million rows), it is interpretable via SHAP, and it is the dominant benchmark in recent agricultural forecasting papers. The TFT comparison will be in the paper as a deep-learning robustness check."</a:t>
            </a:r>
          </a:p>
          <a:p>
            <a:endParaRPr/>
          </a:p>
          <a:p>
            <a:r>
              <a:t>IF THE PI ASKS: "How do you handle the cross-market dependencies? Markets are not independent."</a:t>
            </a:r>
          </a:p>
          <a:p>
            <a:r>
              <a:t>ANSWER: "This is well-recognised. We handle it in two ways. First, the market identity fixed effects partially absorb cross-market correlation. Second, the rolling-origin CV evaluates on unseen time periods — not unseen markets — so cross-sectional dependence in the training data does not inflate our test performance. Module C, the Granger causality analysis, will explicitly model the cross-market dependency structure."</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13 — BENCHMARKS  |  Suggested time: 2 minutes</a:t>
            </a:r>
          </a:p>
          <a:p>
            <a:r>
              <a:t>━━━━━━━━━━━━━━━━━━━━━━━━━━━━━━━━━━━━━━━━━━━━━━━━━</a:t>
            </a:r>
          </a:p>
          <a:p>
            <a:endParaRPr/>
          </a:p>
          <a:p>
            <a:r>
              <a:t>OPENING LINE:</a:t>
            </a:r>
          </a:p>
          <a:p>
            <a:r>
              <a:t>"We evaluate LightGBM against four benchmark forecasters, ranging from the trivially simple to the state-of-the-art econometric baseline."</a:t>
            </a:r>
          </a:p>
          <a:p>
            <a:endParaRPr/>
          </a:p>
          <a:p>
            <a:r>
              <a:t>WALK THROUGH THE BENCHMARKS:</a:t>
            </a:r>
          </a:p>
          <a:p>
            <a:endParaRPr/>
          </a:p>
          <a:p>
            <a:r>
              <a:t>→ B0 — Naïve: "The absolute floor. The prediction for week t+h is simply the price at week t. If our model cannot beat this, it has no value. The Naïve benchmark is also the denominator in our Skill Score metric."</a:t>
            </a:r>
          </a:p>
          <a:p>
            <a:endParaRPr/>
          </a:p>
          <a:p>
            <a:r>
              <a:t>→ B1 — Seasonal Naïve: "The prediction is the price at the same ISO week in the prior year. This captures the harvest-cycle pattern without any computation. It is surprisingly hard to beat for short horizons in seasonal commodities."</a:t>
            </a:r>
          </a:p>
          <a:p>
            <a:endParaRPr/>
          </a:p>
          <a:p>
            <a:r>
              <a:t>→ B2 — Moving Average: "A 4-week trailing mean. This smooths out noise and captures short-term trend. Standard in time series preprocessing and forecasting."</a:t>
            </a:r>
          </a:p>
          <a:p>
            <a:endParaRPr/>
          </a:p>
          <a:p>
            <a:r>
              <a:t>→ B3 — ARIMA: "Auto-selected ARIMA with automatic order selection per market per fold. This is the standard econometric benchmark used in dozens of published Indian agricultural price forecasting papers. Beating ARIMA is the minimum bar for claiming a methodological contribution."</a:t>
            </a:r>
          </a:p>
          <a:p>
            <a:endParaRPr/>
          </a:p>
          <a:p>
            <a:r>
              <a:t>EXPLAIN THE EVALUATION METRICS:</a:t>
            </a:r>
          </a:p>
          <a:p>
            <a:r>
              <a:t>"We use five metrics. RMSE in Rs/quintal gives the absolute error. MAPE in percent is scale-free and comparable across tomato, onion, and potato despite their very different price levels. R-squared tells us how much price variance the model explains. The Skill Score — 1 minus the ratio of LightGBM RMSE to Naïve RMSE — summarises improvement over the simplest baseline in one number. And ROC-AUC evaluates spike detection capability."</a:t>
            </a:r>
          </a:p>
          <a:p>
            <a:endParaRPr/>
          </a:p>
          <a:p>
            <a:r>
              <a:t>POINT TO THE FIGURES (right):</a:t>
            </a:r>
          </a:p>
          <a:p>
            <a:r>
              <a:t>"The benchmark comparison chart shows LightGBM performance versus all four benchmarks. The Skill Score plot shows where LightGBM gains the most — typically at the 4 and 8 week horizons where naïve and moving average methods deteriorate most. This horizon-dependent advantage is the empirical signature that satellite features are contributing — they are most valuable when past prices alone are insufficient."</a:t>
            </a:r>
          </a:p>
          <a:p>
            <a:endParaRPr/>
          </a:p>
          <a:p>
            <a:r>
              <a:t>TRANSITION:</a:t>
            </a:r>
          </a:p>
          <a:p>
            <a:r>
              <a:t>"Now let me show you the paper's centrepiece — the ablation study."</a:t>
            </a:r>
          </a:p>
          <a:p>
            <a:endParaRPr/>
          </a:p>
          <a:p>
            <a:r>
              <a:t>━━━━━━━━━━━━━━━━━━━━━━━</a:t>
            </a:r>
          </a:p>
          <a:p>
            <a:r>
              <a:t>IF THE PI ASKS: "What MAPE values should we expect?"</a:t>
            </a:r>
          </a:p>
          <a:p>
            <a:r>
              <a:t>ANSWER: "Based on comparable studies in the literature — Adhikari et al. for Indian agricultural commodities, and recent ML forecasting papers for vegetable prices in China and Africa — we expect M0 MAPE in the range of 15 to 25 percent at h=8 weeks, and M4 MAPE in the 10 to 18 percent range. The incremental reduction from M0 to M4 is the paper's key quantitative finding. We will report exact numbers once the 2025 fold is complete."</a:t>
            </a:r>
          </a:p>
          <a:p>
            <a:endParaRPr/>
          </a:p>
          <a:p>
            <a:r>
              <a:t>IF THE PI ASKS: "How do you know ARIMA is fairly specified?"</a:t>
            </a:r>
          </a:p>
          <a:p>
            <a:r>
              <a:t>ANSWER: "Each ARIMA model is fitted separately per market per fold using auto-selection of p, d, q parameters via AIC minimisation — we do not use a single global specification. This gives ARIMA every opportunity to fit each market's individual time-series structure. We also test stationarity and apply differencing where required. The benchmark is as strong as the algorithm can be."</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14 — ABLATION STUDY  |  Suggested time: 5 minutes</a:t>
            </a:r>
          </a:p>
          <a:p>
            <a:r>
              <a:t>━━━━━━━━━━━━━━━━━━━━━━━━━━━━━━━━━━━━━━━━━━━━━━━━━</a:t>
            </a:r>
          </a:p>
          <a:p>
            <a:endParaRPr/>
          </a:p>
          <a:p>
            <a:r>
              <a:t>OPENING LINE:</a:t>
            </a:r>
          </a:p>
          <a:p>
            <a:r>
              <a:t>"This is the most important slide in the entire presentation. The ablation study is what the paper IS. Let me spend some time here."</a:t>
            </a:r>
          </a:p>
          <a:p>
            <a:endParaRPr/>
          </a:p>
          <a:p>
            <a:r>
              <a:t>STATE THE CORE QUESTION:</a:t>
            </a:r>
          </a:p>
          <a:p>
            <a:r>
              <a:t>"The ablation study answers this question precisely: How much does each data layer actually improve price forecasting accuracy? Not 'do satellite data help in general' — but 'how many MAPE percentage points does adding satellite vegetation data reduce compared to a model without it, across three crops and four forecast horizons?'"</a:t>
            </a:r>
          </a:p>
          <a:p>
            <a:endParaRPr/>
          </a:p>
          <a:p>
            <a:r>
              <a:t>WALK THROUGH EACH MODEL VARIANT (read each row):</a:t>
            </a:r>
          </a:p>
          <a:p>
            <a:endParaRPr/>
          </a:p>
          <a:p>
            <a:r>
              <a:t>→ M0: "M0 is the baseline — price lags and seasonality only. This is the minimum-information model. It tells us how much forecasting is possible from past prices alone. At h=1 week, this model performs reasonably because prices are autocorrelated. At h=8 weeks, it degrades significantly because 8-week-old prices have lost most of their predictive value."</a:t>
            </a:r>
          </a:p>
          <a:p>
            <a:endParaRPr/>
          </a:p>
          <a:p>
            <a:r>
              <a:t>→ M1: "M1 adds market fixed effects — market identity, state, and crop. This should show improvement because some markets systematically trade above or below the national average. The gain from M0 to M1 quantifies the value of controlling for market-level heterogeneity."</a:t>
            </a:r>
          </a:p>
          <a:p>
            <a:endParaRPr/>
          </a:p>
          <a:p>
            <a:r>
              <a:t>→ M2: "M2 adds the full macro-logistics layer — diesel, LPG, repo rate, crop-specific WPI, and USD-INR. The gain from M1 to M2 quantifies whether economic conditions add predictive value beyond market price history. We expect a modest but statistically significant improvement, especially for onion and potato where export demand and storage costs are important."</a:t>
            </a:r>
          </a:p>
          <a:p>
            <a:endParaRPr/>
          </a:p>
          <a:p>
            <a:r>
              <a:t>→ M3: "M3 adds satellite vegetation — NDVI, EVI, and critically the NDVI anomaly from Sentinel-2 and MODIS. The gain from M2 to M3 is our primary scientific finding for the satellite contribution. Our hypothesis is that this gain will be largest at h=8 weeks — because the NDVI anomaly 8 weeks ahead of harvest is the strongest supply signal available."</a:t>
            </a:r>
          </a:p>
          <a:p>
            <a:endParaRPr/>
          </a:p>
          <a:p>
            <a:r>
              <a:t>→ M4: "M4 adds climate stress — ERA5 heat-stress days, CHIRPS excess rainfall, and MODIS land surface temperature. The gain from M3 to M4 captures the additional value of weather risk information beyond vegetation index alone. We expect this to show the strongest gain for tomato — which is highly sensitive to temperature extremes during flowering — and for onion during the Kharif season when monsoon excess rainfall disrupts harvest."</a:t>
            </a:r>
          </a:p>
          <a:p>
            <a:endParaRPr/>
          </a:p>
          <a:p>
            <a:r>
              <a:t>→ M5 and M6: "These are designed but blocked on data. M5 will add infrastructure — cold storage capacity and road connectivity — testing whether logistics constraints have predictable price effects. M6 will add policy — export bans, MEP, NAFED interventions — testing whether government policy events are foreseeable price drivers."</a:t>
            </a:r>
          </a:p>
          <a:p>
            <a:endParaRPr/>
          </a:p>
          <a:p>
            <a:r>
              <a:t>EXPLAIN THE PAPER'S ARGUMENT:</a:t>
            </a:r>
          </a:p>
          <a:p>
            <a:r>
              <a:t>"The ablation design lets us make a clean, causal argument in the paper: 'Controlling for everything else, adding satellite vegetation data improved 8-week-ahead tomato price MAPE by X%. Adding climate stress data on top of that improved it by an additional Y%.' These are the numbers that make reviewers sit up and take notice. No hand-waving about 'potential usefulness' — precise, quantified marginal contributions."</a:t>
            </a:r>
          </a:p>
          <a:p>
            <a:endParaRPr/>
          </a:p>
          <a:p>
            <a:r>
              <a:t>EXPLAIN THE STATUS:</a:t>
            </a:r>
          </a:p>
          <a:p>
            <a:r>
              <a:t>"M0 through M3 are running now. M4 results will be finalised once the 2025 GEE topup is incorporated — adding the fourth fold to the CV. M5 and M6 are pending data collection. For the paper's primary contribution, M0 through M4 is sufficient."</a:t>
            </a:r>
          </a:p>
          <a:p>
            <a:endParaRPr/>
          </a:p>
          <a:p>
            <a:r>
              <a:t>TRANSITION:</a:t>
            </a:r>
          </a:p>
          <a:p>
            <a:r>
              <a:t>"Let me give you a summary of the full code and data infrastructure."</a:t>
            </a:r>
          </a:p>
          <a:p>
            <a:endParaRPr/>
          </a:p>
          <a:p>
            <a:r>
              <a:t>━━━━━━━━━━━━━━━━━━━━━━━</a:t>
            </a:r>
          </a:p>
          <a:p>
            <a:r>
              <a:t>IF THE PI ASKS: "What if the satellite features do not show significant improvement?"</a:t>
            </a:r>
          </a:p>
          <a:p>
            <a:r>
              <a:t>ANSWER: "This is a legitimate concern and we have thought about it. If M3 shows no improvement over M2, it would mean that the national crop-average satellite signal does not add predictive value beyond price history and macro data. This would itself be a publishable finding — a null result that challenges the emerging literature on satellite price intelligence. We would then investigate whether the zone-specific join (robustness check) shows improvement for markets near their zones, which would suggest that local satellite signals do matter but the sparse zone coverage prevents capturing it nationally. Either way, the ablation design gives us a publishable result."</a:t>
            </a:r>
          </a:p>
          <a:p>
            <a:endParaRPr/>
          </a:p>
          <a:p>
            <a:r>
              <a:t>IF THE PI ASKS: "How do you calculate statistical significance for the MAPE differences?"</a:t>
            </a:r>
          </a:p>
          <a:p>
            <a:r>
              <a:t>ANSWER: "We use Diebold-Mariano tests — specifically designed for comparing forecast accuracy between two models. The DM test accounts for the autocorrelation in forecast errors and gives a p-value for whether the MAPE difference is statistically significant or could arise from random variation. We apply this pairwise between each adjacent model variant in the ablation — M0 vs M1, M1 vs M2, and so on — and report the p-values in the ablation table."</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15 — CODE INFRASTRUCTURE  |  Suggested time: 2 minutes</a:t>
            </a:r>
          </a:p>
          <a:p>
            <a:r>
              <a:t>━━━━━━━━━━━━━━━━━━━━━━━━━━━━━━━━━━━━━━━━━━━━━━━━━</a:t>
            </a:r>
          </a:p>
          <a:p>
            <a:endParaRPr/>
          </a:p>
          <a:p>
            <a:r>
              <a:t>OPENING LINE:</a:t>
            </a:r>
          </a:p>
          <a:p>
            <a:r>
              <a:t>"Let me give you a summary of the codebase and data files that underpin everything I have presented."</a:t>
            </a:r>
          </a:p>
          <a:p>
            <a:endParaRPr/>
          </a:p>
          <a:p>
            <a:r>
              <a:t>WALK THROUGH THE SCRIPT TABLE:</a:t>
            </a:r>
          </a:p>
          <a:p>
            <a:r>
              <a:t>"We have 16 Python scripts, each handling one layer or module of the pipeline. The total codebase is approximately 4,200 lines of Python plus 800 lines of Google Earth Engine JavaScript. The scripts run sequentially from 09 through 16 — Agmarknet panel, macro parser, market selection, LightGBM model, benchmarks, satellite-climate features, ablation study, and zone assignment."</a:t>
            </a:r>
          </a:p>
          <a:p>
            <a:endParaRPr/>
          </a:p>
          <a:p>
            <a:r>
              <a:t>HIGHLIGHT KEY SCRIPTS:</a:t>
            </a:r>
          </a:p>
          <a:p>
            <a:r>
              <a:t>→ "Script 14 is the largest at 650 lines. It is the data integration hub — it reads from all GEE folders, aligns to ISO weeks, imputes missing values, computes derived features, and produces the three modelling-ready output files."</a:t>
            </a:r>
          </a:p>
          <a:p>
            <a:r>
              <a:t>→ "Script 15 is 607 lines and runs the complete ablation study — all model variants, all folds, all horizons, all evaluation metrics, and all figures."</a:t>
            </a:r>
          </a:p>
          <a:p>
            <a:endParaRPr/>
          </a:p>
          <a:p>
            <a:r>
              <a:t>EXPLAIN THE DATA FILES (right panel):</a:t>
            </a:r>
          </a:p>
          <a:p>
            <a:r>
              <a:t>"The three weekly panel files for the three crops are the primary raw data — 70 MB, 35 MB, and 4 MB respectively. The crop_weekly_features.csv is the primary satellite-climate input for modelling — roughly 800 KB covering 3 crops times 470 weeks times 18 features. The zone_assignment.csv is the market-to-zone lookup table used by Script 14 to generate market_zone_features.csv."</a:t>
            </a:r>
          </a:p>
          <a:p>
            <a:endParaRPr/>
          </a:p>
          <a:p>
            <a:r>
              <a:t>MENTION GITHUB:</a:t>
            </a:r>
          </a:p>
          <a:p>
            <a:r>
              <a:t>"Everything except the 107 MB weekly panel file is on GitHub at masroor01/TOP-Digital-Twin. The exclusion is documented in .gitignore with a comment explaining the size limit. Any researcher can reproduce the full dataset from the raw Agmarknet downloads and our processing scripts."</a:t>
            </a:r>
          </a:p>
          <a:p>
            <a:endParaRPr/>
          </a:p>
          <a:p>
            <a:r>
              <a:t>TRANSITION:</a:t>
            </a:r>
          </a:p>
          <a:p>
            <a:r>
              <a:t>"Let me now show you the current status of the entire project on one page."</a:t>
            </a:r>
          </a:p>
          <a:p>
            <a:endParaRPr/>
          </a:p>
          <a:p>
            <a:r>
              <a:t>━━━━━━━━━━━━━━━━━━━━━━━</a:t>
            </a:r>
          </a:p>
          <a:p>
            <a:r>
              <a:t>IF THE PI ASKS: "Can another researcher reproduce your results?"</a:t>
            </a:r>
          </a:p>
          <a:p>
            <a:r>
              <a:t>ANSWER: "Yes — this is a priority for us. The five GEE scripts are in the repository and allow any GEE account holder to re-extract the same satellite and climate data. The Agmarknet panel can be reconstructed from the public Agmarknet portal with our date range and crop specifications. The geocode cache JSON file is in the repository so zone assignment runs without re-calling the API. The Python processing scripts handle all transformation steps. Full reproducibility is documented in a README in the repository."</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16 — STATUS DASHBOARD  |  Suggested time: 2 minutes</a:t>
            </a:r>
          </a:p>
          <a:p>
            <a:r>
              <a:t>━━━━━━━━━━━━━━━━━━━━━━━━━━━━━━━━━━━━━━━━━━━━━━━━━</a:t>
            </a:r>
          </a:p>
          <a:p>
            <a:endParaRPr/>
          </a:p>
          <a:p>
            <a:r>
              <a:t>OPENING LINE:</a:t>
            </a:r>
          </a:p>
          <a:p>
            <a:r>
              <a:t>"This slide gives a one-page view of where the project stands today. Green means complete, amber means in progress or next action, red means not yet started or blocked."</a:t>
            </a:r>
          </a:p>
          <a:p>
            <a:endParaRPr/>
          </a:p>
          <a:p>
            <a:r>
              <a:t>WALK THROUGH THE DASHBOARD:</a:t>
            </a:r>
          </a:p>
          <a:p>
            <a:endParaRPr/>
          </a:p>
          <a:p>
            <a:r>
              <a:t>→ GREEN ITEMS (100%): "Layers 1 and 4 — market prices and macro-logistics — are fully complete. The satellite and climate data for 2017 to 2024 is complete. The modelling pipeline — Module B LightGBM, benchmarks, and ablation M0 to M4 framework — is built and running."</a:t>
            </a:r>
          </a:p>
          <a:p>
            <a:endParaRPr/>
          </a:p>
          <a:p>
            <a:r>
              <a:t>→ AMBER ITEMS: "The immediate next action — the GEE 2025 topup — is at 60% because the scripts are written and tested but the execution is pending. Layer 6 policy data is at 15% because the letters have been sent but the compilation is not yet done. The ablation is at 70% because M0 to M3 are running but M4 awaits the complete 2025 fold."</a:t>
            </a:r>
          </a:p>
          <a:p>
            <a:endParaRPr/>
          </a:p>
          <a:p>
            <a:r>
              <a:t>→ RED ITEMS: "Layer 5 infrastructure, ablation M5 and M6, Modules C and D, crisis backtesting, and the manuscript draft are all not yet started. These are the work ahead of us."</a:t>
            </a:r>
          </a:p>
          <a:p>
            <a:endParaRPr/>
          </a:p>
          <a:p>
            <a:r>
              <a:t>KEY MESSAGE:</a:t>
            </a:r>
          </a:p>
          <a:p>
            <a:r>
              <a:t>"We are roughly 60% of the way through the full project. The hard data engineering — which is often the rate-limiting step in studies like this — is largely complete. What remains is finishing the modelling, the analysis, and the writing."</a:t>
            </a:r>
          </a:p>
          <a:p>
            <a:endParaRPr/>
          </a:p>
          <a:p>
            <a:r>
              <a:t>TRANSITION:</a:t>
            </a:r>
          </a:p>
          <a:p>
            <a:r>
              <a:t>"Let me spell out the specific pending actions and then show you the timeline to submission."</a:t>
            </a:r>
          </a:p>
          <a:p>
            <a:endParaRPr/>
          </a:p>
          <a:p>
            <a:r>
              <a:t>━━━━━━━━━━━━━━━━━━━━━━━</a:t>
            </a:r>
          </a:p>
          <a:p>
            <a:r>
              <a:t>IF THE PI ASKS: "Why is Module B only at 90% if the scripts are running?"</a:t>
            </a:r>
          </a:p>
          <a:p>
            <a:r>
              <a:t>ANSWER: "The final 10% is the 4th fold of the cross-validation — the 2025 test year. This requires the GEE 2025 topup data to be incorporated. Once Script 14 is re-run with 2025 data, Script 15 runs the 4th fold automatically. That is why the GEE topup is the single most important immediate action — it unlocks the final fold for every model in the ablation."</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17 — PENDING ACTIONS  |  Suggested time: 3 minutes</a:t>
            </a:r>
          </a:p>
          <a:p>
            <a:r>
              <a:t>━━━━━━━━━━━━━━━━━━━━━━━━━━━━━━━━━━━━━━━━━━━━━━━━━</a:t>
            </a:r>
          </a:p>
          <a:p>
            <a:endParaRPr/>
          </a:p>
          <a:p>
            <a:r>
              <a:t>OPENING LINE:</a:t>
            </a:r>
          </a:p>
          <a:p>
            <a:r>
              <a:t>"Let me be specific about the three tiers of remaining work and what is needed from the team and from the PI."</a:t>
            </a:r>
          </a:p>
          <a:p>
            <a:endParaRPr/>
          </a:p>
          <a:p>
            <a:r>
              <a:t>IMMEDIATE — THIS WEEK:</a:t>
            </a:r>
          </a:p>
          <a:p>
            <a:r>
              <a:t>"The GEE 2025 topup is entirely in my hands and takes about 2 hours. I open Google Earth Engine, paste each of the five scripts, click Run, then click Run All in the Tasks panel for each script. After the 85 exports complete — which runs in the background — I download the CSV files, organise them into the correct subfolders, and re-run Script 14 and Script 15. This gives us the complete 4-fold ablation table."</a:t>
            </a:r>
          </a:p>
          <a:p>
            <a:endParaRPr/>
          </a:p>
          <a:p>
            <a:r>
              <a:t>SHORT TERM — 2 TO 4 WEEKS:</a:t>
            </a:r>
          </a:p>
          <a:p>
            <a:r>
              <a:t>"Layer 6 policy data has two components. The public record — export ban dates, MEP notifications, NAFED tender announcements — can be compiled from APEDA's website and the Ministry of Commerce DGFT notification archive. These are publicly available; it is a 2-week manual research task. The institutional data — precise NAFED intervention quantities and buffer stock release dates — is what we are waiting for from our formal data requests. I have a fallback: if the institutional response does not come in time, I can code a binary export-ban dummy variable from the public record alone. That is sufficient for M6."</a:t>
            </a:r>
          </a:p>
          <a:p>
            <a:endParaRPr/>
          </a:p>
          <a:p>
            <a:r>
              <a:t>MEDIUM TERM — 4 TO 8 WEEKS:</a:t>
            </a:r>
          </a:p>
          <a:p>
            <a:r>
              <a:t>"Modules C and D are entirely code — no new data required. Module C uses Granger causality on the existing market price panel. Module D runs the trained model under perturbed input scenarios. Crisis backtesting also uses the trained model — it is a retrospective evaluation, not new modelling."</a:t>
            </a:r>
          </a:p>
          <a:p>
            <a:endParaRPr/>
          </a:p>
          <a:p>
            <a:r>
              <a:t>THE KEY DECISION — ASK THE PI:</a:t>
            </a:r>
          </a:p>
          <a:p>
            <a:r>
              <a:t>"I need guidance on one specific question before I can finalise the submission timeline. The choice is:</a:t>
            </a:r>
          </a:p>
          <a:p>
            <a:r>
              <a:t>Option A: Submit with M0 to M4 ablation and disclose M5 and M6 as planned future extensions. This enables submission in October or November 2026.</a:t>
            </a:r>
          </a:p>
          <a:p>
            <a:r>
              <a:t>Option B: Wait for Layer 5 infrastructure data and complete M5 and M6 before submitting. This extends the timeline to December 2026 or January 2027.</a:t>
            </a:r>
          </a:p>
          <a:p>
            <a:r>
              <a:t>My recommendation is Option A. The paper's primary contribution — the satellite and climate ablation across 3 crops and 4 horizons with 2,495 markets — is complete and compelling without M5 and M6. Those layers can be the foundation of a second paper."</a:t>
            </a:r>
          </a:p>
          <a:p>
            <a:endParaRPr/>
          </a:p>
          <a:p>
            <a:r>
              <a:t>TRANSITION:</a:t>
            </a:r>
          </a:p>
          <a:p>
            <a:r>
              <a:t>"Let me show you the full timeline to submission."</a:t>
            </a:r>
          </a:p>
          <a:p>
            <a:endParaRPr/>
          </a:p>
          <a:p>
            <a:r>
              <a:t>━━━━━━━━━━━━━━━━━━━━━━━</a:t>
            </a:r>
          </a:p>
          <a:p>
            <a:r>
              <a:t>IF THE PI ASKS: "What exactly do we need from NAFED?"</a:t>
            </a:r>
          </a:p>
          <a:p>
            <a:r>
              <a:t>ANSWER: "We need the dates and quantities of buffer stock releases — the times when NAFED released onion or potato from its buffer to dampen price spikes — and the dates of procurement operations. This information is in NAFED's annual reports which are publicly available, but the reports give annual aggregates, not the specific weekly intervention dates. We need the operational records for the 2017 to 2025 period. Our letter to NAFED requested this specific data."</a:t>
            </a:r>
          </a:p>
          <a:p>
            <a:endParaRPr/>
          </a:p>
          <a:p>
            <a:r>
              <a:t>IF THE PI ASKS: "Where does the cold storage data come from for Layer 5?"</a:t>
            </a:r>
          </a:p>
          <a:p>
            <a:r>
              <a:t>ANSWER: "National Horticulture Board publishes state-level cold storage capacity data in its annual reports — available online. Wafac and WDRA also have district-level data for registered warehouses. The challenge is that these are reported annually and require manual digitisation for 9 years across 28 states. It is a 1-week data collection task. Road connectivity data is from the PMGSY monitoring portal — district-level paved road density is available annually."</a:t>
            </a:r>
          </a:p>
          <a:p>
            <a:r>
              <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a:t>
            </a:r>
          </a:p>
          <a:p>
            <a:r>
              <a:t>SLIDE 18 — TIMELINE  |  Suggested time: 2–3 minutes</a:t>
            </a:r>
          </a:p>
          <a:p>
            <a:r>
              <a:t>━━━━━━━━━━━━━━━━━━━━━━━━━━━━━━━━━━━━━━━━━━━━━━━━━</a:t>
            </a:r>
          </a:p>
          <a:p>
            <a:endParaRPr/>
          </a:p>
          <a:p>
            <a:r>
              <a:t>OPENING LINE:</a:t>
            </a:r>
          </a:p>
          <a:p>
            <a:r>
              <a:t>"Let me close with the timeline to submission. If we move forward with Option A — M0 to M4 ablation, disclosing M5 and M6 as future work — the submission target is October to November 2026. That is 13 to 14 weeks from today."</a:t>
            </a:r>
          </a:p>
          <a:p>
            <a:endParaRPr/>
          </a:p>
          <a:p>
            <a:r>
              <a:t>WALK THROUGH THE KEY PHASES:</a:t>
            </a:r>
          </a:p>
          <a:p>
            <a:endParaRPr/>
          </a:p>
          <a:p>
            <a:r>
              <a:t>→ WEEKS 1 TO 2 — Data Finalization: "GEE topup this week. Layer 6 policy compilation in parallel over 2 weeks. Layer 5 infrastructure data if PI approves M5/M6 path."</a:t>
            </a:r>
          </a:p>
          <a:p>
            <a:endParaRPr/>
          </a:p>
          <a:p>
            <a:r>
              <a:t>→ WEEKS 2 TO 3 — Ablation M0 to M4 Final: "Re-run Script 14 and 15 after GEE topup. The complete ablation table with 4 folds will be ready by the end of week 3."</a:t>
            </a:r>
          </a:p>
          <a:p>
            <a:endParaRPr/>
          </a:p>
          <a:p>
            <a:r>
              <a:t>→ WEEKS 4 TO 6 — Modules C and D: "Granger causality analysis — about 2 weeks of coding. Scenario stress testing — another 2 weeks. These run in parallel where possible."</a:t>
            </a:r>
          </a:p>
          <a:p>
            <a:endParaRPr/>
          </a:p>
          <a:p>
            <a:r>
              <a:t>→ WEEKS 6 TO 8 — Crisis Backtesting: "Validate the trained model against 2019, 2020, and 2023 crises. Check whether the model would have flagged the spike 4 to 8 weeks in advance. Generate backtest figures."</a:t>
            </a:r>
          </a:p>
          <a:p>
            <a:endParaRPr/>
          </a:p>
          <a:p>
            <a:r>
              <a:t>→ WEEKS 8 TO 11 — Manuscript Draft: "Write all sections. Abstract, introduction, literature review, data, methods, results, discussion, conclusion. Generate any remaining figures. Internal review with co-authors."</a:t>
            </a:r>
          </a:p>
          <a:p>
            <a:endParaRPr/>
          </a:p>
          <a:p>
            <a:r>
              <a:t>→ WEEKS 11 TO 12 — PI and Co-author Review: "Revise based on feedback. Statistical review of all reported numbers. Final figure quality check."</a:t>
            </a:r>
          </a:p>
          <a:p>
            <a:endParaRPr/>
          </a:p>
          <a:p>
            <a:r>
              <a:t>→ WEEKS 13 TO 14 — SUBMISSION: "Final polish, cover letter, submit to Computers and Electronics in Agriculture. If rejected with major revisions, second choice is Agricultural Systems."</a:t>
            </a:r>
          </a:p>
          <a:p>
            <a:endParaRPr/>
          </a:p>
          <a:p>
            <a:r>
              <a:t>STATE THE JOURNAL CHOICE:</a:t>
            </a:r>
          </a:p>
          <a:p>
            <a:r>
              <a:t>"Our primary target is Computers and Electronics in Agriculture — Impact Factor 8.1, Q1 in Agricultural Engineering, Elsevier. It has published similar satellite-market integration studies and is the natural home for this work. Standard review time is 6 to 9 months post-submission. A submission in October or November 2026 could yield a decision in April to July 2027."</a:t>
            </a:r>
          </a:p>
          <a:p>
            <a:endParaRPr/>
          </a:p>
          <a:p>
            <a:r>
              <a:t>CLOSING STATEMENT:</a:t>
            </a:r>
          </a:p>
          <a:p>
            <a:r>
              <a:t>"To summarise: the foundation of this project is solid and largely complete. We have 9 years of data, 2,495 markets, 21 scripts, 29 figures, and a running model. The three remaining actions that matter most are: running the GEE topup this week, compiling the Layer 6 policy data over the next 2 weeks, and completing the manuscript draft over 8 weeks. I am confident we can deliver a Q1-quality paper by the end of this year. I look forward to your guidance."</a:t>
            </a:r>
          </a:p>
          <a:p>
            <a:endParaRPr/>
          </a:p>
          <a:p>
            <a:r>
              <a:t>━━━━━━━━━━━━━━━━━━━━━━━</a:t>
            </a:r>
          </a:p>
          <a:p>
            <a:r>
              <a:t>FINAL Q&amp;A PREPARATION — COMMON PI QUESTIONS:</a:t>
            </a:r>
          </a:p>
          <a:p>
            <a:endParaRPr/>
          </a:p>
          <a:p>
            <a:r>
              <a:t>Q: "What makes this different from the existing literature?"</a:t>
            </a:r>
          </a:p>
          <a:p>
            <a:r>
              <a:t>A: "Three things. First, scale: no published study has modelled this many markets simultaneously for Indian vegetables. Second, satellite integration: we are among the first to combine Sentinel-2 NDVI anomaly with ERA5 climate in a price forecasting framework for India. Third, the ablation design: we give a precise, quantified answer to how much each data layer contributes, which most studies do not."</a:t>
            </a:r>
          </a:p>
          <a:p>
            <a:endParaRPr/>
          </a:p>
          <a:p>
            <a:r>
              <a:t>Q: "Who else is working on similar problems?"</a:t>
            </a:r>
          </a:p>
          <a:p>
            <a:r>
              <a:t>A: "There is growing interest globally — Senay et al. for crop production, Adjemian et al. for commodity futures, Kshirsagar et al. for India specifically. No study combines the full 6-layer stack with a rigorous ablation at the national APMC panel scale. We reviewed 47 papers in our literature review and found no direct competitor."</a:t>
            </a:r>
          </a:p>
          <a:p>
            <a:endParaRPr/>
          </a:p>
          <a:p>
            <a:r>
              <a:t>Q: "Is this publishable in Computers and Electronics in Agriculture without the infrastructure and policy layers?"</a:t>
            </a:r>
          </a:p>
          <a:p>
            <a:r>
              <a:t>A: "Yes, confidently. CELA regularly publishes studies with 3 to 4 data layers and rigorous cross-validation. Our 4-layer ablation with 2,495 markets and 9 years of data at weekly resolution is above the threshold. M5 and M6 would strengthen the paper but are not required for acceptance."</a:t>
            </a:r>
          </a:p>
          <a:p>
            <a:endParaRPr/>
          </a:p>
          <a:p>
            <a:r>
              <a:t>Q: "What is the practical application of this work?"</a:t>
            </a:r>
          </a:p>
          <a:p>
            <a:r>
              <a:t>A: "Three immediate applications. One: State agriculture departments can use 8-week ahead forecasts to time market interventions and advise farmers on holding versus selling. Two: NAFED can use the spike classifier to decide when to pre-emptively release buffer stocks. Three: retailers and processors can use the model to negotiate forward contracts more accurately. We will include a 'policy implications' section in the paper."</a:t>
            </a:r>
          </a:p>
          <a:p>
            <a:endParaRPr/>
          </a:p>
          <a:p>
            <a:r>
              <a:t>━━━━━━━━━━━━━━━━━━━━━━━</a:t>
            </a:r>
          </a:p>
          <a:p>
            <a:endParaRPr/>
          </a:p>
          <a:p>
            <a:r>
              <a:t>GENERAL CONFIDENCE TIPS:</a:t>
            </a:r>
          </a:p>
          <a:p>
            <a:r>
              <a:t>• If you are asked a question you do not know the answer to, say: "That is a good point — I will check the specific number and revert to you. What I can tell you is the general direction..."</a:t>
            </a:r>
          </a:p>
          <a:p>
            <a:r>
              <a:t>• If a question is about a pending piece of work, say: "That is exactly what the [Module C / Layer 5 / backtest] will address. The framework is designed for it."</a:t>
            </a:r>
          </a:p>
          <a:p>
            <a:r>
              <a:t>• If a question feels aggressive or critical, breathe, and respond with: "That concern is valid and we have thought about it. Our approach is..."</a:t>
            </a:r>
          </a:p>
          <a:p>
            <a:r>
              <a:t>• Speak slowly. You know this material better than anyone in the room.</a:t>
            </a:r>
          </a:p>
          <a:p>
            <a:r>
              <a:t>• If asked about something not on a slide, refer to your notes calmly — "Let me just check the specific figure..."</a:t>
            </a:r>
          </a:p>
          <a:p>
            <a:r>
              <a:t>• Numbers to have ready without looking: 470 weeks, 2,495 markets, 590 km mean distance, 18 features, 85 GEE exports, 16 Python scripts.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474720"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0" y="3182112"/>
            <a:ext cx="8714232" cy="5486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8600" y="640080"/>
            <a:ext cx="3017520" cy="411480"/>
          </a:xfrm>
          <a:prstGeom prst="rect">
            <a:avLst/>
          </a:prstGeom>
          <a:noFill/>
        </p:spPr>
        <p:txBody>
          <a:bodyPr wrap="square">
            <a:spAutoFit/>
          </a:bodyPr>
          <a:lstStyle/>
          <a:p>
            <a:pPr algn="l"/>
            <a:r>
              <a:rPr sz="1000" b="1" i="0">
                <a:solidFill>
                  <a:srgbClr val="E8A020"/>
                </a:solidFill>
                <a:latin typeface="Calibri"/>
              </a:rPr>
              <a:t>PROGRESS REPORT</a:t>
            </a:r>
          </a:p>
        </p:txBody>
      </p:sp>
      <p:sp>
        <p:nvSpPr>
          <p:cNvPr id="6" name="TextBox 5"/>
          <p:cNvSpPr txBox="1"/>
          <p:nvPr/>
        </p:nvSpPr>
        <p:spPr>
          <a:xfrm>
            <a:off x="228600" y="1051560"/>
            <a:ext cx="3017520" cy="3840480"/>
          </a:xfrm>
          <a:prstGeom prst="rect">
            <a:avLst/>
          </a:prstGeom>
          <a:noFill/>
        </p:spPr>
        <p:txBody>
          <a:bodyPr wrap="square">
            <a:spAutoFit/>
          </a:bodyPr>
          <a:lstStyle/>
          <a:p>
            <a:pPr algn="l"/>
            <a:r>
              <a:rPr sz="4400" b="1" i="0">
                <a:solidFill>
                  <a:srgbClr val="FFFFFF"/>
                </a:solidFill>
                <a:latin typeface="Calibri"/>
              </a:rPr>
              <a:t>TOP
Digital
Twin</a:t>
            </a:r>
          </a:p>
        </p:txBody>
      </p:sp>
      <p:sp>
        <p:nvSpPr>
          <p:cNvPr id="7" name="Rectangle 6"/>
          <p:cNvSpPr/>
          <p:nvPr/>
        </p:nvSpPr>
        <p:spPr>
          <a:xfrm>
            <a:off x="201168" y="5577840"/>
            <a:ext cx="960120" cy="274320"/>
          </a:xfrm>
          <a:prstGeom prst="rect">
            <a:avLst/>
          </a:prstGeom>
          <a:solidFill>
            <a:srgbClr val="FFB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5596128"/>
            <a:ext cx="914400" cy="237744"/>
          </a:xfrm>
          <a:prstGeom prst="rect">
            <a:avLst/>
          </a:prstGeom>
          <a:noFill/>
        </p:spPr>
        <p:txBody>
          <a:bodyPr wrap="square">
            <a:spAutoFit/>
          </a:bodyPr>
          <a:lstStyle/>
          <a:p>
            <a:pPr algn="ctr"/>
            <a:r>
              <a:rPr sz="800" b="1" i="0">
                <a:solidFill>
                  <a:srgbClr val="1A2E1E"/>
                </a:solidFill>
                <a:latin typeface="Calibri"/>
              </a:rPr>
              <a:t>TOMATO</a:t>
            </a:r>
          </a:p>
        </p:txBody>
      </p:sp>
      <p:sp>
        <p:nvSpPr>
          <p:cNvPr id="9" name="Rectangle 8"/>
          <p:cNvSpPr/>
          <p:nvPr/>
        </p:nvSpPr>
        <p:spPr>
          <a:xfrm>
            <a:off x="1252728" y="5577840"/>
            <a:ext cx="960120" cy="2743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9304" y="5596128"/>
            <a:ext cx="914400" cy="237744"/>
          </a:xfrm>
          <a:prstGeom prst="rect">
            <a:avLst/>
          </a:prstGeom>
          <a:noFill/>
        </p:spPr>
        <p:txBody>
          <a:bodyPr wrap="square">
            <a:spAutoFit/>
          </a:bodyPr>
          <a:lstStyle/>
          <a:p>
            <a:pPr algn="ctr"/>
            <a:r>
              <a:rPr sz="800" b="1" i="0">
                <a:solidFill>
                  <a:srgbClr val="1A2E1E"/>
                </a:solidFill>
                <a:latin typeface="Calibri"/>
              </a:rPr>
              <a:t>ONION</a:t>
            </a:r>
          </a:p>
        </p:txBody>
      </p:sp>
      <p:sp>
        <p:nvSpPr>
          <p:cNvPr id="11" name="Rectangle 10"/>
          <p:cNvSpPr/>
          <p:nvPr/>
        </p:nvSpPr>
        <p:spPr>
          <a:xfrm>
            <a:off x="2304288" y="5577840"/>
            <a:ext cx="960120" cy="274320"/>
          </a:xfrm>
          <a:prstGeom prst="rect">
            <a:avLst/>
          </a:prstGeom>
          <a:solidFill>
            <a:srgbClr val="90C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5596128"/>
            <a:ext cx="914400" cy="237744"/>
          </a:xfrm>
          <a:prstGeom prst="rect">
            <a:avLst/>
          </a:prstGeom>
          <a:noFill/>
        </p:spPr>
        <p:txBody>
          <a:bodyPr wrap="square">
            <a:spAutoFit/>
          </a:bodyPr>
          <a:lstStyle/>
          <a:p>
            <a:pPr algn="ctr"/>
            <a:r>
              <a:rPr sz="800" b="1" i="0">
                <a:solidFill>
                  <a:srgbClr val="1A2E1E"/>
                </a:solidFill>
                <a:latin typeface="Calibri"/>
              </a:rPr>
              <a:t>POTATO</a:t>
            </a:r>
          </a:p>
        </p:txBody>
      </p:sp>
      <p:sp>
        <p:nvSpPr>
          <p:cNvPr id="13" name="TextBox 12"/>
          <p:cNvSpPr txBox="1"/>
          <p:nvPr/>
        </p:nvSpPr>
        <p:spPr>
          <a:xfrm>
            <a:off x="3749039" y="548640"/>
            <a:ext cx="8229600" cy="777240"/>
          </a:xfrm>
          <a:prstGeom prst="rect">
            <a:avLst/>
          </a:prstGeom>
          <a:noFill/>
        </p:spPr>
        <p:txBody>
          <a:bodyPr wrap="square">
            <a:spAutoFit/>
          </a:bodyPr>
          <a:lstStyle/>
          <a:p>
            <a:pPr algn="l"/>
            <a:r>
              <a:rPr sz="1900" b="0" i="0">
                <a:solidFill>
                  <a:srgbClr val="C8DDD0"/>
                </a:solidFill>
                <a:latin typeface="Calibri"/>
              </a:rPr>
              <a:t>A Price-Forecasting Digital Twin
for India's Agricultural Commodity Markets</a:t>
            </a:r>
          </a:p>
        </p:txBody>
      </p:sp>
      <p:sp>
        <p:nvSpPr>
          <p:cNvPr id="14" name="TextBox 13"/>
          <p:cNvSpPr txBox="1"/>
          <p:nvPr/>
        </p:nvSpPr>
        <p:spPr>
          <a:xfrm>
            <a:off x="3749039" y="1463040"/>
            <a:ext cx="8229600" cy="384048"/>
          </a:xfrm>
          <a:prstGeom prst="rect">
            <a:avLst/>
          </a:prstGeom>
          <a:noFill/>
        </p:spPr>
        <p:txBody>
          <a:bodyPr wrap="square">
            <a:spAutoFit/>
          </a:bodyPr>
          <a:lstStyle/>
          <a:p>
            <a:pPr algn="l"/>
            <a:r>
              <a:rPr sz="1300" b="0" i="1">
                <a:solidFill>
                  <a:srgbClr val="5A6A60"/>
                </a:solidFill>
                <a:latin typeface="Calibri"/>
              </a:rPr>
              <a:t>Integrating Satellite Imagery  ·  Climate Stress  ·  Market Price Dynamics</a:t>
            </a:r>
          </a:p>
        </p:txBody>
      </p:sp>
      <p:sp>
        <p:nvSpPr>
          <p:cNvPr id="15" name="Rectangle 14"/>
          <p:cNvSpPr/>
          <p:nvPr/>
        </p:nvSpPr>
        <p:spPr>
          <a:xfrm>
            <a:off x="3749039" y="2057400"/>
            <a:ext cx="8229600" cy="22860"/>
          </a:xfrm>
          <a:prstGeom prst="rect">
            <a:avLst/>
          </a:prstGeom>
          <a:solidFill>
            <a:srgbClr val="2A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39" y="2240280"/>
            <a:ext cx="8229600" cy="292388"/>
          </a:xfrm>
          <a:prstGeom prst="rect">
            <a:avLst/>
          </a:prstGeom>
          <a:noFill/>
        </p:spPr>
        <p:txBody>
          <a:bodyPr wrap="square">
            <a:spAutoFit/>
          </a:bodyPr>
          <a:lstStyle/>
          <a:p>
            <a:pPr algn="l"/>
            <a:r>
              <a:rPr lang="en-US" sz="1300" b="1" i="0" dirty="0">
                <a:solidFill>
                  <a:srgbClr val="FFFFFF"/>
                </a:solidFill>
                <a:latin typeface="Calibri"/>
              </a:rPr>
              <a:t>Project Review</a:t>
            </a:r>
            <a:endParaRPr sz="1300" b="1" i="0" dirty="0">
              <a:solidFill>
                <a:srgbClr val="FFFFFF"/>
              </a:solidFill>
              <a:latin typeface="Calibri"/>
            </a:endParaRPr>
          </a:p>
        </p:txBody>
      </p:sp>
      <p:sp>
        <p:nvSpPr>
          <p:cNvPr id="17" name="TextBox 16"/>
          <p:cNvSpPr txBox="1"/>
          <p:nvPr/>
        </p:nvSpPr>
        <p:spPr>
          <a:xfrm>
            <a:off x="3749039" y="2651760"/>
            <a:ext cx="8229600" cy="320040"/>
          </a:xfrm>
          <a:prstGeom prst="rect">
            <a:avLst/>
          </a:prstGeom>
          <a:noFill/>
        </p:spPr>
        <p:txBody>
          <a:bodyPr wrap="square">
            <a:spAutoFit/>
          </a:bodyPr>
          <a:lstStyle/>
          <a:p>
            <a:pPr algn="l"/>
            <a:r>
              <a:rPr sz="1200" b="0" i="0">
                <a:solidFill>
                  <a:srgbClr val="5A6A60"/>
                </a:solidFill>
                <a:latin typeface="Calibri"/>
              </a:rPr>
              <a:t>Dr. Masroor  ·  SKUAST-K  ·  July 2026</a:t>
            </a:r>
          </a:p>
        </p:txBody>
      </p:sp>
      <p:sp>
        <p:nvSpPr>
          <p:cNvPr id="18" name="Rectangle 17"/>
          <p:cNvSpPr/>
          <p:nvPr/>
        </p:nvSpPr>
        <p:spPr>
          <a:xfrm>
            <a:off x="3749039" y="3429000"/>
            <a:ext cx="1920240" cy="10515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49039" y="3534156"/>
            <a:ext cx="1920240" cy="546811"/>
          </a:xfrm>
          <a:prstGeom prst="rect">
            <a:avLst/>
          </a:prstGeom>
          <a:noFill/>
        </p:spPr>
        <p:txBody>
          <a:bodyPr wrap="square">
            <a:spAutoFit/>
          </a:bodyPr>
          <a:lstStyle/>
          <a:p>
            <a:pPr algn="ctr"/>
            <a:r>
              <a:rPr sz="2600" b="1" i="0">
                <a:solidFill>
                  <a:srgbClr val="FFFFFF"/>
                </a:solidFill>
                <a:latin typeface="Calibri"/>
              </a:rPr>
              <a:t>470</a:t>
            </a:r>
          </a:p>
        </p:txBody>
      </p:sp>
      <p:sp>
        <p:nvSpPr>
          <p:cNvPr id="20" name="TextBox 19"/>
          <p:cNvSpPr txBox="1"/>
          <p:nvPr/>
        </p:nvSpPr>
        <p:spPr>
          <a:xfrm>
            <a:off x="3794759" y="4080967"/>
            <a:ext cx="1828800" cy="368046"/>
          </a:xfrm>
          <a:prstGeom prst="rect">
            <a:avLst/>
          </a:prstGeom>
          <a:noFill/>
        </p:spPr>
        <p:txBody>
          <a:bodyPr wrap="square">
            <a:spAutoFit/>
          </a:bodyPr>
          <a:lstStyle/>
          <a:p>
            <a:pPr algn="ctr"/>
            <a:r>
              <a:rPr sz="900" b="0" i="0">
                <a:solidFill>
                  <a:srgbClr val="FFFFFF"/>
                </a:solidFill>
                <a:latin typeface="Calibri"/>
              </a:rPr>
              <a:t>ISO Weeks
2017–2025</a:t>
            </a:r>
          </a:p>
        </p:txBody>
      </p:sp>
      <p:sp>
        <p:nvSpPr>
          <p:cNvPr id="21" name="Rectangle 20"/>
          <p:cNvSpPr/>
          <p:nvPr/>
        </p:nvSpPr>
        <p:spPr>
          <a:xfrm>
            <a:off x="5852159" y="3429000"/>
            <a:ext cx="1920240" cy="1051560"/>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59" y="3534156"/>
            <a:ext cx="1920240" cy="546811"/>
          </a:xfrm>
          <a:prstGeom prst="rect">
            <a:avLst/>
          </a:prstGeom>
          <a:noFill/>
        </p:spPr>
        <p:txBody>
          <a:bodyPr wrap="square">
            <a:spAutoFit/>
          </a:bodyPr>
          <a:lstStyle/>
          <a:p>
            <a:pPr algn="ctr"/>
            <a:r>
              <a:rPr sz="2600" b="1" i="0">
                <a:solidFill>
                  <a:srgbClr val="FFFFFF"/>
                </a:solidFill>
                <a:latin typeface="Calibri"/>
              </a:rPr>
              <a:t>2,495</a:t>
            </a:r>
          </a:p>
        </p:txBody>
      </p:sp>
      <p:sp>
        <p:nvSpPr>
          <p:cNvPr id="23" name="TextBox 22"/>
          <p:cNvSpPr txBox="1"/>
          <p:nvPr/>
        </p:nvSpPr>
        <p:spPr>
          <a:xfrm>
            <a:off x="5897879" y="4080967"/>
            <a:ext cx="1828800" cy="368046"/>
          </a:xfrm>
          <a:prstGeom prst="rect">
            <a:avLst/>
          </a:prstGeom>
          <a:noFill/>
        </p:spPr>
        <p:txBody>
          <a:bodyPr wrap="square">
            <a:spAutoFit/>
          </a:bodyPr>
          <a:lstStyle/>
          <a:p>
            <a:pPr algn="ctr"/>
            <a:r>
              <a:rPr sz="900" b="0" i="0">
                <a:solidFill>
                  <a:srgbClr val="FFFFFF"/>
                </a:solidFill>
                <a:latin typeface="Calibri"/>
              </a:rPr>
              <a:t>APMC Markets
3 Crops</a:t>
            </a:r>
          </a:p>
        </p:txBody>
      </p:sp>
      <p:sp>
        <p:nvSpPr>
          <p:cNvPr id="24" name="Rectangle 23"/>
          <p:cNvSpPr/>
          <p:nvPr/>
        </p:nvSpPr>
        <p:spPr>
          <a:xfrm>
            <a:off x="7955279" y="3429000"/>
            <a:ext cx="1920240" cy="1051560"/>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79" y="3534156"/>
            <a:ext cx="1920240" cy="546811"/>
          </a:xfrm>
          <a:prstGeom prst="rect">
            <a:avLst/>
          </a:prstGeom>
          <a:noFill/>
        </p:spPr>
        <p:txBody>
          <a:bodyPr wrap="square">
            <a:spAutoFit/>
          </a:bodyPr>
          <a:lstStyle/>
          <a:p>
            <a:pPr algn="ctr"/>
            <a:r>
              <a:rPr sz="2600" b="1" i="0">
                <a:solidFill>
                  <a:srgbClr val="FFFFFF"/>
                </a:solidFill>
                <a:latin typeface="Calibri"/>
              </a:rPr>
              <a:t>16</a:t>
            </a:r>
          </a:p>
        </p:txBody>
      </p:sp>
      <p:sp>
        <p:nvSpPr>
          <p:cNvPr id="26" name="TextBox 25"/>
          <p:cNvSpPr txBox="1"/>
          <p:nvPr/>
        </p:nvSpPr>
        <p:spPr>
          <a:xfrm>
            <a:off x="8001000" y="4080967"/>
            <a:ext cx="1828800" cy="368046"/>
          </a:xfrm>
          <a:prstGeom prst="rect">
            <a:avLst/>
          </a:prstGeom>
          <a:noFill/>
        </p:spPr>
        <p:txBody>
          <a:bodyPr wrap="square">
            <a:spAutoFit/>
          </a:bodyPr>
          <a:lstStyle/>
          <a:p>
            <a:pPr algn="ctr"/>
            <a:r>
              <a:rPr sz="900" b="0" i="0">
                <a:solidFill>
                  <a:srgbClr val="FFFFFF"/>
                </a:solidFill>
                <a:latin typeface="Calibri"/>
              </a:rPr>
              <a:t>Python Scripts
Built</a:t>
            </a:r>
          </a:p>
        </p:txBody>
      </p:sp>
      <p:sp>
        <p:nvSpPr>
          <p:cNvPr id="27" name="Rectangle 26"/>
          <p:cNvSpPr/>
          <p:nvPr/>
        </p:nvSpPr>
        <p:spPr>
          <a:xfrm>
            <a:off x="10058400" y="3429000"/>
            <a:ext cx="1920240" cy="10515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0" y="3534156"/>
            <a:ext cx="1920240" cy="546811"/>
          </a:xfrm>
          <a:prstGeom prst="rect">
            <a:avLst/>
          </a:prstGeom>
          <a:noFill/>
        </p:spPr>
        <p:txBody>
          <a:bodyPr wrap="square">
            <a:spAutoFit/>
          </a:bodyPr>
          <a:lstStyle/>
          <a:p>
            <a:pPr algn="ctr"/>
            <a:r>
              <a:rPr sz="2600" b="1" i="0">
                <a:solidFill>
                  <a:srgbClr val="FFFFFF"/>
                </a:solidFill>
                <a:latin typeface="Calibri"/>
              </a:rPr>
              <a:t>29</a:t>
            </a:r>
          </a:p>
        </p:txBody>
      </p:sp>
      <p:sp>
        <p:nvSpPr>
          <p:cNvPr id="29" name="TextBox 28"/>
          <p:cNvSpPr txBox="1"/>
          <p:nvPr/>
        </p:nvSpPr>
        <p:spPr>
          <a:xfrm>
            <a:off x="10104120" y="4080967"/>
            <a:ext cx="1828800" cy="368046"/>
          </a:xfrm>
          <a:prstGeom prst="rect">
            <a:avLst/>
          </a:prstGeom>
          <a:noFill/>
        </p:spPr>
        <p:txBody>
          <a:bodyPr wrap="square">
            <a:spAutoFit/>
          </a:bodyPr>
          <a:lstStyle/>
          <a:p>
            <a:pPr algn="ctr"/>
            <a:r>
              <a:rPr sz="900" b="0" i="0">
                <a:solidFill>
                  <a:srgbClr val="FFFFFF"/>
                </a:solidFill>
                <a:latin typeface="Calibri"/>
              </a:rPr>
              <a:t>Paper Figures
Generated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The Research Problem</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Why India's TOP crop prices demand a data-driven forecasting solution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Rectangle 9"/>
          <p:cNvSpPr/>
          <p:nvPr/>
        </p:nvSpPr>
        <p:spPr>
          <a:xfrm>
            <a:off x="182880" y="1097280"/>
            <a:ext cx="5577840" cy="5303520"/>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188720"/>
            <a:ext cx="5303520" cy="347472"/>
          </a:xfrm>
          <a:prstGeom prst="rect">
            <a:avLst/>
          </a:prstGeom>
          <a:noFill/>
        </p:spPr>
        <p:txBody>
          <a:bodyPr wrap="square">
            <a:spAutoFit/>
          </a:bodyPr>
          <a:lstStyle/>
          <a:p>
            <a:pPr algn="l"/>
            <a:r>
              <a:rPr sz="1100" b="1" i="0">
                <a:solidFill>
                  <a:srgbClr val="1E6B45"/>
                </a:solidFill>
                <a:latin typeface="Calibri"/>
              </a:rPr>
              <a:t>THE VOLATILITY PROBLEM</a:t>
            </a:r>
          </a:p>
        </p:txBody>
      </p:sp>
      <p:sp>
        <p:nvSpPr>
          <p:cNvPr id="12" name="TextBox 11"/>
          <p:cNvSpPr txBox="1"/>
          <p:nvPr/>
        </p:nvSpPr>
        <p:spPr>
          <a:xfrm>
            <a:off x="320040" y="1572768"/>
            <a:ext cx="5303520" cy="3291840"/>
          </a:xfrm>
          <a:prstGeom prst="rect">
            <a:avLst/>
          </a:prstGeom>
          <a:noFill/>
        </p:spPr>
        <p:txBody>
          <a:bodyPr wrap="square">
            <a:spAutoFit/>
          </a:bodyPr>
          <a:lstStyle/>
          <a:p>
            <a:pPr>
              <a:spcBef>
                <a:spcPts val="600"/>
              </a:spcBef>
            </a:pPr>
            <a:r>
              <a:rPr sz="1150">
                <a:solidFill>
                  <a:srgbClr val="1A2E1E"/>
                </a:solidFill>
                <a:latin typeface="Calibri"/>
              </a:rPr>
              <a:t>▸  India produces ~175 MT vegetables annually; TOP crops account for ~27% of total output and an even larger share of farm income volatility.</a:t>
            </a:r>
          </a:p>
          <a:p>
            <a:pPr>
              <a:spcBef>
                <a:spcPts val="600"/>
              </a:spcBef>
            </a:pPr>
            <a:r>
              <a:rPr sz="1150">
                <a:solidFill>
                  <a:srgbClr val="1A2E1E"/>
                </a:solidFill>
                <a:latin typeface="Calibri"/>
              </a:rPr>
              <a:t>▸  Tomato prices can swing ±400% within a single season — from ₹2/kg at harvest to ₹120/kg at peak scarcity.</a:t>
            </a:r>
          </a:p>
          <a:p>
            <a:pPr>
              <a:spcBef>
                <a:spcPts val="600"/>
              </a:spcBef>
            </a:pPr>
            <a:r>
              <a:rPr sz="1150">
                <a:solidFill>
                  <a:srgbClr val="1A2E1E"/>
                </a:solidFill>
                <a:latin typeface="Calibri"/>
              </a:rPr>
              <a:t>▸  2019 Onion Crisis: prices hit ₹150–200/kg; government banned exports, NAFED intervened with buffer stock releases.</a:t>
            </a:r>
          </a:p>
          <a:p>
            <a:pPr>
              <a:spcBef>
                <a:spcPts val="600"/>
              </a:spcBef>
            </a:pPr>
            <a:r>
              <a:rPr sz="1150">
                <a:solidFill>
                  <a:srgbClr val="1A2E1E"/>
                </a:solidFill>
                <a:latin typeface="Calibri"/>
              </a:rPr>
              <a:t>▸  2023 Tomato Spike: retail prices crossed ₹250/kg in multiple metros within weeks of a supply shock in Kolar.</a:t>
            </a:r>
          </a:p>
          <a:p>
            <a:pPr>
              <a:spcBef>
                <a:spcPts val="600"/>
              </a:spcBef>
            </a:pPr>
            <a:r>
              <a:rPr sz="1150">
                <a:solidFill>
                  <a:srgbClr val="1A2E1E"/>
                </a:solidFill>
                <a:latin typeface="Calibri"/>
              </a:rPr>
              <a:t>▸  COVID-2020: supply chain disruptions caused simultaneous price crashes at farm gate and price spikes in retail markets.</a:t>
            </a:r>
          </a:p>
        </p:txBody>
      </p:sp>
      <p:sp>
        <p:nvSpPr>
          <p:cNvPr id="13" name="Rectangle 12"/>
          <p:cNvSpPr/>
          <p:nvPr/>
        </p:nvSpPr>
        <p:spPr>
          <a:xfrm>
            <a:off x="5989320" y="1097280"/>
            <a:ext cx="5943600" cy="5303520"/>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188720"/>
            <a:ext cx="5669280" cy="347472"/>
          </a:xfrm>
          <a:prstGeom prst="rect">
            <a:avLst/>
          </a:prstGeom>
          <a:noFill/>
        </p:spPr>
        <p:txBody>
          <a:bodyPr wrap="square">
            <a:spAutoFit/>
          </a:bodyPr>
          <a:lstStyle/>
          <a:p>
            <a:pPr algn="l"/>
            <a:r>
              <a:rPr sz="1100" b="1" i="0">
                <a:solidFill>
                  <a:srgbClr val="1E6B45"/>
                </a:solidFill>
                <a:latin typeface="Calibri"/>
              </a:rPr>
              <a:t>THE FORECASTING OPPORTUNITY</a:t>
            </a:r>
          </a:p>
        </p:txBody>
      </p:sp>
      <p:sp>
        <p:nvSpPr>
          <p:cNvPr id="15" name="TextBox 14"/>
          <p:cNvSpPr txBox="1"/>
          <p:nvPr/>
        </p:nvSpPr>
        <p:spPr>
          <a:xfrm>
            <a:off x="6126480" y="1572768"/>
            <a:ext cx="5669280" cy="2377440"/>
          </a:xfrm>
          <a:prstGeom prst="rect">
            <a:avLst/>
          </a:prstGeom>
          <a:noFill/>
        </p:spPr>
        <p:txBody>
          <a:bodyPr wrap="square">
            <a:spAutoFit/>
          </a:bodyPr>
          <a:lstStyle/>
          <a:p>
            <a:pPr>
              <a:spcBef>
                <a:spcPts val="600"/>
              </a:spcBef>
            </a:pPr>
            <a:r>
              <a:rPr sz="1150">
                <a:solidFill>
                  <a:srgbClr val="1A2E1E"/>
                </a:solidFill>
                <a:latin typeface="Calibri"/>
              </a:rPr>
              <a:t>▸  Current policy response is REACTIVE: interventions happen after the crisis is visible in retail prices.</a:t>
            </a:r>
          </a:p>
          <a:p>
            <a:pPr>
              <a:spcBef>
                <a:spcPts val="600"/>
              </a:spcBef>
            </a:pPr>
            <a:r>
              <a:rPr sz="1150">
                <a:solidFill>
                  <a:srgbClr val="1A2E1E"/>
                </a:solidFill>
                <a:latin typeface="Calibri"/>
              </a:rPr>
              <a:t>▸  Existing models rely on national-level monthly data — too coarse, too slow.</a:t>
            </a:r>
          </a:p>
          <a:p>
            <a:pPr>
              <a:spcBef>
                <a:spcPts val="600"/>
              </a:spcBef>
            </a:pPr>
            <a:r>
              <a:rPr sz="1150">
                <a:solidFill>
                  <a:srgbClr val="1A2E1E"/>
                </a:solidFill>
                <a:latin typeface="Calibri"/>
              </a:rPr>
              <a:t>▸  A 9-year, 470-week panel of APMC prices + satellite vegetation health + climate stress makes PREDICTIVE intelligence possible.</a:t>
            </a:r>
          </a:p>
          <a:p>
            <a:pPr>
              <a:spcBef>
                <a:spcPts val="600"/>
              </a:spcBef>
            </a:pPr>
            <a:r>
              <a:rPr sz="1150">
                <a:solidFill>
                  <a:srgbClr val="1A2E1E"/>
                </a:solidFill>
                <a:latin typeface="Calibri"/>
              </a:rPr>
              <a:t>▸  First study to jointly model supply-side satellite signals, climate risk, and macro-logistics for Indian vegetable price forecasting.</a:t>
            </a:r>
          </a:p>
        </p:txBody>
      </p:sp>
      <p:sp>
        <p:nvSpPr>
          <p:cNvPr id="16" name="TextBox 15"/>
          <p:cNvSpPr txBox="1"/>
          <p:nvPr/>
        </p:nvSpPr>
        <p:spPr>
          <a:xfrm>
            <a:off x="6126480" y="4069080"/>
            <a:ext cx="5669280" cy="347472"/>
          </a:xfrm>
          <a:prstGeom prst="rect">
            <a:avLst/>
          </a:prstGeom>
          <a:noFill/>
        </p:spPr>
        <p:txBody>
          <a:bodyPr wrap="square">
            <a:spAutoFit/>
          </a:bodyPr>
          <a:lstStyle/>
          <a:p>
            <a:pPr algn="l"/>
            <a:r>
              <a:rPr sz="1100" b="1" i="0">
                <a:solidFill>
                  <a:srgbClr val="E8A020"/>
                </a:solidFill>
                <a:latin typeface="Calibri"/>
              </a:rPr>
              <a:t>THE RESEARCH GAP WE FILL</a:t>
            </a:r>
          </a:p>
        </p:txBody>
      </p:sp>
      <p:sp>
        <p:nvSpPr>
          <p:cNvPr id="17" name="TextBox 16"/>
          <p:cNvSpPr txBox="1"/>
          <p:nvPr/>
        </p:nvSpPr>
        <p:spPr>
          <a:xfrm>
            <a:off x="6126480" y="4453128"/>
            <a:ext cx="5669280" cy="1828800"/>
          </a:xfrm>
          <a:prstGeom prst="rect">
            <a:avLst/>
          </a:prstGeom>
          <a:noFill/>
        </p:spPr>
        <p:txBody>
          <a:bodyPr wrap="square">
            <a:spAutoFit/>
          </a:bodyPr>
          <a:lstStyle/>
          <a:p>
            <a:pPr>
              <a:spcBef>
                <a:spcPts val="500"/>
              </a:spcBef>
            </a:pPr>
            <a:r>
              <a:rPr sz="1150">
                <a:solidFill>
                  <a:srgbClr val="1A2E1E"/>
                </a:solidFill>
                <a:latin typeface="Calibri"/>
              </a:rPr>
              <a:t>▸  Weekly granularity across all major APMC markets (not state averages)</a:t>
            </a:r>
          </a:p>
          <a:p>
            <a:pPr>
              <a:spcBef>
                <a:spcPts val="500"/>
              </a:spcBef>
            </a:pPr>
            <a:r>
              <a:rPr sz="1150">
                <a:solidFill>
                  <a:srgbClr val="1A2E1E"/>
                </a:solidFill>
                <a:latin typeface="Calibri"/>
              </a:rPr>
              <a:t>▸  Supply-side signals: satellite NDVI anomaly + heat stress days from production zones</a:t>
            </a:r>
          </a:p>
          <a:p>
            <a:pPr>
              <a:spcBef>
                <a:spcPts val="500"/>
              </a:spcBef>
            </a:pPr>
            <a:r>
              <a:rPr sz="1150">
                <a:solidFill>
                  <a:srgbClr val="1A2E1E"/>
                </a:solidFill>
                <a:latin typeface="Calibri"/>
              </a:rPr>
              <a:t>▸  Rolling-origin validation: 4 test years (2022–2025) with 4 forecast horizons</a:t>
            </a:r>
          </a:p>
          <a:p>
            <a:pPr>
              <a:spcBef>
                <a:spcPts val="500"/>
              </a:spcBef>
            </a:pPr>
            <a:r>
              <a:rPr sz="1150">
                <a:solidFill>
                  <a:srgbClr val="1A2E1E"/>
                </a:solidFill>
                <a:latin typeface="Calibri"/>
              </a:rPr>
              <a:t>▸  Ablation design proves the marginal value of each data layer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Project Architecture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Six data layers feeding four analytical modules — the complete digital twin design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51560"/>
            <a:ext cx="5943600" cy="320040"/>
          </a:xfrm>
          <a:prstGeom prst="rect">
            <a:avLst/>
          </a:prstGeom>
          <a:noFill/>
        </p:spPr>
        <p:txBody>
          <a:bodyPr wrap="square">
            <a:spAutoFit/>
          </a:bodyPr>
          <a:lstStyle/>
          <a:p>
            <a:pPr algn="l"/>
            <a:r>
              <a:rPr sz="1100" b="1" i="0">
                <a:solidFill>
                  <a:srgbClr val="1E6B45"/>
                </a:solidFill>
                <a:latin typeface="Calibri"/>
              </a:rPr>
              <a:t>DATA LAYERS</a:t>
            </a:r>
          </a:p>
        </p:txBody>
      </p:sp>
      <p:sp>
        <p:nvSpPr>
          <p:cNvPr id="11" name="Rectangle 10"/>
          <p:cNvSpPr/>
          <p:nvPr/>
        </p:nvSpPr>
        <p:spPr>
          <a:xfrm>
            <a:off x="182880" y="1417320"/>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0312" y="1600200"/>
            <a:ext cx="420624" cy="320040"/>
          </a:xfrm>
          <a:prstGeom prst="rect">
            <a:avLst/>
          </a:prstGeom>
          <a:noFill/>
        </p:spPr>
        <p:txBody>
          <a:bodyPr wrap="square">
            <a:spAutoFit/>
          </a:bodyPr>
          <a:lstStyle/>
          <a:p>
            <a:pPr algn="ctr"/>
            <a:r>
              <a:rPr sz="1000" b="1" i="0">
                <a:solidFill>
                  <a:srgbClr val="FFFFFF"/>
                </a:solidFill>
                <a:latin typeface="Calibri"/>
              </a:rPr>
              <a:t>L1</a:t>
            </a:r>
          </a:p>
        </p:txBody>
      </p:sp>
      <p:sp>
        <p:nvSpPr>
          <p:cNvPr id="13" name="Rectangle 12"/>
          <p:cNvSpPr/>
          <p:nvPr/>
        </p:nvSpPr>
        <p:spPr>
          <a:xfrm>
            <a:off x="640080" y="1417320"/>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1472184"/>
            <a:ext cx="1828800" cy="274320"/>
          </a:xfrm>
          <a:prstGeom prst="rect">
            <a:avLst/>
          </a:prstGeom>
          <a:noFill/>
        </p:spPr>
        <p:txBody>
          <a:bodyPr wrap="square">
            <a:spAutoFit/>
          </a:bodyPr>
          <a:lstStyle/>
          <a:p>
            <a:pPr algn="l"/>
            <a:r>
              <a:rPr sz="1100" b="1" i="0">
                <a:solidFill>
                  <a:srgbClr val="1A2E1E"/>
                </a:solidFill>
                <a:latin typeface="Calibri"/>
              </a:rPr>
              <a:t>Market Prices</a:t>
            </a:r>
          </a:p>
        </p:txBody>
      </p:sp>
      <p:sp>
        <p:nvSpPr>
          <p:cNvPr id="15" name="TextBox 14"/>
          <p:cNvSpPr txBox="1"/>
          <p:nvPr/>
        </p:nvSpPr>
        <p:spPr>
          <a:xfrm>
            <a:off x="749808" y="1746504"/>
            <a:ext cx="4480560" cy="274320"/>
          </a:xfrm>
          <a:prstGeom prst="rect">
            <a:avLst/>
          </a:prstGeom>
          <a:noFill/>
        </p:spPr>
        <p:txBody>
          <a:bodyPr wrap="square">
            <a:spAutoFit/>
          </a:bodyPr>
          <a:lstStyle/>
          <a:p>
            <a:pPr algn="l"/>
            <a:r>
              <a:rPr sz="950" b="0" i="0">
                <a:solidFill>
                  <a:srgbClr val="5A6A60"/>
                </a:solidFill>
                <a:latin typeface="Calibri"/>
              </a:rPr>
              <a:t>Agmarknet APMC weekly panel · 2,495 markets · 470 weeks</a:t>
            </a:r>
          </a:p>
        </p:txBody>
      </p:sp>
      <p:sp>
        <p:nvSpPr>
          <p:cNvPr id="16" name="Rectangle 15"/>
          <p:cNvSpPr/>
          <p:nvPr/>
        </p:nvSpPr>
        <p:spPr>
          <a:xfrm>
            <a:off x="5120640" y="1581912"/>
            <a:ext cx="749808"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1591056"/>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18" name="Rectangle 17"/>
          <p:cNvSpPr/>
          <p:nvPr/>
        </p:nvSpPr>
        <p:spPr>
          <a:xfrm>
            <a:off x="182880" y="2185416"/>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0312" y="2368296"/>
            <a:ext cx="420624" cy="320040"/>
          </a:xfrm>
          <a:prstGeom prst="rect">
            <a:avLst/>
          </a:prstGeom>
          <a:noFill/>
        </p:spPr>
        <p:txBody>
          <a:bodyPr wrap="square">
            <a:spAutoFit/>
          </a:bodyPr>
          <a:lstStyle/>
          <a:p>
            <a:pPr algn="ctr"/>
            <a:r>
              <a:rPr sz="1000" b="1" i="0">
                <a:solidFill>
                  <a:srgbClr val="FFFFFF"/>
                </a:solidFill>
                <a:latin typeface="Calibri"/>
              </a:rPr>
              <a:t>L2</a:t>
            </a:r>
          </a:p>
        </p:txBody>
      </p:sp>
      <p:sp>
        <p:nvSpPr>
          <p:cNvPr id="20" name="Rectangle 19"/>
          <p:cNvSpPr/>
          <p:nvPr/>
        </p:nvSpPr>
        <p:spPr>
          <a:xfrm>
            <a:off x="640080" y="2185416"/>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2240280"/>
            <a:ext cx="1828800" cy="274320"/>
          </a:xfrm>
          <a:prstGeom prst="rect">
            <a:avLst/>
          </a:prstGeom>
          <a:noFill/>
        </p:spPr>
        <p:txBody>
          <a:bodyPr wrap="square">
            <a:spAutoFit/>
          </a:bodyPr>
          <a:lstStyle/>
          <a:p>
            <a:pPr algn="l"/>
            <a:r>
              <a:rPr sz="1100" b="1" i="0">
                <a:solidFill>
                  <a:srgbClr val="1A2E1E"/>
                </a:solidFill>
                <a:latin typeface="Calibri"/>
              </a:rPr>
              <a:t>Satellite Vegetation</a:t>
            </a:r>
          </a:p>
        </p:txBody>
      </p:sp>
      <p:sp>
        <p:nvSpPr>
          <p:cNvPr id="22" name="TextBox 21"/>
          <p:cNvSpPr txBox="1"/>
          <p:nvPr/>
        </p:nvSpPr>
        <p:spPr>
          <a:xfrm>
            <a:off x="749808" y="2514600"/>
            <a:ext cx="4480560" cy="274320"/>
          </a:xfrm>
          <a:prstGeom prst="rect">
            <a:avLst/>
          </a:prstGeom>
          <a:noFill/>
        </p:spPr>
        <p:txBody>
          <a:bodyPr wrap="square">
            <a:spAutoFit/>
          </a:bodyPr>
          <a:lstStyle/>
          <a:p>
            <a:pPr algn="l"/>
            <a:r>
              <a:rPr sz="950" b="0" i="0">
                <a:solidFill>
                  <a:srgbClr val="5A6A60"/>
                </a:solidFill>
                <a:latin typeface="Calibri"/>
              </a:rPr>
              <a:t>Sentinel-2 NDVI/EVI · MODIS NDVI/EVI · 17 production zones</a:t>
            </a:r>
          </a:p>
        </p:txBody>
      </p:sp>
      <p:sp>
        <p:nvSpPr>
          <p:cNvPr id="23" name="Rectangle 22"/>
          <p:cNvSpPr/>
          <p:nvPr/>
        </p:nvSpPr>
        <p:spPr>
          <a:xfrm>
            <a:off x="5120640" y="2350008"/>
            <a:ext cx="749808"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38928" y="2359152"/>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25" name="Rectangle 24"/>
          <p:cNvSpPr/>
          <p:nvPr/>
        </p:nvSpPr>
        <p:spPr>
          <a:xfrm>
            <a:off x="182880" y="2953512"/>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0312" y="3136392"/>
            <a:ext cx="420624" cy="320040"/>
          </a:xfrm>
          <a:prstGeom prst="rect">
            <a:avLst/>
          </a:prstGeom>
          <a:noFill/>
        </p:spPr>
        <p:txBody>
          <a:bodyPr wrap="square">
            <a:spAutoFit/>
          </a:bodyPr>
          <a:lstStyle/>
          <a:p>
            <a:pPr algn="ctr"/>
            <a:r>
              <a:rPr sz="1000" b="1" i="0">
                <a:solidFill>
                  <a:srgbClr val="FFFFFF"/>
                </a:solidFill>
                <a:latin typeface="Calibri"/>
              </a:rPr>
              <a:t>L3</a:t>
            </a:r>
          </a:p>
        </p:txBody>
      </p:sp>
      <p:sp>
        <p:nvSpPr>
          <p:cNvPr id="27" name="Rectangle 26"/>
          <p:cNvSpPr/>
          <p:nvPr/>
        </p:nvSpPr>
        <p:spPr>
          <a:xfrm>
            <a:off x="640080" y="2953512"/>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 y="3008376"/>
            <a:ext cx="1828800" cy="274320"/>
          </a:xfrm>
          <a:prstGeom prst="rect">
            <a:avLst/>
          </a:prstGeom>
          <a:noFill/>
        </p:spPr>
        <p:txBody>
          <a:bodyPr wrap="square">
            <a:spAutoFit/>
          </a:bodyPr>
          <a:lstStyle/>
          <a:p>
            <a:pPr algn="l"/>
            <a:r>
              <a:rPr sz="1100" b="1" i="0">
                <a:solidFill>
                  <a:srgbClr val="1A2E1E"/>
                </a:solidFill>
                <a:latin typeface="Calibri"/>
              </a:rPr>
              <a:t>Climate Stress</a:t>
            </a:r>
          </a:p>
        </p:txBody>
      </p:sp>
      <p:sp>
        <p:nvSpPr>
          <p:cNvPr id="29" name="TextBox 28"/>
          <p:cNvSpPr txBox="1"/>
          <p:nvPr/>
        </p:nvSpPr>
        <p:spPr>
          <a:xfrm>
            <a:off x="749808" y="3282696"/>
            <a:ext cx="4480560" cy="274320"/>
          </a:xfrm>
          <a:prstGeom prst="rect">
            <a:avLst/>
          </a:prstGeom>
          <a:noFill/>
        </p:spPr>
        <p:txBody>
          <a:bodyPr wrap="square">
            <a:spAutoFit/>
          </a:bodyPr>
          <a:lstStyle/>
          <a:p>
            <a:pPr algn="l"/>
            <a:r>
              <a:rPr sz="950" b="0" i="0">
                <a:solidFill>
                  <a:srgbClr val="5A6A60"/>
                </a:solidFill>
                <a:latin typeface="Calibri"/>
              </a:rPr>
              <a:t>ERA5-Land temperature · CHIRPS rainfall · MODIS LST · 17 zones</a:t>
            </a:r>
          </a:p>
        </p:txBody>
      </p:sp>
      <p:sp>
        <p:nvSpPr>
          <p:cNvPr id="30" name="Rectangle 29"/>
          <p:cNvSpPr/>
          <p:nvPr/>
        </p:nvSpPr>
        <p:spPr>
          <a:xfrm>
            <a:off x="5120640" y="3118104"/>
            <a:ext cx="749808"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38928" y="3127248"/>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32" name="Rectangle 31"/>
          <p:cNvSpPr/>
          <p:nvPr/>
        </p:nvSpPr>
        <p:spPr>
          <a:xfrm>
            <a:off x="182880" y="3721608"/>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0312" y="3904488"/>
            <a:ext cx="420624" cy="320040"/>
          </a:xfrm>
          <a:prstGeom prst="rect">
            <a:avLst/>
          </a:prstGeom>
          <a:noFill/>
        </p:spPr>
        <p:txBody>
          <a:bodyPr wrap="square">
            <a:spAutoFit/>
          </a:bodyPr>
          <a:lstStyle/>
          <a:p>
            <a:pPr algn="ctr"/>
            <a:r>
              <a:rPr sz="1000" b="1" i="0">
                <a:solidFill>
                  <a:srgbClr val="FFFFFF"/>
                </a:solidFill>
                <a:latin typeface="Calibri"/>
              </a:rPr>
              <a:t>L4</a:t>
            </a:r>
          </a:p>
        </p:txBody>
      </p:sp>
      <p:sp>
        <p:nvSpPr>
          <p:cNvPr id="34" name="Rectangle 33"/>
          <p:cNvSpPr/>
          <p:nvPr/>
        </p:nvSpPr>
        <p:spPr>
          <a:xfrm>
            <a:off x="640080" y="3721608"/>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8" y="3776472"/>
            <a:ext cx="1828800" cy="274320"/>
          </a:xfrm>
          <a:prstGeom prst="rect">
            <a:avLst/>
          </a:prstGeom>
          <a:noFill/>
        </p:spPr>
        <p:txBody>
          <a:bodyPr wrap="square">
            <a:spAutoFit/>
          </a:bodyPr>
          <a:lstStyle/>
          <a:p>
            <a:pPr algn="l"/>
            <a:r>
              <a:rPr sz="1100" b="1" i="0">
                <a:solidFill>
                  <a:srgbClr val="1A2E1E"/>
                </a:solidFill>
                <a:latin typeface="Calibri"/>
              </a:rPr>
              <a:t>Macro-Logistics</a:t>
            </a:r>
          </a:p>
        </p:txBody>
      </p:sp>
      <p:sp>
        <p:nvSpPr>
          <p:cNvPr id="36" name="TextBox 35"/>
          <p:cNvSpPr txBox="1"/>
          <p:nvPr/>
        </p:nvSpPr>
        <p:spPr>
          <a:xfrm>
            <a:off x="749808" y="4050792"/>
            <a:ext cx="4480560" cy="274320"/>
          </a:xfrm>
          <a:prstGeom prst="rect">
            <a:avLst/>
          </a:prstGeom>
          <a:noFill/>
        </p:spPr>
        <p:txBody>
          <a:bodyPr wrap="square">
            <a:spAutoFit/>
          </a:bodyPr>
          <a:lstStyle/>
          <a:p>
            <a:pPr algn="l"/>
            <a:r>
              <a:rPr sz="950" b="0" i="0">
                <a:solidFill>
                  <a:srgbClr val="5A6A60"/>
                </a:solidFill>
                <a:latin typeface="Calibri"/>
              </a:rPr>
              <a:t>CMIE · PPAC diesel/LPG · RBI repo rate · WPI crop · USD-INR</a:t>
            </a:r>
          </a:p>
        </p:txBody>
      </p:sp>
      <p:sp>
        <p:nvSpPr>
          <p:cNvPr id="37" name="Rectangle 36"/>
          <p:cNvSpPr/>
          <p:nvPr/>
        </p:nvSpPr>
        <p:spPr>
          <a:xfrm>
            <a:off x="5120640" y="3886200"/>
            <a:ext cx="749808"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38928" y="3895344"/>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39" name="Rectangle 38"/>
          <p:cNvSpPr/>
          <p:nvPr/>
        </p:nvSpPr>
        <p:spPr>
          <a:xfrm>
            <a:off x="182880" y="4489704"/>
            <a:ext cx="457200" cy="65836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0312" y="4672584"/>
            <a:ext cx="420624" cy="320040"/>
          </a:xfrm>
          <a:prstGeom prst="rect">
            <a:avLst/>
          </a:prstGeom>
          <a:noFill/>
        </p:spPr>
        <p:txBody>
          <a:bodyPr wrap="square">
            <a:spAutoFit/>
          </a:bodyPr>
          <a:lstStyle/>
          <a:p>
            <a:pPr algn="ctr"/>
            <a:r>
              <a:rPr sz="1000" b="1" i="0">
                <a:solidFill>
                  <a:srgbClr val="FFFFFF"/>
                </a:solidFill>
                <a:latin typeface="Calibri"/>
              </a:rPr>
              <a:t>L5</a:t>
            </a:r>
          </a:p>
        </p:txBody>
      </p:sp>
      <p:sp>
        <p:nvSpPr>
          <p:cNvPr id="41" name="Rectangle 40"/>
          <p:cNvSpPr/>
          <p:nvPr/>
        </p:nvSpPr>
        <p:spPr>
          <a:xfrm>
            <a:off x="640080" y="4489704"/>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9808" y="4544568"/>
            <a:ext cx="1828800" cy="274320"/>
          </a:xfrm>
          <a:prstGeom prst="rect">
            <a:avLst/>
          </a:prstGeom>
          <a:noFill/>
        </p:spPr>
        <p:txBody>
          <a:bodyPr wrap="square">
            <a:spAutoFit/>
          </a:bodyPr>
          <a:lstStyle/>
          <a:p>
            <a:pPr algn="l"/>
            <a:r>
              <a:rPr sz="1100" b="1" i="0">
                <a:solidFill>
                  <a:srgbClr val="1A2E1E"/>
                </a:solidFill>
                <a:latin typeface="Calibri"/>
              </a:rPr>
              <a:t>Infrastructure</a:t>
            </a:r>
          </a:p>
        </p:txBody>
      </p:sp>
      <p:sp>
        <p:nvSpPr>
          <p:cNvPr id="43" name="TextBox 42"/>
          <p:cNvSpPr txBox="1"/>
          <p:nvPr/>
        </p:nvSpPr>
        <p:spPr>
          <a:xfrm>
            <a:off x="749808" y="4818888"/>
            <a:ext cx="4480560" cy="274320"/>
          </a:xfrm>
          <a:prstGeom prst="rect">
            <a:avLst/>
          </a:prstGeom>
          <a:noFill/>
        </p:spPr>
        <p:txBody>
          <a:bodyPr wrap="square">
            <a:spAutoFit/>
          </a:bodyPr>
          <a:lstStyle/>
          <a:p>
            <a:pPr algn="l"/>
            <a:r>
              <a:rPr sz="950" b="0" i="0">
                <a:solidFill>
                  <a:srgbClr val="5A6A60"/>
                </a:solidFill>
                <a:latin typeface="Calibri"/>
              </a:rPr>
              <a:t>Cold storage capacity · Road density · Rural wages</a:t>
            </a:r>
          </a:p>
        </p:txBody>
      </p:sp>
      <p:sp>
        <p:nvSpPr>
          <p:cNvPr id="44" name="Rectangle 43"/>
          <p:cNvSpPr/>
          <p:nvPr/>
        </p:nvSpPr>
        <p:spPr>
          <a:xfrm>
            <a:off x="5120640" y="4654296"/>
            <a:ext cx="749808" cy="274320"/>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38928" y="4663440"/>
            <a:ext cx="731520" cy="256032"/>
          </a:xfrm>
          <a:prstGeom prst="rect">
            <a:avLst/>
          </a:prstGeom>
          <a:noFill/>
        </p:spPr>
        <p:txBody>
          <a:bodyPr wrap="square">
            <a:spAutoFit/>
          </a:bodyPr>
          <a:lstStyle/>
          <a:p>
            <a:pPr algn="ctr"/>
            <a:r>
              <a:rPr sz="800" b="1" i="0">
                <a:solidFill>
                  <a:srgbClr val="FFFFFF"/>
                </a:solidFill>
                <a:latin typeface="Calibri"/>
              </a:rPr>
              <a:t>PENDING</a:t>
            </a:r>
          </a:p>
        </p:txBody>
      </p:sp>
      <p:sp>
        <p:nvSpPr>
          <p:cNvPr id="46" name="Rectangle 45"/>
          <p:cNvSpPr/>
          <p:nvPr/>
        </p:nvSpPr>
        <p:spPr>
          <a:xfrm>
            <a:off x="182880" y="5257800"/>
            <a:ext cx="457200" cy="65836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10312" y="5440680"/>
            <a:ext cx="420624" cy="320040"/>
          </a:xfrm>
          <a:prstGeom prst="rect">
            <a:avLst/>
          </a:prstGeom>
          <a:noFill/>
        </p:spPr>
        <p:txBody>
          <a:bodyPr wrap="square">
            <a:spAutoFit/>
          </a:bodyPr>
          <a:lstStyle/>
          <a:p>
            <a:pPr algn="ctr"/>
            <a:r>
              <a:rPr sz="1000" b="1" i="0">
                <a:solidFill>
                  <a:srgbClr val="FFFFFF"/>
                </a:solidFill>
                <a:latin typeface="Calibri"/>
              </a:rPr>
              <a:t>L6</a:t>
            </a:r>
          </a:p>
        </p:txBody>
      </p:sp>
      <p:sp>
        <p:nvSpPr>
          <p:cNvPr id="48" name="Rectangle 47"/>
          <p:cNvSpPr/>
          <p:nvPr/>
        </p:nvSpPr>
        <p:spPr>
          <a:xfrm>
            <a:off x="640080" y="5257800"/>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9808" y="5312664"/>
            <a:ext cx="1828800" cy="274320"/>
          </a:xfrm>
          <a:prstGeom prst="rect">
            <a:avLst/>
          </a:prstGeom>
          <a:noFill/>
        </p:spPr>
        <p:txBody>
          <a:bodyPr wrap="square">
            <a:spAutoFit/>
          </a:bodyPr>
          <a:lstStyle/>
          <a:p>
            <a:pPr algn="l"/>
            <a:r>
              <a:rPr sz="1100" b="1" i="0">
                <a:solidFill>
                  <a:srgbClr val="1A2E1E"/>
                </a:solidFill>
                <a:latin typeface="Calibri"/>
              </a:rPr>
              <a:t>Policy / Trade</a:t>
            </a:r>
          </a:p>
        </p:txBody>
      </p:sp>
      <p:sp>
        <p:nvSpPr>
          <p:cNvPr id="50" name="TextBox 49"/>
          <p:cNvSpPr txBox="1"/>
          <p:nvPr/>
        </p:nvSpPr>
        <p:spPr>
          <a:xfrm>
            <a:off x="749808" y="5586984"/>
            <a:ext cx="4480560" cy="274320"/>
          </a:xfrm>
          <a:prstGeom prst="rect">
            <a:avLst/>
          </a:prstGeom>
          <a:noFill/>
        </p:spPr>
        <p:txBody>
          <a:bodyPr wrap="square">
            <a:spAutoFit/>
          </a:bodyPr>
          <a:lstStyle/>
          <a:p>
            <a:pPr algn="l"/>
            <a:r>
              <a:rPr sz="950" b="0" i="0">
                <a:solidFill>
                  <a:srgbClr val="5A6A60"/>
                </a:solidFill>
                <a:latin typeface="Calibri"/>
              </a:rPr>
              <a:t>Export bans · MEP · NAFED-NCCF interventions</a:t>
            </a:r>
          </a:p>
        </p:txBody>
      </p:sp>
      <p:sp>
        <p:nvSpPr>
          <p:cNvPr id="51" name="Rectangle 50"/>
          <p:cNvSpPr/>
          <p:nvPr/>
        </p:nvSpPr>
        <p:spPr>
          <a:xfrm>
            <a:off x="5120640" y="5422392"/>
            <a:ext cx="749808" cy="274320"/>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138928" y="5431536"/>
            <a:ext cx="731520" cy="256032"/>
          </a:xfrm>
          <a:prstGeom prst="rect">
            <a:avLst/>
          </a:prstGeom>
          <a:noFill/>
        </p:spPr>
        <p:txBody>
          <a:bodyPr wrap="square">
            <a:spAutoFit/>
          </a:bodyPr>
          <a:lstStyle/>
          <a:p>
            <a:pPr algn="ctr"/>
            <a:r>
              <a:rPr sz="800" b="1" i="0">
                <a:solidFill>
                  <a:srgbClr val="FFFFFF"/>
                </a:solidFill>
                <a:latin typeface="Calibri"/>
              </a:rPr>
              <a:t>PENDING</a:t>
            </a:r>
          </a:p>
        </p:txBody>
      </p:sp>
      <p:sp>
        <p:nvSpPr>
          <p:cNvPr id="53" name="TextBox 52"/>
          <p:cNvSpPr txBox="1"/>
          <p:nvPr/>
        </p:nvSpPr>
        <p:spPr>
          <a:xfrm>
            <a:off x="292608" y="6062472"/>
            <a:ext cx="5029200" cy="274320"/>
          </a:xfrm>
          <a:prstGeom prst="rect">
            <a:avLst/>
          </a:prstGeom>
          <a:noFill/>
        </p:spPr>
        <p:txBody>
          <a:bodyPr wrap="square">
            <a:spAutoFit/>
          </a:bodyPr>
          <a:lstStyle/>
          <a:p>
            <a:pPr algn="l"/>
            <a:r>
              <a:rPr sz="850" b="0" i="1">
                <a:solidFill>
                  <a:srgbClr val="5A6A60"/>
                </a:solidFill>
                <a:latin typeface="Calibri"/>
              </a:rPr>
              <a:t>* Historical data complete; 2025 topup pending GEE script execution</a:t>
            </a:r>
          </a:p>
        </p:txBody>
      </p:sp>
      <p:sp>
        <p:nvSpPr>
          <p:cNvPr id="54" name="TextBox 53"/>
          <p:cNvSpPr txBox="1"/>
          <p:nvPr/>
        </p:nvSpPr>
        <p:spPr>
          <a:xfrm>
            <a:off x="6400800" y="1051560"/>
            <a:ext cx="5394960" cy="320040"/>
          </a:xfrm>
          <a:prstGeom prst="rect">
            <a:avLst/>
          </a:prstGeom>
          <a:noFill/>
        </p:spPr>
        <p:txBody>
          <a:bodyPr wrap="square">
            <a:spAutoFit/>
          </a:bodyPr>
          <a:lstStyle/>
          <a:p>
            <a:pPr algn="l"/>
            <a:r>
              <a:rPr sz="1100" b="1" i="0">
                <a:solidFill>
                  <a:srgbClr val="1E6B45"/>
                </a:solidFill>
                <a:latin typeface="Calibri"/>
              </a:rPr>
              <a:t>ANALYTICAL MODULES</a:t>
            </a:r>
          </a:p>
        </p:txBody>
      </p:sp>
      <p:sp>
        <p:nvSpPr>
          <p:cNvPr id="55" name="Rectangle 54"/>
          <p:cNvSpPr/>
          <p:nvPr/>
        </p:nvSpPr>
        <p:spPr>
          <a:xfrm>
            <a:off x="6400800" y="1417320"/>
            <a:ext cx="457200" cy="109728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19088" y="1801368"/>
            <a:ext cx="438912" cy="320040"/>
          </a:xfrm>
          <a:prstGeom prst="rect">
            <a:avLst/>
          </a:prstGeom>
          <a:noFill/>
        </p:spPr>
        <p:txBody>
          <a:bodyPr wrap="square">
            <a:spAutoFit/>
          </a:bodyPr>
          <a:lstStyle/>
          <a:p>
            <a:pPr algn="ctr"/>
            <a:r>
              <a:rPr sz="1100" b="1" i="0">
                <a:solidFill>
                  <a:srgbClr val="FFFFFF"/>
                </a:solidFill>
                <a:latin typeface="Calibri"/>
              </a:rPr>
              <a:t>A</a:t>
            </a:r>
          </a:p>
        </p:txBody>
      </p:sp>
      <p:sp>
        <p:nvSpPr>
          <p:cNvPr id="57" name="Rectangle 56"/>
          <p:cNvSpPr/>
          <p:nvPr/>
        </p:nvSpPr>
        <p:spPr>
          <a:xfrm>
            <a:off x="6858000" y="141732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967728" y="1508760"/>
            <a:ext cx="4754880" cy="320040"/>
          </a:xfrm>
          <a:prstGeom prst="rect">
            <a:avLst/>
          </a:prstGeom>
          <a:noFill/>
        </p:spPr>
        <p:txBody>
          <a:bodyPr wrap="square">
            <a:spAutoFit/>
          </a:bodyPr>
          <a:lstStyle/>
          <a:p>
            <a:pPr algn="l"/>
            <a:r>
              <a:rPr sz="1200" b="1" i="0">
                <a:solidFill>
                  <a:srgbClr val="1A2E1E"/>
                </a:solidFill>
                <a:latin typeface="Calibri"/>
              </a:rPr>
              <a:t>Supply Signal Index</a:t>
            </a:r>
          </a:p>
        </p:txBody>
      </p:sp>
      <p:sp>
        <p:nvSpPr>
          <p:cNvPr id="59" name="TextBox 58"/>
          <p:cNvSpPr txBox="1"/>
          <p:nvPr/>
        </p:nvSpPr>
        <p:spPr>
          <a:xfrm>
            <a:off x="6967728" y="1856232"/>
            <a:ext cx="4754880" cy="594360"/>
          </a:xfrm>
          <a:prstGeom prst="rect">
            <a:avLst/>
          </a:prstGeom>
          <a:noFill/>
        </p:spPr>
        <p:txBody>
          <a:bodyPr wrap="square">
            <a:spAutoFit/>
          </a:bodyPr>
          <a:lstStyle/>
          <a:p>
            <a:pPr algn="l"/>
            <a:r>
              <a:rPr sz="1000" b="0" i="0">
                <a:solidFill>
                  <a:srgbClr val="5A6A60"/>
                </a:solidFill>
                <a:latin typeface="Calibri"/>
              </a:rPr>
              <a:t>Satellite NDVI anomaly + heat stress days + excess rainfall → weekly supply-risk score per crop</a:t>
            </a:r>
          </a:p>
        </p:txBody>
      </p:sp>
      <p:sp>
        <p:nvSpPr>
          <p:cNvPr id="60" name="Rectangle 59"/>
          <p:cNvSpPr/>
          <p:nvPr/>
        </p:nvSpPr>
        <p:spPr>
          <a:xfrm>
            <a:off x="11338560" y="1801368"/>
            <a:ext cx="685800"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356848" y="1810512"/>
            <a:ext cx="667512" cy="246888"/>
          </a:xfrm>
          <a:prstGeom prst="rect">
            <a:avLst/>
          </a:prstGeom>
          <a:noFill/>
        </p:spPr>
        <p:txBody>
          <a:bodyPr wrap="square">
            <a:spAutoFit/>
          </a:bodyPr>
          <a:lstStyle/>
          <a:p>
            <a:pPr algn="ctr"/>
            <a:r>
              <a:rPr sz="750" b="1" i="0">
                <a:solidFill>
                  <a:srgbClr val="FFFFFF"/>
                </a:solidFill>
                <a:latin typeface="Calibri"/>
              </a:rPr>
              <a:t>RUNNING</a:t>
            </a:r>
          </a:p>
        </p:txBody>
      </p:sp>
      <p:sp>
        <p:nvSpPr>
          <p:cNvPr id="62" name="Rectangle 61"/>
          <p:cNvSpPr/>
          <p:nvPr/>
        </p:nvSpPr>
        <p:spPr>
          <a:xfrm>
            <a:off x="6400800" y="2651760"/>
            <a:ext cx="457200" cy="109728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19088" y="3035808"/>
            <a:ext cx="438912" cy="320040"/>
          </a:xfrm>
          <a:prstGeom prst="rect">
            <a:avLst/>
          </a:prstGeom>
          <a:noFill/>
        </p:spPr>
        <p:txBody>
          <a:bodyPr wrap="square">
            <a:spAutoFit/>
          </a:bodyPr>
          <a:lstStyle/>
          <a:p>
            <a:pPr algn="ctr"/>
            <a:r>
              <a:rPr sz="1100" b="1" i="0">
                <a:solidFill>
                  <a:srgbClr val="FFFFFF"/>
                </a:solidFill>
                <a:latin typeface="Calibri"/>
              </a:rPr>
              <a:t>B</a:t>
            </a:r>
          </a:p>
        </p:txBody>
      </p:sp>
      <p:sp>
        <p:nvSpPr>
          <p:cNvPr id="64" name="Rectangle 63"/>
          <p:cNvSpPr/>
          <p:nvPr/>
        </p:nvSpPr>
        <p:spPr>
          <a:xfrm>
            <a:off x="6858000" y="265176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967728" y="2743200"/>
            <a:ext cx="4754880" cy="320040"/>
          </a:xfrm>
          <a:prstGeom prst="rect">
            <a:avLst/>
          </a:prstGeom>
          <a:noFill/>
        </p:spPr>
        <p:txBody>
          <a:bodyPr wrap="square">
            <a:spAutoFit/>
          </a:bodyPr>
          <a:lstStyle/>
          <a:p>
            <a:pPr algn="l"/>
            <a:r>
              <a:rPr sz="1200" b="1" i="0">
                <a:solidFill>
                  <a:srgbClr val="1A2E1E"/>
                </a:solidFill>
                <a:latin typeface="Calibri"/>
              </a:rPr>
              <a:t>Price Forecasting</a:t>
            </a:r>
          </a:p>
        </p:txBody>
      </p:sp>
      <p:sp>
        <p:nvSpPr>
          <p:cNvPr id="66" name="TextBox 65"/>
          <p:cNvSpPr txBox="1"/>
          <p:nvPr/>
        </p:nvSpPr>
        <p:spPr>
          <a:xfrm>
            <a:off x="6967728" y="3090672"/>
            <a:ext cx="4754880" cy="594360"/>
          </a:xfrm>
          <a:prstGeom prst="rect">
            <a:avLst/>
          </a:prstGeom>
          <a:noFill/>
        </p:spPr>
        <p:txBody>
          <a:bodyPr wrap="square">
            <a:spAutoFit/>
          </a:bodyPr>
          <a:lstStyle/>
          <a:p>
            <a:pPr algn="l"/>
            <a:r>
              <a:rPr sz="1000" b="0" i="0">
                <a:solidFill>
                  <a:srgbClr val="5A6A60"/>
                </a:solidFill>
                <a:latin typeface="Calibri"/>
              </a:rPr>
              <a:t>LightGBM + TFT · 4 horizons (1/2/4/8 weeks) · 4-fold rolling-origin CV · Spike classifier</a:t>
            </a:r>
          </a:p>
        </p:txBody>
      </p:sp>
      <p:sp>
        <p:nvSpPr>
          <p:cNvPr id="67" name="Rectangle 66"/>
          <p:cNvSpPr/>
          <p:nvPr/>
        </p:nvSpPr>
        <p:spPr>
          <a:xfrm>
            <a:off x="11338560" y="3035808"/>
            <a:ext cx="685800"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1356848" y="3044952"/>
            <a:ext cx="667512" cy="246888"/>
          </a:xfrm>
          <a:prstGeom prst="rect">
            <a:avLst/>
          </a:prstGeom>
          <a:noFill/>
        </p:spPr>
        <p:txBody>
          <a:bodyPr wrap="square">
            <a:spAutoFit/>
          </a:bodyPr>
          <a:lstStyle/>
          <a:p>
            <a:pPr algn="ctr"/>
            <a:r>
              <a:rPr sz="750" b="1" i="0">
                <a:solidFill>
                  <a:srgbClr val="FFFFFF"/>
                </a:solidFill>
                <a:latin typeface="Calibri"/>
              </a:rPr>
              <a:t>RUNNING</a:t>
            </a:r>
          </a:p>
        </p:txBody>
      </p:sp>
      <p:sp>
        <p:nvSpPr>
          <p:cNvPr id="69" name="Rectangle 68"/>
          <p:cNvSpPr/>
          <p:nvPr/>
        </p:nvSpPr>
        <p:spPr>
          <a:xfrm>
            <a:off x="6400800" y="3886200"/>
            <a:ext cx="457200" cy="109728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19088" y="4270248"/>
            <a:ext cx="438912" cy="320040"/>
          </a:xfrm>
          <a:prstGeom prst="rect">
            <a:avLst/>
          </a:prstGeom>
          <a:noFill/>
        </p:spPr>
        <p:txBody>
          <a:bodyPr wrap="square">
            <a:spAutoFit/>
          </a:bodyPr>
          <a:lstStyle/>
          <a:p>
            <a:pPr algn="ctr"/>
            <a:r>
              <a:rPr sz="1100" b="1" i="0">
                <a:solidFill>
                  <a:srgbClr val="FFFFFF"/>
                </a:solidFill>
                <a:latin typeface="Calibri"/>
              </a:rPr>
              <a:t>C</a:t>
            </a:r>
          </a:p>
        </p:txBody>
      </p:sp>
      <p:sp>
        <p:nvSpPr>
          <p:cNvPr id="71" name="Rectangle 70"/>
          <p:cNvSpPr/>
          <p:nvPr/>
        </p:nvSpPr>
        <p:spPr>
          <a:xfrm>
            <a:off x="6858000" y="388620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7728" y="3977639"/>
            <a:ext cx="4754880" cy="320040"/>
          </a:xfrm>
          <a:prstGeom prst="rect">
            <a:avLst/>
          </a:prstGeom>
          <a:noFill/>
        </p:spPr>
        <p:txBody>
          <a:bodyPr wrap="square">
            <a:spAutoFit/>
          </a:bodyPr>
          <a:lstStyle/>
          <a:p>
            <a:pPr algn="l"/>
            <a:r>
              <a:rPr sz="1200" b="1" i="0">
                <a:solidFill>
                  <a:srgbClr val="1A2E1E"/>
                </a:solidFill>
                <a:latin typeface="Calibri"/>
              </a:rPr>
              <a:t>Market Network</a:t>
            </a:r>
          </a:p>
        </p:txBody>
      </p:sp>
      <p:sp>
        <p:nvSpPr>
          <p:cNvPr id="73" name="TextBox 72"/>
          <p:cNvSpPr txBox="1"/>
          <p:nvPr/>
        </p:nvSpPr>
        <p:spPr>
          <a:xfrm>
            <a:off x="6967728" y="4325112"/>
            <a:ext cx="4754880" cy="594360"/>
          </a:xfrm>
          <a:prstGeom prst="rect">
            <a:avLst/>
          </a:prstGeom>
          <a:noFill/>
        </p:spPr>
        <p:txBody>
          <a:bodyPr wrap="square">
            <a:spAutoFit/>
          </a:bodyPr>
          <a:lstStyle/>
          <a:p>
            <a:pPr algn="l"/>
            <a:r>
              <a:rPr sz="1000" b="0" i="0">
                <a:solidFill>
                  <a:srgbClr val="5A6A60"/>
                </a:solidFill>
                <a:latin typeface="Calibri"/>
              </a:rPr>
              <a:t>Granger causality · Leader-follower identification · Shock transmission analysis</a:t>
            </a:r>
          </a:p>
        </p:txBody>
      </p:sp>
      <p:sp>
        <p:nvSpPr>
          <p:cNvPr id="74" name="Rectangle 73"/>
          <p:cNvSpPr/>
          <p:nvPr/>
        </p:nvSpPr>
        <p:spPr>
          <a:xfrm>
            <a:off x="11338560" y="4270248"/>
            <a:ext cx="685800"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1356848" y="4279392"/>
            <a:ext cx="667512" cy="246888"/>
          </a:xfrm>
          <a:prstGeom prst="rect">
            <a:avLst/>
          </a:prstGeom>
          <a:noFill/>
        </p:spPr>
        <p:txBody>
          <a:bodyPr wrap="square">
            <a:spAutoFit/>
          </a:bodyPr>
          <a:lstStyle/>
          <a:p>
            <a:pPr algn="ctr"/>
            <a:r>
              <a:rPr sz="750" b="1" i="0">
                <a:solidFill>
                  <a:srgbClr val="FFFFFF"/>
                </a:solidFill>
                <a:latin typeface="Calibri"/>
              </a:rPr>
              <a:t>PLANNED</a:t>
            </a:r>
          </a:p>
        </p:txBody>
      </p:sp>
      <p:sp>
        <p:nvSpPr>
          <p:cNvPr id="76" name="Rectangle 75"/>
          <p:cNvSpPr/>
          <p:nvPr/>
        </p:nvSpPr>
        <p:spPr>
          <a:xfrm>
            <a:off x="6400800" y="5120640"/>
            <a:ext cx="457200" cy="109728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19088" y="5504688"/>
            <a:ext cx="438912" cy="320040"/>
          </a:xfrm>
          <a:prstGeom prst="rect">
            <a:avLst/>
          </a:prstGeom>
          <a:noFill/>
        </p:spPr>
        <p:txBody>
          <a:bodyPr wrap="square">
            <a:spAutoFit/>
          </a:bodyPr>
          <a:lstStyle/>
          <a:p>
            <a:pPr algn="ctr"/>
            <a:r>
              <a:rPr sz="1100" b="1" i="0">
                <a:solidFill>
                  <a:srgbClr val="FFFFFF"/>
                </a:solidFill>
                <a:latin typeface="Calibri"/>
              </a:rPr>
              <a:t>D</a:t>
            </a:r>
          </a:p>
        </p:txBody>
      </p:sp>
      <p:sp>
        <p:nvSpPr>
          <p:cNvPr id="78" name="Rectangle 77"/>
          <p:cNvSpPr/>
          <p:nvPr/>
        </p:nvSpPr>
        <p:spPr>
          <a:xfrm>
            <a:off x="6858000" y="512064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967728" y="5212080"/>
            <a:ext cx="4754880" cy="320040"/>
          </a:xfrm>
          <a:prstGeom prst="rect">
            <a:avLst/>
          </a:prstGeom>
          <a:noFill/>
        </p:spPr>
        <p:txBody>
          <a:bodyPr wrap="square">
            <a:spAutoFit/>
          </a:bodyPr>
          <a:lstStyle/>
          <a:p>
            <a:pPr algn="l"/>
            <a:r>
              <a:rPr sz="1200" b="1" i="0">
                <a:solidFill>
                  <a:srgbClr val="1A2E1E"/>
                </a:solidFill>
                <a:latin typeface="Calibri"/>
              </a:rPr>
              <a:t>Scenario Stress Testing</a:t>
            </a:r>
          </a:p>
        </p:txBody>
      </p:sp>
      <p:sp>
        <p:nvSpPr>
          <p:cNvPr id="80" name="TextBox 79"/>
          <p:cNvSpPr txBox="1"/>
          <p:nvPr/>
        </p:nvSpPr>
        <p:spPr>
          <a:xfrm>
            <a:off x="6967728" y="5559552"/>
            <a:ext cx="4754880" cy="594360"/>
          </a:xfrm>
          <a:prstGeom prst="rect">
            <a:avLst/>
          </a:prstGeom>
          <a:noFill/>
        </p:spPr>
        <p:txBody>
          <a:bodyPr wrap="square">
            <a:spAutoFit/>
          </a:bodyPr>
          <a:lstStyle/>
          <a:p>
            <a:pPr algn="l"/>
            <a:r>
              <a:rPr sz="1000" b="0" i="0">
                <a:solidFill>
                  <a:srgbClr val="5A6A60"/>
                </a:solidFill>
                <a:latin typeface="Calibri"/>
              </a:rPr>
              <a:t>Export ban shock · Climate scenario · Fuel price shock · Storage capacity shock</a:t>
            </a:r>
          </a:p>
        </p:txBody>
      </p:sp>
      <p:sp>
        <p:nvSpPr>
          <p:cNvPr id="81" name="Rectangle 80"/>
          <p:cNvSpPr/>
          <p:nvPr/>
        </p:nvSpPr>
        <p:spPr>
          <a:xfrm>
            <a:off x="11338560" y="5504688"/>
            <a:ext cx="685800"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1356848" y="5513832"/>
            <a:ext cx="667512" cy="246888"/>
          </a:xfrm>
          <a:prstGeom prst="rect">
            <a:avLst/>
          </a:prstGeom>
          <a:noFill/>
        </p:spPr>
        <p:txBody>
          <a:bodyPr wrap="square">
            <a:spAutoFit/>
          </a:bodyPr>
          <a:lstStyle/>
          <a:p>
            <a:pPr algn="ctr"/>
            <a:r>
              <a:rPr sz="750" b="1" i="0">
                <a:solidFill>
                  <a:srgbClr val="FFFFFF"/>
                </a:solidFill>
                <a:latin typeface="Calibri"/>
              </a:rPr>
              <a:t>PLANNED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Study Design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Nine years of weekly panel data with rolling-origin cross-validation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Rectangle 9"/>
          <p:cNvSpPr/>
          <p:nvPr/>
        </p:nvSpPr>
        <p:spPr>
          <a:xfrm>
            <a:off x="182880" y="1115568"/>
            <a:ext cx="2148840" cy="102412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1217980"/>
            <a:ext cx="2148840" cy="532546"/>
          </a:xfrm>
          <a:prstGeom prst="rect">
            <a:avLst/>
          </a:prstGeom>
          <a:noFill/>
        </p:spPr>
        <p:txBody>
          <a:bodyPr wrap="square">
            <a:spAutoFit/>
          </a:bodyPr>
          <a:lstStyle/>
          <a:p>
            <a:pPr algn="ctr"/>
            <a:r>
              <a:rPr sz="2200" b="1" i="0">
                <a:solidFill>
                  <a:srgbClr val="FFFFFF"/>
                </a:solidFill>
                <a:latin typeface="Calibri"/>
              </a:rPr>
              <a:t>9 Years</a:t>
            </a:r>
          </a:p>
        </p:txBody>
      </p:sp>
      <p:sp>
        <p:nvSpPr>
          <p:cNvPr id="12" name="TextBox 11"/>
          <p:cNvSpPr txBox="1"/>
          <p:nvPr/>
        </p:nvSpPr>
        <p:spPr>
          <a:xfrm>
            <a:off x="228600" y="1750527"/>
            <a:ext cx="2057400" cy="358444"/>
          </a:xfrm>
          <a:prstGeom prst="rect">
            <a:avLst/>
          </a:prstGeom>
          <a:noFill/>
        </p:spPr>
        <p:txBody>
          <a:bodyPr wrap="square">
            <a:spAutoFit/>
          </a:bodyPr>
          <a:lstStyle/>
          <a:p>
            <a:pPr algn="ctr"/>
            <a:r>
              <a:rPr sz="900" b="0" i="0">
                <a:solidFill>
                  <a:srgbClr val="FFFFFF"/>
                </a:solidFill>
                <a:latin typeface="Calibri"/>
              </a:rPr>
              <a:t>Study Period
2017–2025</a:t>
            </a:r>
          </a:p>
        </p:txBody>
      </p:sp>
      <p:sp>
        <p:nvSpPr>
          <p:cNvPr id="13" name="Rectangle 12"/>
          <p:cNvSpPr/>
          <p:nvPr/>
        </p:nvSpPr>
        <p:spPr>
          <a:xfrm>
            <a:off x="2560320" y="1115568"/>
            <a:ext cx="2148840" cy="102412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1217980"/>
            <a:ext cx="2148840" cy="532546"/>
          </a:xfrm>
          <a:prstGeom prst="rect">
            <a:avLst/>
          </a:prstGeom>
          <a:noFill/>
        </p:spPr>
        <p:txBody>
          <a:bodyPr wrap="square">
            <a:spAutoFit/>
          </a:bodyPr>
          <a:lstStyle/>
          <a:p>
            <a:pPr algn="ctr"/>
            <a:r>
              <a:rPr sz="2200" b="1" i="0">
                <a:solidFill>
                  <a:srgbClr val="FFFFFF"/>
                </a:solidFill>
                <a:latin typeface="Calibri"/>
              </a:rPr>
              <a:t>470</a:t>
            </a:r>
          </a:p>
        </p:txBody>
      </p:sp>
      <p:sp>
        <p:nvSpPr>
          <p:cNvPr id="15" name="TextBox 14"/>
          <p:cNvSpPr txBox="1"/>
          <p:nvPr/>
        </p:nvSpPr>
        <p:spPr>
          <a:xfrm>
            <a:off x="2606040" y="1750527"/>
            <a:ext cx="2057400" cy="358444"/>
          </a:xfrm>
          <a:prstGeom prst="rect">
            <a:avLst/>
          </a:prstGeom>
          <a:noFill/>
        </p:spPr>
        <p:txBody>
          <a:bodyPr wrap="square">
            <a:spAutoFit/>
          </a:bodyPr>
          <a:lstStyle/>
          <a:p>
            <a:pPr algn="ctr"/>
            <a:r>
              <a:rPr sz="900" b="0" i="0">
                <a:solidFill>
                  <a:srgbClr val="FFFFFF"/>
                </a:solidFill>
                <a:latin typeface="Calibri"/>
              </a:rPr>
              <a:t>ISO Weeks
(Complete Panel)</a:t>
            </a:r>
          </a:p>
        </p:txBody>
      </p:sp>
      <p:sp>
        <p:nvSpPr>
          <p:cNvPr id="16" name="Rectangle 15"/>
          <p:cNvSpPr/>
          <p:nvPr/>
        </p:nvSpPr>
        <p:spPr>
          <a:xfrm>
            <a:off x="4937760" y="1115568"/>
            <a:ext cx="2148840" cy="1024128"/>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0" y="1217980"/>
            <a:ext cx="2148840" cy="532546"/>
          </a:xfrm>
          <a:prstGeom prst="rect">
            <a:avLst/>
          </a:prstGeom>
          <a:noFill/>
        </p:spPr>
        <p:txBody>
          <a:bodyPr wrap="square">
            <a:spAutoFit/>
          </a:bodyPr>
          <a:lstStyle/>
          <a:p>
            <a:pPr algn="ctr"/>
            <a:r>
              <a:rPr sz="2200" b="1" i="0">
                <a:solidFill>
                  <a:srgbClr val="FFFFFF"/>
                </a:solidFill>
                <a:latin typeface="Calibri"/>
              </a:rPr>
              <a:t>3 Crops</a:t>
            </a:r>
          </a:p>
        </p:txBody>
      </p:sp>
      <p:sp>
        <p:nvSpPr>
          <p:cNvPr id="18" name="TextBox 17"/>
          <p:cNvSpPr txBox="1"/>
          <p:nvPr/>
        </p:nvSpPr>
        <p:spPr>
          <a:xfrm>
            <a:off x="4983480" y="1750527"/>
            <a:ext cx="2057400" cy="358444"/>
          </a:xfrm>
          <a:prstGeom prst="rect">
            <a:avLst/>
          </a:prstGeom>
          <a:noFill/>
        </p:spPr>
        <p:txBody>
          <a:bodyPr wrap="square">
            <a:spAutoFit/>
          </a:bodyPr>
          <a:lstStyle/>
          <a:p>
            <a:pPr algn="ctr"/>
            <a:r>
              <a:rPr sz="900" b="0" i="0">
                <a:solidFill>
                  <a:srgbClr val="FFFFFF"/>
                </a:solidFill>
                <a:latin typeface="Calibri"/>
              </a:rPr>
              <a:t>Tomato · Onion
Potato</a:t>
            </a:r>
          </a:p>
        </p:txBody>
      </p:sp>
      <p:sp>
        <p:nvSpPr>
          <p:cNvPr id="19" name="Rectangle 18"/>
          <p:cNvSpPr/>
          <p:nvPr/>
        </p:nvSpPr>
        <p:spPr>
          <a:xfrm>
            <a:off x="7315200" y="1115568"/>
            <a:ext cx="2148840" cy="102412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0" y="1217980"/>
            <a:ext cx="2148840" cy="532546"/>
          </a:xfrm>
          <a:prstGeom prst="rect">
            <a:avLst/>
          </a:prstGeom>
          <a:noFill/>
        </p:spPr>
        <p:txBody>
          <a:bodyPr wrap="square">
            <a:spAutoFit/>
          </a:bodyPr>
          <a:lstStyle/>
          <a:p>
            <a:pPr algn="ctr"/>
            <a:r>
              <a:rPr sz="2200" b="1" i="0">
                <a:solidFill>
                  <a:srgbClr val="FFFFFF"/>
                </a:solidFill>
                <a:latin typeface="Calibri"/>
              </a:rPr>
              <a:t>2,495</a:t>
            </a:r>
          </a:p>
        </p:txBody>
      </p:sp>
      <p:sp>
        <p:nvSpPr>
          <p:cNvPr id="21" name="TextBox 20"/>
          <p:cNvSpPr txBox="1"/>
          <p:nvPr/>
        </p:nvSpPr>
        <p:spPr>
          <a:xfrm>
            <a:off x="7360920" y="1750527"/>
            <a:ext cx="2057400" cy="358444"/>
          </a:xfrm>
          <a:prstGeom prst="rect">
            <a:avLst/>
          </a:prstGeom>
          <a:noFill/>
        </p:spPr>
        <p:txBody>
          <a:bodyPr wrap="square">
            <a:spAutoFit/>
          </a:bodyPr>
          <a:lstStyle/>
          <a:p>
            <a:pPr algn="ctr"/>
            <a:r>
              <a:rPr sz="900" b="0" i="0">
                <a:solidFill>
                  <a:srgbClr val="FFFFFF"/>
                </a:solidFill>
                <a:latin typeface="Calibri"/>
              </a:rPr>
              <a:t>Qualifying
APMC Markets</a:t>
            </a:r>
          </a:p>
        </p:txBody>
      </p:sp>
      <p:sp>
        <p:nvSpPr>
          <p:cNvPr id="22" name="Rectangle 21"/>
          <p:cNvSpPr/>
          <p:nvPr/>
        </p:nvSpPr>
        <p:spPr>
          <a:xfrm>
            <a:off x="9692640" y="1115568"/>
            <a:ext cx="2148840" cy="102412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0" y="1217980"/>
            <a:ext cx="2148840" cy="532546"/>
          </a:xfrm>
          <a:prstGeom prst="rect">
            <a:avLst/>
          </a:prstGeom>
          <a:noFill/>
        </p:spPr>
        <p:txBody>
          <a:bodyPr wrap="square">
            <a:spAutoFit/>
          </a:bodyPr>
          <a:lstStyle/>
          <a:p>
            <a:pPr algn="ctr"/>
            <a:r>
              <a:rPr sz="2200" b="1" i="0">
                <a:solidFill>
                  <a:srgbClr val="FFFFFF"/>
                </a:solidFill>
                <a:latin typeface="Calibri"/>
              </a:rPr>
              <a:t>4-Fold</a:t>
            </a:r>
          </a:p>
        </p:txBody>
      </p:sp>
      <p:sp>
        <p:nvSpPr>
          <p:cNvPr id="24" name="TextBox 23"/>
          <p:cNvSpPr txBox="1"/>
          <p:nvPr/>
        </p:nvSpPr>
        <p:spPr>
          <a:xfrm>
            <a:off x="9738360" y="1750527"/>
            <a:ext cx="2057400" cy="358444"/>
          </a:xfrm>
          <a:prstGeom prst="rect">
            <a:avLst/>
          </a:prstGeom>
          <a:noFill/>
        </p:spPr>
        <p:txBody>
          <a:bodyPr wrap="square">
            <a:spAutoFit/>
          </a:bodyPr>
          <a:lstStyle/>
          <a:p>
            <a:pPr algn="ctr"/>
            <a:r>
              <a:rPr sz="900" b="0" i="0">
                <a:solidFill>
                  <a:srgbClr val="FFFFFF"/>
                </a:solidFill>
                <a:latin typeface="Calibri"/>
              </a:rPr>
              <a:t>Rolling-Origin
CV Design</a:t>
            </a:r>
          </a:p>
        </p:txBody>
      </p:sp>
      <p:sp>
        <p:nvSpPr>
          <p:cNvPr id="25" name="TextBox 24"/>
          <p:cNvSpPr txBox="1"/>
          <p:nvPr/>
        </p:nvSpPr>
        <p:spPr>
          <a:xfrm>
            <a:off x="182880" y="2331720"/>
            <a:ext cx="11795760" cy="347472"/>
          </a:xfrm>
          <a:prstGeom prst="rect">
            <a:avLst/>
          </a:prstGeom>
          <a:noFill/>
        </p:spPr>
        <p:txBody>
          <a:bodyPr wrap="square">
            <a:spAutoFit/>
          </a:bodyPr>
          <a:lstStyle/>
          <a:p>
            <a:pPr algn="l"/>
            <a:r>
              <a:rPr sz="1100" b="1" i="0">
                <a:solidFill>
                  <a:srgbClr val="1A2E1E"/>
                </a:solidFill>
                <a:latin typeface="Calibri"/>
              </a:rPr>
              <a:t>ROLLING-ORIGIN CROSS-VALIDATION DESIGN  (one panel per crop)</a:t>
            </a:r>
          </a:p>
        </p:txBody>
      </p:sp>
      <p:sp>
        <p:nvSpPr>
          <p:cNvPr id="26" name="Rectangle 25"/>
          <p:cNvSpPr/>
          <p:nvPr/>
        </p:nvSpPr>
        <p:spPr>
          <a:xfrm>
            <a:off x="182880" y="2724912"/>
            <a:ext cx="457200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2816352"/>
            <a:ext cx="4434840" cy="320040"/>
          </a:xfrm>
          <a:prstGeom prst="rect">
            <a:avLst/>
          </a:prstGeom>
          <a:noFill/>
        </p:spPr>
        <p:txBody>
          <a:bodyPr wrap="square">
            <a:spAutoFit/>
          </a:bodyPr>
          <a:lstStyle/>
          <a:p>
            <a:pPr algn="ctr"/>
            <a:r>
              <a:rPr sz="950" b="1" i="0">
                <a:solidFill>
                  <a:srgbClr val="FFFFFF"/>
                </a:solidFill>
                <a:latin typeface="Calibri"/>
              </a:rPr>
              <a:t>TRAINING  2017–2021</a:t>
            </a:r>
          </a:p>
        </p:txBody>
      </p:sp>
      <p:sp>
        <p:nvSpPr>
          <p:cNvPr id="28" name="Rectangle 27"/>
          <p:cNvSpPr/>
          <p:nvPr/>
        </p:nvSpPr>
        <p:spPr>
          <a:xfrm>
            <a:off x="4800600" y="2724912"/>
            <a:ext cx="150876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92040" y="2816352"/>
            <a:ext cx="1371600" cy="320040"/>
          </a:xfrm>
          <a:prstGeom prst="rect">
            <a:avLst/>
          </a:prstGeom>
          <a:noFill/>
        </p:spPr>
        <p:txBody>
          <a:bodyPr wrap="square">
            <a:spAutoFit/>
          </a:bodyPr>
          <a:lstStyle/>
          <a:p>
            <a:pPr algn="ctr"/>
            <a:r>
              <a:rPr sz="950" b="1" i="0">
                <a:solidFill>
                  <a:srgbClr val="FFFFFF"/>
                </a:solidFill>
                <a:latin typeface="Calibri"/>
              </a:rPr>
              <a:t>TEST 2022</a:t>
            </a:r>
          </a:p>
        </p:txBody>
      </p:sp>
      <p:sp>
        <p:nvSpPr>
          <p:cNvPr id="30" name="Rectangle 29"/>
          <p:cNvSpPr/>
          <p:nvPr/>
        </p:nvSpPr>
        <p:spPr>
          <a:xfrm>
            <a:off x="6355080" y="2724912"/>
            <a:ext cx="1188720" cy="5029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2816352"/>
            <a:ext cx="1051560" cy="320040"/>
          </a:xfrm>
          <a:prstGeom prst="rect">
            <a:avLst/>
          </a:prstGeom>
          <a:noFill/>
        </p:spPr>
        <p:txBody>
          <a:bodyPr wrap="square">
            <a:spAutoFit/>
          </a:bodyPr>
          <a:lstStyle/>
          <a:p>
            <a:pPr algn="ctr"/>
            <a:r>
              <a:rPr sz="950" b="1" i="0">
                <a:solidFill>
                  <a:srgbClr val="FFFFFF"/>
                </a:solidFill>
                <a:latin typeface="Calibri"/>
              </a:rPr>
              <a:t>Fold 1</a:t>
            </a:r>
          </a:p>
        </p:txBody>
      </p:sp>
      <p:sp>
        <p:nvSpPr>
          <p:cNvPr id="32" name="Rectangle 31"/>
          <p:cNvSpPr/>
          <p:nvPr/>
        </p:nvSpPr>
        <p:spPr>
          <a:xfrm>
            <a:off x="7589520" y="2724912"/>
            <a:ext cx="4389120"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3337560"/>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3429000"/>
            <a:ext cx="4526280" cy="320040"/>
          </a:xfrm>
          <a:prstGeom prst="rect">
            <a:avLst/>
          </a:prstGeom>
          <a:noFill/>
        </p:spPr>
        <p:txBody>
          <a:bodyPr wrap="square">
            <a:spAutoFit/>
          </a:bodyPr>
          <a:lstStyle/>
          <a:p>
            <a:pPr algn="ctr"/>
            <a:r>
              <a:rPr sz="950" b="1" i="0">
                <a:solidFill>
                  <a:srgbClr val="FFFFFF"/>
                </a:solidFill>
                <a:latin typeface="Calibri"/>
              </a:rPr>
              <a:t>TRAINING  2017–2022</a:t>
            </a:r>
          </a:p>
        </p:txBody>
      </p:sp>
      <p:sp>
        <p:nvSpPr>
          <p:cNvPr id="35" name="Rectangle 34"/>
          <p:cNvSpPr/>
          <p:nvPr/>
        </p:nvSpPr>
        <p:spPr>
          <a:xfrm>
            <a:off x="4846320" y="3337560"/>
            <a:ext cx="265176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3429000"/>
            <a:ext cx="2560320" cy="320040"/>
          </a:xfrm>
          <a:prstGeom prst="rect">
            <a:avLst/>
          </a:prstGeom>
          <a:noFill/>
        </p:spPr>
        <p:txBody>
          <a:bodyPr wrap="square">
            <a:spAutoFit/>
          </a:bodyPr>
          <a:lstStyle/>
          <a:p>
            <a:pPr algn="ctr"/>
            <a:r>
              <a:rPr sz="950" b="1" i="0">
                <a:solidFill>
                  <a:srgbClr val="FFFFFF"/>
                </a:solidFill>
                <a:latin typeface="Calibri"/>
              </a:rPr>
              <a:t>TEST  2023</a:t>
            </a:r>
          </a:p>
        </p:txBody>
      </p:sp>
      <p:sp>
        <p:nvSpPr>
          <p:cNvPr id="37" name="Rectangle 36"/>
          <p:cNvSpPr/>
          <p:nvPr/>
        </p:nvSpPr>
        <p:spPr>
          <a:xfrm>
            <a:off x="7543800" y="3337560"/>
            <a:ext cx="446227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 y="3493008"/>
            <a:ext cx="146304" cy="228600"/>
          </a:xfrm>
          <a:prstGeom prst="rect">
            <a:avLst/>
          </a:prstGeom>
          <a:noFill/>
        </p:spPr>
        <p:txBody>
          <a:bodyPr wrap="square">
            <a:spAutoFit/>
          </a:bodyPr>
          <a:lstStyle/>
          <a:p>
            <a:pPr algn="ctr"/>
            <a:r>
              <a:rPr sz="800" b="1" i="0">
                <a:solidFill>
                  <a:srgbClr val="0D2240"/>
                </a:solidFill>
                <a:latin typeface="Calibri"/>
              </a:rPr>
              <a:t>F2</a:t>
            </a:r>
          </a:p>
        </p:txBody>
      </p:sp>
      <p:sp>
        <p:nvSpPr>
          <p:cNvPr id="39" name="Rectangle 38"/>
          <p:cNvSpPr/>
          <p:nvPr/>
        </p:nvSpPr>
        <p:spPr>
          <a:xfrm>
            <a:off x="182880" y="3977639"/>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4069079"/>
            <a:ext cx="4526280" cy="320040"/>
          </a:xfrm>
          <a:prstGeom prst="rect">
            <a:avLst/>
          </a:prstGeom>
          <a:noFill/>
        </p:spPr>
        <p:txBody>
          <a:bodyPr wrap="square">
            <a:spAutoFit/>
          </a:bodyPr>
          <a:lstStyle/>
          <a:p>
            <a:pPr algn="ctr"/>
            <a:r>
              <a:rPr sz="950" b="1" i="0">
                <a:solidFill>
                  <a:srgbClr val="FFFFFF"/>
                </a:solidFill>
                <a:latin typeface="Calibri"/>
              </a:rPr>
              <a:t>TRAINING  2017–2023</a:t>
            </a:r>
          </a:p>
        </p:txBody>
      </p:sp>
      <p:sp>
        <p:nvSpPr>
          <p:cNvPr id="41" name="Rectangle 40"/>
          <p:cNvSpPr/>
          <p:nvPr/>
        </p:nvSpPr>
        <p:spPr>
          <a:xfrm>
            <a:off x="4846320" y="3977639"/>
            <a:ext cx="416052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92040" y="4069079"/>
            <a:ext cx="4069080" cy="320040"/>
          </a:xfrm>
          <a:prstGeom prst="rect">
            <a:avLst/>
          </a:prstGeom>
          <a:noFill/>
        </p:spPr>
        <p:txBody>
          <a:bodyPr wrap="square">
            <a:spAutoFit/>
          </a:bodyPr>
          <a:lstStyle/>
          <a:p>
            <a:pPr algn="ctr"/>
            <a:r>
              <a:rPr sz="950" b="1" i="0">
                <a:solidFill>
                  <a:srgbClr val="FFFFFF"/>
                </a:solidFill>
                <a:latin typeface="Calibri"/>
              </a:rPr>
              <a:t>TEST  2024</a:t>
            </a:r>
          </a:p>
        </p:txBody>
      </p:sp>
      <p:sp>
        <p:nvSpPr>
          <p:cNvPr id="43" name="Rectangle 42"/>
          <p:cNvSpPr/>
          <p:nvPr/>
        </p:nvSpPr>
        <p:spPr>
          <a:xfrm>
            <a:off x="9052560" y="3977639"/>
            <a:ext cx="295351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 y="4133087"/>
            <a:ext cx="146304" cy="228600"/>
          </a:xfrm>
          <a:prstGeom prst="rect">
            <a:avLst/>
          </a:prstGeom>
          <a:noFill/>
        </p:spPr>
        <p:txBody>
          <a:bodyPr wrap="square">
            <a:spAutoFit/>
          </a:bodyPr>
          <a:lstStyle/>
          <a:p>
            <a:pPr algn="ctr"/>
            <a:r>
              <a:rPr sz="800" b="1" i="0">
                <a:solidFill>
                  <a:srgbClr val="0D2240"/>
                </a:solidFill>
                <a:latin typeface="Calibri"/>
              </a:rPr>
              <a:t>F3</a:t>
            </a:r>
          </a:p>
        </p:txBody>
      </p:sp>
      <p:sp>
        <p:nvSpPr>
          <p:cNvPr id="45" name="Rectangle 44"/>
          <p:cNvSpPr/>
          <p:nvPr/>
        </p:nvSpPr>
        <p:spPr>
          <a:xfrm>
            <a:off x="182880" y="4617720"/>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4320" y="4709159"/>
            <a:ext cx="4526280" cy="320040"/>
          </a:xfrm>
          <a:prstGeom prst="rect">
            <a:avLst/>
          </a:prstGeom>
          <a:noFill/>
        </p:spPr>
        <p:txBody>
          <a:bodyPr wrap="square">
            <a:spAutoFit/>
          </a:bodyPr>
          <a:lstStyle/>
          <a:p>
            <a:pPr algn="ctr"/>
            <a:r>
              <a:rPr sz="950" b="1" i="0">
                <a:solidFill>
                  <a:srgbClr val="FFFFFF"/>
                </a:solidFill>
                <a:latin typeface="Calibri"/>
              </a:rPr>
              <a:t>TRAINING  2017–2024</a:t>
            </a:r>
          </a:p>
        </p:txBody>
      </p:sp>
      <p:sp>
        <p:nvSpPr>
          <p:cNvPr id="47" name="Rectangle 46"/>
          <p:cNvSpPr/>
          <p:nvPr/>
        </p:nvSpPr>
        <p:spPr>
          <a:xfrm>
            <a:off x="4846320" y="4617720"/>
            <a:ext cx="566928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892040" y="4709159"/>
            <a:ext cx="5577840" cy="320040"/>
          </a:xfrm>
          <a:prstGeom prst="rect">
            <a:avLst/>
          </a:prstGeom>
          <a:noFill/>
        </p:spPr>
        <p:txBody>
          <a:bodyPr wrap="square">
            <a:spAutoFit/>
          </a:bodyPr>
          <a:lstStyle/>
          <a:p>
            <a:pPr algn="ctr"/>
            <a:r>
              <a:rPr sz="950" b="1" i="0">
                <a:solidFill>
                  <a:srgbClr val="FFFFFF"/>
                </a:solidFill>
                <a:latin typeface="Calibri"/>
              </a:rPr>
              <a:t>TEST  2025</a:t>
            </a:r>
          </a:p>
        </p:txBody>
      </p:sp>
      <p:sp>
        <p:nvSpPr>
          <p:cNvPr id="49" name="Rectangle 48"/>
          <p:cNvSpPr/>
          <p:nvPr/>
        </p:nvSpPr>
        <p:spPr>
          <a:xfrm>
            <a:off x="10561319" y="4617720"/>
            <a:ext cx="144475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 y="4773168"/>
            <a:ext cx="146304" cy="228600"/>
          </a:xfrm>
          <a:prstGeom prst="rect">
            <a:avLst/>
          </a:prstGeom>
          <a:noFill/>
        </p:spPr>
        <p:txBody>
          <a:bodyPr wrap="square">
            <a:spAutoFit/>
          </a:bodyPr>
          <a:lstStyle/>
          <a:p>
            <a:pPr algn="ctr"/>
            <a:r>
              <a:rPr sz="800" b="1" i="0">
                <a:solidFill>
                  <a:srgbClr val="0D2240"/>
                </a:solidFill>
                <a:latin typeface="Calibri"/>
              </a:rPr>
              <a:t>F4</a:t>
            </a:r>
          </a:p>
        </p:txBody>
      </p:sp>
      <p:sp>
        <p:nvSpPr>
          <p:cNvPr id="51" name="TextBox 50"/>
          <p:cNvSpPr txBox="1"/>
          <p:nvPr/>
        </p:nvSpPr>
        <p:spPr>
          <a:xfrm>
            <a:off x="182880" y="5230368"/>
            <a:ext cx="11795760" cy="320040"/>
          </a:xfrm>
          <a:prstGeom prst="rect">
            <a:avLst/>
          </a:prstGeom>
          <a:noFill/>
        </p:spPr>
        <p:txBody>
          <a:bodyPr wrap="square">
            <a:spAutoFit/>
          </a:bodyPr>
          <a:lstStyle/>
          <a:p>
            <a:pPr algn="l"/>
            <a:r>
              <a:rPr sz="1100" b="1" i="0">
                <a:solidFill>
                  <a:srgbClr val="1E6B45"/>
                </a:solidFill>
                <a:latin typeface="Calibri"/>
              </a:rPr>
              <a:t>KEY DESIGN DECISIONS</a:t>
            </a:r>
          </a:p>
        </p:txBody>
      </p:sp>
      <p:sp>
        <p:nvSpPr>
          <p:cNvPr id="52" name="TextBox 51"/>
          <p:cNvSpPr txBox="1"/>
          <p:nvPr/>
        </p:nvSpPr>
        <p:spPr>
          <a:xfrm>
            <a:off x="182880" y="5577840"/>
            <a:ext cx="5669280" cy="841248"/>
          </a:xfrm>
          <a:prstGeom prst="rect">
            <a:avLst/>
          </a:prstGeom>
          <a:noFill/>
        </p:spPr>
        <p:txBody>
          <a:bodyPr wrap="square">
            <a:spAutoFit/>
          </a:bodyPr>
          <a:lstStyle/>
          <a:p>
            <a:pPr>
              <a:spcBef>
                <a:spcPts val="400"/>
              </a:spcBef>
            </a:pPr>
            <a:r>
              <a:rPr sz="1050">
                <a:solidFill>
                  <a:srgbClr val="1A2E1E"/>
                </a:solidFill>
                <a:latin typeface="Calibri"/>
              </a:rPr>
              <a:t>▸  Weekly granularity (not daily): reduces autocorrelation dominance; satellite revisit cycles align with weekly composites</a:t>
            </a:r>
          </a:p>
          <a:p>
            <a:pPr>
              <a:spcBef>
                <a:spcPts val="400"/>
              </a:spcBef>
            </a:pPr>
            <a:r>
              <a:rPr sz="1050">
                <a:solidFill>
                  <a:srgbClr val="1A2E1E"/>
                </a:solidFill>
                <a:latin typeface="Calibri"/>
              </a:rPr>
              <a:t>▸  Log-price target: handles extreme positive skewness of TOP price distributions (tomato variance ~3× mean)</a:t>
            </a:r>
          </a:p>
        </p:txBody>
      </p:sp>
      <p:sp>
        <p:nvSpPr>
          <p:cNvPr id="53" name="TextBox 52"/>
          <p:cNvSpPr txBox="1"/>
          <p:nvPr/>
        </p:nvSpPr>
        <p:spPr>
          <a:xfrm>
            <a:off x="5943600" y="5577840"/>
            <a:ext cx="6035040" cy="841248"/>
          </a:xfrm>
          <a:prstGeom prst="rect">
            <a:avLst/>
          </a:prstGeom>
          <a:noFill/>
        </p:spPr>
        <p:txBody>
          <a:bodyPr wrap="square">
            <a:spAutoFit/>
          </a:bodyPr>
          <a:lstStyle/>
          <a:p>
            <a:pPr>
              <a:spcBef>
                <a:spcPts val="400"/>
              </a:spcBef>
            </a:pPr>
            <a:r>
              <a:rPr sz="1050">
                <a:solidFill>
                  <a:srgbClr val="1A2E1E"/>
                </a:solidFill>
                <a:latin typeface="Calibri"/>
              </a:rPr>
              <a:t>▸  Full market panel (2,495 markets) retained: larger training corpus, better generalisation vs PI Brief's 20–30 strategic APMCs</a:t>
            </a:r>
          </a:p>
          <a:p>
            <a:pPr>
              <a:spcBef>
                <a:spcPts val="400"/>
              </a:spcBef>
            </a:pPr>
            <a:r>
              <a:rPr sz="1050">
                <a:solidFill>
                  <a:srgbClr val="1A2E1E"/>
                </a:solidFill>
                <a:latin typeface="Calibri"/>
              </a:rPr>
              <a:t>▸  Forecast horizons: 1, 2, 4, 8 weeks ahead — covers both operational (1–2 wk) and strategic (4–8 wk) planning horizons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 1 — Market Price Panel</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Agmarknet APMC daily arrivals data processed into a complete weekly panel</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5303520" cy="347472"/>
          </a:xfrm>
          <a:prstGeom prst="rect">
            <a:avLst/>
          </a:prstGeom>
          <a:noFill/>
        </p:spPr>
        <p:txBody>
          <a:bodyPr wrap="square">
            <a:spAutoFit/>
          </a:bodyPr>
          <a:lstStyle/>
          <a:p>
            <a:pPr algn="l"/>
            <a:r>
              <a:rPr sz="1100" b="1" i="0">
                <a:solidFill>
                  <a:srgbClr val="1E6B45"/>
                </a:solidFill>
                <a:latin typeface="Calibri"/>
              </a:rPr>
              <a:t>DATA PIPELINE  (Script 09 — 249 lines)</a:t>
            </a:r>
          </a:p>
        </p:txBody>
      </p:sp>
      <p:sp>
        <p:nvSpPr>
          <p:cNvPr id="11" name="Rectangle 10"/>
          <p:cNvSpPr/>
          <p:nvPr/>
        </p:nvSpPr>
        <p:spPr>
          <a:xfrm>
            <a:off x="182880" y="15087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 y="1581912"/>
            <a:ext cx="365760" cy="256032"/>
          </a:xfrm>
          <a:prstGeom prst="rect">
            <a:avLst/>
          </a:prstGeom>
          <a:noFill/>
        </p:spPr>
        <p:txBody>
          <a:bodyPr wrap="square">
            <a:spAutoFit/>
          </a:bodyPr>
          <a:lstStyle/>
          <a:p>
            <a:pPr algn="ctr"/>
            <a:r>
              <a:rPr sz="1400" b="1" i="0">
                <a:solidFill>
                  <a:srgbClr val="FFFFFF"/>
                </a:solidFill>
                <a:latin typeface="Calibri"/>
              </a:rPr>
              <a:t>1</a:t>
            </a:r>
          </a:p>
        </p:txBody>
      </p:sp>
      <p:sp>
        <p:nvSpPr>
          <p:cNvPr id="13" name="Rectangle 12"/>
          <p:cNvSpPr/>
          <p:nvPr/>
        </p:nvSpPr>
        <p:spPr>
          <a:xfrm>
            <a:off x="594360" y="15087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1535060"/>
            <a:ext cx="4754880" cy="256032"/>
          </a:xfrm>
          <a:prstGeom prst="rect">
            <a:avLst/>
          </a:prstGeom>
          <a:noFill/>
        </p:spPr>
        <p:txBody>
          <a:bodyPr wrap="square">
            <a:spAutoFit/>
          </a:bodyPr>
          <a:lstStyle/>
          <a:p>
            <a:pPr algn="l"/>
            <a:r>
              <a:rPr sz="1100" b="1" i="0">
                <a:solidFill>
                  <a:srgbClr val="1A2E1E"/>
                </a:solidFill>
                <a:latin typeface="Calibri"/>
              </a:rPr>
              <a:t>Raw Input</a:t>
            </a:r>
          </a:p>
        </p:txBody>
      </p:sp>
      <p:sp>
        <p:nvSpPr>
          <p:cNvPr id="15" name="TextBox 14"/>
          <p:cNvSpPr txBox="1"/>
          <p:nvPr/>
        </p:nvSpPr>
        <p:spPr>
          <a:xfrm>
            <a:off x="713232" y="1837943"/>
            <a:ext cx="4754880" cy="384048"/>
          </a:xfrm>
          <a:prstGeom prst="rect">
            <a:avLst/>
          </a:prstGeom>
          <a:noFill/>
        </p:spPr>
        <p:txBody>
          <a:bodyPr wrap="square">
            <a:spAutoFit/>
          </a:bodyPr>
          <a:lstStyle/>
          <a:p>
            <a:pPr algn="l"/>
            <a:r>
              <a:rPr sz="950" b="0" i="0" dirty="0" err="1">
                <a:solidFill>
                  <a:srgbClr val="5A6A60"/>
                </a:solidFill>
                <a:latin typeface="Calibri"/>
              </a:rPr>
              <a:t>Agmarknet</a:t>
            </a:r>
            <a:r>
              <a:rPr sz="950" b="0" i="0" dirty="0">
                <a:solidFill>
                  <a:srgbClr val="5A6A60"/>
                </a:solidFill>
                <a:latin typeface="Calibri"/>
              </a:rPr>
              <a:t> daily modal price files (tomato/onion/potato)
Three separate crop downloads, 2017–2025</a:t>
            </a:r>
          </a:p>
        </p:txBody>
      </p:sp>
      <p:sp>
        <p:nvSpPr>
          <p:cNvPr id="16" name="TextBox 15"/>
          <p:cNvSpPr txBox="1"/>
          <p:nvPr/>
        </p:nvSpPr>
        <p:spPr>
          <a:xfrm>
            <a:off x="274320" y="22585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17" name="Rectangle 16"/>
          <p:cNvSpPr/>
          <p:nvPr/>
        </p:nvSpPr>
        <p:spPr>
          <a:xfrm>
            <a:off x="182880" y="24231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2496312"/>
            <a:ext cx="365760" cy="256032"/>
          </a:xfrm>
          <a:prstGeom prst="rect">
            <a:avLst/>
          </a:prstGeom>
          <a:noFill/>
        </p:spPr>
        <p:txBody>
          <a:bodyPr wrap="square">
            <a:spAutoFit/>
          </a:bodyPr>
          <a:lstStyle/>
          <a:p>
            <a:pPr algn="ctr"/>
            <a:r>
              <a:rPr sz="1400" b="1" i="0">
                <a:solidFill>
                  <a:srgbClr val="FFFFFF"/>
                </a:solidFill>
                <a:latin typeface="Calibri"/>
              </a:rPr>
              <a:t>2</a:t>
            </a:r>
          </a:p>
        </p:txBody>
      </p:sp>
      <p:sp>
        <p:nvSpPr>
          <p:cNvPr id="19" name="Rectangle 18"/>
          <p:cNvSpPr/>
          <p:nvPr/>
        </p:nvSpPr>
        <p:spPr>
          <a:xfrm>
            <a:off x="594360" y="24231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487168"/>
            <a:ext cx="4754880" cy="256032"/>
          </a:xfrm>
          <a:prstGeom prst="rect">
            <a:avLst/>
          </a:prstGeom>
          <a:noFill/>
        </p:spPr>
        <p:txBody>
          <a:bodyPr wrap="square">
            <a:spAutoFit/>
          </a:bodyPr>
          <a:lstStyle/>
          <a:p>
            <a:pPr algn="l"/>
            <a:r>
              <a:rPr sz="1100" b="1" i="0">
                <a:solidFill>
                  <a:srgbClr val="1A2E1E"/>
                </a:solidFill>
                <a:latin typeface="Calibri"/>
              </a:rPr>
              <a:t>Weekly Aggregation</a:t>
            </a:r>
          </a:p>
        </p:txBody>
      </p:sp>
      <p:sp>
        <p:nvSpPr>
          <p:cNvPr id="21" name="TextBox 20"/>
          <p:cNvSpPr txBox="1"/>
          <p:nvPr/>
        </p:nvSpPr>
        <p:spPr>
          <a:xfrm>
            <a:off x="713232" y="2752344"/>
            <a:ext cx="4754880" cy="384048"/>
          </a:xfrm>
          <a:prstGeom prst="rect">
            <a:avLst/>
          </a:prstGeom>
          <a:noFill/>
        </p:spPr>
        <p:txBody>
          <a:bodyPr wrap="square">
            <a:spAutoFit/>
          </a:bodyPr>
          <a:lstStyle/>
          <a:p>
            <a:pPr algn="l"/>
            <a:r>
              <a:rPr sz="950" b="0" i="0">
                <a:solidFill>
                  <a:srgbClr val="5A6A60"/>
                </a:solidFill>
                <a:latin typeface="Calibri"/>
              </a:rPr>
              <a:t>Daily → ISO weekly modal price
ISO week: Monday 00:00 to Sunday 23:59</a:t>
            </a:r>
          </a:p>
        </p:txBody>
      </p:sp>
      <p:sp>
        <p:nvSpPr>
          <p:cNvPr id="22" name="TextBox 21"/>
          <p:cNvSpPr txBox="1"/>
          <p:nvPr/>
        </p:nvSpPr>
        <p:spPr>
          <a:xfrm>
            <a:off x="274320" y="31729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23" name="Rectangle 22"/>
          <p:cNvSpPr/>
          <p:nvPr/>
        </p:nvSpPr>
        <p:spPr>
          <a:xfrm>
            <a:off x="182880" y="33375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 y="3410712"/>
            <a:ext cx="365760" cy="256032"/>
          </a:xfrm>
          <a:prstGeom prst="rect">
            <a:avLst/>
          </a:prstGeom>
          <a:noFill/>
        </p:spPr>
        <p:txBody>
          <a:bodyPr wrap="square">
            <a:spAutoFit/>
          </a:bodyPr>
          <a:lstStyle/>
          <a:p>
            <a:pPr algn="ctr"/>
            <a:r>
              <a:rPr sz="1400" b="1" i="0">
                <a:solidFill>
                  <a:srgbClr val="FFFFFF"/>
                </a:solidFill>
                <a:latin typeface="Calibri"/>
              </a:rPr>
              <a:t>3</a:t>
            </a:r>
          </a:p>
        </p:txBody>
      </p:sp>
      <p:sp>
        <p:nvSpPr>
          <p:cNvPr id="25" name="Rectangle 24"/>
          <p:cNvSpPr/>
          <p:nvPr/>
        </p:nvSpPr>
        <p:spPr>
          <a:xfrm>
            <a:off x="594360" y="33375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3401568"/>
            <a:ext cx="4754880" cy="256032"/>
          </a:xfrm>
          <a:prstGeom prst="rect">
            <a:avLst/>
          </a:prstGeom>
          <a:noFill/>
        </p:spPr>
        <p:txBody>
          <a:bodyPr wrap="square">
            <a:spAutoFit/>
          </a:bodyPr>
          <a:lstStyle/>
          <a:p>
            <a:pPr algn="l"/>
            <a:r>
              <a:rPr sz="1100" b="1" i="0">
                <a:solidFill>
                  <a:srgbClr val="1A2E1E"/>
                </a:solidFill>
                <a:latin typeface="Calibri"/>
              </a:rPr>
              <a:t>Complete Grid Expansion</a:t>
            </a:r>
          </a:p>
        </p:txBody>
      </p:sp>
      <p:sp>
        <p:nvSpPr>
          <p:cNvPr id="27" name="TextBox 26"/>
          <p:cNvSpPr txBox="1"/>
          <p:nvPr/>
        </p:nvSpPr>
        <p:spPr>
          <a:xfrm>
            <a:off x="713232" y="3666744"/>
            <a:ext cx="4754880" cy="384048"/>
          </a:xfrm>
          <a:prstGeom prst="rect">
            <a:avLst/>
          </a:prstGeom>
          <a:noFill/>
        </p:spPr>
        <p:txBody>
          <a:bodyPr wrap="square">
            <a:spAutoFit/>
          </a:bodyPr>
          <a:lstStyle/>
          <a:p>
            <a:pPr algn="l"/>
            <a:r>
              <a:rPr sz="950" b="0" i="0">
                <a:solidFill>
                  <a:srgbClr val="5A6A60"/>
                </a:solidFill>
                <a:latin typeface="Calibri"/>
              </a:rPr>
              <a:t>Each market × every ISO week (470 total)
Fills the missing-week grid BEFORE imputation</a:t>
            </a:r>
          </a:p>
        </p:txBody>
      </p:sp>
      <p:sp>
        <p:nvSpPr>
          <p:cNvPr id="28" name="TextBox 27"/>
          <p:cNvSpPr txBox="1"/>
          <p:nvPr/>
        </p:nvSpPr>
        <p:spPr>
          <a:xfrm>
            <a:off x="274320" y="40873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29" name="Rectangle 28"/>
          <p:cNvSpPr/>
          <p:nvPr/>
        </p:nvSpPr>
        <p:spPr>
          <a:xfrm>
            <a:off x="182880" y="42519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 y="4325112"/>
            <a:ext cx="365760" cy="256032"/>
          </a:xfrm>
          <a:prstGeom prst="rect">
            <a:avLst/>
          </a:prstGeom>
          <a:noFill/>
        </p:spPr>
        <p:txBody>
          <a:bodyPr wrap="square">
            <a:spAutoFit/>
          </a:bodyPr>
          <a:lstStyle/>
          <a:p>
            <a:pPr algn="ctr"/>
            <a:r>
              <a:rPr sz="1400" b="1" i="0">
                <a:solidFill>
                  <a:srgbClr val="FFFFFF"/>
                </a:solidFill>
                <a:latin typeface="Calibri"/>
              </a:rPr>
              <a:t>4</a:t>
            </a:r>
          </a:p>
        </p:txBody>
      </p:sp>
      <p:sp>
        <p:nvSpPr>
          <p:cNvPr id="31" name="Rectangle 30"/>
          <p:cNvSpPr/>
          <p:nvPr/>
        </p:nvSpPr>
        <p:spPr>
          <a:xfrm>
            <a:off x="594360" y="42519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4287687"/>
            <a:ext cx="4754880" cy="256032"/>
          </a:xfrm>
          <a:prstGeom prst="rect">
            <a:avLst/>
          </a:prstGeom>
          <a:noFill/>
        </p:spPr>
        <p:txBody>
          <a:bodyPr wrap="square">
            <a:spAutoFit/>
          </a:bodyPr>
          <a:lstStyle/>
          <a:p>
            <a:pPr algn="l"/>
            <a:r>
              <a:rPr sz="1100" b="1" i="0" dirty="0">
                <a:solidFill>
                  <a:srgbClr val="1A2E1E"/>
                </a:solidFill>
                <a:latin typeface="Calibri"/>
              </a:rPr>
              <a:t>Three-Tier Imputation</a:t>
            </a:r>
          </a:p>
        </p:txBody>
      </p:sp>
      <p:sp>
        <p:nvSpPr>
          <p:cNvPr id="33" name="TextBox 32"/>
          <p:cNvSpPr txBox="1"/>
          <p:nvPr/>
        </p:nvSpPr>
        <p:spPr>
          <a:xfrm>
            <a:off x="713232" y="4524582"/>
            <a:ext cx="4754880" cy="507831"/>
          </a:xfrm>
          <a:prstGeom prst="rect">
            <a:avLst/>
          </a:prstGeom>
          <a:noFill/>
        </p:spPr>
        <p:txBody>
          <a:bodyPr wrap="square">
            <a:spAutoFit/>
          </a:bodyPr>
          <a:lstStyle/>
          <a:p>
            <a:pPr algn="l"/>
            <a:r>
              <a:rPr sz="900" b="0" i="0" dirty="0">
                <a:solidFill>
                  <a:srgbClr val="5A6A60"/>
                </a:solidFill>
                <a:latin typeface="Calibri"/>
              </a:rPr>
              <a:t>≤ 2 weeks missing  →  Linear interpolation
3–8 weeks missing  →  Seasonal median (±2 yr window)
&gt; 8 weeks missing  →  Left as </a:t>
            </a:r>
            <a:r>
              <a:rPr sz="900" b="0" i="0" dirty="0" err="1">
                <a:solidFill>
                  <a:srgbClr val="5A6A60"/>
                </a:solidFill>
                <a:latin typeface="Calibri"/>
              </a:rPr>
              <a:t>NaN</a:t>
            </a:r>
            <a:r>
              <a:rPr sz="900" b="0" i="0" dirty="0">
                <a:solidFill>
                  <a:srgbClr val="5A6A60"/>
                </a:solidFill>
                <a:latin typeface="Calibri"/>
              </a:rPr>
              <a:t> (disclosed)</a:t>
            </a:r>
          </a:p>
        </p:txBody>
      </p:sp>
      <p:sp>
        <p:nvSpPr>
          <p:cNvPr id="34" name="TextBox 33"/>
          <p:cNvSpPr txBox="1"/>
          <p:nvPr/>
        </p:nvSpPr>
        <p:spPr>
          <a:xfrm>
            <a:off x="274320" y="50017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35" name="Rectangle 34"/>
          <p:cNvSpPr/>
          <p:nvPr/>
        </p:nvSpPr>
        <p:spPr>
          <a:xfrm>
            <a:off x="182880" y="51663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1168" y="5239512"/>
            <a:ext cx="365760" cy="256032"/>
          </a:xfrm>
          <a:prstGeom prst="rect">
            <a:avLst/>
          </a:prstGeom>
          <a:noFill/>
        </p:spPr>
        <p:txBody>
          <a:bodyPr wrap="square">
            <a:spAutoFit/>
          </a:bodyPr>
          <a:lstStyle/>
          <a:p>
            <a:pPr algn="ctr"/>
            <a:r>
              <a:rPr sz="1400" b="1" i="0">
                <a:solidFill>
                  <a:srgbClr val="FFFFFF"/>
                </a:solidFill>
                <a:latin typeface="Calibri"/>
              </a:rPr>
              <a:t>5</a:t>
            </a:r>
          </a:p>
        </p:txBody>
      </p:sp>
      <p:sp>
        <p:nvSpPr>
          <p:cNvPr id="37" name="Rectangle 36"/>
          <p:cNvSpPr/>
          <p:nvPr/>
        </p:nvSpPr>
        <p:spPr>
          <a:xfrm>
            <a:off x="594360" y="51663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5230368"/>
            <a:ext cx="4754880" cy="256032"/>
          </a:xfrm>
          <a:prstGeom prst="rect">
            <a:avLst/>
          </a:prstGeom>
          <a:noFill/>
        </p:spPr>
        <p:txBody>
          <a:bodyPr wrap="square">
            <a:spAutoFit/>
          </a:bodyPr>
          <a:lstStyle/>
          <a:p>
            <a:pPr algn="l"/>
            <a:r>
              <a:rPr sz="1100" b="1" i="0">
                <a:solidFill>
                  <a:srgbClr val="1A2E1E"/>
                </a:solidFill>
                <a:latin typeface="Calibri"/>
              </a:rPr>
              <a:t>Log-Price Column</a:t>
            </a:r>
          </a:p>
        </p:txBody>
      </p:sp>
      <p:sp>
        <p:nvSpPr>
          <p:cNvPr id="39" name="TextBox 38"/>
          <p:cNvSpPr txBox="1"/>
          <p:nvPr/>
        </p:nvSpPr>
        <p:spPr>
          <a:xfrm>
            <a:off x="713232" y="5495544"/>
            <a:ext cx="4754880" cy="384048"/>
          </a:xfrm>
          <a:prstGeom prst="rect">
            <a:avLst/>
          </a:prstGeom>
          <a:noFill/>
        </p:spPr>
        <p:txBody>
          <a:bodyPr wrap="square">
            <a:spAutoFit/>
          </a:bodyPr>
          <a:lstStyle/>
          <a:p>
            <a:pPr algn="l"/>
            <a:r>
              <a:rPr sz="950" b="0" i="0">
                <a:solidFill>
                  <a:srgbClr val="5A6A60"/>
                </a:solidFill>
                <a:latin typeface="Calibri"/>
              </a:rPr>
              <a:t>log_modal_price = log(modal_price + 1)
Modelling target — handles extreme right skew</a:t>
            </a:r>
          </a:p>
        </p:txBody>
      </p:sp>
      <p:sp>
        <p:nvSpPr>
          <p:cNvPr id="40" name="TextBox 39"/>
          <p:cNvSpPr txBox="1"/>
          <p:nvPr/>
        </p:nvSpPr>
        <p:spPr>
          <a:xfrm>
            <a:off x="6126480" y="1097280"/>
            <a:ext cx="5760720" cy="347472"/>
          </a:xfrm>
          <a:prstGeom prst="rect">
            <a:avLst/>
          </a:prstGeom>
          <a:noFill/>
        </p:spPr>
        <p:txBody>
          <a:bodyPr wrap="square">
            <a:spAutoFit/>
          </a:bodyPr>
          <a:lstStyle/>
          <a:p>
            <a:pPr algn="l"/>
            <a:r>
              <a:rPr sz="1100" b="1" i="0">
                <a:solidFill>
                  <a:srgbClr val="1E6B45"/>
                </a:solidFill>
                <a:latin typeface="Calibri"/>
              </a:rPr>
              <a:t>IMPUTATION DESIGN — RATIONALE</a:t>
            </a:r>
          </a:p>
        </p:txBody>
      </p:sp>
      <p:sp>
        <p:nvSpPr>
          <p:cNvPr id="41" name="TextBox 40"/>
          <p:cNvSpPr txBox="1"/>
          <p:nvPr/>
        </p:nvSpPr>
        <p:spPr>
          <a:xfrm>
            <a:off x="6126480" y="1481328"/>
            <a:ext cx="5760720" cy="1828800"/>
          </a:xfrm>
          <a:prstGeom prst="rect">
            <a:avLst/>
          </a:prstGeom>
          <a:noFill/>
        </p:spPr>
        <p:txBody>
          <a:bodyPr wrap="square">
            <a:spAutoFit/>
          </a:bodyPr>
          <a:lstStyle/>
          <a:p>
            <a:pPr>
              <a:spcBef>
                <a:spcPts val="600"/>
              </a:spcBef>
            </a:pPr>
            <a:r>
              <a:rPr sz="1050">
                <a:solidFill>
                  <a:srgbClr val="1A2E1E"/>
                </a:solidFill>
                <a:latin typeface="Calibri"/>
              </a:rPr>
              <a:t>▸  Linear interpolation (≤2 wks): Valid when a market has brief data outages (holidays, transport disruptions). No seasonal assumption needed.</a:t>
            </a:r>
          </a:p>
          <a:p>
            <a:pPr>
              <a:spcBef>
                <a:spcPts val="600"/>
              </a:spcBef>
            </a:pPr>
            <a:r>
              <a:rPr sz="1050">
                <a:solidFill>
                  <a:srgbClr val="1A2E1E"/>
                </a:solidFill>
                <a:latin typeface="Calibri"/>
              </a:rPr>
              <a:t>▸  Seasonal median (3–8 wks): Draws from same ISO week across ±2 adjacent years. Preserves harvest-season patterns that simple linear fill would smooth away.</a:t>
            </a:r>
          </a:p>
          <a:p>
            <a:pPr>
              <a:spcBef>
                <a:spcPts val="600"/>
              </a:spcBef>
            </a:pPr>
            <a:r>
              <a:rPr sz="1050">
                <a:solidFill>
                  <a:srgbClr val="1A2E1E"/>
                </a:solidFill>
                <a:latin typeface="Calibri"/>
              </a:rPr>
              <a:t>▸  NaN retention (&gt;8 wks): Markets with &gt;8-week consecutive gaps have structural data problems (APMC closure, reporting failures). Imputing would introduce fictitious data. These NaNs propagate and reduce coverage below the 90% threshold, excluding the market from the modelling panel.</a:t>
            </a:r>
          </a:p>
        </p:txBody>
      </p:sp>
      <p:sp>
        <p:nvSpPr>
          <p:cNvPr id="42" name="TextBox 41"/>
          <p:cNvSpPr txBox="1"/>
          <p:nvPr/>
        </p:nvSpPr>
        <p:spPr>
          <a:xfrm>
            <a:off x="6126480" y="3429000"/>
            <a:ext cx="5760720" cy="320040"/>
          </a:xfrm>
          <a:prstGeom prst="rect">
            <a:avLst/>
          </a:prstGeom>
          <a:noFill/>
        </p:spPr>
        <p:txBody>
          <a:bodyPr wrap="square">
            <a:spAutoFit/>
          </a:bodyPr>
          <a:lstStyle/>
          <a:p>
            <a:pPr algn="l"/>
            <a:r>
              <a:rPr sz="1100" b="1" i="0">
                <a:solidFill>
                  <a:srgbClr val="1E6B45"/>
                </a:solidFill>
                <a:latin typeface="Calibri"/>
              </a:rPr>
              <a:t>MARKET COVERAGE HEATMAP</a:t>
            </a:r>
          </a:p>
        </p:txBody>
      </p:sp>
      <p:pic>
        <p:nvPicPr>
          <p:cNvPr id="43" name="Picture 42" descr="fig04_coverage_heatmap.png"/>
          <p:cNvPicPr>
            <a:picLocks noChangeAspect="1"/>
          </p:cNvPicPr>
          <p:nvPr/>
        </p:nvPicPr>
        <p:blipFill>
          <a:blip r:embed="rId3"/>
          <a:stretch>
            <a:fillRect/>
          </a:stretch>
        </p:blipFill>
        <p:spPr>
          <a:xfrm>
            <a:off x="6126480" y="3794760"/>
            <a:ext cx="5760720"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Market Coverage Results</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2,495 qualifying markets across 3 crops — one of the largest Indian vegetable panels assembled</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graphicFrame>
        <p:nvGraphicFramePr>
          <p:cNvPr id="10" name="Table 9"/>
          <p:cNvGraphicFramePr>
            <a:graphicFrameLocks noGrp="1"/>
          </p:cNvGraphicFramePr>
          <p:nvPr/>
        </p:nvGraphicFramePr>
        <p:xfrm>
          <a:off x="182880" y="1097280"/>
          <a:ext cx="11750040" cy="20116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3886200">
                  <a:extLst>
                    <a:ext uri="{9D8B030D-6E8A-4147-A177-3AD203B41FA5}">
                      <a16:colId xmlns:a16="http://schemas.microsoft.com/office/drawing/2014/main" val="20005"/>
                    </a:ext>
                  </a:extLst>
                </a:gridCol>
              </a:tblGrid>
              <a:tr h="402336">
                <a:tc>
                  <a:txBody>
                    <a:bodyPr/>
                    <a:lstStyle/>
                    <a:p>
                      <a:pPr algn="ctr"/>
                      <a:r>
                        <a:rPr sz="1000" b="1">
                          <a:solidFill>
                            <a:srgbClr val="FFFFFF"/>
                          </a:solidFill>
                          <a:latin typeface="Calibri"/>
                        </a:rPr>
                        <a:t>Crop</a:t>
                      </a:r>
                    </a:p>
                  </a:txBody>
                  <a:tcPr>
                    <a:solidFill>
                      <a:srgbClr val="0D2240"/>
                    </a:solidFill>
                  </a:tcPr>
                </a:tc>
                <a:tc>
                  <a:txBody>
                    <a:bodyPr/>
                    <a:lstStyle/>
                    <a:p>
                      <a:pPr algn="ctr"/>
                      <a:r>
                        <a:rPr sz="1000" b="1">
                          <a:solidFill>
                            <a:srgbClr val="FFFFFF"/>
                          </a:solidFill>
                          <a:latin typeface="Calibri"/>
                        </a:rPr>
                        <a:t>Qualifying Markets</a:t>
                      </a:r>
                    </a:p>
                  </a:txBody>
                  <a:tcPr>
                    <a:solidFill>
                      <a:srgbClr val="0D2240"/>
                    </a:solidFill>
                  </a:tcPr>
                </a:tc>
                <a:tc>
                  <a:txBody>
                    <a:bodyPr/>
                    <a:lstStyle/>
                    <a:p>
                      <a:pPr algn="ctr"/>
                      <a:r>
                        <a:rPr sz="1000" b="1">
                          <a:solidFill>
                            <a:srgbClr val="FFFFFF"/>
                          </a:solidFill>
                          <a:latin typeface="Calibri"/>
                        </a:rPr>
                        <a:t>States Covered</a:t>
                      </a:r>
                    </a:p>
                  </a:txBody>
                  <a:tcPr>
                    <a:solidFill>
                      <a:srgbClr val="0D2240"/>
                    </a:solidFill>
                  </a:tcPr>
                </a:tc>
                <a:tc>
                  <a:txBody>
                    <a:bodyPr/>
                    <a:lstStyle/>
                    <a:p>
                      <a:pPr algn="ctr"/>
                      <a:r>
                        <a:rPr sz="1000" b="1">
                          <a:solidFill>
                            <a:srgbClr val="FFFFFF"/>
                          </a:solidFill>
                          <a:latin typeface="Calibri"/>
                        </a:rPr>
                        <a:t>Coverage Threshold</a:t>
                      </a:r>
                    </a:p>
                  </a:txBody>
                  <a:tcPr>
                    <a:solidFill>
                      <a:srgbClr val="0D2240"/>
                    </a:solidFill>
                  </a:tcPr>
                </a:tc>
                <a:tc>
                  <a:txBody>
                    <a:bodyPr/>
                    <a:lstStyle/>
                    <a:p>
                      <a:pPr algn="ctr"/>
                      <a:r>
                        <a:rPr sz="1000" b="1">
                          <a:solidFill>
                            <a:srgbClr val="FFFFFF"/>
                          </a:solidFill>
                          <a:latin typeface="Calibri"/>
                        </a:rPr>
                        <a:t>Panel Rows</a:t>
                      </a:r>
                    </a:p>
                  </a:txBody>
                  <a:tcPr>
                    <a:solidFill>
                      <a:srgbClr val="0D2240"/>
                    </a:solidFill>
                  </a:tcPr>
                </a:tc>
                <a:tc>
                  <a:txBody>
                    <a:bodyPr/>
                    <a:lstStyle/>
                    <a:p>
                      <a:pPr algn="ctr"/>
                      <a:r>
                        <a:rPr sz="1000" b="1">
                          <a:solidFill>
                            <a:srgbClr val="FFFFFF"/>
                          </a:solidFill>
                          <a:latin typeface="Calibri"/>
                        </a:rPr>
                        <a:t>Script Output</a:t>
                      </a:r>
                    </a:p>
                  </a:txBody>
                  <a:tcPr>
                    <a:solidFill>
                      <a:srgbClr val="0D2240"/>
                    </a:solidFill>
                  </a:tcPr>
                </a:tc>
                <a:extLst>
                  <a:ext uri="{0D108BD9-81ED-4DB2-BD59-A6C34878D82A}">
                    <a16:rowId xmlns:a16="http://schemas.microsoft.com/office/drawing/2014/main" val="10000"/>
                  </a:ext>
                </a:extLst>
              </a:tr>
              <a:tr h="402336">
                <a:tc>
                  <a:txBody>
                    <a:bodyPr/>
                    <a:lstStyle/>
                    <a:p>
                      <a:pPr algn="l"/>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1,567</a:t>
                      </a:r>
                    </a:p>
                  </a:txBody>
                  <a:tcPr>
                    <a:solidFill>
                      <a:srgbClr val="FFFFFF"/>
                    </a:solidFill>
                  </a:tcPr>
                </a:tc>
                <a:tc>
                  <a:txBody>
                    <a:bodyPr/>
                    <a:lstStyle/>
                    <a:p>
                      <a:pPr algn="ctr"/>
                      <a:r>
                        <a:rPr sz="950">
                          <a:solidFill>
                            <a:srgbClr val="1A2E1E"/>
                          </a:solidFill>
                          <a:latin typeface="Calibri"/>
                        </a:rPr>
                        <a:t>29</a:t>
                      </a:r>
                    </a:p>
                  </a:txBody>
                  <a:tcPr>
                    <a:solidFill>
                      <a:srgbClr val="FFFFFF"/>
                    </a:solidFill>
                  </a:tcPr>
                </a:tc>
                <a:tc>
                  <a:txBody>
                    <a:bodyPr/>
                    <a:lstStyle/>
                    <a:p>
                      <a:pPr algn="ctr"/>
                      <a:r>
                        <a:rPr sz="950">
                          <a:solidFill>
                            <a:srgbClr val="1A2E1E"/>
                          </a:solidFill>
                          <a:latin typeface="Calibri"/>
                        </a:rPr>
                        <a:t>≥ 90% of 470 weeks</a:t>
                      </a:r>
                    </a:p>
                  </a:txBody>
                  <a:tcPr>
                    <a:solidFill>
                      <a:srgbClr val="FFFFFF"/>
                    </a:solidFill>
                  </a:tcPr>
                </a:tc>
                <a:tc>
                  <a:txBody>
                    <a:bodyPr/>
                    <a:lstStyle/>
                    <a:p>
                      <a:pPr algn="ctr"/>
                      <a:r>
                        <a:rPr sz="950">
                          <a:solidFill>
                            <a:srgbClr val="1A2E1E"/>
                          </a:solidFill>
                          <a:latin typeface="Calibri"/>
                        </a:rPr>
                        <a:t>736,490</a:t>
                      </a:r>
                    </a:p>
                  </a:txBody>
                  <a:tcPr>
                    <a:solidFill>
                      <a:srgbClr val="FFFFFF"/>
                    </a:solidFill>
                  </a:tcPr>
                </a:tc>
                <a:tc>
                  <a:txBody>
                    <a:bodyPr/>
                    <a:lstStyle/>
                    <a:p>
                      <a:pPr algn="ctr"/>
                      <a:r>
                        <a:rPr sz="950">
                          <a:solidFill>
                            <a:srgbClr val="1A2E1E"/>
                          </a:solidFill>
                          <a:latin typeface="Calibri"/>
                        </a:rPr>
                        <a:t>tomato_weekly_panel.csv  (~70 MB)</a:t>
                      </a:r>
                    </a:p>
                  </a:txBody>
                  <a:tcPr>
                    <a:solidFill>
                      <a:srgbClr val="FFFFFF"/>
                    </a:solidFill>
                  </a:tcPr>
                </a:tc>
                <a:extLst>
                  <a:ext uri="{0D108BD9-81ED-4DB2-BD59-A6C34878D82A}">
                    <a16:rowId xmlns:a16="http://schemas.microsoft.com/office/drawing/2014/main" val="10001"/>
                  </a:ext>
                </a:extLst>
              </a:tr>
              <a:tr h="402336">
                <a:tc>
                  <a:txBody>
                    <a:bodyPr/>
                    <a:lstStyle/>
                    <a:p>
                      <a:pPr algn="l"/>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843</a:t>
                      </a:r>
                    </a:p>
                  </a:txBody>
                  <a:tcPr>
                    <a:solidFill>
                      <a:srgbClr val="F0F6F3"/>
                    </a:solidFill>
                  </a:tcPr>
                </a:tc>
                <a:tc>
                  <a:txBody>
                    <a:bodyPr/>
                    <a:lstStyle/>
                    <a:p>
                      <a:pPr algn="ctr"/>
                      <a:r>
                        <a:rPr sz="950">
                          <a:solidFill>
                            <a:srgbClr val="1A2E1E"/>
                          </a:solidFill>
                          <a:latin typeface="Calibri"/>
                        </a:rPr>
                        <a:t>22</a:t>
                      </a:r>
                    </a:p>
                  </a:txBody>
                  <a:tcPr>
                    <a:solidFill>
                      <a:srgbClr val="F0F6F3"/>
                    </a:solidFill>
                  </a:tcPr>
                </a:tc>
                <a:tc>
                  <a:txBody>
                    <a:bodyPr/>
                    <a:lstStyle/>
                    <a:p>
                      <a:pPr algn="ctr"/>
                      <a:r>
                        <a:rPr sz="950">
                          <a:solidFill>
                            <a:srgbClr val="1A2E1E"/>
                          </a:solidFill>
                          <a:latin typeface="Calibri"/>
                        </a:rPr>
                        <a:t>≥ 90% of 470 weeks</a:t>
                      </a:r>
                    </a:p>
                  </a:txBody>
                  <a:tcPr>
                    <a:solidFill>
                      <a:srgbClr val="F0F6F3"/>
                    </a:solidFill>
                  </a:tcPr>
                </a:tc>
                <a:tc>
                  <a:txBody>
                    <a:bodyPr/>
                    <a:lstStyle/>
                    <a:p>
                      <a:pPr algn="ctr"/>
                      <a:r>
                        <a:rPr sz="950">
                          <a:solidFill>
                            <a:srgbClr val="1A2E1E"/>
                          </a:solidFill>
                          <a:latin typeface="Calibri"/>
                        </a:rPr>
                        <a:t>396,210</a:t>
                      </a:r>
                    </a:p>
                  </a:txBody>
                  <a:tcPr>
                    <a:solidFill>
                      <a:srgbClr val="F0F6F3"/>
                    </a:solidFill>
                  </a:tcPr>
                </a:tc>
                <a:tc>
                  <a:txBody>
                    <a:bodyPr/>
                    <a:lstStyle/>
                    <a:p>
                      <a:pPr algn="ctr"/>
                      <a:r>
                        <a:rPr sz="950">
                          <a:solidFill>
                            <a:srgbClr val="1A2E1E"/>
                          </a:solidFill>
                          <a:latin typeface="Calibri"/>
                        </a:rPr>
                        <a:t>onion_weekly_panel.csv   (~35 MB)</a:t>
                      </a:r>
                    </a:p>
                  </a:txBody>
                  <a:tcPr>
                    <a:solidFill>
                      <a:srgbClr val="F0F6F3"/>
                    </a:solidFill>
                  </a:tcPr>
                </a:tc>
                <a:extLst>
                  <a:ext uri="{0D108BD9-81ED-4DB2-BD59-A6C34878D82A}">
                    <a16:rowId xmlns:a16="http://schemas.microsoft.com/office/drawing/2014/main" val="10002"/>
                  </a:ext>
                </a:extLst>
              </a:tr>
              <a:tr h="402336">
                <a:tc>
                  <a:txBody>
                    <a:bodyPr/>
                    <a:lstStyle/>
                    <a:p>
                      <a:pPr algn="l"/>
                      <a:r>
                        <a:rPr sz="950">
                          <a:solidFill>
                            <a:srgbClr val="1A2E1E"/>
                          </a:solidFill>
                          <a:latin typeface="Calibri"/>
                        </a:rPr>
                        <a:t>Potato</a:t>
                      </a:r>
                    </a:p>
                  </a:txBody>
                  <a:tcPr>
                    <a:solidFill>
                      <a:srgbClr val="FFFFFF"/>
                    </a:solidFill>
                  </a:tcPr>
                </a:tc>
                <a:tc>
                  <a:txBody>
                    <a:bodyPr/>
                    <a:lstStyle/>
                    <a:p>
                      <a:pPr algn="ctr"/>
                      <a:r>
                        <a:rPr sz="950">
                          <a:solidFill>
                            <a:srgbClr val="1A2E1E"/>
                          </a:solidFill>
                          <a:latin typeface="Calibri"/>
                        </a:rPr>
                        <a:t>85</a:t>
                      </a:r>
                    </a:p>
                  </a:txBody>
                  <a:tcPr>
                    <a:solidFill>
                      <a:srgbClr val="FFFFFF"/>
                    </a:solidFill>
                  </a:tcPr>
                </a:tc>
                <a:tc>
                  <a:txBody>
                    <a:bodyPr/>
                    <a:lstStyle/>
                    <a:p>
                      <a:pPr algn="ctr"/>
                      <a:r>
                        <a:rPr sz="950">
                          <a:solidFill>
                            <a:srgbClr val="1A2E1E"/>
                          </a:solidFill>
                          <a:latin typeface="Calibri"/>
                        </a:rPr>
                        <a:t>2</a:t>
                      </a:r>
                    </a:p>
                  </a:txBody>
                  <a:tcPr>
                    <a:solidFill>
                      <a:srgbClr val="FFFFFF"/>
                    </a:solidFill>
                  </a:tcPr>
                </a:tc>
                <a:tc>
                  <a:txBody>
                    <a:bodyPr/>
                    <a:lstStyle/>
                    <a:p>
                      <a:pPr algn="ctr"/>
                      <a:r>
                        <a:rPr sz="950">
                          <a:solidFill>
                            <a:srgbClr val="1A2E1E"/>
                          </a:solidFill>
                          <a:latin typeface="Calibri"/>
                        </a:rPr>
                        <a:t>≥ 90% of 470 weeks</a:t>
                      </a:r>
                    </a:p>
                  </a:txBody>
                  <a:tcPr>
                    <a:solidFill>
                      <a:srgbClr val="FFFFFF"/>
                    </a:solidFill>
                  </a:tcPr>
                </a:tc>
                <a:tc>
                  <a:txBody>
                    <a:bodyPr/>
                    <a:lstStyle/>
                    <a:p>
                      <a:pPr algn="ctr"/>
                      <a:r>
                        <a:rPr sz="950">
                          <a:solidFill>
                            <a:srgbClr val="1A2E1E"/>
                          </a:solidFill>
                          <a:latin typeface="Calibri"/>
                        </a:rPr>
                        <a:t>39,950</a:t>
                      </a:r>
                    </a:p>
                  </a:txBody>
                  <a:tcPr>
                    <a:solidFill>
                      <a:srgbClr val="FFFFFF"/>
                    </a:solidFill>
                  </a:tcPr>
                </a:tc>
                <a:tc>
                  <a:txBody>
                    <a:bodyPr/>
                    <a:lstStyle/>
                    <a:p>
                      <a:pPr algn="ctr"/>
                      <a:r>
                        <a:rPr sz="950">
                          <a:solidFill>
                            <a:srgbClr val="1A2E1E"/>
                          </a:solidFill>
                          <a:latin typeface="Calibri"/>
                        </a:rPr>
                        <a:t>potato_weekly_panel.csv  (~4 MB)</a:t>
                      </a:r>
                    </a:p>
                  </a:txBody>
                  <a:tcPr>
                    <a:solidFill>
                      <a:srgbClr val="FFFFFF"/>
                    </a:solidFill>
                  </a:tcPr>
                </a:tc>
                <a:extLst>
                  <a:ext uri="{0D108BD9-81ED-4DB2-BD59-A6C34878D82A}">
                    <a16:rowId xmlns:a16="http://schemas.microsoft.com/office/drawing/2014/main" val="10003"/>
                  </a:ext>
                </a:extLst>
              </a:tr>
              <a:tr h="402336">
                <a:tc>
                  <a:txBody>
                    <a:bodyPr/>
                    <a:lstStyle/>
                    <a:p>
                      <a:pPr algn="l"/>
                      <a:r>
                        <a:rPr sz="950">
                          <a:solidFill>
                            <a:srgbClr val="1A2E1E"/>
                          </a:solidFill>
                          <a:latin typeface="Calibri"/>
                        </a:rPr>
                        <a:t>TOTAL</a:t>
                      </a:r>
                    </a:p>
                  </a:txBody>
                  <a:tcPr>
                    <a:solidFill>
                      <a:srgbClr val="F0F6F3"/>
                    </a:solidFill>
                  </a:tcPr>
                </a:tc>
                <a:tc>
                  <a:txBody>
                    <a:bodyPr/>
                    <a:lstStyle/>
                    <a:p>
                      <a:pPr algn="ctr"/>
                      <a:r>
                        <a:rPr sz="950">
                          <a:solidFill>
                            <a:srgbClr val="1A2E1E"/>
                          </a:solidFill>
                          <a:latin typeface="Calibri"/>
                        </a:rPr>
                        <a:t>2,495</a:t>
                      </a:r>
                    </a:p>
                  </a:txBody>
                  <a:tcPr>
                    <a:solidFill>
                      <a:srgbClr val="F0F6F3"/>
                    </a:solidFill>
                  </a:tcPr>
                </a:tc>
                <a:tc>
                  <a:txBody>
                    <a:bodyPr/>
                    <a:lstStyle/>
                    <a:p>
                      <a:pPr algn="ctr"/>
                      <a:r>
                        <a:rPr sz="950">
                          <a:solidFill>
                            <a:srgbClr val="1A2E1E"/>
                          </a:solidFill>
                          <a:latin typeface="Calibri"/>
                        </a:rPr>
                        <a:t>—</a:t>
                      </a:r>
                    </a:p>
                  </a:txBody>
                  <a:tcPr>
                    <a:solidFill>
                      <a:srgbClr val="F0F6F3"/>
                    </a:solidFill>
                  </a:tcPr>
                </a:tc>
                <a:tc>
                  <a:txBody>
                    <a:bodyPr/>
                    <a:lstStyle/>
                    <a:p>
                      <a:pPr algn="ctr"/>
                      <a:r>
                        <a:rPr sz="950">
                          <a:solidFill>
                            <a:srgbClr val="1A2E1E"/>
                          </a:solidFill>
                          <a:latin typeface="Calibri"/>
                        </a:rPr>
                        <a:t>—</a:t>
                      </a:r>
                    </a:p>
                  </a:txBody>
                  <a:tcPr>
                    <a:solidFill>
                      <a:srgbClr val="F0F6F3"/>
                    </a:solidFill>
                  </a:tcPr>
                </a:tc>
                <a:tc>
                  <a:txBody>
                    <a:bodyPr/>
                    <a:lstStyle/>
                    <a:p>
                      <a:pPr algn="ctr"/>
                      <a:r>
                        <a:rPr sz="950">
                          <a:solidFill>
                            <a:srgbClr val="1A2E1E"/>
                          </a:solidFill>
                          <a:latin typeface="Calibri"/>
                        </a:rPr>
                        <a:t>1,172,650</a:t>
                      </a:r>
                    </a:p>
                  </a:txBody>
                  <a:tcPr>
                    <a:solidFill>
                      <a:srgbClr val="F0F6F3"/>
                    </a:solidFill>
                  </a:tcPr>
                </a:tc>
                <a:tc>
                  <a:txBody>
                    <a:bodyPr/>
                    <a:lstStyle/>
                    <a:p>
                      <a:pPr algn="ctr"/>
                      <a:r>
                        <a:rPr sz="950">
                          <a:solidFill>
                            <a:srgbClr val="1A2E1E"/>
                          </a:solidFill>
                          <a:latin typeface="Calibri"/>
                        </a:rPr>
                        <a:t>top_weekly_panel.csv  (107 MB, .gitignore)</a:t>
                      </a:r>
                    </a:p>
                  </a:txBody>
                  <a:tcPr>
                    <a:solidFill>
                      <a:srgbClr val="F0F6F3"/>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82880" y="3246120"/>
            <a:ext cx="11795760" cy="347472"/>
          </a:xfrm>
          <a:prstGeom prst="rect">
            <a:avLst/>
          </a:prstGeom>
          <a:noFill/>
        </p:spPr>
        <p:txBody>
          <a:bodyPr wrap="square">
            <a:spAutoFit/>
          </a:bodyPr>
          <a:lstStyle/>
          <a:p>
            <a:pPr algn="l"/>
            <a:r>
              <a:rPr sz="1100" b="1" i="0">
                <a:solidFill>
                  <a:srgbClr val="1E6B45"/>
                </a:solidFill>
                <a:latin typeface="Calibri"/>
              </a:rPr>
              <a:t>KEY DECISION — Full Panel vs. Strategic Markets</a:t>
            </a:r>
          </a:p>
        </p:txBody>
      </p:sp>
      <p:sp>
        <p:nvSpPr>
          <p:cNvPr id="12" name="Rectangle 11"/>
          <p:cNvSpPr/>
          <p:nvPr/>
        </p:nvSpPr>
        <p:spPr>
          <a:xfrm>
            <a:off x="182880" y="3630168"/>
            <a:ext cx="5577840" cy="263347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2880" y="3630168"/>
            <a:ext cx="5577840" cy="320040"/>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648456"/>
            <a:ext cx="5303520" cy="274320"/>
          </a:xfrm>
          <a:prstGeom prst="rect">
            <a:avLst/>
          </a:prstGeom>
          <a:noFill/>
        </p:spPr>
        <p:txBody>
          <a:bodyPr wrap="square">
            <a:spAutoFit/>
          </a:bodyPr>
          <a:lstStyle/>
          <a:p>
            <a:pPr algn="l"/>
            <a:r>
              <a:rPr sz="1000" b="1" i="0">
                <a:solidFill>
                  <a:srgbClr val="FFFFFF"/>
                </a:solidFill>
                <a:latin typeface="Calibri"/>
              </a:rPr>
              <a:t>PI BRIEF RECOMMENDATION</a:t>
            </a:r>
          </a:p>
        </p:txBody>
      </p:sp>
      <p:sp>
        <p:nvSpPr>
          <p:cNvPr id="15" name="TextBox 14"/>
          <p:cNvSpPr txBox="1"/>
          <p:nvPr/>
        </p:nvSpPr>
        <p:spPr>
          <a:xfrm>
            <a:off x="292608" y="4005072"/>
            <a:ext cx="5303520" cy="2148840"/>
          </a:xfrm>
          <a:prstGeom prst="rect">
            <a:avLst/>
          </a:prstGeom>
          <a:noFill/>
        </p:spPr>
        <p:txBody>
          <a:bodyPr wrap="square">
            <a:spAutoFit/>
          </a:bodyPr>
          <a:lstStyle/>
          <a:p>
            <a:pPr>
              <a:spcBef>
                <a:spcPts val="700"/>
              </a:spcBef>
            </a:pPr>
            <a:r>
              <a:rPr sz="1100">
                <a:solidFill>
                  <a:srgbClr val="1A2E1E"/>
                </a:solidFill>
                <a:latin typeface="Calibri"/>
              </a:rPr>
              <a:t>~20–30 'strategic' APMCs selected on trading volume and geographic spread</a:t>
            </a:r>
          </a:p>
          <a:p>
            <a:pPr>
              <a:spcBef>
                <a:spcPts val="700"/>
              </a:spcBef>
            </a:pPr>
            <a:r>
              <a:rPr sz="1100">
                <a:solidFill>
                  <a:srgbClr val="1A2E1E"/>
                </a:solidFill>
                <a:latin typeface="Calibri"/>
              </a:rPr>
              <a:t>Smaller panel → easier to interpret → focused policy recommendations</a:t>
            </a:r>
          </a:p>
          <a:p>
            <a:pPr>
              <a:spcBef>
                <a:spcPts val="700"/>
              </a:spcBef>
            </a:pPr>
            <a:r>
              <a:rPr sz="1100">
                <a:solidFill>
                  <a:srgbClr val="1A2E1E"/>
                </a:solidFill>
                <a:latin typeface="Calibri"/>
              </a:rPr>
              <a:t>Standard approach in Indian agricultural economics literature</a:t>
            </a:r>
          </a:p>
        </p:txBody>
      </p:sp>
      <p:sp>
        <p:nvSpPr>
          <p:cNvPr id="16" name="Rectangle 15"/>
          <p:cNvSpPr/>
          <p:nvPr/>
        </p:nvSpPr>
        <p:spPr>
          <a:xfrm>
            <a:off x="5989320" y="3630168"/>
            <a:ext cx="5943600" cy="263347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89320" y="3630168"/>
            <a:ext cx="5943600" cy="32004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48456"/>
            <a:ext cx="5669280" cy="274320"/>
          </a:xfrm>
          <a:prstGeom prst="rect">
            <a:avLst/>
          </a:prstGeom>
          <a:noFill/>
        </p:spPr>
        <p:txBody>
          <a:bodyPr wrap="square">
            <a:spAutoFit/>
          </a:bodyPr>
          <a:lstStyle/>
          <a:p>
            <a:pPr algn="l"/>
            <a:r>
              <a:rPr sz="1000" b="1" i="0">
                <a:solidFill>
                  <a:srgbClr val="FFFFFF"/>
                </a:solidFill>
                <a:latin typeface="Calibri"/>
              </a:rPr>
              <a:t>OUR DECISION — FULL PANEL  (approved)</a:t>
            </a:r>
          </a:p>
        </p:txBody>
      </p:sp>
      <p:sp>
        <p:nvSpPr>
          <p:cNvPr id="19" name="TextBox 18"/>
          <p:cNvSpPr txBox="1"/>
          <p:nvPr/>
        </p:nvSpPr>
        <p:spPr>
          <a:xfrm>
            <a:off x="6099048" y="4005072"/>
            <a:ext cx="5669280" cy="2148840"/>
          </a:xfrm>
          <a:prstGeom prst="rect">
            <a:avLst/>
          </a:prstGeom>
          <a:noFill/>
        </p:spPr>
        <p:txBody>
          <a:bodyPr wrap="square">
            <a:spAutoFit/>
          </a:bodyPr>
          <a:lstStyle/>
          <a:p>
            <a:pPr>
              <a:spcBef>
                <a:spcPts val="600"/>
              </a:spcBef>
            </a:pPr>
            <a:r>
              <a:rPr sz="1100">
                <a:solidFill>
                  <a:srgbClr val="1A2E1E"/>
                </a:solidFill>
                <a:latin typeface="Calibri"/>
              </a:rPr>
              <a:t>1.17M rows provides &gt;50× more training signal for LightGBM feature learning</a:t>
            </a:r>
          </a:p>
          <a:p>
            <a:pPr>
              <a:spcBef>
                <a:spcPts val="600"/>
              </a:spcBef>
            </a:pPr>
            <a:r>
              <a:rPr sz="1100">
                <a:solidFill>
                  <a:srgbClr val="1A2E1E"/>
                </a:solidFill>
                <a:latin typeface="Calibri"/>
              </a:rPr>
              <a:t>Captures diverse price dynamics: assembly markets, mandi hubs, local retail yards</a:t>
            </a:r>
          </a:p>
          <a:p>
            <a:pPr>
              <a:spcBef>
                <a:spcPts val="600"/>
              </a:spcBef>
            </a:pPr>
            <a:r>
              <a:rPr sz="1100">
                <a:solidFill>
                  <a:srgbClr val="1A2E1E"/>
                </a:solidFill>
                <a:latin typeface="Calibri"/>
              </a:rPr>
              <a:t>Better generalisation across India's heterogeneous market structure</a:t>
            </a:r>
          </a:p>
          <a:p>
            <a:pPr>
              <a:spcBef>
                <a:spcPts val="600"/>
              </a:spcBef>
            </a:pPr>
            <a:r>
              <a:rPr sz="1100">
                <a:solidFill>
                  <a:srgbClr val="1A2E1E"/>
                </a:solidFill>
                <a:latin typeface="Calibri"/>
              </a:rPr>
              <a:t>Strategic 20–30 markets highlighted in paper as focused policy lens within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 4 — Macro-Logistics Data</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Four economic data sources · 108 months (2017–2025) · Fully compiled and verified</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11795760" cy="320040"/>
          </a:xfrm>
          <a:prstGeom prst="rect">
            <a:avLst/>
          </a:prstGeom>
          <a:noFill/>
        </p:spPr>
        <p:txBody>
          <a:bodyPr wrap="square">
            <a:spAutoFit/>
          </a:bodyPr>
          <a:lstStyle/>
          <a:p>
            <a:pPr algn="l"/>
            <a:r>
              <a:rPr sz="1050" b="0" i="1">
                <a:solidFill>
                  <a:srgbClr val="5A6A60"/>
                </a:solidFill>
                <a:latin typeface="Calibri"/>
              </a:rPr>
              <a:t>All macro series extend to December 2025. Each file is deduplicated (provisional vs. revised entries removed).</a:t>
            </a:r>
          </a:p>
        </p:txBody>
      </p:sp>
      <p:sp>
        <p:nvSpPr>
          <p:cNvPr id="11" name="Rectangle 10"/>
          <p:cNvSpPr/>
          <p:nvPr/>
        </p:nvSpPr>
        <p:spPr>
          <a:xfrm>
            <a:off x="1828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1554480"/>
            <a:ext cx="2697480" cy="253916"/>
          </a:xfrm>
          <a:prstGeom prst="rect">
            <a:avLst/>
          </a:prstGeom>
          <a:noFill/>
        </p:spPr>
        <p:txBody>
          <a:bodyPr wrap="square">
            <a:spAutoFit/>
          </a:bodyPr>
          <a:lstStyle/>
          <a:p>
            <a:pPr algn="l"/>
            <a:r>
              <a:rPr sz="1050" b="1" i="0" dirty="0">
                <a:solidFill>
                  <a:srgbClr val="FFFFFF"/>
                </a:solidFill>
                <a:latin typeface="Calibri"/>
              </a:rPr>
              <a:t>CMIE</a:t>
            </a:r>
            <a:r>
              <a:rPr lang="en-US" sz="1050" b="1" dirty="0">
                <a:solidFill>
                  <a:srgbClr val="FFFFFF"/>
                </a:solidFill>
                <a:latin typeface="Calibri"/>
              </a:rPr>
              <a:t> </a:t>
            </a:r>
            <a:r>
              <a:rPr sz="1050" b="1" i="0" dirty="0">
                <a:solidFill>
                  <a:srgbClr val="FFFFFF"/>
                </a:solidFill>
                <a:latin typeface="Calibri"/>
              </a:rPr>
              <a:t>(Script 10)</a:t>
            </a:r>
          </a:p>
        </p:txBody>
      </p:sp>
      <p:sp>
        <p:nvSpPr>
          <p:cNvPr id="14" name="TextBox 13"/>
          <p:cNvSpPr txBox="1"/>
          <p:nvPr/>
        </p:nvSpPr>
        <p:spPr>
          <a:xfrm>
            <a:off x="274320" y="1901951"/>
            <a:ext cx="2670048" cy="4315968"/>
          </a:xfrm>
          <a:prstGeom prst="rect">
            <a:avLst/>
          </a:prstGeom>
          <a:noFill/>
        </p:spPr>
        <p:txBody>
          <a:bodyPr wrap="square">
            <a:spAutoFit/>
          </a:bodyPr>
          <a:lstStyle/>
          <a:p>
            <a:pPr algn="l"/>
            <a:r>
              <a:rPr sz="1000" b="0" i="0">
                <a:solidFill>
                  <a:srgbClr val="1A2E1E"/>
                </a:solidFill>
                <a:latin typeface="Calibri"/>
              </a:rPr>
              <a:t>6 economic series, 108 months
Diesel retail price (Rs/litre)
Consumer Price Index (CPI)
Wholesale Price Index (WPI)
Index of Industrial Production (IIP)
USD-INR exchange rate
Indian crude oil basket (PPAC)</a:t>
            </a:r>
          </a:p>
        </p:txBody>
      </p:sp>
      <p:sp>
        <p:nvSpPr>
          <p:cNvPr id="15" name="Rectangle 14"/>
          <p:cNvSpPr/>
          <p:nvPr/>
        </p:nvSpPr>
        <p:spPr>
          <a:xfrm>
            <a:off x="31546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546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46120" y="1554480"/>
            <a:ext cx="2697480" cy="283464"/>
          </a:xfrm>
          <a:prstGeom prst="rect">
            <a:avLst/>
          </a:prstGeom>
          <a:noFill/>
        </p:spPr>
        <p:txBody>
          <a:bodyPr wrap="square">
            <a:spAutoFit/>
          </a:bodyPr>
          <a:lstStyle/>
          <a:p>
            <a:pPr algn="l"/>
            <a:r>
              <a:rPr sz="1050" b="1" i="0">
                <a:solidFill>
                  <a:srgbClr val="FFFFFF"/>
                </a:solidFill>
                <a:latin typeface="Calibri"/>
              </a:rPr>
              <a:t>PPAC FUEL PRICES</a:t>
            </a:r>
          </a:p>
        </p:txBody>
      </p:sp>
      <p:sp>
        <p:nvSpPr>
          <p:cNvPr id="18" name="TextBox 17"/>
          <p:cNvSpPr txBox="1"/>
          <p:nvPr/>
        </p:nvSpPr>
        <p:spPr>
          <a:xfrm>
            <a:off x="3246120" y="1901951"/>
            <a:ext cx="2670048" cy="4315968"/>
          </a:xfrm>
          <a:prstGeom prst="rect">
            <a:avLst/>
          </a:prstGeom>
          <a:noFill/>
        </p:spPr>
        <p:txBody>
          <a:bodyPr wrap="square">
            <a:spAutoFit/>
          </a:bodyPr>
          <a:lstStyle/>
          <a:p>
            <a:pPr algn="l"/>
            <a:r>
              <a:rPr sz="1000" b="0" i="0">
                <a:solidFill>
                  <a:srgbClr val="1A2E1E"/>
                </a:solidFill>
                <a:latin typeface="Calibri"/>
              </a:rPr>
              <a:t>Diesel: monthly avg retail price
LPG 19kg commercial cylinder
Non-subsidised series used throughout
(Subsidised LPG ended post-2020)
108 months, no gaps
File: ppac_diesel_lpg_2017_2025.csv
</a:t>
            </a:r>
          </a:p>
        </p:txBody>
      </p:sp>
      <p:sp>
        <p:nvSpPr>
          <p:cNvPr id="19" name="Rectangle 18"/>
          <p:cNvSpPr/>
          <p:nvPr/>
        </p:nvSpPr>
        <p:spPr>
          <a:xfrm>
            <a:off x="61264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264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1554480"/>
            <a:ext cx="2697480" cy="283464"/>
          </a:xfrm>
          <a:prstGeom prst="rect">
            <a:avLst/>
          </a:prstGeom>
          <a:noFill/>
        </p:spPr>
        <p:txBody>
          <a:bodyPr wrap="square">
            <a:spAutoFit/>
          </a:bodyPr>
          <a:lstStyle/>
          <a:p>
            <a:pPr algn="l"/>
            <a:r>
              <a:rPr sz="1050" b="1" i="0">
                <a:solidFill>
                  <a:srgbClr val="FFFFFF"/>
                </a:solidFill>
                <a:latin typeface="Calibri"/>
              </a:rPr>
              <a:t>RBI DBIE — MONETARY</a:t>
            </a:r>
          </a:p>
        </p:txBody>
      </p:sp>
      <p:sp>
        <p:nvSpPr>
          <p:cNvPr id="22" name="TextBox 21"/>
          <p:cNvSpPr txBox="1"/>
          <p:nvPr/>
        </p:nvSpPr>
        <p:spPr>
          <a:xfrm>
            <a:off x="6217920" y="1901951"/>
            <a:ext cx="2670048" cy="4315968"/>
          </a:xfrm>
          <a:prstGeom prst="rect">
            <a:avLst/>
          </a:prstGeom>
          <a:noFill/>
        </p:spPr>
        <p:txBody>
          <a:bodyPr wrap="square">
            <a:spAutoFit/>
          </a:bodyPr>
          <a:lstStyle/>
          <a:p>
            <a:pPr algn="l"/>
            <a:r>
              <a:rPr sz="1000" b="0" i="0">
                <a:solidFill>
                  <a:srgbClr val="1A2E1E"/>
                </a:solidFill>
                <a:latin typeface="Calibri"/>
              </a:rPr>
              <a:t>Repo rate: 108 months
COVID cuts: 6.50% → 5.25%
2022–23 tightening cycle captured
Current (Jul 2026): 6.25%
File: rbi_repo_rate_2017_2025.csv
</a:t>
            </a:r>
          </a:p>
        </p:txBody>
      </p:sp>
      <p:sp>
        <p:nvSpPr>
          <p:cNvPr id="23" name="Rectangle 22"/>
          <p:cNvSpPr/>
          <p:nvPr/>
        </p:nvSpPr>
        <p:spPr>
          <a:xfrm>
            <a:off x="90982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982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9719" y="1554480"/>
            <a:ext cx="2697480" cy="283464"/>
          </a:xfrm>
          <a:prstGeom prst="rect">
            <a:avLst/>
          </a:prstGeom>
          <a:noFill/>
        </p:spPr>
        <p:txBody>
          <a:bodyPr wrap="square">
            <a:spAutoFit/>
          </a:bodyPr>
          <a:lstStyle/>
          <a:p>
            <a:pPr algn="l"/>
            <a:r>
              <a:rPr sz="1050" b="1" i="0">
                <a:solidFill>
                  <a:srgbClr val="FFFFFF"/>
                </a:solidFill>
                <a:latin typeface="Calibri"/>
              </a:rPr>
              <a:t>RBI DBIE — PRICES</a:t>
            </a:r>
          </a:p>
        </p:txBody>
      </p:sp>
      <p:sp>
        <p:nvSpPr>
          <p:cNvPr id="26" name="TextBox 25"/>
          <p:cNvSpPr txBox="1"/>
          <p:nvPr/>
        </p:nvSpPr>
        <p:spPr>
          <a:xfrm>
            <a:off x="9189719" y="1901951"/>
            <a:ext cx="2670048" cy="4315968"/>
          </a:xfrm>
          <a:prstGeom prst="rect">
            <a:avLst/>
          </a:prstGeom>
          <a:noFill/>
        </p:spPr>
        <p:txBody>
          <a:bodyPr wrap="square">
            <a:spAutoFit/>
          </a:bodyPr>
          <a:lstStyle/>
          <a:p>
            <a:pPr algn="l"/>
            <a:r>
              <a:rPr sz="1000" b="0" i="0">
                <a:solidFill>
                  <a:srgbClr val="1A2E1E"/>
                </a:solidFill>
                <a:latin typeface="Calibri"/>
              </a:rPr>
              <a:t>Crop-specific WPI (KEY FEATURE):
  · wpi_tomato
  · wpi_onion
  · wpi_potato
USD/INR: 2025 avg 87.14 Rs/USD
(8.5% depreciation vs 2024)
Files: rbi_wpi_* · rbi_usdinr_*</a:t>
            </a:r>
          </a:p>
        </p:txBody>
      </p:sp>
      <p:sp>
        <p:nvSpPr>
          <p:cNvPr id="27" name="TextBox 26"/>
          <p:cNvSpPr txBox="1"/>
          <p:nvPr/>
        </p:nvSpPr>
        <p:spPr>
          <a:xfrm>
            <a:off x="182880" y="6309360"/>
            <a:ext cx="11795760" cy="256032"/>
          </a:xfrm>
          <a:prstGeom prst="rect">
            <a:avLst/>
          </a:prstGeom>
          <a:noFill/>
        </p:spPr>
        <p:txBody>
          <a:bodyPr wrap="square">
            <a:spAutoFit/>
          </a:bodyPr>
          <a:lstStyle/>
          <a:p>
            <a:pPr algn="l"/>
            <a:r>
              <a:rPr sz="950" b="0" i="1">
                <a:solidFill>
                  <a:srgbClr val="5A6A60"/>
                </a:solidFill>
                <a:latin typeface="Calibri"/>
              </a:rPr>
              <a:t>MODELLING NOTE:  Macro series are monthly; aggregated to weekly by forward-filling within each month. Crop-specific WPI (wpi_tomato, wpi_onion, wpi_potato) is preferred over general WPI in the ablation design (M2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Layers 2 &amp; 3 — Satellite &amp; Climate Data Framework</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17 production zones · 30 km buffer · Five GEE data sources · 18 features per zone-week</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5669280" cy="320040"/>
          </a:xfrm>
          <a:prstGeom prst="rect">
            <a:avLst/>
          </a:prstGeom>
          <a:noFill/>
        </p:spPr>
        <p:txBody>
          <a:bodyPr wrap="square">
            <a:spAutoFit/>
          </a:bodyPr>
          <a:lstStyle/>
          <a:p>
            <a:pPr algn="l"/>
            <a:r>
              <a:rPr sz="1100" b="1" i="0">
                <a:solidFill>
                  <a:srgbClr val="1E6B45"/>
                </a:solidFill>
                <a:latin typeface="Calibri"/>
              </a:rPr>
              <a:t>WHY PRODUCTION ZONES (NOT MARKET LOCATIONS)</a:t>
            </a:r>
          </a:p>
        </p:txBody>
      </p:sp>
      <p:sp>
        <p:nvSpPr>
          <p:cNvPr id="11" name="TextBox 10"/>
          <p:cNvSpPr txBox="1"/>
          <p:nvPr/>
        </p:nvSpPr>
        <p:spPr>
          <a:xfrm>
            <a:off x="182880" y="1463040"/>
            <a:ext cx="5669280" cy="1417320"/>
          </a:xfrm>
          <a:prstGeom prst="rect">
            <a:avLst/>
          </a:prstGeom>
          <a:noFill/>
        </p:spPr>
        <p:txBody>
          <a:bodyPr wrap="square">
            <a:spAutoFit/>
          </a:bodyPr>
          <a:lstStyle/>
          <a:p>
            <a:pPr>
              <a:spcBef>
                <a:spcPts val="600"/>
              </a:spcBef>
            </a:pPr>
            <a:r>
              <a:rPr sz="1100">
                <a:solidFill>
                  <a:srgbClr val="1A2E1E"/>
                </a:solidFill>
                <a:latin typeface="Calibri"/>
              </a:rPr>
              <a:t>▸  APMC market locations are consumption/trading centres — not where the crop is grown. Satellite NDVI over a wholesale market tells us nothing about vegetation health.</a:t>
            </a:r>
          </a:p>
          <a:p>
            <a:pPr>
              <a:spcBef>
                <a:spcPts val="600"/>
              </a:spcBef>
            </a:pPr>
            <a:r>
              <a:rPr sz="1100">
                <a:solidFill>
                  <a:srgbClr val="1A2E1E"/>
                </a:solidFill>
                <a:latin typeface="Calibri"/>
              </a:rPr>
              <a:t>▸  Production zones are defined as 30 km radius circles around the centroid of the dominant production-area APMC for each crop-region. The buffer captures the surrounding cultivation landscape.</a:t>
            </a:r>
          </a:p>
          <a:p>
            <a:pPr>
              <a:spcBef>
                <a:spcPts val="600"/>
              </a:spcBef>
            </a:pPr>
            <a:r>
              <a:rPr sz="1100">
                <a:solidFill>
                  <a:srgbClr val="1A2E1E"/>
                </a:solidFill>
                <a:latin typeface="Calibri"/>
              </a:rPr>
              <a:t>▸  Zone-level satellite and climate signals represent the supply-side environment: crop health, heat stress during critical growth stages, and rainfall adequacy.</a:t>
            </a:r>
          </a:p>
        </p:txBody>
      </p:sp>
      <p:sp>
        <p:nvSpPr>
          <p:cNvPr id="12" name="TextBox 11"/>
          <p:cNvSpPr txBox="1"/>
          <p:nvPr/>
        </p:nvSpPr>
        <p:spPr>
          <a:xfrm>
            <a:off x="182880" y="2971800"/>
            <a:ext cx="5669280" cy="320040"/>
          </a:xfrm>
          <a:prstGeom prst="rect">
            <a:avLst/>
          </a:prstGeom>
          <a:noFill/>
        </p:spPr>
        <p:txBody>
          <a:bodyPr wrap="square">
            <a:spAutoFit/>
          </a:bodyPr>
          <a:lstStyle/>
          <a:p>
            <a:pPr algn="l"/>
            <a:r>
              <a:rPr sz="1100" b="1" i="0">
                <a:solidFill>
                  <a:srgbClr val="1E6B45"/>
                </a:solidFill>
                <a:latin typeface="Calibri"/>
              </a:rPr>
              <a:t>17 PRODUCTION ZONES</a:t>
            </a:r>
          </a:p>
        </p:txBody>
      </p:sp>
      <p:graphicFrame>
        <p:nvGraphicFramePr>
          <p:cNvPr id="13" name="Table 12"/>
          <p:cNvGraphicFramePr>
            <a:graphicFrameLocks noGrp="1"/>
          </p:cNvGraphicFramePr>
          <p:nvPr/>
        </p:nvGraphicFramePr>
        <p:xfrm>
          <a:off x="182880" y="3337560"/>
          <a:ext cx="5669280" cy="292608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85216">
                <a:tc>
                  <a:txBody>
                    <a:bodyPr/>
                    <a:lstStyle/>
                    <a:p>
                      <a:pPr algn="ctr"/>
                      <a:r>
                        <a:rPr sz="950" b="1">
                          <a:solidFill>
                            <a:srgbClr val="FFFFFF"/>
                          </a:solidFill>
                          <a:latin typeface="Calibri"/>
                        </a:rPr>
                        <a:t>Zone</a:t>
                      </a:r>
                    </a:p>
                  </a:txBody>
                  <a:tcPr>
                    <a:solidFill>
                      <a:srgbClr val="0D2240"/>
                    </a:solidFill>
                  </a:tcPr>
                </a:tc>
                <a:tc>
                  <a:txBody>
                    <a:bodyPr/>
                    <a:lstStyle/>
                    <a:p>
                      <a:pPr algn="ctr"/>
                      <a:r>
                        <a:rPr sz="950" b="1">
                          <a:solidFill>
                            <a:srgbClr val="FFFFFF"/>
                          </a:solidFill>
                          <a:latin typeface="Calibri"/>
                        </a:rPr>
                        <a:t>Crop</a:t>
                      </a:r>
                    </a:p>
                  </a:txBody>
                  <a:tcPr>
                    <a:solidFill>
                      <a:srgbClr val="0D2240"/>
                    </a:solidFill>
                  </a:tcPr>
                </a:tc>
                <a:tc>
                  <a:txBody>
                    <a:bodyPr/>
                    <a:lstStyle/>
                    <a:p>
                      <a:pPr algn="ctr"/>
                      <a:r>
                        <a:rPr sz="950" b="1">
                          <a:solidFill>
                            <a:srgbClr val="FFFFFF"/>
                          </a:solidFill>
                          <a:latin typeface="Calibri"/>
                        </a:rPr>
                        <a:t>APMC Market</a:t>
                      </a:r>
                    </a:p>
                  </a:txBody>
                  <a:tcPr>
                    <a:solidFill>
                      <a:srgbClr val="0D2240"/>
                    </a:solidFill>
                  </a:tcPr>
                </a:tc>
                <a:tc>
                  <a:txBody>
                    <a:bodyPr/>
                    <a:lstStyle/>
                    <a:p>
                      <a:pPr algn="ctr"/>
                      <a:r>
                        <a:rPr sz="950" b="1">
                          <a:solidFill>
                            <a:srgbClr val="FFFFFF"/>
                          </a:solidFill>
                          <a:latin typeface="Calibri"/>
                        </a:rPr>
                        <a:t>State</a:t>
                      </a:r>
                    </a:p>
                  </a:txBody>
                  <a:tcPr>
                    <a:solidFill>
                      <a:srgbClr val="0D2240"/>
                    </a:solidFill>
                  </a:tcPr>
                </a:tc>
                <a:extLst>
                  <a:ext uri="{0D108BD9-81ED-4DB2-BD59-A6C34878D82A}">
                    <a16:rowId xmlns:a16="http://schemas.microsoft.com/office/drawing/2014/main" val="10000"/>
                  </a:ext>
                </a:extLst>
              </a:tr>
              <a:tr h="585216">
                <a:tc>
                  <a:txBody>
                    <a:bodyPr/>
                    <a:lstStyle/>
                    <a:p>
                      <a:pPr algn="l"/>
                      <a:r>
                        <a:rPr sz="950">
                          <a:solidFill>
                            <a:srgbClr val="1A2E1E"/>
                          </a:solidFill>
                          <a:latin typeface="Calibri"/>
                        </a:rPr>
                        <a:t>T1–T5</a:t>
                      </a:r>
                    </a:p>
                  </a:txBody>
                  <a:tcPr>
                    <a:solidFill>
                      <a:srgbClr val="FFFFFF"/>
                    </a:solidFill>
                  </a:tcPr>
                </a:tc>
                <a:tc>
                  <a:txBody>
                    <a:bodyPr/>
                    <a:lstStyle/>
                    <a:p>
                      <a:pPr algn="ctr"/>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Kolar · Madanapalle · Nashik · Solan · Navsari</a:t>
                      </a:r>
                    </a:p>
                  </a:txBody>
                  <a:tcPr>
                    <a:solidFill>
                      <a:srgbClr val="FFFFFF"/>
                    </a:solidFill>
                  </a:tcPr>
                </a:tc>
                <a:tc>
                  <a:txBody>
                    <a:bodyPr/>
                    <a:lstStyle/>
                    <a:p>
                      <a:pPr algn="ctr"/>
                      <a:r>
                        <a:rPr sz="950">
                          <a:solidFill>
                            <a:srgbClr val="1A2E1E"/>
                          </a:solidFill>
                          <a:latin typeface="Calibri"/>
                        </a:rPr>
                        <a:t>KA · AP · MH · HP · GJ</a:t>
                      </a:r>
                    </a:p>
                  </a:txBody>
                  <a:tcPr>
                    <a:solidFill>
                      <a:srgbClr val="FFFFFF"/>
                    </a:solidFill>
                  </a:tcPr>
                </a:tc>
                <a:extLst>
                  <a:ext uri="{0D108BD9-81ED-4DB2-BD59-A6C34878D82A}">
                    <a16:rowId xmlns:a16="http://schemas.microsoft.com/office/drawing/2014/main" val="10001"/>
                  </a:ext>
                </a:extLst>
              </a:tr>
              <a:tr h="585216">
                <a:tc>
                  <a:txBody>
                    <a:bodyPr/>
                    <a:lstStyle/>
                    <a:p>
                      <a:pPr algn="l"/>
                      <a:r>
                        <a:rPr sz="950">
                          <a:solidFill>
                            <a:srgbClr val="1A2E1E"/>
                          </a:solidFill>
                          <a:latin typeface="Calibri"/>
                        </a:rPr>
                        <a:t>O1–O3</a:t>
                      </a:r>
                    </a:p>
                  </a:txBody>
                  <a:tcPr>
                    <a:solidFill>
                      <a:srgbClr val="F0F6F3"/>
                    </a:solidFill>
                  </a:tcPr>
                </a:tc>
                <a:tc>
                  <a:txBody>
                    <a:bodyPr/>
                    <a:lstStyle/>
                    <a:p>
                      <a:pPr algn="ctr"/>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Lasalgaon · Pimpalgaon · Mahuva</a:t>
                      </a:r>
                    </a:p>
                  </a:txBody>
                  <a:tcPr>
                    <a:solidFill>
                      <a:srgbClr val="F0F6F3"/>
                    </a:solidFill>
                  </a:tcPr>
                </a:tc>
                <a:tc>
                  <a:txBody>
                    <a:bodyPr/>
                    <a:lstStyle/>
                    <a:p>
                      <a:pPr algn="ctr"/>
                      <a:r>
                        <a:rPr sz="950">
                          <a:solidFill>
                            <a:srgbClr val="1A2E1E"/>
                          </a:solidFill>
                          <a:latin typeface="Calibri"/>
                        </a:rPr>
                        <a:t>MH · MH · GJ</a:t>
                      </a:r>
                    </a:p>
                  </a:txBody>
                  <a:tcPr>
                    <a:solidFill>
                      <a:srgbClr val="F0F6F3"/>
                    </a:solidFill>
                  </a:tcPr>
                </a:tc>
                <a:extLst>
                  <a:ext uri="{0D108BD9-81ED-4DB2-BD59-A6C34878D82A}">
                    <a16:rowId xmlns:a16="http://schemas.microsoft.com/office/drawing/2014/main" val="10002"/>
                  </a:ext>
                </a:extLst>
              </a:tr>
              <a:tr h="585216">
                <a:tc>
                  <a:txBody>
                    <a:bodyPr/>
                    <a:lstStyle/>
                    <a:p>
                      <a:pPr algn="l"/>
                      <a:r>
                        <a:rPr sz="950">
                          <a:solidFill>
                            <a:srgbClr val="1A2E1E"/>
                          </a:solidFill>
                          <a:latin typeface="Calibri"/>
                        </a:rPr>
                        <a:t>O6–O10</a:t>
                      </a:r>
                    </a:p>
                  </a:txBody>
                  <a:tcPr>
                    <a:solidFill>
                      <a:srgbClr val="FFFFFF"/>
                    </a:solidFill>
                  </a:tcPr>
                </a:tc>
                <a:tc>
                  <a:txBody>
                    <a:bodyPr/>
                    <a:lstStyle/>
                    <a:p>
                      <a:pPr algn="ctr"/>
                      <a:r>
                        <a:rPr sz="950">
                          <a:solidFill>
                            <a:srgbClr val="1A2E1E"/>
                          </a:solidFill>
                          <a:latin typeface="Calibri"/>
                        </a:rPr>
                        <a:t>Onion</a:t>
                      </a:r>
                    </a:p>
                  </a:txBody>
                  <a:tcPr>
                    <a:solidFill>
                      <a:srgbClr val="FFFFFF"/>
                    </a:solidFill>
                  </a:tcPr>
                </a:tc>
                <a:tc>
                  <a:txBody>
                    <a:bodyPr/>
                    <a:lstStyle/>
                    <a:p>
                      <a:pPr algn="ctr"/>
                      <a:r>
                        <a:rPr sz="950">
                          <a:solidFill>
                            <a:srgbClr val="1A2E1E"/>
                          </a:solidFill>
                          <a:latin typeface="Calibri"/>
                        </a:rPr>
                        <a:t>Hubli · Solapur · Manmad · Kurnool · Gondal</a:t>
                      </a:r>
                    </a:p>
                  </a:txBody>
                  <a:tcPr>
                    <a:solidFill>
                      <a:srgbClr val="FFFFFF"/>
                    </a:solidFill>
                  </a:tcPr>
                </a:tc>
                <a:tc>
                  <a:txBody>
                    <a:bodyPr/>
                    <a:lstStyle/>
                    <a:p>
                      <a:pPr algn="ctr"/>
                      <a:r>
                        <a:rPr sz="950">
                          <a:solidFill>
                            <a:srgbClr val="1A2E1E"/>
                          </a:solidFill>
                          <a:latin typeface="Calibri"/>
                        </a:rPr>
                        <a:t>KA · MH · MH · AP · GJ</a:t>
                      </a:r>
                    </a:p>
                  </a:txBody>
                  <a:tcPr>
                    <a:solidFill>
                      <a:srgbClr val="FFFFFF"/>
                    </a:solidFill>
                  </a:tcPr>
                </a:tc>
                <a:extLst>
                  <a:ext uri="{0D108BD9-81ED-4DB2-BD59-A6C34878D82A}">
                    <a16:rowId xmlns:a16="http://schemas.microsoft.com/office/drawing/2014/main" val="10003"/>
                  </a:ext>
                </a:extLst>
              </a:tr>
              <a:tr h="585216">
                <a:tc>
                  <a:txBody>
                    <a:bodyPr/>
                    <a:lstStyle/>
                    <a:p>
                      <a:pPr algn="l"/>
                      <a:r>
                        <a:rPr sz="950">
                          <a:solidFill>
                            <a:srgbClr val="1A2E1E"/>
                          </a:solidFill>
                          <a:latin typeface="Calibri"/>
                        </a:rPr>
                        <a:t>P1–P4</a:t>
                      </a:r>
                    </a:p>
                  </a:txBody>
                  <a:tcPr>
                    <a:solidFill>
                      <a:srgbClr val="F0F6F3"/>
                    </a:solidFill>
                  </a:tcPr>
                </a:tc>
                <a:tc>
                  <a:txBody>
                    <a:bodyPr/>
                    <a:lstStyle/>
                    <a:p>
                      <a:pPr algn="ctr"/>
                      <a:r>
                        <a:rPr sz="950">
                          <a:solidFill>
                            <a:srgbClr val="1A2E1E"/>
                          </a:solidFill>
                          <a:latin typeface="Calibri"/>
                        </a:rPr>
                        <a:t>Potato</a:t>
                      </a:r>
                    </a:p>
                  </a:txBody>
                  <a:tcPr>
                    <a:solidFill>
                      <a:srgbClr val="F0F6F3"/>
                    </a:solidFill>
                  </a:tcPr>
                </a:tc>
                <a:tc>
                  <a:txBody>
                    <a:bodyPr/>
                    <a:lstStyle/>
                    <a:p>
                      <a:pPr algn="ctr"/>
                      <a:r>
                        <a:rPr sz="950">
                          <a:solidFill>
                            <a:srgbClr val="1A2E1E"/>
                          </a:solidFill>
                          <a:latin typeface="Calibri"/>
                        </a:rPr>
                        <a:t>Agra · Farrukhabad · Jalandhar · Bardhaman</a:t>
                      </a:r>
                    </a:p>
                  </a:txBody>
                  <a:tcPr>
                    <a:solidFill>
                      <a:srgbClr val="F0F6F3"/>
                    </a:solidFill>
                  </a:tcPr>
                </a:tc>
                <a:tc>
                  <a:txBody>
                    <a:bodyPr/>
                    <a:lstStyle/>
                    <a:p>
                      <a:pPr algn="ctr"/>
                      <a:r>
                        <a:rPr sz="950">
                          <a:solidFill>
                            <a:srgbClr val="1A2E1E"/>
                          </a:solidFill>
                          <a:latin typeface="Calibri"/>
                        </a:rPr>
                        <a:t>UP · UP · PB · WB</a:t>
                      </a:r>
                    </a:p>
                  </a:txBody>
                  <a:tcPr>
                    <a:solidFill>
                      <a:srgbClr val="F0F6F3"/>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182880" y="6336792"/>
            <a:ext cx="5669280" cy="256032"/>
          </a:xfrm>
          <a:prstGeom prst="rect">
            <a:avLst/>
          </a:prstGeom>
          <a:noFill/>
        </p:spPr>
        <p:txBody>
          <a:bodyPr wrap="square">
            <a:spAutoFit/>
          </a:bodyPr>
          <a:lstStyle/>
          <a:p>
            <a:pPr algn="l"/>
            <a:r>
              <a:rPr sz="850" b="0" i="1">
                <a:solidFill>
                  <a:srgbClr val="5A6A60"/>
                </a:solidFill>
                <a:latin typeface="Calibri"/>
              </a:rPr>
              <a:t>Note: O4 and O5 not included (merged into adjacent zones). P1 (Agra) assigned for completeness.</a:t>
            </a:r>
          </a:p>
        </p:txBody>
      </p:sp>
      <p:sp>
        <p:nvSpPr>
          <p:cNvPr id="15" name="TextBox 14"/>
          <p:cNvSpPr txBox="1"/>
          <p:nvPr/>
        </p:nvSpPr>
        <p:spPr>
          <a:xfrm>
            <a:off x="6080760" y="1097280"/>
            <a:ext cx="5943600" cy="320040"/>
          </a:xfrm>
          <a:prstGeom prst="rect">
            <a:avLst/>
          </a:prstGeom>
          <a:noFill/>
        </p:spPr>
        <p:txBody>
          <a:bodyPr wrap="square">
            <a:spAutoFit/>
          </a:bodyPr>
          <a:lstStyle/>
          <a:p>
            <a:pPr algn="l"/>
            <a:r>
              <a:rPr sz="1100" b="1" i="0">
                <a:solidFill>
                  <a:srgbClr val="1E6B45"/>
                </a:solidFill>
                <a:latin typeface="Calibri"/>
              </a:rPr>
              <a:t>5 GEE DATA SOURCES  (2017–2025)</a:t>
            </a:r>
          </a:p>
        </p:txBody>
      </p:sp>
      <p:sp>
        <p:nvSpPr>
          <p:cNvPr id="16" name="Rectangle 15"/>
          <p:cNvSpPr/>
          <p:nvPr/>
        </p:nvSpPr>
        <p:spPr>
          <a:xfrm>
            <a:off x="6080760" y="1481328"/>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481328"/>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1536192"/>
            <a:ext cx="2377440" cy="274320"/>
          </a:xfrm>
          <a:prstGeom prst="rect">
            <a:avLst/>
          </a:prstGeom>
          <a:noFill/>
        </p:spPr>
        <p:txBody>
          <a:bodyPr wrap="square">
            <a:spAutoFit/>
          </a:bodyPr>
          <a:lstStyle/>
          <a:p>
            <a:pPr algn="l"/>
            <a:r>
              <a:rPr sz="1100" b="1" i="0">
                <a:solidFill>
                  <a:srgbClr val="1A2E1E"/>
                </a:solidFill>
                <a:latin typeface="Calibri"/>
              </a:rPr>
              <a:t>ERA5-Land</a:t>
            </a:r>
          </a:p>
        </p:txBody>
      </p:sp>
      <p:sp>
        <p:nvSpPr>
          <p:cNvPr id="19" name="TextBox 18"/>
          <p:cNvSpPr txBox="1"/>
          <p:nvPr/>
        </p:nvSpPr>
        <p:spPr>
          <a:xfrm>
            <a:off x="6327648" y="1810512"/>
            <a:ext cx="5486400" cy="219456"/>
          </a:xfrm>
          <a:prstGeom prst="rect">
            <a:avLst/>
          </a:prstGeom>
          <a:noFill/>
        </p:spPr>
        <p:txBody>
          <a:bodyPr wrap="square">
            <a:spAutoFit/>
          </a:bodyPr>
          <a:lstStyle/>
          <a:p>
            <a:pPr algn="l"/>
            <a:r>
              <a:rPr sz="950" b="0" i="1">
                <a:solidFill>
                  <a:srgbClr val="5A6A60"/>
                </a:solidFill>
                <a:latin typeface="Calibri"/>
              </a:rPr>
              <a:t>Tmax · Tmin · Tmean · DTR · Heat-stress days ≥35°C / ≥38°C</a:t>
            </a:r>
          </a:p>
        </p:txBody>
      </p:sp>
      <p:sp>
        <p:nvSpPr>
          <p:cNvPr id="20" name="TextBox 19"/>
          <p:cNvSpPr txBox="1"/>
          <p:nvPr/>
        </p:nvSpPr>
        <p:spPr>
          <a:xfrm>
            <a:off x="9509760" y="1536192"/>
            <a:ext cx="1371600" cy="256032"/>
          </a:xfrm>
          <a:prstGeom prst="rect">
            <a:avLst/>
          </a:prstGeom>
          <a:noFill/>
        </p:spPr>
        <p:txBody>
          <a:bodyPr wrap="square">
            <a:spAutoFit/>
          </a:bodyPr>
          <a:lstStyle/>
          <a:p>
            <a:pPr algn="ctr"/>
            <a:r>
              <a:rPr sz="950" b="0" i="0">
                <a:solidFill>
                  <a:srgbClr val="0D2240"/>
                </a:solidFill>
                <a:latin typeface="Calibri"/>
              </a:rPr>
              <a:t>~11 km</a:t>
            </a:r>
          </a:p>
        </p:txBody>
      </p:sp>
      <p:sp>
        <p:nvSpPr>
          <p:cNvPr id="21" name="TextBox 20"/>
          <p:cNvSpPr txBox="1"/>
          <p:nvPr/>
        </p:nvSpPr>
        <p:spPr>
          <a:xfrm>
            <a:off x="10881360" y="1536192"/>
            <a:ext cx="1005840" cy="256032"/>
          </a:xfrm>
          <a:prstGeom prst="rect">
            <a:avLst/>
          </a:prstGeom>
          <a:noFill/>
        </p:spPr>
        <p:txBody>
          <a:bodyPr wrap="square">
            <a:spAutoFit/>
          </a:bodyPr>
          <a:lstStyle/>
          <a:p>
            <a:pPr algn="ctr"/>
            <a:r>
              <a:rPr sz="950" b="0" i="0">
                <a:solidFill>
                  <a:srgbClr val="0D2240"/>
                </a:solidFill>
                <a:latin typeface="Calibri"/>
              </a:rPr>
              <a:t>365/yr</a:t>
            </a:r>
          </a:p>
        </p:txBody>
      </p:sp>
      <p:sp>
        <p:nvSpPr>
          <p:cNvPr id="22" name="Rectangle 21"/>
          <p:cNvSpPr/>
          <p:nvPr/>
        </p:nvSpPr>
        <p:spPr>
          <a:xfrm>
            <a:off x="6080760" y="2450592"/>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450592"/>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7648" y="2505456"/>
            <a:ext cx="2377440" cy="274320"/>
          </a:xfrm>
          <a:prstGeom prst="rect">
            <a:avLst/>
          </a:prstGeom>
          <a:noFill/>
        </p:spPr>
        <p:txBody>
          <a:bodyPr wrap="square">
            <a:spAutoFit/>
          </a:bodyPr>
          <a:lstStyle/>
          <a:p>
            <a:pPr algn="l"/>
            <a:r>
              <a:rPr sz="1100" b="1" i="0">
                <a:solidFill>
                  <a:srgbClr val="1A2E1E"/>
                </a:solidFill>
                <a:latin typeface="Calibri"/>
              </a:rPr>
              <a:t>CHIRPS PENTAD</a:t>
            </a:r>
          </a:p>
        </p:txBody>
      </p:sp>
      <p:sp>
        <p:nvSpPr>
          <p:cNvPr id="25" name="TextBox 24"/>
          <p:cNvSpPr txBox="1"/>
          <p:nvPr/>
        </p:nvSpPr>
        <p:spPr>
          <a:xfrm>
            <a:off x="6327648" y="2779776"/>
            <a:ext cx="5486400" cy="219456"/>
          </a:xfrm>
          <a:prstGeom prst="rect">
            <a:avLst/>
          </a:prstGeom>
          <a:noFill/>
        </p:spPr>
        <p:txBody>
          <a:bodyPr wrap="square">
            <a:spAutoFit/>
          </a:bodyPr>
          <a:lstStyle/>
          <a:p>
            <a:pPr algn="l"/>
            <a:r>
              <a:rPr sz="950" b="0" i="1">
                <a:solidFill>
                  <a:srgbClr val="5A6A60"/>
                </a:solidFill>
                <a:latin typeface="Calibri"/>
              </a:rPr>
              <a:t>Rain mm/day · Max pentad · Excess rain fraction (&gt;50mm/pentad)</a:t>
            </a:r>
          </a:p>
        </p:txBody>
      </p:sp>
      <p:sp>
        <p:nvSpPr>
          <p:cNvPr id="26" name="TextBox 25"/>
          <p:cNvSpPr txBox="1"/>
          <p:nvPr/>
        </p:nvSpPr>
        <p:spPr>
          <a:xfrm>
            <a:off x="9509760" y="2505456"/>
            <a:ext cx="1371600" cy="256032"/>
          </a:xfrm>
          <a:prstGeom prst="rect">
            <a:avLst/>
          </a:prstGeom>
          <a:noFill/>
        </p:spPr>
        <p:txBody>
          <a:bodyPr wrap="square">
            <a:spAutoFit/>
          </a:bodyPr>
          <a:lstStyle/>
          <a:p>
            <a:pPr algn="ctr"/>
            <a:r>
              <a:rPr sz="950" b="0" i="0">
                <a:solidFill>
                  <a:srgbClr val="0D2240"/>
                </a:solidFill>
                <a:latin typeface="Calibri"/>
              </a:rPr>
              <a:t>~5.5 km</a:t>
            </a:r>
          </a:p>
        </p:txBody>
      </p:sp>
      <p:sp>
        <p:nvSpPr>
          <p:cNvPr id="27" name="TextBox 26"/>
          <p:cNvSpPr txBox="1"/>
          <p:nvPr/>
        </p:nvSpPr>
        <p:spPr>
          <a:xfrm>
            <a:off x="10881360" y="2505456"/>
            <a:ext cx="1005840" cy="256032"/>
          </a:xfrm>
          <a:prstGeom prst="rect">
            <a:avLst/>
          </a:prstGeom>
          <a:noFill/>
        </p:spPr>
        <p:txBody>
          <a:bodyPr wrap="square">
            <a:spAutoFit/>
          </a:bodyPr>
          <a:lstStyle/>
          <a:p>
            <a:pPr algn="ctr"/>
            <a:r>
              <a:rPr sz="950" b="0" i="0">
                <a:solidFill>
                  <a:srgbClr val="0D2240"/>
                </a:solidFill>
                <a:latin typeface="Calibri"/>
              </a:rPr>
              <a:t>~73/yr</a:t>
            </a:r>
          </a:p>
        </p:txBody>
      </p:sp>
      <p:sp>
        <p:nvSpPr>
          <p:cNvPr id="28" name="Rectangle 27"/>
          <p:cNvSpPr/>
          <p:nvPr/>
        </p:nvSpPr>
        <p:spPr>
          <a:xfrm>
            <a:off x="6080760" y="3419856"/>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3419856"/>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27648" y="3474720"/>
            <a:ext cx="2377440" cy="274320"/>
          </a:xfrm>
          <a:prstGeom prst="rect">
            <a:avLst/>
          </a:prstGeom>
          <a:noFill/>
        </p:spPr>
        <p:txBody>
          <a:bodyPr wrap="square">
            <a:spAutoFit/>
          </a:bodyPr>
          <a:lstStyle/>
          <a:p>
            <a:pPr algn="l"/>
            <a:r>
              <a:rPr sz="1100" b="1" i="0">
                <a:solidFill>
                  <a:srgbClr val="1A2E1E"/>
                </a:solidFill>
                <a:latin typeface="Calibri"/>
              </a:rPr>
              <a:t>Sentinel-2 SR</a:t>
            </a:r>
          </a:p>
        </p:txBody>
      </p:sp>
      <p:sp>
        <p:nvSpPr>
          <p:cNvPr id="31" name="TextBox 30"/>
          <p:cNvSpPr txBox="1"/>
          <p:nvPr/>
        </p:nvSpPr>
        <p:spPr>
          <a:xfrm>
            <a:off x="6327648" y="3749040"/>
            <a:ext cx="5486400" cy="219456"/>
          </a:xfrm>
          <a:prstGeom prst="rect">
            <a:avLst/>
          </a:prstGeom>
          <a:noFill/>
        </p:spPr>
        <p:txBody>
          <a:bodyPr wrap="square">
            <a:spAutoFit/>
          </a:bodyPr>
          <a:lstStyle/>
          <a:p>
            <a:pPr algn="l"/>
            <a:r>
              <a:rPr sz="950" b="0" i="1">
                <a:solidFill>
                  <a:srgbClr val="5A6A60"/>
                </a:solidFill>
                <a:latin typeface="Calibri"/>
              </a:rPr>
              <a:t>NDVI · EVI · Valid-pixel fraction · NDVI anomaly</a:t>
            </a:r>
          </a:p>
        </p:txBody>
      </p:sp>
      <p:sp>
        <p:nvSpPr>
          <p:cNvPr id="32" name="TextBox 31"/>
          <p:cNvSpPr txBox="1"/>
          <p:nvPr/>
        </p:nvSpPr>
        <p:spPr>
          <a:xfrm>
            <a:off x="9509760" y="3474720"/>
            <a:ext cx="1371600" cy="256032"/>
          </a:xfrm>
          <a:prstGeom prst="rect">
            <a:avLst/>
          </a:prstGeom>
          <a:noFill/>
        </p:spPr>
        <p:txBody>
          <a:bodyPr wrap="square">
            <a:spAutoFit/>
          </a:bodyPr>
          <a:lstStyle/>
          <a:p>
            <a:pPr algn="ctr"/>
            <a:r>
              <a:rPr sz="950" b="0" i="0">
                <a:solidFill>
                  <a:srgbClr val="0D2240"/>
                </a:solidFill>
                <a:latin typeface="Calibri"/>
              </a:rPr>
              <a:t>10 m</a:t>
            </a:r>
          </a:p>
        </p:txBody>
      </p:sp>
      <p:sp>
        <p:nvSpPr>
          <p:cNvPr id="33" name="TextBox 32"/>
          <p:cNvSpPr txBox="1"/>
          <p:nvPr/>
        </p:nvSpPr>
        <p:spPr>
          <a:xfrm>
            <a:off x="10881360" y="3474720"/>
            <a:ext cx="1005840" cy="256032"/>
          </a:xfrm>
          <a:prstGeom prst="rect">
            <a:avLst/>
          </a:prstGeom>
          <a:noFill/>
        </p:spPr>
        <p:txBody>
          <a:bodyPr wrap="square">
            <a:spAutoFit/>
          </a:bodyPr>
          <a:lstStyle/>
          <a:p>
            <a:pPr algn="ctr"/>
            <a:r>
              <a:rPr sz="950" b="0" i="0">
                <a:solidFill>
                  <a:srgbClr val="0D2240"/>
                </a:solidFill>
                <a:latin typeface="Calibri"/>
              </a:rPr>
              <a:t>~24/yr</a:t>
            </a:r>
          </a:p>
        </p:txBody>
      </p:sp>
      <p:sp>
        <p:nvSpPr>
          <p:cNvPr id="34" name="Rectangle 33"/>
          <p:cNvSpPr/>
          <p:nvPr/>
        </p:nvSpPr>
        <p:spPr>
          <a:xfrm>
            <a:off x="6080760" y="4389120"/>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4389120"/>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27648" y="4443984"/>
            <a:ext cx="2377440" cy="274320"/>
          </a:xfrm>
          <a:prstGeom prst="rect">
            <a:avLst/>
          </a:prstGeom>
          <a:noFill/>
        </p:spPr>
        <p:txBody>
          <a:bodyPr wrap="square">
            <a:spAutoFit/>
          </a:bodyPr>
          <a:lstStyle/>
          <a:p>
            <a:pPr algn="l"/>
            <a:r>
              <a:rPr sz="1100" b="1" i="0">
                <a:solidFill>
                  <a:srgbClr val="1A2E1E"/>
                </a:solidFill>
                <a:latin typeface="Calibri"/>
              </a:rPr>
              <a:t>MODIS NDVI</a:t>
            </a:r>
          </a:p>
        </p:txBody>
      </p:sp>
      <p:sp>
        <p:nvSpPr>
          <p:cNvPr id="37" name="TextBox 36"/>
          <p:cNvSpPr txBox="1"/>
          <p:nvPr/>
        </p:nvSpPr>
        <p:spPr>
          <a:xfrm>
            <a:off x="6327648" y="4718304"/>
            <a:ext cx="5486400" cy="219456"/>
          </a:xfrm>
          <a:prstGeom prst="rect">
            <a:avLst/>
          </a:prstGeom>
          <a:noFill/>
        </p:spPr>
        <p:txBody>
          <a:bodyPr wrap="square">
            <a:spAutoFit/>
          </a:bodyPr>
          <a:lstStyle/>
          <a:p>
            <a:pPr algn="l"/>
            <a:r>
              <a:rPr sz="950" b="0" i="1">
                <a:solidFill>
                  <a:srgbClr val="5A6A60"/>
                </a:solidFill>
                <a:latin typeface="Calibri"/>
              </a:rPr>
              <a:t>NDVI · EVI  (Terra + Aqua for ~8-day revisit)</a:t>
            </a:r>
          </a:p>
        </p:txBody>
      </p:sp>
      <p:sp>
        <p:nvSpPr>
          <p:cNvPr id="38" name="TextBox 37"/>
          <p:cNvSpPr txBox="1"/>
          <p:nvPr/>
        </p:nvSpPr>
        <p:spPr>
          <a:xfrm>
            <a:off x="9509760" y="4443984"/>
            <a:ext cx="1371600" cy="256032"/>
          </a:xfrm>
          <a:prstGeom prst="rect">
            <a:avLst/>
          </a:prstGeom>
          <a:noFill/>
        </p:spPr>
        <p:txBody>
          <a:bodyPr wrap="square">
            <a:spAutoFit/>
          </a:bodyPr>
          <a:lstStyle/>
          <a:p>
            <a:pPr algn="ctr"/>
            <a:r>
              <a:rPr sz="950" b="0" i="0">
                <a:solidFill>
                  <a:srgbClr val="0D2240"/>
                </a:solidFill>
                <a:latin typeface="Calibri"/>
              </a:rPr>
              <a:t>250 m</a:t>
            </a:r>
          </a:p>
        </p:txBody>
      </p:sp>
      <p:sp>
        <p:nvSpPr>
          <p:cNvPr id="39" name="TextBox 38"/>
          <p:cNvSpPr txBox="1"/>
          <p:nvPr/>
        </p:nvSpPr>
        <p:spPr>
          <a:xfrm>
            <a:off x="10881360" y="4443984"/>
            <a:ext cx="1005840" cy="256032"/>
          </a:xfrm>
          <a:prstGeom prst="rect">
            <a:avLst/>
          </a:prstGeom>
          <a:noFill/>
        </p:spPr>
        <p:txBody>
          <a:bodyPr wrap="square">
            <a:spAutoFit/>
          </a:bodyPr>
          <a:lstStyle/>
          <a:p>
            <a:pPr algn="ctr"/>
            <a:r>
              <a:rPr sz="950" b="0" i="0">
                <a:solidFill>
                  <a:srgbClr val="0D2240"/>
                </a:solidFill>
                <a:latin typeface="Calibri"/>
              </a:rPr>
              <a:t>~46/yr</a:t>
            </a:r>
          </a:p>
        </p:txBody>
      </p:sp>
      <p:sp>
        <p:nvSpPr>
          <p:cNvPr id="40" name="Rectangle 39"/>
          <p:cNvSpPr/>
          <p:nvPr/>
        </p:nvSpPr>
        <p:spPr>
          <a:xfrm>
            <a:off x="6080760" y="5358384"/>
            <a:ext cx="109728" cy="7772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17920" y="5358384"/>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27648" y="5413248"/>
            <a:ext cx="2377440" cy="274320"/>
          </a:xfrm>
          <a:prstGeom prst="rect">
            <a:avLst/>
          </a:prstGeom>
          <a:noFill/>
        </p:spPr>
        <p:txBody>
          <a:bodyPr wrap="square">
            <a:spAutoFit/>
          </a:bodyPr>
          <a:lstStyle/>
          <a:p>
            <a:pPr algn="l"/>
            <a:r>
              <a:rPr sz="1100" b="1" i="0">
                <a:solidFill>
                  <a:srgbClr val="1A2E1E"/>
                </a:solidFill>
                <a:latin typeface="Calibri"/>
              </a:rPr>
              <a:t>MODIS LST</a:t>
            </a:r>
          </a:p>
        </p:txBody>
      </p:sp>
      <p:sp>
        <p:nvSpPr>
          <p:cNvPr id="43" name="TextBox 42"/>
          <p:cNvSpPr txBox="1"/>
          <p:nvPr/>
        </p:nvSpPr>
        <p:spPr>
          <a:xfrm>
            <a:off x="6327648" y="5687568"/>
            <a:ext cx="5486400" cy="219456"/>
          </a:xfrm>
          <a:prstGeom prst="rect">
            <a:avLst/>
          </a:prstGeom>
          <a:noFill/>
        </p:spPr>
        <p:txBody>
          <a:bodyPr wrap="square">
            <a:spAutoFit/>
          </a:bodyPr>
          <a:lstStyle/>
          <a:p>
            <a:pPr algn="l"/>
            <a:r>
              <a:rPr sz="950" b="0" i="1">
                <a:solidFill>
                  <a:srgbClr val="5A6A60"/>
                </a:solidFill>
                <a:latin typeface="Calibri"/>
              </a:rPr>
              <a:t>LST mean · LST max · Fraction &gt;35°C / &gt;38°C</a:t>
            </a:r>
          </a:p>
        </p:txBody>
      </p:sp>
      <p:sp>
        <p:nvSpPr>
          <p:cNvPr id="44" name="TextBox 43"/>
          <p:cNvSpPr txBox="1"/>
          <p:nvPr/>
        </p:nvSpPr>
        <p:spPr>
          <a:xfrm>
            <a:off x="9509760" y="5413248"/>
            <a:ext cx="1371600" cy="256032"/>
          </a:xfrm>
          <a:prstGeom prst="rect">
            <a:avLst/>
          </a:prstGeom>
          <a:noFill/>
        </p:spPr>
        <p:txBody>
          <a:bodyPr wrap="square">
            <a:spAutoFit/>
          </a:bodyPr>
          <a:lstStyle/>
          <a:p>
            <a:pPr algn="ctr"/>
            <a:r>
              <a:rPr sz="950" b="0" i="0">
                <a:solidFill>
                  <a:srgbClr val="0D2240"/>
                </a:solidFill>
                <a:latin typeface="Calibri"/>
              </a:rPr>
              <a:t>1 km</a:t>
            </a:r>
          </a:p>
        </p:txBody>
      </p:sp>
      <p:sp>
        <p:nvSpPr>
          <p:cNvPr id="45" name="TextBox 44"/>
          <p:cNvSpPr txBox="1"/>
          <p:nvPr/>
        </p:nvSpPr>
        <p:spPr>
          <a:xfrm>
            <a:off x="10881360" y="5413248"/>
            <a:ext cx="1005840" cy="256032"/>
          </a:xfrm>
          <a:prstGeom prst="rect">
            <a:avLst/>
          </a:prstGeom>
          <a:noFill/>
        </p:spPr>
        <p:txBody>
          <a:bodyPr wrap="square">
            <a:spAutoFit/>
          </a:bodyPr>
          <a:lstStyle/>
          <a:p>
            <a:pPr algn="ctr"/>
            <a:r>
              <a:rPr sz="950" b="0" i="0">
                <a:solidFill>
                  <a:srgbClr val="0D2240"/>
                </a:solidFill>
                <a:latin typeface="Calibri"/>
              </a:rPr>
              <a:t>~46/yr</a:t>
            </a:r>
          </a:p>
        </p:txBody>
      </p:sp>
      <p:sp>
        <p:nvSpPr>
          <p:cNvPr id="46" name="TextBox 45"/>
          <p:cNvSpPr txBox="1"/>
          <p:nvPr/>
        </p:nvSpPr>
        <p:spPr>
          <a:xfrm>
            <a:off x="6080760" y="6355080"/>
            <a:ext cx="5943600" cy="256032"/>
          </a:xfrm>
          <a:prstGeom prst="rect">
            <a:avLst/>
          </a:prstGeom>
          <a:noFill/>
        </p:spPr>
        <p:txBody>
          <a:bodyPr wrap="square">
            <a:spAutoFit/>
          </a:bodyPr>
          <a:lstStyle/>
          <a:p>
            <a:pPr algn="l"/>
            <a:r>
              <a:rPr sz="900" b="0" i="1">
                <a:solidFill>
                  <a:srgbClr val="5A6A60"/>
                </a:solidFill>
                <a:latin typeface="Calibri"/>
              </a:rPr>
              <a:t>Total: 17 zones × 5 scripts = 85 CSV exports · 18 features per zone-week · ~7,990 zone-week rows (470 wks × 17 zones)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Google Earth Engine — Data Extraction Pipeline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5 JavaScript scripts · 85 CSV exports · Script 14 processes all sources into 18 modelling features</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6583680" cy="320040"/>
          </a:xfrm>
          <a:prstGeom prst="rect">
            <a:avLst/>
          </a:prstGeom>
          <a:noFill/>
        </p:spPr>
        <p:txBody>
          <a:bodyPr wrap="square">
            <a:spAutoFit/>
          </a:bodyPr>
          <a:lstStyle/>
          <a:p>
            <a:pPr algn="l"/>
            <a:r>
              <a:rPr sz="1100" b="1" i="0">
                <a:solidFill>
                  <a:srgbClr val="1E6B45"/>
                </a:solidFill>
                <a:latin typeface="Calibri"/>
              </a:rPr>
              <a:t>GEE EXTRACTION SCRIPTS</a:t>
            </a:r>
          </a:p>
        </p:txBody>
      </p:sp>
      <p:graphicFrame>
        <p:nvGraphicFramePr>
          <p:cNvPr id="11" name="Table 10"/>
          <p:cNvGraphicFramePr>
            <a:graphicFrameLocks noGrp="1"/>
          </p:cNvGraphicFramePr>
          <p:nvPr/>
        </p:nvGraphicFramePr>
        <p:xfrm>
          <a:off x="182880" y="1463040"/>
          <a:ext cx="6583680" cy="233172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88620">
                <a:tc>
                  <a:txBody>
                    <a:bodyPr/>
                    <a:lstStyle/>
                    <a:p>
                      <a:pPr algn="ctr"/>
                      <a:r>
                        <a:rPr sz="1000" b="1">
                          <a:solidFill>
                            <a:srgbClr val="FFFFFF"/>
                          </a:solidFill>
                          <a:latin typeface="Calibri"/>
                        </a:rPr>
                        <a:t>Script</a:t>
                      </a:r>
                    </a:p>
                  </a:txBody>
                  <a:tcPr>
                    <a:solidFill>
                      <a:srgbClr val="0D2240"/>
                    </a:solidFill>
                  </a:tcPr>
                </a:tc>
                <a:tc>
                  <a:txBody>
                    <a:bodyPr/>
                    <a:lstStyle/>
                    <a:p>
                      <a:pPr algn="ctr"/>
                      <a:r>
                        <a:rPr sz="1000" b="1">
                          <a:solidFill>
                            <a:srgbClr val="FFFFFF"/>
                          </a:solidFill>
                          <a:latin typeface="Calibri"/>
                        </a:rPr>
                        <a:t>Source</a:t>
                      </a:r>
                    </a:p>
                  </a:txBody>
                  <a:tcPr>
                    <a:solidFill>
                      <a:srgbClr val="0D2240"/>
                    </a:solidFill>
                  </a:tcPr>
                </a:tc>
                <a:tc>
                  <a:txBody>
                    <a:bodyPr/>
                    <a:lstStyle/>
                    <a:p>
                      <a:pPr algn="ctr"/>
                      <a:r>
                        <a:rPr sz="1000" b="1">
                          <a:solidFill>
                            <a:srgbClr val="FFFFFF"/>
                          </a:solidFill>
                          <a:latin typeface="Calibri"/>
                        </a:rPr>
                        <a:t>Key Features</a:t>
                      </a:r>
                    </a:p>
                  </a:txBody>
                  <a:tcPr>
                    <a:solidFill>
                      <a:srgbClr val="0D2240"/>
                    </a:solidFill>
                  </a:tcPr>
                </a:tc>
                <a:tc>
                  <a:txBody>
                    <a:bodyPr/>
                    <a:lstStyle/>
                    <a:p>
                      <a:pPr algn="ctr"/>
                      <a:r>
                        <a:rPr sz="1000" b="1">
                          <a:solidFill>
                            <a:srgbClr val="FFFFFF"/>
                          </a:solidFill>
                          <a:latin typeface="Calibri"/>
                        </a:rPr>
                        <a:t>Resolution</a:t>
                      </a:r>
                    </a:p>
                  </a:txBody>
                  <a:tcPr>
                    <a:solidFill>
                      <a:srgbClr val="0D2240"/>
                    </a:solidFill>
                  </a:tcPr>
                </a:tc>
                <a:extLst>
                  <a:ext uri="{0D108BD9-81ED-4DB2-BD59-A6C34878D82A}">
                    <a16:rowId xmlns:a16="http://schemas.microsoft.com/office/drawing/2014/main" val="10000"/>
                  </a:ext>
                </a:extLst>
              </a:tr>
              <a:tr h="388620">
                <a:tc>
                  <a:txBody>
                    <a:bodyPr/>
                    <a:lstStyle/>
                    <a:p>
                      <a:pPr algn="l"/>
                      <a:r>
                        <a:rPr sz="950">
                          <a:solidFill>
                            <a:srgbClr val="1A2E1E"/>
                          </a:solidFill>
                          <a:latin typeface="Calibri"/>
                        </a:rPr>
                        <a:t>gee_01</a:t>
                      </a:r>
                    </a:p>
                  </a:txBody>
                  <a:tcPr>
                    <a:solidFill>
                      <a:srgbClr val="FFFFFF"/>
                    </a:solidFill>
                  </a:tcPr>
                </a:tc>
                <a:tc>
                  <a:txBody>
                    <a:bodyPr/>
                    <a:lstStyle/>
                    <a:p>
                      <a:pPr algn="ctr"/>
                      <a:r>
                        <a:rPr sz="950">
                          <a:solidFill>
                            <a:srgbClr val="1A2E1E"/>
                          </a:solidFill>
                          <a:latin typeface="Calibri"/>
                        </a:rPr>
                        <a:t>ERA5-Land Daily</a:t>
                      </a:r>
                    </a:p>
                  </a:txBody>
                  <a:tcPr>
                    <a:solidFill>
                      <a:srgbClr val="FFFFFF"/>
                    </a:solidFill>
                  </a:tcPr>
                </a:tc>
                <a:tc>
                  <a:txBody>
                    <a:bodyPr/>
                    <a:lstStyle/>
                    <a:p>
                      <a:pPr algn="ctr"/>
                      <a:r>
                        <a:rPr sz="950">
                          <a:solidFill>
                            <a:srgbClr val="1A2E1E"/>
                          </a:solidFill>
                          <a:latin typeface="Calibri"/>
                        </a:rPr>
                        <a:t>Tmax, Tmin, Tmean, flag_above35, flag_above38</a:t>
                      </a:r>
                    </a:p>
                  </a:txBody>
                  <a:tcPr>
                    <a:solidFill>
                      <a:srgbClr val="FFFFFF"/>
                    </a:solidFill>
                  </a:tcPr>
                </a:tc>
                <a:tc>
                  <a:txBody>
                    <a:bodyPr/>
                    <a:lstStyle/>
                    <a:p>
                      <a:pPr algn="ctr"/>
                      <a:r>
                        <a:rPr sz="950">
                          <a:solidFill>
                            <a:srgbClr val="1A2E1E"/>
                          </a:solidFill>
                          <a:latin typeface="Calibri"/>
                        </a:rPr>
                        <a:t>11 km</a:t>
                      </a:r>
                    </a:p>
                  </a:txBody>
                  <a:tcPr>
                    <a:solidFill>
                      <a:srgbClr val="FFFFFF"/>
                    </a:solidFill>
                  </a:tcPr>
                </a:tc>
                <a:extLst>
                  <a:ext uri="{0D108BD9-81ED-4DB2-BD59-A6C34878D82A}">
                    <a16:rowId xmlns:a16="http://schemas.microsoft.com/office/drawing/2014/main" val="10001"/>
                  </a:ext>
                </a:extLst>
              </a:tr>
              <a:tr h="388620">
                <a:tc>
                  <a:txBody>
                    <a:bodyPr/>
                    <a:lstStyle/>
                    <a:p>
                      <a:pPr algn="l"/>
                      <a:r>
                        <a:rPr sz="950">
                          <a:solidFill>
                            <a:srgbClr val="1A2E1E"/>
                          </a:solidFill>
                          <a:latin typeface="Calibri"/>
                        </a:rPr>
                        <a:t>gee_02</a:t>
                      </a:r>
                    </a:p>
                  </a:txBody>
                  <a:tcPr>
                    <a:solidFill>
                      <a:srgbClr val="F0F6F3"/>
                    </a:solidFill>
                  </a:tcPr>
                </a:tc>
                <a:tc>
                  <a:txBody>
                    <a:bodyPr/>
                    <a:lstStyle/>
                    <a:p>
                      <a:pPr algn="ctr"/>
                      <a:r>
                        <a:rPr sz="950">
                          <a:solidFill>
                            <a:srgbClr val="1A2E1E"/>
                          </a:solidFill>
                          <a:latin typeface="Calibri"/>
                        </a:rPr>
                        <a:t>CHIRPS Pentad</a:t>
                      </a:r>
                    </a:p>
                  </a:txBody>
                  <a:tcPr>
                    <a:solidFill>
                      <a:srgbClr val="F0F6F3"/>
                    </a:solidFill>
                  </a:tcPr>
                </a:tc>
                <a:tc>
                  <a:txBody>
                    <a:bodyPr/>
                    <a:lstStyle/>
                    <a:p>
                      <a:pPr algn="ctr"/>
                      <a:r>
                        <a:rPr sz="950">
                          <a:solidFill>
                            <a:srgbClr val="1A2E1E"/>
                          </a:solidFill>
                          <a:latin typeface="Calibri"/>
                        </a:rPr>
                        <a:t>rain_mean_mm, rain_max_mm, frac_excess_rain</a:t>
                      </a:r>
                    </a:p>
                  </a:txBody>
                  <a:tcPr>
                    <a:solidFill>
                      <a:srgbClr val="F0F6F3"/>
                    </a:solidFill>
                  </a:tcPr>
                </a:tc>
                <a:tc>
                  <a:txBody>
                    <a:bodyPr/>
                    <a:lstStyle/>
                    <a:p>
                      <a:pPr algn="ctr"/>
                      <a:r>
                        <a:rPr sz="950">
                          <a:solidFill>
                            <a:srgbClr val="1A2E1E"/>
                          </a:solidFill>
                          <a:latin typeface="Calibri"/>
                        </a:rPr>
                        <a:t>5.5 km</a:t>
                      </a:r>
                    </a:p>
                  </a:txBody>
                  <a:tcPr>
                    <a:solidFill>
                      <a:srgbClr val="F0F6F3"/>
                    </a:solidFill>
                  </a:tcPr>
                </a:tc>
                <a:extLst>
                  <a:ext uri="{0D108BD9-81ED-4DB2-BD59-A6C34878D82A}">
                    <a16:rowId xmlns:a16="http://schemas.microsoft.com/office/drawing/2014/main" val="10002"/>
                  </a:ext>
                </a:extLst>
              </a:tr>
              <a:tr h="388620">
                <a:tc>
                  <a:txBody>
                    <a:bodyPr/>
                    <a:lstStyle/>
                    <a:p>
                      <a:pPr algn="l"/>
                      <a:r>
                        <a:rPr sz="950">
                          <a:solidFill>
                            <a:srgbClr val="1A2E1E"/>
                          </a:solidFill>
                          <a:latin typeface="Calibri"/>
                        </a:rPr>
                        <a:t>gee_03</a:t>
                      </a:r>
                    </a:p>
                  </a:txBody>
                  <a:tcPr>
                    <a:solidFill>
                      <a:srgbClr val="FFFFFF"/>
                    </a:solidFill>
                  </a:tcPr>
                </a:tc>
                <a:tc>
                  <a:txBody>
                    <a:bodyPr/>
                    <a:lstStyle/>
                    <a:p>
                      <a:pPr algn="ctr"/>
                      <a:r>
                        <a:rPr sz="950">
                          <a:solidFill>
                            <a:srgbClr val="1A2E1E"/>
                          </a:solidFill>
                          <a:latin typeface="Calibri"/>
                        </a:rPr>
                        <a:t>Sentinel-2 SR Harmon.</a:t>
                      </a:r>
                    </a:p>
                  </a:txBody>
                  <a:tcPr>
                    <a:solidFill>
                      <a:srgbClr val="FFFFFF"/>
                    </a:solidFill>
                  </a:tcPr>
                </a:tc>
                <a:tc>
                  <a:txBody>
                    <a:bodyPr/>
                    <a:lstStyle/>
                    <a:p>
                      <a:pPr algn="ctr"/>
                      <a:r>
                        <a:rPr sz="950">
                          <a:solidFill>
                            <a:srgbClr val="1A2E1E"/>
                          </a:solidFill>
                          <a:latin typeface="Calibri"/>
                        </a:rPr>
                        <a:t>NDVI, EVI, valid_px_frac</a:t>
                      </a:r>
                    </a:p>
                  </a:txBody>
                  <a:tcPr>
                    <a:solidFill>
                      <a:srgbClr val="FFFFFF"/>
                    </a:solidFill>
                  </a:tcPr>
                </a:tc>
                <a:tc>
                  <a:txBody>
                    <a:bodyPr/>
                    <a:lstStyle/>
                    <a:p>
                      <a:pPr algn="ctr"/>
                      <a:r>
                        <a:rPr sz="950">
                          <a:solidFill>
                            <a:srgbClr val="1A2E1E"/>
                          </a:solidFill>
                          <a:latin typeface="Calibri"/>
                        </a:rPr>
                        <a:t>10 m</a:t>
                      </a:r>
                    </a:p>
                  </a:txBody>
                  <a:tcPr>
                    <a:solidFill>
                      <a:srgbClr val="FFFFFF"/>
                    </a:solidFill>
                  </a:tcPr>
                </a:tc>
                <a:extLst>
                  <a:ext uri="{0D108BD9-81ED-4DB2-BD59-A6C34878D82A}">
                    <a16:rowId xmlns:a16="http://schemas.microsoft.com/office/drawing/2014/main" val="10003"/>
                  </a:ext>
                </a:extLst>
              </a:tr>
              <a:tr h="388620">
                <a:tc>
                  <a:txBody>
                    <a:bodyPr/>
                    <a:lstStyle/>
                    <a:p>
                      <a:pPr algn="l"/>
                      <a:r>
                        <a:rPr sz="950">
                          <a:solidFill>
                            <a:srgbClr val="1A2E1E"/>
                          </a:solidFill>
                          <a:latin typeface="Calibri"/>
                        </a:rPr>
                        <a:t>gee_04</a:t>
                      </a:r>
                    </a:p>
                  </a:txBody>
                  <a:tcPr>
                    <a:solidFill>
                      <a:srgbClr val="F0F6F3"/>
                    </a:solidFill>
                  </a:tcPr>
                </a:tc>
                <a:tc>
                  <a:txBody>
                    <a:bodyPr/>
                    <a:lstStyle/>
                    <a:p>
                      <a:pPr algn="ctr"/>
                      <a:r>
                        <a:rPr sz="950">
                          <a:solidFill>
                            <a:srgbClr val="1A2E1E"/>
                          </a:solidFill>
                          <a:latin typeface="Calibri"/>
                        </a:rPr>
                        <a:t>MODIS MOD13Q1+MYD13Q1</a:t>
                      </a:r>
                    </a:p>
                  </a:txBody>
                  <a:tcPr>
                    <a:solidFill>
                      <a:srgbClr val="F0F6F3"/>
                    </a:solidFill>
                  </a:tcPr>
                </a:tc>
                <a:tc>
                  <a:txBody>
                    <a:bodyPr/>
                    <a:lstStyle/>
                    <a:p>
                      <a:pPr algn="ctr"/>
                      <a:r>
                        <a:rPr sz="950">
                          <a:solidFill>
                            <a:srgbClr val="1A2E1E"/>
                          </a:solidFill>
                          <a:latin typeface="Calibri"/>
                        </a:rPr>
                        <a:t>NDVI, EVI (Terra+Aqua merged)</a:t>
                      </a:r>
                    </a:p>
                  </a:txBody>
                  <a:tcPr>
                    <a:solidFill>
                      <a:srgbClr val="F0F6F3"/>
                    </a:solidFill>
                  </a:tcPr>
                </a:tc>
                <a:tc>
                  <a:txBody>
                    <a:bodyPr/>
                    <a:lstStyle/>
                    <a:p>
                      <a:pPr algn="ctr"/>
                      <a:r>
                        <a:rPr sz="950">
                          <a:solidFill>
                            <a:srgbClr val="1A2E1E"/>
                          </a:solidFill>
                          <a:latin typeface="Calibri"/>
                        </a:rPr>
                        <a:t>250 m</a:t>
                      </a:r>
                    </a:p>
                  </a:txBody>
                  <a:tcPr>
                    <a:solidFill>
                      <a:srgbClr val="F0F6F3"/>
                    </a:solidFill>
                  </a:tcPr>
                </a:tc>
                <a:extLst>
                  <a:ext uri="{0D108BD9-81ED-4DB2-BD59-A6C34878D82A}">
                    <a16:rowId xmlns:a16="http://schemas.microsoft.com/office/drawing/2014/main" val="10004"/>
                  </a:ext>
                </a:extLst>
              </a:tr>
              <a:tr h="388620">
                <a:tc>
                  <a:txBody>
                    <a:bodyPr/>
                    <a:lstStyle/>
                    <a:p>
                      <a:pPr algn="l"/>
                      <a:r>
                        <a:rPr sz="950">
                          <a:solidFill>
                            <a:srgbClr val="1A2E1E"/>
                          </a:solidFill>
                          <a:latin typeface="Calibri"/>
                        </a:rPr>
                        <a:t>gee_05</a:t>
                      </a:r>
                    </a:p>
                  </a:txBody>
                  <a:tcPr>
                    <a:solidFill>
                      <a:srgbClr val="FFFFFF"/>
                    </a:solidFill>
                  </a:tcPr>
                </a:tc>
                <a:tc>
                  <a:txBody>
                    <a:bodyPr/>
                    <a:lstStyle/>
                    <a:p>
                      <a:pPr algn="ctr"/>
                      <a:r>
                        <a:rPr sz="950">
                          <a:solidFill>
                            <a:srgbClr val="1A2E1E"/>
                          </a:solidFill>
                          <a:latin typeface="Calibri"/>
                        </a:rPr>
                        <a:t>MODIS MOD11A2 LST</a:t>
                      </a:r>
                    </a:p>
                  </a:txBody>
                  <a:tcPr>
                    <a:solidFill>
                      <a:srgbClr val="FFFFFF"/>
                    </a:solidFill>
                  </a:tcPr>
                </a:tc>
                <a:tc>
                  <a:txBody>
                    <a:bodyPr/>
                    <a:lstStyle/>
                    <a:p>
                      <a:pPr algn="ctr"/>
                      <a:r>
                        <a:rPr sz="950">
                          <a:solidFill>
                            <a:srgbClr val="1A2E1E"/>
                          </a:solidFill>
                          <a:latin typeface="Calibri"/>
                        </a:rPr>
                        <a:t>LST_mean_C, LST_max_C, frac_above35</a:t>
                      </a:r>
                    </a:p>
                  </a:txBody>
                  <a:tcPr>
                    <a:solidFill>
                      <a:srgbClr val="FFFFFF"/>
                    </a:solidFill>
                  </a:tcPr>
                </a:tc>
                <a:tc>
                  <a:txBody>
                    <a:bodyPr/>
                    <a:lstStyle/>
                    <a:p>
                      <a:pPr algn="ctr"/>
                      <a:r>
                        <a:rPr sz="950">
                          <a:solidFill>
                            <a:srgbClr val="1A2E1E"/>
                          </a:solidFill>
                          <a:latin typeface="Calibri"/>
                        </a:rPr>
                        <a:t>1 km</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182880" y="3886200"/>
            <a:ext cx="6583680" cy="320040"/>
          </a:xfrm>
          <a:prstGeom prst="rect">
            <a:avLst/>
          </a:prstGeom>
          <a:noFill/>
        </p:spPr>
        <p:txBody>
          <a:bodyPr wrap="square">
            <a:spAutoFit/>
          </a:bodyPr>
          <a:lstStyle/>
          <a:p>
            <a:pPr algn="l"/>
            <a:r>
              <a:rPr sz="1100" b="1" i="0">
                <a:solidFill>
                  <a:srgbClr val="1E6B45"/>
                </a:solidFill>
                <a:latin typeface="Calibri"/>
              </a:rPr>
              <a:t>18 MODELLING FEATURES  (after Script 14 processing)</a:t>
            </a:r>
          </a:p>
        </p:txBody>
      </p:sp>
      <p:sp>
        <p:nvSpPr>
          <p:cNvPr id="13" name="Rectangle 12"/>
          <p:cNvSpPr/>
          <p:nvPr/>
        </p:nvSpPr>
        <p:spPr>
          <a:xfrm>
            <a:off x="182880"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 y="4270248"/>
            <a:ext cx="1188720" cy="237744"/>
          </a:xfrm>
          <a:prstGeom prst="rect">
            <a:avLst/>
          </a:prstGeom>
          <a:noFill/>
        </p:spPr>
        <p:txBody>
          <a:bodyPr wrap="square">
            <a:spAutoFit/>
          </a:bodyPr>
          <a:lstStyle/>
          <a:p>
            <a:pPr algn="ctr"/>
            <a:r>
              <a:rPr sz="800" b="1" i="0">
                <a:solidFill>
                  <a:srgbClr val="FFFFFF"/>
                </a:solidFill>
                <a:latin typeface="Calibri"/>
              </a:rPr>
              <a:t>ERA5 Temperature (6)</a:t>
            </a:r>
          </a:p>
        </p:txBody>
      </p:sp>
      <p:sp>
        <p:nvSpPr>
          <p:cNvPr id="15" name="TextBox 14"/>
          <p:cNvSpPr txBox="1"/>
          <p:nvPr/>
        </p:nvSpPr>
        <p:spPr>
          <a:xfrm>
            <a:off x="228600" y="4553712"/>
            <a:ext cx="1188720" cy="1188720"/>
          </a:xfrm>
          <a:prstGeom prst="rect">
            <a:avLst/>
          </a:prstGeom>
          <a:noFill/>
        </p:spPr>
        <p:txBody>
          <a:bodyPr wrap="square">
            <a:spAutoFit/>
          </a:bodyPr>
          <a:lstStyle/>
          <a:p>
            <a:pPr>
              <a:spcBef>
                <a:spcPts val="300"/>
              </a:spcBef>
            </a:pPr>
            <a:r>
              <a:rPr sz="850">
                <a:solidFill>
                  <a:srgbClr val="1A2E1E"/>
                </a:solidFill>
                <a:latin typeface="Calibri"/>
              </a:rPr>
              <a:t>Tmax_C · Tmin_C · Tmean_C</a:t>
            </a:r>
          </a:p>
          <a:p>
            <a:pPr>
              <a:spcBef>
                <a:spcPts val="300"/>
              </a:spcBef>
            </a:pPr>
            <a:r>
              <a:rPr sz="850">
                <a:solidFill>
                  <a:srgbClr val="1A2E1E"/>
                </a:solidFill>
                <a:latin typeface="Calibri"/>
              </a:rPr>
              <a:t>DTR (diurnal range)</a:t>
            </a:r>
          </a:p>
          <a:p>
            <a:pPr>
              <a:spcBef>
                <a:spcPts val="300"/>
              </a:spcBef>
            </a:pPr>
            <a:r>
              <a:rPr sz="850">
                <a:solidFill>
                  <a:srgbClr val="1A2E1E"/>
                </a:solidFill>
                <a:latin typeface="Calibri"/>
              </a:rPr>
              <a:t>heat_days_35 · heat_days_38</a:t>
            </a:r>
          </a:p>
        </p:txBody>
      </p:sp>
      <p:sp>
        <p:nvSpPr>
          <p:cNvPr id="16" name="Rectangle 15"/>
          <p:cNvSpPr/>
          <p:nvPr/>
        </p:nvSpPr>
        <p:spPr>
          <a:xfrm>
            <a:off x="1481328"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27048" y="4270248"/>
            <a:ext cx="1188720" cy="237744"/>
          </a:xfrm>
          <a:prstGeom prst="rect">
            <a:avLst/>
          </a:prstGeom>
          <a:noFill/>
        </p:spPr>
        <p:txBody>
          <a:bodyPr wrap="square">
            <a:spAutoFit/>
          </a:bodyPr>
          <a:lstStyle/>
          <a:p>
            <a:pPr algn="ctr"/>
            <a:r>
              <a:rPr sz="800" b="1" i="0">
                <a:solidFill>
                  <a:srgbClr val="FFFFFF"/>
                </a:solidFill>
                <a:latin typeface="Calibri"/>
              </a:rPr>
              <a:t>CHIRPS Rainfall (3)</a:t>
            </a:r>
          </a:p>
        </p:txBody>
      </p:sp>
      <p:sp>
        <p:nvSpPr>
          <p:cNvPr id="18" name="TextBox 17"/>
          <p:cNvSpPr txBox="1"/>
          <p:nvPr/>
        </p:nvSpPr>
        <p:spPr>
          <a:xfrm>
            <a:off x="1527048" y="4553712"/>
            <a:ext cx="1188720" cy="1188720"/>
          </a:xfrm>
          <a:prstGeom prst="rect">
            <a:avLst/>
          </a:prstGeom>
          <a:noFill/>
        </p:spPr>
        <p:txBody>
          <a:bodyPr wrap="square">
            <a:spAutoFit/>
          </a:bodyPr>
          <a:lstStyle/>
          <a:p>
            <a:pPr>
              <a:spcBef>
                <a:spcPts val="300"/>
              </a:spcBef>
            </a:pPr>
            <a:r>
              <a:rPr sz="850">
                <a:solidFill>
                  <a:srgbClr val="1A2E1E"/>
                </a:solidFill>
                <a:latin typeface="Calibri"/>
              </a:rPr>
              <a:t>rain_weekly_mm</a:t>
            </a:r>
          </a:p>
          <a:p>
            <a:pPr>
              <a:spcBef>
                <a:spcPts val="300"/>
              </a:spcBef>
            </a:pPr>
            <a:r>
              <a:rPr sz="850">
                <a:solidFill>
                  <a:srgbClr val="1A2E1E"/>
                </a:solidFill>
                <a:latin typeface="Calibri"/>
              </a:rPr>
              <a:t>rain_max_mm</a:t>
            </a:r>
          </a:p>
          <a:p>
            <a:pPr>
              <a:spcBef>
                <a:spcPts val="300"/>
              </a:spcBef>
            </a:pPr>
            <a:r>
              <a:rPr sz="850">
                <a:solidFill>
                  <a:srgbClr val="1A2E1E"/>
                </a:solidFill>
                <a:latin typeface="Calibri"/>
              </a:rPr>
              <a:t>frac_excess_rain</a:t>
            </a:r>
          </a:p>
        </p:txBody>
      </p:sp>
      <p:sp>
        <p:nvSpPr>
          <p:cNvPr id="19" name="Rectangle 18"/>
          <p:cNvSpPr/>
          <p:nvPr/>
        </p:nvSpPr>
        <p:spPr>
          <a:xfrm>
            <a:off x="2779776"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25496" y="4270248"/>
            <a:ext cx="1188720" cy="237744"/>
          </a:xfrm>
          <a:prstGeom prst="rect">
            <a:avLst/>
          </a:prstGeom>
          <a:noFill/>
        </p:spPr>
        <p:txBody>
          <a:bodyPr wrap="square">
            <a:spAutoFit/>
          </a:bodyPr>
          <a:lstStyle/>
          <a:p>
            <a:pPr algn="ctr"/>
            <a:r>
              <a:rPr sz="800" b="1" i="0">
                <a:solidFill>
                  <a:srgbClr val="FFFFFF"/>
                </a:solidFill>
                <a:latin typeface="Calibri"/>
              </a:rPr>
              <a:t>Sentinel-2 NDVI (4)</a:t>
            </a:r>
          </a:p>
        </p:txBody>
      </p:sp>
      <p:sp>
        <p:nvSpPr>
          <p:cNvPr id="21" name="TextBox 20"/>
          <p:cNvSpPr txBox="1"/>
          <p:nvPr/>
        </p:nvSpPr>
        <p:spPr>
          <a:xfrm>
            <a:off x="2825496" y="4553712"/>
            <a:ext cx="1188720" cy="1188720"/>
          </a:xfrm>
          <a:prstGeom prst="rect">
            <a:avLst/>
          </a:prstGeom>
          <a:noFill/>
        </p:spPr>
        <p:txBody>
          <a:bodyPr wrap="square">
            <a:spAutoFit/>
          </a:bodyPr>
          <a:lstStyle/>
          <a:p>
            <a:pPr>
              <a:spcBef>
                <a:spcPts val="300"/>
              </a:spcBef>
            </a:pPr>
            <a:r>
              <a:rPr sz="850">
                <a:solidFill>
                  <a:srgbClr val="1A2E1E"/>
                </a:solidFill>
                <a:latin typeface="Calibri"/>
              </a:rPr>
              <a:t>NDVI · EVI</a:t>
            </a:r>
          </a:p>
          <a:p>
            <a:pPr>
              <a:spcBef>
                <a:spcPts val="300"/>
              </a:spcBef>
            </a:pPr>
            <a:r>
              <a:rPr sz="850">
                <a:solidFill>
                  <a:srgbClr val="1A2E1E"/>
                </a:solidFill>
                <a:latin typeface="Calibri"/>
              </a:rPr>
              <a:t>valid_px_frac</a:t>
            </a:r>
          </a:p>
          <a:p>
            <a:pPr>
              <a:spcBef>
                <a:spcPts val="300"/>
              </a:spcBef>
            </a:pPr>
            <a:r>
              <a:rPr sz="850">
                <a:solidFill>
                  <a:srgbClr val="1A2E1E"/>
                </a:solidFill>
                <a:latin typeface="Calibri"/>
              </a:rPr>
              <a:t>NDVI_anomaly</a:t>
            </a:r>
          </a:p>
        </p:txBody>
      </p:sp>
      <p:sp>
        <p:nvSpPr>
          <p:cNvPr id="22" name="Rectangle 21"/>
          <p:cNvSpPr/>
          <p:nvPr/>
        </p:nvSpPr>
        <p:spPr>
          <a:xfrm>
            <a:off x="4078224"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23944" y="4270248"/>
            <a:ext cx="1188720" cy="237744"/>
          </a:xfrm>
          <a:prstGeom prst="rect">
            <a:avLst/>
          </a:prstGeom>
          <a:noFill/>
        </p:spPr>
        <p:txBody>
          <a:bodyPr wrap="square">
            <a:spAutoFit/>
          </a:bodyPr>
          <a:lstStyle/>
          <a:p>
            <a:pPr algn="ctr"/>
            <a:r>
              <a:rPr sz="800" b="1" i="0">
                <a:solidFill>
                  <a:srgbClr val="FFFFFF"/>
                </a:solidFill>
                <a:latin typeface="Calibri"/>
              </a:rPr>
              <a:t>MODIS Vegetation (2)</a:t>
            </a:r>
          </a:p>
        </p:txBody>
      </p:sp>
      <p:sp>
        <p:nvSpPr>
          <p:cNvPr id="24" name="TextBox 23"/>
          <p:cNvSpPr txBox="1"/>
          <p:nvPr/>
        </p:nvSpPr>
        <p:spPr>
          <a:xfrm>
            <a:off x="4123944" y="4553712"/>
            <a:ext cx="1188720" cy="1188720"/>
          </a:xfrm>
          <a:prstGeom prst="rect">
            <a:avLst/>
          </a:prstGeom>
          <a:noFill/>
        </p:spPr>
        <p:txBody>
          <a:bodyPr wrap="square">
            <a:spAutoFit/>
          </a:bodyPr>
          <a:lstStyle/>
          <a:p>
            <a:pPr>
              <a:spcBef>
                <a:spcPts val="300"/>
              </a:spcBef>
            </a:pPr>
            <a:r>
              <a:rPr sz="850">
                <a:solidFill>
                  <a:srgbClr val="1A2E1E"/>
                </a:solidFill>
                <a:latin typeface="Calibri"/>
              </a:rPr>
              <a:t>NDVI · EVI</a:t>
            </a:r>
          </a:p>
          <a:p>
            <a:pPr>
              <a:spcBef>
                <a:spcPts val="300"/>
              </a:spcBef>
            </a:pPr>
            <a:r>
              <a:rPr sz="850">
                <a:solidFill>
                  <a:srgbClr val="1A2E1E"/>
                </a:solidFill>
                <a:latin typeface="Calibri"/>
              </a:rPr>
              <a:t>(Terra+Aqua merged)</a:t>
            </a:r>
          </a:p>
        </p:txBody>
      </p:sp>
      <p:sp>
        <p:nvSpPr>
          <p:cNvPr id="25" name="Rectangle 24"/>
          <p:cNvSpPr/>
          <p:nvPr/>
        </p:nvSpPr>
        <p:spPr>
          <a:xfrm>
            <a:off x="5376672" y="4251960"/>
            <a:ext cx="1261872"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22392" y="4270248"/>
            <a:ext cx="1188720" cy="237744"/>
          </a:xfrm>
          <a:prstGeom prst="rect">
            <a:avLst/>
          </a:prstGeom>
          <a:noFill/>
        </p:spPr>
        <p:txBody>
          <a:bodyPr wrap="square">
            <a:spAutoFit/>
          </a:bodyPr>
          <a:lstStyle/>
          <a:p>
            <a:pPr algn="ctr"/>
            <a:r>
              <a:rPr sz="800" b="1" i="0">
                <a:solidFill>
                  <a:srgbClr val="FFFFFF"/>
                </a:solidFill>
                <a:latin typeface="Calibri"/>
              </a:rPr>
              <a:t>MODIS LST (3)</a:t>
            </a:r>
          </a:p>
        </p:txBody>
      </p:sp>
      <p:sp>
        <p:nvSpPr>
          <p:cNvPr id="27" name="TextBox 26"/>
          <p:cNvSpPr txBox="1"/>
          <p:nvPr/>
        </p:nvSpPr>
        <p:spPr>
          <a:xfrm>
            <a:off x="5422392" y="4553712"/>
            <a:ext cx="1188720" cy="1188720"/>
          </a:xfrm>
          <a:prstGeom prst="rect">
            <a:avLst/>
          </a:prstGeom>
          <a:noFill/>
        </p:spPr>
        <p:txBody>
          <a:bodyPr wrap="square">
            <a:spAutoFit/>
          </a:bodyPr>
          <a:lstStyle/>
          <a:p>
            <a:pPr>
              <a:spcBef>
                <a:spcPts val="300"/>
              </a:spcBef>
            </a:pPr>
            <a:r>
              <a:rPr sz="850">
                <a:solidFill>
                  <a:srgbClr val="1A2E1E"/>
                </a:solidFill>
                <a:latin typeface="Calibri"/>
              </a:rPr>
              <a:t>LST_mean_C · LST_max_C</a:t>
            </a:r>
          </a:p>
          <a:p>
            <a:pPr>
              <a:spcBef>
                <a:spcPts val="300"/>
              </a:spcBef>
            </a:pPr>
            <a:r>
              <a:rPr sz="850">
                <a:solidFill>
                  <a:srgbClr val="1A2E1E"/>
                </a:solidFill>
                <a:latin typeface="Calibri"/>
              </a:rPr>
              <a:t>frac_above35_C</a:t>
            </a:r>
          </a:p>
        </p:txBody>
      </p:sp>
      <p:sp>
        <p:nvSpPr>
          <p:cNvPr id="28" name="TextBox 27"/>
          <p:cNvSpPr txBox="1"/>
          <p:nvPr/>
        </p:nvSpPr>
        <p:spPr>
          <a:xfrm>
            <a:off x="182880" y="5824728"/>
            <a:ext cx="6583680" cy="347472"/>
          </a:xfrm>
          <a:prstGeom prst="rect">
            <a:avLst/>
          </a:prstGeom>
          <a:noFill/>
        </p:spPr>
        <p:txBody>
          <a:bodyPr wrap="square">
            <a:spAutoFit/>
          </a:bodyPr>
          <a:lstStyle/>
          <a:p>
            <a:pPr algn="l"/>
            <a:r>
              <a:rPr sz="950" b="0" i="1">
                <a:solidFill>
                  <a:srgbClr val="5A6A60"/>
                </a:solidFill>
                <a:latin typeface="Calibri"/>
              </a:rPr>
              <a:t>Join to market panel: df.merge(crop_weekly_features.csv, on=['crop','week_start'], how='left')
Primary join: crop × week (national supply-chain integration rationale — see Slide 11)</a:t>
            </a:r>
          </a:p>
        </p:txBody>
      </p:sp>
      <p:sp>
        <p:nvSpPr>
          <p:cNvPr id="29" name="TextBox 28"/>
          <p:cNvSpPr txBox="1"/>
          <p:nvPr/>
        </p:nvSpPr>
        <p:spPr>
          <a:xfrm>
            <a:off x="6949440" y="1097280"/>
            <a:ext cx="4937760" cy="320040"/>
          </a:xfrm>
          <a:prstGeom prst="rect">
            <a:avLst/>
          </a:prstGeom>
          <a:noFill/>
        </p:spPr>
        <p:txBody>
          <a:bodyPr wrap="square">
            <a:spAutoFit/>
          </a:bodyPr>
          <a:lstStyle/>
          <a:p>
            <a:pPr algn="l"/>
            <a:r>
              <a:rPr sz="1100" b="1" i="0">
                <a:solidFill>
                  <a:srgbClr val="1E6B45"/>
                </a:solidFill>
                <a:latin typeface="Calibri"/>
              </a:rPr>
              <a:t>SAMPLE OUTPUT — ERA5 TEMPERATURE SERIES</a:t>
            </a:r>
          </a:p>
        </p:txBody>
      </p:sp>
      <p:pic>
        <p:nvPicPr>
          <p:cNvPr id="30" name="Picture 29" descr="fig_era5_temperature.png"/>
          <p:cNvPicPr>
            <a:picLocks noChangeAspect="1"/>
          </p:cNvPicPr>
          <p:nvPr/>
        </p:nvPicPr>
        <p:blipFill>
          <a:blip r:embed="rId3"/>
          <a:stretch>
            <a:fillRect/>
          </a:stretch>
        </p:blipFill>
        <p:spPr>
          <a:xfrm>
            <a:off x="6949440" y="1463040"/>
            <a:ext cx="4937760" cy="2743200"/>
          </a:xfrm>
          <a:prstGeom prst="rect">
            <a:avLst/>
          </a:prstGeom>
        </p:spPr>
      </p:pic>
      <p:sp>
        <p:nvSpPr>
          <p:cNvPr id="31" name="TextBox 30"/>
          <p:cNvSpPr txBox="1"/>
          <p:nvPr/>
        </p:nvSpPr>
        <p:spPr>
          <a:xfrm>
            <a:off x="6949440" y="4297680"/>
            <a:ext cx="4937760" cy="320040"/>
          </a:xfrm>
          <a:prstGeom prst="rect">
            <a:avLst/>
          </a:prstGeom>
          <a:noFill/>
        </p:spPr>
        <p:txBody>
          <a:bodyPr wrap="square">
            <a:spAutoFit/>
          </a:bodyPr>
          <a:lstStyle/>
          <a:p>
            <a:pPr algn="l"/>
            <a:r>
              <a:rPr sz="1100" b="1" i="0">
                <a:solidFill>
                  <a:srgbClr val="1E6B45"/>
                </a:solidFill>
                <a:latin typeface="Calibri"/>
              </a:rPr>
              <a:t>SAMPLE OUTPUT — S2 NDVI ANOMALY</a:t>
            </a:r>
          </a:p>
        </p:txBody>
      </p:sp>
      <p:pic>
        <p:nvPicPr>
          <p:cNvPr id="32" name="Picture 31" descr="fig_s2_ndvi_anomaly.png"/>
          <p:cNvPicPr>
            <a:picLocks noChangeAspect="1"/>
          </p:cNvPicPr>
          <p:nvPr/>
        </p:nvPicPr>
        <p:blipFill>
          <a:blip r:embed="rId4"/>
          <a:stretch>
            <a:fillRect/>
          </a:stretch>
        </p:blipFill>
        <p:spPr>
          <a:xfrm>
            <a:off x="6949440" y="4663440"/>
            <a:ext cx="4937760" cy="1691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Zone Assignment Analysis  —  Script 16</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Geocoding 2,607 APMC markets and assigning each to its nearest same-crop production zone</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5669280" cy="320040"/>
          </a:xfrm>
          <a:prstGeom prst="rect">
            <a:avLst/>
          </a:prstGeom>
          <a:noFill/>
        </p:spPr>
        <p:txBody>
          <a:bodyPr wrap="square">
            <a:spAutoFit/>
          </a:bodyPr>
          <a:lstStyle/>
          <a:p>
            <a:pPr algn="l"/>
            <a:r>
              <a:rPr sz="1100" b="1" i="0">
                <a:solidFill>
                  <a:srgbClr val="1E6B45"/>
                </a:solidFill>
                <a:latin typeface="Calibri"/>
              </a:rPr>
              <a:t>METHODOLOGY</a:t>
            </a:r>
          </a:p>
        </p:txBody>
      </p:sp>
      <p:sp>
        <p:nvSpPr>
          <p:cNvPr id="11" name="TextBox 10"/>
          <p:cNvSpPr txBox="1"/>
          <p:nvPr/>
        </p:nvSpPr>
        <p:spPr>
          <a:xfrm>
            <a:off x="182880" y="1463040"/>
            <a:ext cx="5669280" cy="1417320"/>
          </a:xfrm>
          <a:prstGeom prst="rect">
            <a:avLst/>
          </a:prstGeom>
          <a:noFill/>
        </p:spPr>
        <p:txBody>
          <a:bodyPr wrap="square">
            <a:spAutoFit/>
          </a:bodyPr>
          <a:lstStyle/>
          <a:p>
            <a:pPr>
              <a:spcBef>
                <a:spcPts val="500"/>
              </a:spcBef>
            </a:pPr>
            <a:r>
              <a:rPr sz="1100">
                <a:solidFill>
                  <a:srgbClr val="1A2E1E"/>
                </a:solidFill>
                <a:latin typeface="Calibri"/>
              </a:rPr>
              <a:t>1.  Extract unique (district, state) pairs from the market panel → 557 pairs</a:t>
            </a:r>
          </a:p>
          <a:p>
            <a:pPr>
              <a:spcBef>
                <a:spcPts val="500"/>
              </a:spcBef>
            </a:pPr>
            <a:r>
              <a:rPr sz="1100">
                <a:solidFill>
                  <a:srgbClr val="1A2E1E"/>
                </a:solidFill>
                <a:latin typeface="Calibri"/>
              </a:rPr>
              <a:t>2.  Geocode each pair using Nominatim/OpenStreetMap API (no external dependencies — pure Python urllib)</a:t>
            </a:r>
          </a:p>
          <a:p>
            <a:pPr>
              <a:spcBef>
                <a:spcPts val="500"/>
              </a:spcBef>
            </a:pPr>
            <a:r>
              <a:rPr sz="1100">
                <a:solidFill>
                  <a:srgbClr val="1A2E1E"/>
                </a:solidFill>
                <a:latin typeface="Calibri"/>
              </a:rPr>
              <a:t>     Resolution hierarchy: district centroid → district-only → state centroid</a:t>
            </a:r>
          </a:p>
          <a:p>
            <a:pPr>
              <a:spcBef>
                <a:spcPts val="500"/>
              </a:spcBef>
            </a:pPr>
            <a:r>
              <a:rPr sz="1100">
                <a:solidFill>
                  <a:srgbClr val="1A2E1E"/>
                </a:solidFill>
                <a:latin typeface="Calibri"/>
              </a:rPr>
              <a:t>3.  Haversine great-circle distance from each market to all same-crop zones</a:t>
            </a:r>
          </a:p>
          <a:p>
            <a:pPr>
              <a:spcBef>
                <a:spcPts val="500"/>
              </a:spcBef>
            </a:pPr>
            <a:r>
              <a:rPr sz="1100">
                <a:solidFill>
                  <a:srgbClr val="1A2E1E"/>
                </a:solidFill>
                <a:latin typeface="Calibri"/>
              </a:rPr>
              <a:t>4.  Assign market to the nearest zone; save zone_assignment.csv</a:t>
            </a:r>
          </a:p>
        </p:txBody>
      </p:sp>
      <p:sp>
        <p:nvSpPr>
          <p:cNvPr id="12" name="Rectangle 11"/>
          <p:cNvSpPr/>
          <p:nvPr/>
        </p:nvSpPr>
        <p:spPr>
          <a:xfrm>
            <a:off x="182880" y="3017520"/>
            <a:ext cx="1298448" cy="93268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3110788"/>
            <a:ext cx="1298448" cy="484997"/>
          </a:xfrm>
          <a:prstGeom prst="rect">
            <a:avLst/>
          </a:prstGeom>
          <a:noFill/>
        </p:spPr>
        <p:txBody>
          <a:bodyPr wrap="square">
            <a:spAutoFit/>
          </a:bodyPr>
          <a:lstStyle/>
          <a:p>
            <a:pPr algn="ctr"/>
            <a:r>
              <a:rPr sz="2000" b="1" i="0">
                <a:solidFill>
                  <a:srgbClr val="FFFFFF"/>
                </a:solidFill>
                <a:latin typeface="Calibri"/>
              </a:rPr>
              <a:t>2,607</a:t>
            </a:r>
          </a:p>
        </p:txBody>
      </p:sp>
      <p:sp>
        <p:nvSpPr>
          <p:cNvPr id="14" name="TextBox 13"/>
          <p:cNvSpPr txBox="1"/>
          <p:nvPr/>
        </p:nvSpPr>
        <p:spPr>
          <a:xfrm>
            <a:off x="228600" y="3595786"/>
            <a:ext cx="1207007" cy="326440"/>
          </a:xfrm>
          <a:prstGeom prst="rect">
            <a:avLst/>
          </a:prstGeom>
          <a:noFill/>
        </p:spPr>
        <p:txBody>
          <a:bodyPr wrap="square">
            <a:spAutoFit/>
          </a:bodyPr>
          <a:lstStyle/>
          <a:p>
            <a:pPr algn="ctr"/>
            <a:r>
              <a:rPr sz="850" b="0" i="0">
                <a:solidFill>
                  <a:srgbClr val="FFFFFF"/>
                </a:solidFill>
                <a:latin typeface="Calibri"/>
              </a:rPr>
              <a:t>Total Markets</a:t>
            </a:r>
          </a:p>
        </p:txBody>
      </p:sp>
      <p:sp>
        <p:nvSpPr>
          <p:cNvPr id="15" name="Rectangle 14"/>
          <p:cNvSpPr/>
          <p:nvPr/>
        </p:nvSpPr>
        <p:spPr>
          <a:xfrm>
            <a:off x="1600200" y="3017520"/>
            <a:ext cx="1298448" cy="93268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00200" y="3110788"/>
            <a:ext cx="1298448" cy="484997"/>
          </a:xfrm>
          <a:prstGeom prst="rect">
            <a:avLst/>
          </a:prstGeom>
          <a:noFill/>
        </p:spPr>
        <p:txBody>
          <a:bodyPr wrap="square">
            <a:spAutoFit/>
          </a:bodyPr>
          <a:lstStyle/>
          <a:p>
            <a:pPr algn="ctr"/>
            <a:r>
              <a:rPr sz="2000" b="1" i="0">
                <a:solidFill>
                  <a:srgbClr val="FFFFFF"/>
                </a:solidFill>
                <a:latin typeface="Calibri"/>
              </a:rPr>
              <a:t>2,598</a:t>
            </a:r>
          </a:p>
        </p:txBody>
      </p:sp>
      <p:sp>
        <p:nvSpPr>
          <p:cNvPr id="17" name="TextBox 16"/>
          <p:cNvSpPr txBox="1"/>
          <p:nvPr/>
        </p:nvSpPr>
        <p:spPr>
          <a:xfrm>
            <a:off x="1645920" y="3595786"/>
            <a:ext cx="1207007" cy="326440"/>
          </a:xfrm>
          <a:prstGeom prst="rect">
            <a:avLst/>
          </a:prstGeom>
          <a:noFill/>
        </p:spPr>
        <p:txBody>
          <a:bodyPr wrap="square">
            <a:spAutoFit/>
          </a:bodyPr>
          <a:lstStyle/>
          <a:p>
            <a:pPr algn="ctr"/>
            <a:r>
              <a:rPr sz="850" b="0" i="0">
                <a:solidFill>
                  <a:srgbClr val="FFFFFF"/>
                </a:solidFill>
                <a:latin typeface="Calibri"/>
              </a:rPr>
              <a:t>Assigned (99.7%)</a:t>
            </a:r>
          </a:p>
        </p:txBody>
      </p:sp>
      <p:sp>
        <p:nvSpPr>
          <p:cNvPr id="18" name="Rectangle 17"/>
          <p:cNvSpPr/>
          <p:nvPr/>
        </p:nvSpPr>
        <p:spPr>
          <a:xfrm>
            <a:off x="3017520" y="3017520"/>
            <a:ext cx="1298448" cy="93268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17520" y="3110788"/>
            <a:ext cx="1298448" cy="484997"/>
          </a:xfrm>
          <a:prstGeom prst="rect">
            <a:avLst/>
          </a:prstGeom>
          <a:noFill/>
        </p:spPr>
        <p:txBody>
          <a:bodyPr wrap="square">
            <a:spAutoFit/>
          </a:bodyPr>
          <a:lstStyle/>
          <a:p>
            <a:pPr algn="ctr"/>
            <a:r>
              <a:rPr sz="2000" b="1" i="0">
                <a:solidFill>
                  <a:srgbClr val="FFFFFF"/>
                </a:solidFill>
                <a:latin typeface="Calibri"/>
              </a:rPr>
              <a:t>557</a:t>
            </a:r>
          </a:p>
        </p:txBody>
      </p:sp>
      <p:sp>
        <p:nvSpPr>
          <p:cNvPr id="20" name="TextBox 19"/>
          <p:cNvSpPr txBox="1"/>
          <p:nvPr/>
        </p:nvSpPr>
        <p:spPr>
          <a:xfrm>
            <a:off x="3063240" y="3595786"/>
            <a:ext cx="1207007" cy="326440"/>
          </a:xfrm>
          <a:prstGeom prst="rect">
            <a:avLst/>
          </a:prstGeom>
          <a:noFill/>
        </p:spPr>
        <p:txBody>
          <a:bodyPr wrap="square">
            <a:spAutoFit/>
          </a:bodyPr>
          <a:lstStyle/>
          <a:p>
            <a:pPr algn="ctr"/>
            <a:r>
              <a:rPr sz="850" b="0" i="0">
                <a:solidFill>
                  <a:srgbClr val="FFFFFF"/>
                </a:solidFill>
                <a:latin typeface="Calibri"/>
              </a:rPr>
              <a:t>Unique District Pairs
Geocoded</a:t>
            </a:r>
          </a:p>
        </p:txBody>
      </p:sp>
      <p:sp>
        <p:nvSpPr>
          <p:cNvPr id="21" name="Rectangle 20"/>
          <p:cNvSpPr/>
          <p:nvPr/>
        </p:nvSpPr>
        <p:spPr>
          <a:xfrm>
            <a:off x="4434840" y="3017520"/>
            <a:ext cx="1298448" cy="932688"/>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4840" y="3110788"/>
            <a:ext cx="1298448" cy="484997"/>
          </a:xfrm>
          <a:prstGeom prst="rect">
            <a:avLst/>
          </a:prstGeom>
          <a:noFill/>
        </p:spPr>
        <p:txBody>
          <a:bodyPr wrap="square">
            <a:spAutoFit/>
          </a:bodyPr>
          <a:lstStyle/>
          <a:p>
            <a:pPr algn="ctr"/>
            <a:r>
              <a:rPr sz="2000" b="1" i="0">
                <a:solidFill>
                  <a:srgbClr val="FFFFFF"/>
                </a:solidFill>
                <a:latin typeface="Calibri"/>
              </a:rPr>
              <a:t>523</a:t>
            </a:r>
          </a:p>
        </p:txBody>
      </p:sp>
      <p:sp>
        <p:nvSpPr>
          <p:cNvPr id="23" name="TextBox 22"/>
          <p:cNvSpPr txBox="1"/>
          <p:nvPr/>
        </p:nvSpPr>
        <p:spPr>
          <a:xfrm>
            <a:off x="4480560" y="3595786"/>
            <a:ext cx="1207007" cy="326440"/>
          </a:xfrm>
          <a:prstGeom prst="rect">
            <a:avLst/>
          </a:prstGeom>
          <a:noFill/>
        </p:spPr>
        <p:txBody>
          <a:bodyPr wrap="square">
            <a:spAutoFit/>
          </a:bodyPr>
          <a:lstStyle/>
          <a:p>
            <a:pPr algn="ctr"/>
            <a:r>
              <a:rPr sz="850" b="0" i="0">
                <a:solidFill>
                  <a:srgbClr val="FFFFFF"/>
                </a:solidFill>
                <a:latin typeface="Calibri"/>
              </a:rPr>
              <a:t>District-Level
Resolved</a:t>
            </a:r>
          </a:p>
        </p:txBody>
      </p:sp>
      <p:sp>
        <p:nvSpPr>
          <p:cNvPr id="24" name="TextBox 23"/>
          <p:cNvSpPr txBox="1"/>
          <p:nvPr/>
        </p:nvSpPr>
        <p:spPr>
          <a:xfrm>
            <a:off x="182880" y="4096512"/>
            <a:ext cx="5669280" cy="320040"/>
          </a:xfrm>
          <a:prstGeom prst="rect">
            <a:avLst/>
          </a:prstGeom>
          <a:noFill/>
        </p:spPr>
        <p:txBody>
          <a:bodyPr wrap="square">
            <a:spAutoFit/>
          </a:bodyPr>
          <a:lstStyle/>
          <a:p>
            <a:pPr algn="l"/>
            <a:r>
              <a:rPr sz="1100" b="1" i="0">
                <a:solidFill>
                  <a:srgbClr val="1E6B45"/>
                </a:solidFill>
                <a:latin typeface="Calibri"/>
              </a:rPr>
              <a:t>ASSIGNMENT SUMMARY BY CROP</a:t>
            </a:r>
          </a:p>
        </p:txBody>
      </p:sp>
      <p:graphicFrame>
        <p:nvGraphicFramePr>
          <p:cNvPr id="25" name="Table 24"/>
          <p:cNvGraphicFramePr>
            <a:graphicFrameLocks noGrp="1"/>
          </p:cNvGraphicFramePr>
          <p:nvPr/>
        </p:nvGraphicFramePr>
        <p:xfrm>
          <a:off x="182880" y="4462272"/>
          <a:ext cx="5669280" cy="1755648"/>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438912">
                <a:tc>
                  <a:txBody>
                    <a:bodyPr/>
                    <a:lstStyle/>
                    <a:p>
                      <a:pPr algn="ctr"/>
                      <a:r>
                        <a:rPr sz="950" b="1">
                          <a:solidFill>
                            <a:srgbClr val="FFFFFF"/>
                          </a:solidFill>
                          <a:latin typeface="Calibri"/>
                        </a:rPr>
                        <a:t>Crop</a:t>
                      </a:r>
                    </a:p>
                  </a:txBody>
                  <a:tcPr>
                    <a:solidFill>
                      <a:srgbClr val="0D2240"/>
                    </a:solidFill>
                  </a:tcPr>
                </a:tc>
                <a:tc>
                  <a:txBody>
                    <a:bodyPr/>
                    <a:lstStyle/>
                    <a:p>
                      <a:pPr algn="ctr"/>
                      <a:r>
                        <a:rPr sz="950" b="1">
                          <a:solidFill>
                            <a:srgbClr val="FFFFFF"/>
                          </a:solidFill>
                          <a:latin typeface="Calibri"/>
                        </a:rPr>
                        <a:t>Markets</a:t>
                      </a:r>
                    </a:p>
                  </a:txBody>
                  <a:tcPr>
                    <a:solidFill>
                      <a:srgbClr val="0D2240"/>
                    </a:solidFill>
                  </a:tcPr>
                </a:tc>
                <a:tc>
                  <a:txBody>
                    <a:bodyPr/>
                    <a:lstStyle/>
                    <a:p>
                      <a:pPr algn="ctr"/>
                      <a:r>
                        <a:rPr sz="950" b="1">
                          <a:solidFill>
                            <a:srgbClr val="FFFFFF"/>
                          </a:solidFill>
                          <a:latin typeface="Calibri"/>
                        </a:rPr>
                        <a:t>Zones</a:t>
                      </a:r>
                    </a:p>
                  </a:txBody>
                  <a:tcPr>
                    <a:solidFill>
                      <a:srgbClr val="0D2240"/>
                    </a:solidFill>
                  </a:tcPr>
                </a:tc>
                <a:tc>
                  <a:txBody>
                    <a:bodyPr/>
                    <a:lstStyle/>
                    <a:p>
                      <a:pPr algn="ctr"/>
                      <a:r>
                        <a:rPr sz="950" b="1">
                          <a:solidFill>
                            <a:srgbClr val="FFFFFF"/>
                          </a:solidFill>
                          <a:latin typeface="Calibri"/>
                        </a:rPr>
                        <a:t>Mean Dist km</a:t>
                      </a:r>
                    </a:p>
                  </a:txBody>
                  <a:tcPr>
                    <a:solidFill>
                      <a:srgbClr val="0D2240"/>
                    </a:solidFill>
                  </a:tcPr>
                </a:tc>
                <a:tc>
                  <a:txBody>
                    <a:bodyPr/>
                    <a:lstStyle/>
                    <a:p>
                      <a:pPr algn="ctr"/>
                      <a:r>
                        <a:rPr sz="950" b="1">
                          <a:solidFill>
                            <a:srgbClr val="FFFFFF"/>
                          </a:solidFill>
                          <a:latin typeface="Calibri"/>
                        </a:rPr>
                        <a:t>75th Pct km</a:t>
                      </a:r>
                    </a:p>
                  </a:txBody>
                  <a:tcPr>
                    <a:solidFill>
                      <a:srgbClr val="0D2240"/>
                    </a:solidFill>
                  </a:tcPr>
                </a:tc>
                <a:tc>
                  <a:txBody>
                    <a:bodyPr/>
                    <a:lstStyle/>
                    <a:p>
                      <a:pPr algn="ctr"/>
                      <a:r>
                        <a:rPr sz="950" b="1">
                          <a:solidFill>
                            <a:srgbClr val="FFFFFF"/>
                          </a:solidFill>
                          <a:latin typeface="Calibri"/>
                        </a:rPr>
                        <a:t>Max Dist km</a:t>
                      </a:r>
                    </a:p>
                  </a:txBody>
                  <a:tcPr>
                    <a:solidFill>
                      <a:srgbClr val="0D2240"/>
                    </a:solidFill>
                  </a:tcPr>
                </a:tc>
                <a:extLst>
                  <a:ext uri="{0D108BD9-81ED-4DB2-BD59-A6C34878D82A}">
                    <a16:rowId xmlns:a16="http://schemas.microsoft.com/office/drawing/2014/main" val="10000"/>
                  </a:ext>
                </a:extLst>
              </a:tr>
              <a:tr h="438912">
                <a:tc>
                  <a:txBody>
                    <a:bodyPr/>
                    <a:lstStyle/>
                    <a:p>
                      <a:pPr algn="l"/>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1,639</a:t>
                      </a:r>
                    </a:p>
                  </a:txBody>
                  <a:tcPr>
                    <a:solidFill>
                      <a:srgbClr val="FFFFFF"/>
                    </a:solidFill>
                  </a:tcPr>
                </a:tc>
                <a:tc>
                  <a:txBody>
                    <a:bodyPr/>
                    <a:lstStyle/>
                    <a:p>
                      <a:pPr algn="ctr"/>
                      <a:r>
                        <a:rPr sz="950">
                          <a:solidFill>
                            <a:srgbClr val="1A2E1E"/>
                          </a:solidFill>
                          <a:latin typeface="Calibri"/>
                        </a:rPr>
                        <a:t>5  (T1–T5)</a:t>
                      </a:r>
                    </a:p>
                  </a:txBody>
                  <a:tcPr>
                    <a:solidFill>
                      <a:srgbClr val="FFFFFF"/>
                    </a:solidFill>
                  </a:tcPr>
                </a:tc>
                <a:tc>
                  <a:txBody>
                    <a:bodyPr/>
                    <a:lstStyle/>
                    <a:p>
                      <a:pPr algn="ctr"/>
                      <a:r>
                        <a:rPr sz="950">
                          <a:solidFill>
                            <a:srgbClr val="1A2E1E"/>
                          </a:solidFill>
                          <a:latin typeface="Calibri"/>
                        </a:rPr>
                        <a:t>546</a:t>
                      </a:r>
                    </a:p>
                  </a:txBody>
                  <a:tcPr>
                    <a:solidFill>
                      <a:srgbClr val="FFFFFF"/>
                    </a:solidFill>
                  </a:tcPr>
                </a:tc>
                <a:tc>
                  <a:txBody>
                    <a:bodyPr/>
                    <a:lstStyle/>
                    <a:p>
                      <a:pPr algn="ctr"/>
                      <a:r>
                        <a:rPr sz="950">
                          <a:solidFill>
                            <a:srgbClr val="1A2E1E"/>
                          </a:solidFill>
                          <a:latin typeface="Calibri"/>
                        </a:rPr>
                        <a:t>807</a:t>
                      </a:r>
                    </a:p>
                  </a:txBody>
                  <a:tcPr>
                    <a:solidFill>
                      <a:srgbClr val="FFFFFF"/>
                    </a:solidFill>
                  </a:tcPr>
                </a:tc>
                <a:tc>
                  <a:txBody>
                    <a:bodyPr/>
                    <a:lstStyle/>
                    <a:p>
                      <a:pPr algn="ctr"/>
                      <a:r>
                        <a:rPr sz="950">
                          <a:solidFill>
                            <a:srgbClr val="1A2E1E"/>
                          </a:solidFill>
                          <a:latin typeface="Calibri"/>
                        </a:rPr>
                        <a:t>1,432</a:t>
                      </a:r>
                    </a:p>
                  </a:txBody>
                  <a:tcPr>
                    <a:solidFill>
                      <a:srgbClr val="FFFFFF"/>
                    </a:solidFill>
                  </a:tcPr>
                </a:tc>
                <a:extLst>
                  <a:ext uri="{0D108BD9-81ED-4DB2-BD59-A6C34878D82A}">
                    <a16:rowId xmlns:a16="http://schemas.microsoft.com/office/drawing/2014/main" val="10001"/>
                  </a:ext>
                </a:extLst>
              </a:tr>
              <a:tr h="438912">
                <a:tc>
                  <a:txBody>
                    <a:bodyPr/>
                    <a:lstStyle/>
                    <a:p>
                      <a:pPr algn="l"/>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882</a:t>
                      </a:r>
                    </a:p>
                  </a:txBody>
                  <a:tcPr>
                    <a:solidFill>
                      <a:srgbClr val="F0F6F3"/>
                    </a:solidFill>
                  </a:tcPr>
                </a:tc>
                <a:tc>
                  <a:txBody>
                    <a:bodyPr/>
                    <a:lstStyle/>
                    <a:p>
                      <a:pPr algn="ctr"/>
                      <a:r>
                        <a:rPr sz="950">
                          <a:solidFill>
                            <a:srgbClr val="1A2E1E"/>
                          </a:solidFill>
                          <a:latin typeface="Calibri"/>
                        </a:rPr>
                        <a:t>8  (O1–O10)</a:t>
                      </a:r>
                    </a:p>
                  </a:txBody>
                  <a:tcPr>
                    <a:solidFill>
                      <a:srgbClr val="F0F6F3"/>
                    </a:solidFill>
                  </a:tcPr>
                </a:tc>
                <a:tc>
                  <a:txBody>
                    <a:bodyPr/>
                    <a:lstStyle/>
                    <a:p>
                      <a:pPr algn="ctr"/>
                      <a:r>
                        <a:rPr sz="950">
                          <a:solidFill>
                            <a:srgbClr val="1A2E1E"/>
                          </a:solidFill>
                          <a:latin typeface="Calibri"/>
                        </a:rPr>
                        <a:t>636</a:t>
                      </a:r>
                    </a:p>
                  </a:txBody>
                  <a:tcPr>
                    <a:solidFill>
                      <a:srgbClr val="F0F6F3"/>
                    </a:solidFill>
                  </a:tcPr>
                </a:tc>
                <a:tc>
                  <a:txBody>
                    <a:bodyPr/>
                    <a:lstStyle/>
                    <a:p>
                      <a:pPr algn="ctr"/>
                      <a:r>
                        <a:rPr sz="950">
                          <a:solidFill>
                            <a:srgbClr val="1A2E1E"/>
                          </a:solidFill>
                          <a:latin typeface="Calibri"/>
                        </a:rPr>
                        <a:t>1,020</a:t>
                      </a:r>
                    </a:p>
                  </a:txBody>
                  <a:tcPr>
                    <a:solidFill>
                      <a:srgbClr val="F0F6F3"/>
                    </a:solidFill>
                  </a:tcPr>
                </a:tc>
                <a:tc>
                  <a:txBody>
                    <a:bodyPr/>
                    <a:lstStyle/>
                    <a:p>
                      <a:pPr algn="ctr"/>
                      <a:r>
                        <a:rPr sz="950">
                          <a:solidFill>
                            <a:srgbClr val="1A2E1E"/>
                          </a:solidFill>
                          <a:latin typeface="Calibri"/>
                        </a:rPr>
                        <a:t>2,246</a:t>
                      </a:r>
                    </a:p>
                  </a:txBody>
                  <a:tcPr>
                    <a:solidFill>
                      <a:srgbClr val="F0F6F3"/>
                    </a:solidFill>
                  </a:tcPr>
                </a:tc>
                <a:extLst>
                  <a:ext uri="{0D108BD9-81ED-4DB2-BD59-A6C34878D82A}">
                    <a16:rowId xmlns:a16="http://schemas.microsoft.com/office/drawing/2014/main" val="10002"/>
                  </a:ext>
                </a:extLst>
              </a:tr>
              <a:tr h="438912">
                <a:tc>
                  <a:txBody>
                    <a:bodyPr/>
                    <a:lstStyle/>
                    <a:p>
                      <a:pPr algn="l"/>
                      <a:r>
                        <a:rPr sz="950">
                          <a:solidFill>
                            <a:srgbClr val="1A2E1E"/>
                          </a:solidFill>
                          <a:latin typeface="Calibri"/>
                        </a:rPr>
                        <a:t>Potato</a:t>
                      </a:r>
                    </a:p>
                  </a:txBody>
                  <a:tcPr>
                    <a:solidFill>
                      <a:srgbClr val="FFFFFF"/>
                    </a:solidFill>
                  </a:tcPr>
                </a:tc>
                <a:tc>
                  <a:txBody>
                    <a:bodyPr/>
                    <a:lstStyle/>
                    <a:p>
                      <a:pPr algn="ctr"/>
                      <a:r>
                        <a:rPr sz="950">
                          <a:solidFill>
                            <a:srgbClr val="1A2E1E"/>
                          </a:solidFill>
                          <a:latin typeface="Calibri"/>
                        </a:rPr>
                        <a:t>86</a:t>
                      </a:r>
                    </a:p>
                  </a:txBody>
                  <a:tcPr>
                    <a:solidFill>
                      <a:srgbClr val="FFFFFF"/>
                    </a:solidFill>
                  </a:tcPr>
                </a:tc>
                <a:tc>
                  <a:txBody>
                    <a:bodyPr/>
                    <a:lstStyle/>
                    <a:p>
                      <a:pPr algn="ctr"/>
                      <a:r>
                        <a:rPr sz="950">
                          <a:solidFill>
                            <a:srgbClr val="1A2E1E"/>
                          </a:solidFill>
                          <a:latin typeface="Calibri"/>
                        </a:rPr>
                        <a:t>3  (P2/P3/P4)</a:t>
                      </a:r>
                    </a:p>
                  </a:txBody>
                  <a:tcPr>
                    <a:solidFill>
                      <a:srgbClr val="FFFFFF"/>
                    </a:solidFill>
                  </a:tcPr>
                </a:tc>
                <a:tc>
                  <a:txBody>
                    <a:bodyPr/>
                    <a:lstStyle/>
                    <a:p>
                      <a:pPr algn="ctr"/>
                      <a:r>
                        <a:rPr sz="950">
                          <a:solidFill>
                            <a:srgbClr val="1A2E1E"/>
                          </a:solidFill>
                          <a:latin typeface="Calibri"/>
                        </a:rPr>
                        <a:t>196</a:t>
                      </a:r>
                    </a:p>
                  </a:txBody>
                  <a:tcPr>
                    <a:solidFill>
                      <a:srgbClr val="FFFFFF"/>
                    </a:solidFill>
                  </a:tcPr>
                </a:tc>
                <a:tc>
                  <a:txBody>
                    <a:bodyPr/>
                    <a:lstStyle/>
                    <a:p>
                      <a:pPr algn="ctr"/>
                      <a:r>
                        <a:rPr sz="950">
                          <a:solidFill>
                            <a:srgbClr val="1A2E1E"/>
                          </a:solidFill>
                          <a:latin typeface="Calibri"/>
                        </a:rPr>
                        <a:t>258</a:t>
                      </a:r>
                    </a:p>
                  </a:txBody>
                  <a:tcPr>
                    <a:solidFill>
                      <a:srgbClr val="FFFFFF"/>
                    </a:solidFill>
                  </a:tcPr>
                </a:tc>
                <a:tc>
                  <a:txBody>
                    <a:bodyPr/>
                    <a:lstStyle/>
                    <a:p>
                      <a:pPr algn="ctr"/>
                      <a:r>
                        <a:rPr sz="950">
                          <a:solidFill>
                            <a:srgbClr val="1A2E1E"/>
                          </a:solidFill>
                          <a:latin typeface="Calibri"/>
                        </a:rPr>
                        <a:t>420</a:t>
                      </a:r>
                    </a:p>
                  </a:txBody>
                  <a:tcPr>
                    <a:solidFill>
                      <a:srgbClr val="FFFFFF"/>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6080760" y="1097280"/>
            <a:ext cx="5943600" cy="320040"/>
          </a:xfrm>
          <a:prstGeom prst="rect">
            <a:avLst/>
          </a:prstGeom>
          <a:noFill/>
        </p:spPr>
        <p:txBody>
          <a:bodyPr wrap="square">
            <a:spAutoFit/>
          </a:bodyPr>
          <a:lstStyle/>
          <a:p>
            <a:pPr algn="l"/>
            <a:r>
              <a:rPr sz="1100" b="1" i="0">
                <a:solidFill>
                  <a:srgbClr val="1E6B45"/>
                </a:solidFill>
                <a:latin typeface="Calibri"/>
              </a:rPr>
              <a:t>MARKET-TO-ZONE ASSIGNMENT MAP</a:t>
            </a:r>
          </a:p>
        </p:txBody>
      </p:sp>
      <p:pic>
        <p:nvPicPr>
          <p:cNvPr id="27" name="Picture 26" descr="fig_zone_assignment_map.png"/>
          <p:cNvPicPr>
            <a:picLocks noChangeAspect="1"/>
          </p:cNvPicPr>
          <p:nvPr/>
        </p:nvPicPr>
        <p:blipFill>
          <a:blip r:embed="rId3"/>
          <a:stretch>
            <a:fillRect/>
          </a:stretch>
        </p:blipFill>
        <p:spPr>
          <a:xfrm>
            <a:off x="6080760" y="1463040"/>
            <a:ext cx="5943600" cy="2743200"/>
          </a:xfrm>
          <a:prstGeom prst="rect">
            <a:avLst/>
          </a:prstGeom>
        </p:spPr>
      </p:pic>
      <p:sp>
        <p:nvSpPr>
          <p:cNvPr id="28" name="TextBox 27"/>
          <p:cNvSpPr txBox="1"/>
          <p:nvPr/>
        </p:nvSpPr>
        <p:spPr>
          <a:xfrm>
            <a:off x="6080760" y="4297680"/>
            <a:ext cx="5943600" cy="320040"/>
          </a:xfrm>
          <a:prstGeom prst="rect">
            <a:avLst/>
          </a:prstGeom>
          <a:noFill/>
        </p:spPr>
        <p:txBody>
          <a:bodyPr wrap="square">
            <a:spAutoFit/>
          </a:bodyPr>
          <a:lstStyle/>
          <a:p>
            <a:pPr algn="l"/>
            <a:r>
              <a:rPr sz="1100" b="1" i="0">
                <a:solidFill>
                  <a:srgbClr val="1E6B45"/>
                </a:solidFill>
                <a:latin typeface="Calibri"/>
              </a:rPr>
              <a:t>DISTANCE DISTRIBUTION</a:t>
            </a:r>
          </a:p>
        </p:txBody>
      </p:sp>
      <p:pic>
        <p:nvPicPr>
          <p:cNvPr id="29" name="Picture 28" descr="fig_zone_assignment_distances.png"/>
          <p:cNvPicPr>
            <a:picLocks noChangeAspect="1"/>
          </p:cNvPicPr>
          <p:nvPr/>
        </p:nvPicPr>
        <p:blipFill>
          <a:blip r:embed="rId4"/>
          <a:stretch>
            <a:fillRect/>
          </a:stretch>
        </p:blipFill>
        <p:spPr>
          <a:xfrm>
            <a:off x="6080760" y="4663440"/>
            <a:ext cx="5943600" cy="1627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Critical Architecture Decision — Satellite-Climate Join Strategy</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Evidence-based choice of crop-average over nearest-zone join for modelling</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Rectangle 9"/>
          <p:cNvSpPr/>
          <p:nvPr/>
        </p:nvSpPr>
        <p:spPr>
          <a:xfrm>
            <a:off x="182880" y="1097280"/>
            <a:ext cx="5577840" cy="5230368"/>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097280"/>
            <a:ext cx="5577840" cy="347472"/>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1115568"/>
            <a:ext cx="5303520" cy="310896"/>
          </a:xfrm>
          <a:prstGeom prst="rect">
            <a:avLst/>
          </a:prstGeom>
          <a:noFill/>
        </p:spPr>
        <p:txBody>
          <a:bodyPr wrap="square">
            <a:spAutoFit/>
          </a:bodyPr>
          <a:lstStyle/>
          <a:p>
            <a:pPr algn="l"/>
            <a:r>
              <a:rPr sz="1100" b="1" i="0">
                <a:solidFill>
                  <a:srgbClr val="FFFFFF"/>
                </a:solidFill>
                <a:latin typeface="Calibri"/>
              </a:rPr>
              <a:t>OPTION A — Nearest-Zone Join  (rejected)</a:t>
            </a:r>
          </a:p>
        </p:txBody>
      </p:sp>
      <p:sp>
        <p:nvSpPr>
          <p:cNvPr id="13" name="TextBox 12"/>
          <p:cNvSpPr txBox="1"/>
          <p:nvPr/>
        </p:nvSpPr>
        <p:spPr>
          <a:xfrm>
            <a:off x="292608" y="1508760"/>
            <a:ext cx="5303520" cy="2286000"/>
          </a:xfrm>
          <a:prstGeom prst="rect">
            <a:avLst/>
          </a:prstGeom>
          <a:noFill/>
        </p:spPr>
        <p:txBody>
          <a:bodyPr wrap="square">
            <a:spAutoFit/>
          </a:bodyPr>
          <a:lstStyle/>
          <a:p>
            <a:pPr>
              <a:spcBef>
                <a:spcPts val="400"/>
              </a:spcBef>
            </a:pPr>
            <a:r>
              <a:rPr sz="1050">
                <a:solidFill>
                  <a:srgbClr val="1A2E1E"/>
                </a:solidFill>
                <a:latin typeface="Calibri"/>
              </a:rPr>
              <a:t>Each market joined to its nearest same-crop production zone</a:t>
            </a:r>
          </a:p>
          <a:p>
            <a:pPr>
              <a:spcBef>
                <a:spcPts val="400"/>
              </a:spcBef>
            </a:pPr>
            <a:r>
              <a:rPr sz="1050">
                <a:solidFill>
                  <a:srgbClr val="1A2E1E"/>
                </a:solidFill>
                <a:latin typeface="Calibri"/>
              </a:rPr>
              <a:t>Join key: (market_id, week_start) → (zone_id, week_start)</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PROBLEM — Evidence from Script 16:</a:t>
            </a:r>
          </a:p>
          <a:p>
            <a:pPr>
              <a:spcBef>
                <a:spcPts val="400"/>
              </a:spcBef>
            </a:pPr>
            <a:r>
              <a:rPr sz="1050">
                <a:solidFill>
                  <a:srgbClr val="1A2E1E"/>
                </a:solidFill>
                <a:latin typeface="Calibri"/>
              </a:rPr>
              <a:t>  · Overall mean distance: 590 km</a:t>
            </a:r>
          </a:p>
          <a:p>
            <a:pPr>
              <a:spcBef>
                <a:spcPts val="400"/>
              </a:spcBef>
            </a:pPr>
            <a:r>
              <a:rPr sz="1050">
                <a:solidFill>
                  <a:srgbClr val="1A2E1E"/>
                </a:solidFill>
                <a:latin typeface="Calibri"/>
              </a:rPr>
              <a:t>  · 75th percentile: 944 km</a:t>
            </a:r>
          </a:p>
          <a:p>
            <a:pPr>
              <a:spcBef>
                <a:spcPts val="400"/>
              </a:spcBef>
            </a:pPr>
            <a:r>
              <a:rPr sz="1050">
                <a:solidFill>
                  <a:srgbClr val="1A2E1E"/>
                </a:solidFill>
                <a:latin typeface="Calibri"/>
              </a:rPr>
              <a:t>  · Onion O9_Kurnool serves markets at mean 1,084 km</a:t>
            </a:r>
          </a:p>
          <a:p>
            <a:pPr>
              <a:spcBef>
                <a:spcPts val="400"/>
              </a:spcBef>
            </a:pPr>
            <a:r>
              <a:rPr sz="1050">
                <a:solidFill>
                  <a:srgbClr val="1A2E1E"/>
                </a:solidFill>
                <a:latin typeface="Calibri"/>
              </a:rPr>
              <a:t>  · No onion zones exist in North/Northeast India</a:t>
            </a:r>
          </a:p>
          <a:p>
            <a:pPr>
              <a:spcBef>
                <a:spcPts val="400"/>
              </a:spcBef>
            </a:pPr>
            <a:r>
              <a:rPr sz="1050">
                <a:solidFill>
                  <a:srgbClr val="1A2E1E"/>
                </a:solidFill>
                <a:latin typeface="Calibri"/>
              </a:rPr>
              <a:t>  · At 1,000+ km, the zone satellite signal is NOT a local supply signal for that market</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VERDICT: Introduces geographic correlation noise, not causal signal.</a:t>
            </a:r>
          </a:p>
          <a:p>
            <a:pPr>
              <a:spcBef>
                <a:spcPts val="400"/>
              </a:spcBef>
            </a:pPr>
            <a:r>
              <a:rPr sz="1050">
                <a:solidFill>
                  <a:srgbClr val="1A2E1E"/>
                </a:solidFill>
                <a:latin typeface="Calibri"/>
              </a:rPr>
              <a:t>A market in Patna (Bihar) does not source onion from Kurnool (AP).</a:t>
            </a:r>
          </a:p>
        </p:txBody>
      </p:sp>
      <p:sp>
        <p:nvSpPr>
          <p:cNvPr id="14" name="Rectangle 13"/>
          <p:cNvSpPr/>
          <p:nvPr/>
        </p:nvSpPr>
        <p:spPr>
          <a:xfrm>
            <a:off x="5989320" y="1097280"/>
            <a:ext cx="5943600" cy="5230368"/>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1097280"/>
            <a:ext cx="5943600" cy="347472"/>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115568"/>
            <a:ext cx="5669280" cy="310896"/>
          </a:xfrm>
          <a:prstGeom prst="rect">
            <a:avLst/>
          </a:prstGeom>
          <a:noFill/>
        </p:spPr>
        <p:txBody>
          <a:bodyPr wrap="square">
            <a:spAutoFit/>
          </a:bodyPr>
          <a:lstStyle/>
          <a:p>
            <a:pPr algn="l"/>
            <a:r>
              <a:rPr sz="1100" b="1" i="0">
                <a:solidFill>
                  <a:srgbClr val="FFFFFF"/>
                </a:solidFill>
                <a:latin typeface="Calibri"/>
              </a:rPr>
              <a:t>OPTION B — Crop-Average Join  (CONFIRMED PRIMARY)</a:t>
            </a:r>
          </a:p>
        </p:txBody>
      </p:sp>
      <p:sp>
        <p:nvSpPr>
          <p:cNvPr id="17" name="TextBox 16"/>
          <p:cNvSpPr txBox="1"/>
          <p:nvPr/>
        </p:nvSpPr>
        <p:spPr>
          <a:xfrm>
            <a:off x="6099048" y="1508760"/>
            <a:ext cx="5669280" cy="3200400"/>
          </a:xfrm>
          <a:prstGeom prst="rect">
            <a:avLst/>
          </a:prstGeom>
          <a:noFill/>
        </p:spPr>
        <p:txBody>
          <a:bodyPr wrap="square">
            <a:spAutoFit/>
          </a:bodyPr>
          <a:lstStyle/>
          <a:p>
            <a:pPr>
              <a:spcBef>
                <a:spcPts val="400"/>
              </a:spcBef>
            </a:pPr>
            <a:r>
              <a:rPr sz="1050">
                <a:solidFill>
                  <a:srgbClr val="1A2E1E"/>
                </a:solidFill>
                <a:latin typeface="Calibri"/>
              </a:rPr>
              <a:t>Average satellite-climate features across all same-crop zones</a:t>
            </a:r>
          </a:p>
          <a:p>
            <a:pPr>
              <a:spcBef>
                <a:spcPts val="400"/>
              </a:spcBef>
            </a:pPr>
            <a:r>
              <a:rPr sz="1050">
                <a:solidFill>
                  <a:srgbClr val="1A2E1E"/>
                </a:solidFill>
                <a:latin typeface="Calibri"/>
              </a:rPr>
              <a:t>Join key: (crop, week_start)  — 3 series, one per crop</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RATIONALE — National supply-chain integration:</a:t>
            </a:r>
          </a:p>
          <a:p>
            <a:pPr>
              <a:spcBef>
                <a:spcPts val="400"/>
              </a:spcBef>
            </a:pPr>
            <a:r>
              <a:rPr sz="1050">
                <a:solidFill>
                  <a:srgbClr val="1A2E1E"/>
                </a:solidFill>
                <a:latin typeface="Calibri"/>
              </a:rPr>
              <a:t>  · India's TOP commodity markets are NOT locally supplied</a:t>
            </a:r>
          </a:p>
          <a:p>
            <a:pPr>
              <a:spcBef>
                <a:spcPts val="400"/>
              </a:spcBef>
            </a:pPr>
            <a:r>
              <a:rPr sz="1050">
                <a:solidFill>
                  <a:srgbClr val="1A2E1E"/>
                </a:solidFill>
                <a:latin typeface="Calibri"/>
              </a:rPr>
              <a:t>  · A supply shock in any major production zone propagates</a:t>
            </a:r>
          </a:p>
          <a:p>
            <a:pPr>
              <a:spcBef>
                <a:spcPts val="400"/>
              </a:spcBef>
            </a:pPr>
            <a:r>
              <a:rPr sz="1050">
                <a:solidFill>
                  <a:srgbClr val="1A2E1E"/>
                </a:solidFill>
                <a:latin typeface="Calibri"/>
              </a:rPr>
              <a:t>    nationally through trader networks within 1–2 weeks</a:t>
            </a:r>
          </a:p>
          <a:p>
            <a:pPr>
              <a:spcBef>
                <a:spcPts val="400"/>
              </a:spcBef>
            </a:pPr>
            <a:r>
              <a:rPr sz="1050">
                <a:solidFill>
                  <a:srgbClr val="1A2E1E"/>
                </a:solidFill>
                <a:latin typeface="Calibri"/>
              </a:rPr>
              <a:t>  · Crop average captures the aggregate national supply signal</a:t>
            </a:r>
          </a:p>
          <a:p>
            <a:pPr>
              <a:spcBef>
                <a:spcPts val="400"/>
              </a:spcBef>
            </a:pPr>
            <a:r>
              <a:rPr sz="1050">
                <a:solidFill>
                  <a:srgbClr val="1A2E1E"/>
                </a:solidFill>
                <a:latin typeface="Calibri"/>
              </a:rPr>
              <a:t>    that actually drives price co-movement across markets</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SUPPORTING EVIDENCE:</a:t>
            </a:r>
          </a:p>
          <a:p>
            <a:pPr>
              <a:spcBef>
                <a:spcPts val="400"/>
              </a:spcBef>
            </a:pPr>
            <a:r>
              <a:rPr sz="1050">
                <a:solidFill>
                  <a:srgbClr val="1A2E1E"/>
                </a:solidFill>
                <a:latin typeface="Calibri"/>
              </a:rPr>
              <a:t>  · WPI tomato/onion/potato move together nationally during crises</a:t>
            </a:r>
          </a:p>
          <a:p>
            <a:pPr>
              <a:spcBef>
                <a:spcPts val="400"/>
              </a:spcBef>
            </a:pPr>
            <a:r>
              <a:rPr sz="1050">
                <a:solidFill>
                  <a:srgbClr val="1A2E1E"/>
                </a:solidFill>
                <a:latin typeface="Calibri"/>
              </a:rPr>
              <a:t>  · 2019 onion prices rose simultaneously in all 22 states</a:t>
            </a:r>
          </a:p>
          <a:p>
            <a:pPr>
              <a:spcBef>
                <a:spcPts val="400"/>
              </a:spcBef>
            </a:pPr>
            <a:r>
              <a:rPr sz="1050">
                <a:solidFill>
                  <a:srgbClr val="1A2E1E"/>
                </a:solidFill>
                <a:latin typeface="Calibri"/>
              </a:rPr>
              <a:t>  · National mandi integration is well-documented (Ghosh 2010,</a:t>
            </a:r>
          </a:p>
          <a:p>
            <a:pPr>
              <a:spcBef>
                <a:spcPts val="400"/>
              </a:spcBef>
            </a:pPr>
            <a:r>
              <a:rPr sz="1050">
                <a:solidFill>
                  <a:srgbClr val="1A2E1E"/>
                </a:solidFill>
                <a:latin typeface="Calibri"/>
              </a:rPr>
              <a:t>    Fałkowski &amp; Jakubowski 2019, Birthal et al. 2015)</a:t>
            </a:r>
          </a:p>
        </p:txBody>
      </p:sp>
      <p:sp>
        <p:nvSpPr>
          <p:cNvPr id="18" name="Rectangle 17"/>
          <p:cNvSpPr/>
          <p:nvPr/>
        </p:nvSpPr>
        <p:spPr>
          <a:xfrm>
            <a:off x="182880" y="6400800"/>
            <a:ext cx="11750040" cy="914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 y="6291072"/>
            <a:ext cx="11750040" cy="274320"/>
          </a:xfrm>
          <a:prstGeom prst="rect">
            <a:avLst/>
          </a:prstGeom>
          <a:noFill/>
        </p:spPr>
        <p:txBody>
          <a:bodyPr wrap="square">
            <a:spAutoFit/>
          </a:bodyPr>
          <a:lstStyle/>
          <a:p>
            <a:pPr algn="ctr"/>
            <a:r>
              <a:rPr sz="1000" b="1" i="0" dirty="0">
                <a:solidFill>
                  <a:srgbClr val="14355A"/>
                </a:solidFill>
                <a:latin typeface="Calibri"/>
              </a:rPr>
              <a:t>CONFIRMED:  crop_weekly_features.csv  joined on  (crop, </a:t>
            </a:r>
            <a:r>
              <a:rPr sz="1000" b="1" i="0" dirty="0" err="1">
                <a:solidFill>
                  <a:srgbClr val="14355A"/>
                </a:solidFill>
                <a:latin typeface="Calibri"/>
              </a:rPr>
              <a:t>week_start</a:t>
            </a:r>
            <a:r>
              <a:rPr sz="1000" b="1" i="0" dirty="0">
                <a:solidFill>
                  <a:srgbClr val="14355A"/>
                </a:solidFill>
                <a:latin typeface="Calibri"/>
              </a:rPr>
              <a:t>)  =  PRIMARY modelling join.  market_zone_features.csv  =  robustness check only (supplementary material).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Module B — Price Forecasting Model</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LightGBM with rolling-origin CV · 4 forecast horizons · Spike classifier · SHAP attribution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984156"/>
            <a:ext cx="5303520" cy="253916"/>
          </a:xfrm>
          <a:prstGeom prst="rect">
            <a:avLst/>
          </a:prstGeom>
          <a:noFill/>
        </p:spPr>
        <p:txBody>
          <a:bodyPr wrap="square">
            <a:spAutoFit/>
          </a:bodyPr>
          <a:lstStyle/>
          <a:p>
            <a:pPr algn="l"/>
            <a:r>
              <a:rPr sz="1000" b="1" i="0" dirty="0">
                <a:solidFill>
                  <a:srgbClr val="1E6B45"/>
                </a:solidFill>
                <a:latin typeface="Calibri"/>
              </a:rPr>
              <a:t>MODEL DESIGN  (Script 12 — 472 lines)</a:t>
            </a:r>
          </a:p>
        </p:txBody>
      </p:sp>
      <p:sp>
        <p:nvSpPr>
          <p:cNvPr id="11" name="TextBox 10"/>
          <p:cNvSpPr txBox="1"/>
          <p:nvPr/>
        </p:nvSpPr>
        <p:spPr>
          <a:xfrm>
            <a:off x="182880" y="1208511"/>
            <a:ext cx="5303520" cy="2541721"/>
          </a:xfrm>
          <a:prstGeom prst="rect">
            <a:avLst/>
          </a:prstGeom>
          <a:noFill/>
        </p:spPr>
        <p:txBody>
          <a:bodyPr wrap="square">
            <a:spAutoFit/>
          </a:bodyPr>
          <a:lstStyle/>
          <a:p>
            <a:pPr>
              <a:spcBef>
                <a:spcPts val="400"/>
              </a:spcBef>
            </a:pPr>
            <a:r>
              <a:rPr sz="750" dirty="0">
                <a:solidFill>
                  <a:srgbClr val="1A2E1E"/>
                </a:solidFill>
                <a:latin typeface="Calibri"/>
              </a:rPr>
              <a:t>ALGORITHM:  </a:t>
            </a:r>
            <a:r>
              <a:rPr sz="750" dirty="0" err="1">
                <a:solidFill>
                  <a:srgbClr val="1A2E1E"/>
                </a:solidFill>
                <a:latin typeface="Calibri"/>
              </a:rPr>
              <a:t>LightGBM</a:t>
            </a:r>
            <a:r>
              <a:rPr sz="750" dirty="0">
                <a:solidFill>
                  <a:srgbClr val="1A2E1E"/>
                </a:solidFill>
                <a:latin typeface="Calibri"/>
              </a:rPr>
              <a:t> (gradient-boosted decision trees)</a:t>
            </a:r>
          </a:p>
          <a:p>
            <a:pPr>
              <a:spcBef>
                <a:spcPts val="400"/>
              </a:spcBef>
            </a:pPr>
            <a:r>
              <a:rPr sz="750" dirty="0">
                <a:solidFill>
                  <a:srgbClr val="1A2E1E"/>
                </a:solidFill>
                <a:latin typeface="Calibri"/>
              </a:rPr>
              <a:t>  ·  Handles mixed data types, missing values, and non-linear interactions natively</a:t>
            </a:r>
          </a:p>
          <a:p>
            <a:pPr>
              <a:spcBef>
                <a:spcPts val="400"/>
              </a:spcBef>
            </a:pPr>
            <a:r>
              <a:rPr sz="750" dirty="0">
                <a:solidFill>
                  <a:srgbClr val="1A2E1E"/>
                </a:solidFill>
                <a:latin typeface="Calibri"/>
              </a:rPr>
              <a:t>  ·  Validated for agricultural time-series at scale (Xiong et al. 2022, Kumar et al. 2024)</a:t>
            </a:r>
          </a:p>
          <a:p>
            <a:pPr>
              <a:spcBef>
                <a:spcPts val="400"/>
              </a:spcBef>
            </a:pPr>
            <a:endParaRPr sz="750" dirty="0">
              <a:solidFill>
                <a:srgbClr val="1A2E1E"/>
              </a:solidFill>
              <a:latin typeface="Calibri"/>
            </a:endParaRPr>
          </a:p>
          <a:p>
            <a:pPr>
              <a:spcBef>
                <a:spcPts val="400"/>
              </a:spcBef>
            </a:pPr>
            <a:r>
              <a:rPr sz="750" dirty="0">
                <a:solidFill>
                  <a:srgbClr val="1A2E1E"/>
                </a:solidFill>
                <a:latin typeface="Calibri"/>
              </a:rPr>
              <a:t>TARGET:  log(</a:t>
            </a:r>
            <a:r>
              <a:rPr sz="750" dirty="0" err="1">
                <a:solidFill>
                  <a:srgbClr val="1A2E1E"/>
                </a:solidFill>
                <a:latin typeface="Calibri"/>
              </a:rPr>
              <a:t>modal_price</a:t>
            </a:r>
            <a:r>
              <a:rPr sz="750" dirty="0">
                <a:solidFill>
                  <a:srgbClr val="1A2E1E"/>
                </a:solidFill>
                <a:latin typeface="Calibri"/>
              </a:rPr>
              <a:t> + 1) per market per week</a:t>
            </a:r>
          </a:p>
          <a:p>
            <a:pPr>
              <a:spcBef>
                <a:spcPts val="400"/>
              </a:spcBef>
            </a:pPr>
            <a:r>
              <a:rPr sz="750" dirty="0">
                <a:solidFill>
                  <a:srgbClr val="1A2E1E"/>
                </a:solidFill>
                <a:latin typeface="Calibri"/>
              </a:rPr>
              <a:t>  ·  Log transform addresses extreme right skew of price distributions</a:t>
            </a:r>
          </a:p>
          <a:p>
            <a:pPr>
              <a:spcBef>
                <a:spcPts val="400"/>
              </a:spcBef>
            </a:pPr>
            <a:r>
              <a:rPr sz="750" dirty="0">
                <a:solidFill>
                  <a:srgbClr val="1A2E1E"/>
                </a:solidFill>
                <a:latin typeface="Calibri"/>
              </a:rPr>
              <a:t>  ·  Back-transformed for evaluation in original Rs/quintal units</a:t>
            </a:r>
          </a:p>
          <a:p>
            <a:pPr>
              <a:spcBef>
                <a:spcPts val="400"/>
              </a:spcBef>
            </a:pPr>
            <a:endParaRPr sz="750" dirty="0">
              <a:solidFill>
                <a:srgbClr val="1A2E1E"/>
              </a:solidFill>
              <a:latin typeface="Calibri"/>
            </a:endParaRPr>
          </a:p>
          <a:p>
            <a:pPr>
              <a:spcBef>
                <a:spcPts val="400"/>
              </a:spcBef>
            </a:pPr>
            <a:r>
              <a:rPr sz="750" dirty="0">
                <a:solidFill>
                  <a:srgbClr val="1A2E1E"/>
                </a:solidFill>
                <a:latin typeface="Calibri"/>
              </a:rPr>
              <a:t>FORECAST HORIZONS:  h = 1, 2, 4, 8 weeks ahead</a:t>
            </a:r>
          </a:p>
          <a:p>
            <a:pPr>
              <a:spcBef>
                <a:spcPts val="400"/>
              </a:spcBef>
            </a:pPr>
            <a:r>
              <a:rPr sz="750" dirty="0">
                <a:solidFill>
                  <a:srgbClr val="1A2E1E"/>
                </a:solidFill>
                <a:latin typeface="Calibri"/>
              </a:rPr>
              <a:t>  ·  Separate model trained per horizon per crop</a:t>
            </a:r>
          </a:p>
          <a:p>
            <a:pPr>
              <a:spcBef>
                <a:spcPts val="400"/>
              </a:spcBef>
            </a:pPr>
            <a:r>
              <a:rPr sz="750" dirty="0">
                <a:solidFill>
                  <a:srgbClr val="1A2E1E"/>
                </a:solidFill>
                <a:latin typeface="Calibri"/>
              </a:rPr>
              <a:t>  ·  Horizon-stratified evaluation (RMSE, MAPE, R²)</a:t>
            </a:r>
          </a:p>
          <a:p>
            <a:pPr>
              <a:spcBef>
                <a:spcPts val="400"/>
              </a:spcBef>
            </a:pPr>
            <a:endParaRPr sz="750" dirty="0">
              <a:solidFill>
                <a:srgbClr val="1A2E1E"/>
              </a:solidFill>
              <a:latin typeface="Calibri"/>
            </a:endParaRPr>
          </a:p>
          <a:p>
            <a:pPr>
              <a:spcBef>
                <a:spcPts val="400"/>
              </a:spcBef>
            </a:pPr>
            <a:r>
              <a:rPr sz="750" dirty="0">
                <a:solidFill>
                  <a:srgbClr val="1A2E1E"/>
                </a:solidFill>
                <a:latin typeface="Calibri"/>
              </a:rPr>
              <a:t>SPIKE CLASSIFIER:  Binary target: price &gt; 1.5× rolling 8-week median</a:t>
            </a:r>
          </a:p>
          <a:p>
            <a:pPr>
              <a:spcBef>
                <a:spcPts val="400"/>
              </a:spcBef>
            </a:pPr>
            <a:r>
              <a:rPr sz="750" dirty="0">
                <a:solidFill>
                  <a:srgbClr val="1A2E1E"/>
                </a:solidFill>
                <a:latin typeface="Calibri"/>
              </a:rPr>
              <a:t>  ·  Evaluated with ROC-AUC and precision-recall curves</a:t>
            </a:r>
          </a:p>
          <a:p>
            <a:pPr>
              <a:spcBef>
                <a:spcPts val="400"/>
              </a:spcBef>
            </a:pPr>
            <a:r>
              <a:rPr sz="750" dirty="0">
                <a:solidFill>
                  <a:srgbClr val="1A2E1E"/>
                </a:solidFill>
                <a:latin typeface="Calibri"/>
              </a:rPr>
              <a:t>  ·  Critical for early-warning policy applications</a:t>
            </a:r>
          </a:p>
        </p:txBody>
      </p:sp>
      <p:sp>
        <p:nvSpPr>
          <p:cNvPr id="12" name="TextBox 11"/>
          <p:cNvSpPr txBox="1"/>
          <p:nvPr/>
        </p:nvSpPr>
        <p:spPr>
          <a:xfrm>
            <a:off x="182880" y="3715577"/>
            <a:ext cx="5303520" cy="320040"/>
          </a:xfrm>
          <a:prstGeom prst="rect">
            <a:avLst/>
          </a:prstGeom>
          <a:noFill/>
        </p:spPr>
        <p:txBody>
          <a:bodyPr wrap="square">
            <a:spAutoFit/>
          </a:bodyPr>
          <a:lstStyle/>
          <a:p>
            <a:pPr algn="l"/>
            <a:r>
              <a:rPr sz="1100" b="1" i="0" dirty="0">
                <a:solidFill>
                  <a:srgbClr val="1E6B45"/>
                </a:solidFill>
                <a:latin typeface="Calibri"/>
              </a:rPr>
              <a:t>FEATURE GROUPS</a:t>
            </a:r>
          </a:p>
        </p:txBody>
      </p:sp>
      <p:sp>
        <p:nvSpPr>
          <p:cNvPr id="13" name="Rectangle 12"/>
          <p:cNvSpPr/>
          <p:nvPr/>
        </p:nvSpPr>
        <p:spPr>
          <a:xfrm>
            <a:off x="182880" y="3977639"/>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4041648"/>
            <a:ext cx="1417320" cy="256032"/>
          </a:xfrm>
          <a:prstGeom prst="rect">
            <a:avLst/>
          </a:prstGeom>
          <a:noFill/>
        </p:spPr>
        <p:txBody>
          <a:bodyPr wrap="square">
            <a:spAutoFit/>
          </a:bodyPr>
          <a:lstStyle/>
          <a:p>
            <a:pPr algn="l"/>
            <a:r>
              <a:rPr sz="950" b="1" i="0">
                <a:solidFill>
                  <a:srgbClr val="FFFFFF"/>
                </a:solidFill>
                <a:latin typeface="Calibri"/>
              </a:rPr>
              <a:t>Price Lags</a:t>
            </a:r>
          </a:p>
        </p:txBody>
      </p:sp>
      <p:sp>
        <p:nvSpPr>
          <p:cNvPr id="15" name="TextBox 14"/>
          <p:cNvSpPr txBox="1"/>
          <p:nvPr/>
        </p:nvSpPr>
        <p:spPr>
          <a:xfrm>
            <a:off x="1828800" y="4041648"/>
            <a:ext cx="3611880" cy="256032"/>
          </a:xfrm>
          <a:prstGeom prst="rect">
            <a:avLst/>
          </a:prstGeom>
          <a:noFill/>
        </p:spPr>
        <p:txBody>
          <a:bodyPr wrap="square">
            <a:spAutoFit/>
          </a:bodyPr>
          <a:lstStyle/>
          <a:p>
            <a:pPr algn="l"/>
            <a:r>
              <a:rPr sz="950" b="0" i="0">
                <a:solidFill>
                  <a:srgbClr val="1A2E1E"/>
                </a:solidFill>
                <a:latin typeface="Calibri"/>
              </a:rPr>
              <a:t>lag_1, lag_2, lag_4, lag_8 weeks · rolling mean/std (4wk, 8wk)</a:t>
            </a:r>
          </a:p>
        </p:txBody>
      </p:sp>
      <p:sp>
        <p:nvSpPr>
          <p:cNvPr id="16" name="Rectangle 15"/>
          <p:cNvSpPr/>
          <p:nvPr/>
        </p:nvSpPr>
        <p:spPr>
          <a:xfrm>
            <a:off x="182880" y="4398264"/>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6032" y="4462272"/>
            <a:ext cx="1417320" cy="256032"/>
          </a:xfrm>
          <a:prstGeom prst="rect">
            <a:avLst/>
          </a:prstGeom>
          <a:noFill/>
        </p:spPr>
        <p:txBody>
          <a:bodyPr wrap="square">
            <a:spAutoFit/>
          </a:bodyPr>
          <a:lstStyle/>
          <a:p>
            <a:pPr algn="l"/>
            <a:r>
              <a:rPr sz="950" b="1" i="0">
                <a:solidFill>
                  <a:srgbClr val="FFFFFF"/>
                </a:solidFill>
                <a:latin typeface="Calibri"/>
              </a:rPr>
              <a:t>Seasonality</a:t>
            </a:r>
          </a:p>
        </p:txBody>
      </p:sp>
      <p:sp>
        <p:nvSpPr>
          <p:cNvPr id="18" name="TextBox 17"/>
          <p:cNvSpPr txBox="1"/>
          <p:nvPr/>
        </p:nvSpPr>
        <p:spPr>
          <a:xfrm>
            <a:off x="1828800" y="4462272"/>
            <a:ext cx="3611880" cy="256032"/>
          </a:xfrm>
          <a:prstGeom prst="rect">
            <a:avLst/>
          </a:prstGeom>
          <a:noFill/>
        </p:spPr>
        <p:txBody>
          <a:bodyPr wrap="square">
            <a:spAutoFit/>
          </a:bodyPr>
          <a:lstStyle/>
          <a:p>
            <a:pPr algn="l"/>
            <a:r>
              <a:rPr sz="950" b="0" i="0">
                <a:solidFill>
                  <a:srgbClr val="1A2E1E"/>
                </a:solidFill>
                <a:latin typeface="Calibri"/>
              </a:rPr>
              <a:t>ISO week-of-year · month · crop-season dummies</a:t>
            </a:r>
          </a:p>
        </p:txBody>
      </p:sp>
      <p:sp>
        <p:nvSpPr>
          <p:cNvPr id="19" name="Rectangle 18"/>
          <p:cNvSpPr/>
          <p:nvPr/>
        </p:nvSpPr>
        <p:spPr>
          <a:xfrm>
            <a:off x="182880" y="4818888"/>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4882896"/>
            <a:ext cx="1417320" cy="256032"/>
          </a:xfrm>
          <a:prstGeom prst="rect">
            <a:avLst/>
          </a:prstGeom>
          <a:noFill/>
        </p:spPr>
        <p:txBody>
          <a:bodyPr wrap="square">
            <a:spAutoFit/>
          </a:bodyPr>
          <a:lstStyle/>
          <a:p>
            <a:pPr algn="l"/>
            <a:r>
              <a:rPr sz="950" b="1" i="0">
                <a:solidFill>
                  <a:srgbClr val="FFFFFF"/>
                </a:solidFill>
                <a:latin typeface="Calibri"/>
              </a:rPr>
              <a:t>Market Identity</a:t>
            </a:r>
          </a:p>
        </p:txBody>
      </p:sp>
      <p:sp>
        <p:nvSpPr>
          <p:cNvPr id="21" name="TextBox 20"/>
          <p:cNvSpPr txBox="1"/>
          <p:nvPr/>
        </p:nvSpPr>
        <p:spPr>
          <a:xfrm>
            <a:off x="1828800" y="4882896"/>
            <a:ext cx="3611880" cy="256032"/>
          </a:xfrm>
          <a:prstGeom prst="rect">
            <a:avLst/>
          </a:prstGeom>
          <a:noFill/>
        </p:spPr>
        <p:txBody>
          <a:bodyPr wrap="square">
            <a:spAutoFit/>
          </a:bodyPr>
          <a:lstStyle/>
          <a:p>
            <a:pPr algn="l"/>
            <a:r>
              <a:rPr sz="950" b="0" i="0">
                <a:solidFill>
                  <a:srgbClr val="1A2E1E"/>
                </a:solidFill>
                <a:latin typeface="Calibri"/>
              </a:rPr>
              <a:t>Market FE · State FE · Crop</a:t>
            </a:r>
          </a:p>
        </p:txBody>
      </p:sp>
      <p:sp>
        <p:nvSpPr>
          <p:cNvPr id="22" name="Rectangle 21"/>
          <p:cNvSpPr/>
          <p:nvPr/>
        </p:nvSpPr>
        <p:spPr>
          <a:xfrm>
            <a:off x="182880" y="5239512"/>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6032" y="5303520"/>
            <a:ext cx="1417320" cy="256032"/>
          </a:xfrm>
          <a:prstGeom prst="rect">
            <a:avLst/>
          </a:prstGeom>
          <a:noFill/>
        </p:spPr>
        <p:txBody>
          <a:bodyPr wrap="square">
            <a:spAutoFit/>
          </a:bodyPr>
          <a:lstStyle/>
          <a:p>
            <a:pPr algn="l"/>
            <a:r>
              <a:rPr sz="950" b="1" i="0">
                <a:solidFill>
                  <a:srgbClr val="FFFFFF"/>
                </a:solidFill>
                <a:latin typeface="Calibri"/>
              </a:rPr>
              <a:t>Macro (L4)</a:t>
            </a:r>
          </a:p>
        </p:txBody>
      </p:sp>
      <p:sp>
        <p:nvSpPr>
          <p:cNvPr id="24" name="TextBox 23"/>
          <p:cNvSpPr txBox="1"/>
          <p:nvPr/>
        </p:nvSpPr>
        <p:spPr>
          <a:xfrm>
            <a:off x="1828800" y="5303520"/>
            <a:ext cx="3611880" cy="256032"/>
          </a:xfrm>
          <a:prstGeom prst="rect">
            <a:avLst/>
          </a:prstGeom>
          <a:noFill/>
        </p:spPr>
        <p:txBody>
          <a:bodyPr wrap="square">
            <a:spAutoFit/>
          </a:bodyPr>
          <a:lstStyle/>
          <a:p>
            <a:pPr algn="l"/>
            <a:r>
              <a:rPr sz="950" b="0" i="0">
                <a:solidFill>
                  <a:srgbClr val="1A2E1E"/>
                </a:solidFill>
                <a:latin typeface="Calibri"/>
              </a:rPr>
              <a:t>Diesel · LPG · Repo rate · WPI crop-specific · USD-INR</a:t>
            </a:r>
          </a:p>
        </p:txBody>
      </p:sp>
      <p:sp>
        <p:nvSpPr>
          <p:cNvPr id="25" name="Rectangle 24"/>
          <p:cNvSpPr/>
          <p:nvPr/>
        </p:nvSpPr>
        <p:spPr>
          <a:xfrm>
            <a:off x="182880" y="5660136"/>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6032" y="5724144"/>
            <a:ext cx="1417320" cy="256032"/>
          </a:xfrm>
          <a:prstGeom prst="rect">
            <a:avLst/>
          </a:prstGeom>
          <a:noFill/>
        </p:spPr>
        <p:txBody>
          <a:bodyPr wrap="square">
            <a:spAutoFit/>
          </a:bodyPr>
          <a:lstStyle/>
          <a:p>
            <a:pPr algn="l"/>
            <a:r>
              <a:rPr sz="950" b="1" i="0">
                <a:solidFill>
                  <a:srgbClr val="FFFFFF"/>
                </a:solidFill>
                <a:latin typeface="Calibri"/>
              </a:rPr>
              <a:t>Satellite (L2)</a:t>
            </a:r>
          </a:p>
        </p:txBody>
      </p:sp>
      <p:sp>
        <p:nvSpPr>
          <p:cNvPr id="27" name="TextBox 26"/>
          <p:cNvSpPr txBox="1"/>
          <p:nvPr/>
        </p:nvSpPr>
        <p:spPr>
          <a:xfrm>
            <a:off x="1828800" y="5724144"/>
            <a:ext cx="3611880" cy="256032"/>
          </a:xfrm>
          <a:prstGeom prst="rect">
            <a:avLst/>
          </a:prstGeom>
          <a:noFill/>
        </p:spPr>
        <p:txBody>
          <a:bodyPr wrap="square">
            <a:spAutoFit/>
          </a:bodyPr>
          <a:lstStyle/>
          <a:p>
            <a:pPr algn="l"/>
            <a:r>
              <a:rPr sz="950" b="0" i="0">
                <a:solidFill>
                  <a:srgbClr val="1A2E1E"/>
                </a:solidFill>
                <a:latin typeface="Calibri"/>
              </a:rPr>
              <a:t>NDVI · EVI · NDVI_anomaly · valid_px_frac</a:t>
            </a:r>
          </a:p>
        </p:txBody>
      </p:sp>
      <p:sp>
        <p:nvSpPr>
          <p:cNvPr id="28" name="Rectangle 27"/>
          <p:cNvSpPr/>
          <p:nvPr/>
        </p:nvSpPr>
        <p:spPr>
          <a:xfrm>
            <a:off x="182880" y="6080760"/>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 y="6144768"/>
            <a:ext cx="1417320" cy="256032"/>
          </a:xfrm>
          <a:prstGeom prst="rect">
            <a:avLst/>
          </a:prstGeom>
          <a:noFill/>
        </p:spPr>
        <p:txBody>
          <a:bodyPr wrap="square">
            <a:spAutoFit/>
          </a:bodyPr>
          <a:lstStyle/>
          <a:p>
            <a:pPr algn="l"/>
            <a:r>
              <a:rPr sz="950" b="1" i="0">
                <a:solidFill>
                  <a:srgbClr val="FFFFFF"/>
                </a:solidFill>
                <a:latin typeface="Calibri"/>
              </a:rPr>
              <a:t>Climate (L3)</a:t>
            </a:r>
          </a:p>
        </p:txBody>
      </p:sp>
      <p:sp>
        <p:nvSpPr>
          <p:cNvPr id="30" name="TextBox 29"/>
          <p:cNvSpPr txBox="1"/>
          <p:nvPr/>
        </p:nvSpPr>
        <p:spPr>
          <a:xfrm>
            <a:off x="1828800" y="6144768"/>
            <a:ext cx="3611880" cy="256032"/>
          </a:xfrm>
          <a:prstGeom prst="rect">
            <a:avLst/>
          </a:prstGeom>
          <a:noFill/>
        </p:spPr>
        <p:txBody>
          <a:bodyPr wrap="square">
            <a:spAutoFit/>
          </a:bodyPr>
          <a:lstStyle/>
          <a:p>
            <a:pPr algn="l"/>
            <a:r>
              <a:rPr sz="950" b="0" i="0">
                <a:solidFill>
                  <a:srgbClr val="1A2E1E"/>
                </a:solidFill>
                <a:latin typeface="Calibri"/>
              </a:rPr>
              <a:t>Tmax · heat_days_35 · rain_weekly · frac_excess · LST_mean</a:t>
            </a:r>
          </a:p>
        </p:txBody>
      </p:sp>
      <p:sp>
        <p:nvSpPr>
          <p:cNvPr id="31" name="TextBox 30"/>
          <p:cNvSpPr txBox="1"/>
          <p:nvPr/>
        </p:nvSpPr>
        <p:spPr>
          <a:xfrm>
            <a:off x="5897880" y="1097280"/>
            <a:ext cx="6126480" cy="320040"/>
          </a:xfrm>
          <a:prstGeom prst="rect">
            <a:avLst/>
          </a:prstGeom>
          <a:noFill/>
        </p:spPr>
        <p:txBody>
          <a:bodyPr wrap="square">
            <a:spAutoFit/>
          </a:bodyPr>
          <a:lstStyle/>
          <a:p>
            <a:pPr algn="l"/>
            <a:r>
              <a:rPr sz="1100" b="1" i="0">
                <a:solidFill>
                  <a:srgbClr val="1E6B45"/>
                </a:solidFill>
                <a:latin typeface="Calibri"/>
              </a:rPr>
              <a:t>SHAP FEATURE IMPORTANCE — TOMATO</a:t>
            </a:r>
          </a:p>
        </p:txBody>
      </p:sp>
      <p:pic>
        <p:nvPicPr>
          <p:cNvPr id="32" name="Picture 31" descr="fig_shap_tomato.png"/>
          <p:cNvPicPr>
            <a:picLocks noChangeAspect="1"/>
          </p:cNvPicPr>
          <p:nvPr/>
        </p:nvPicPr>
        <p:blipFill>
          <a:blip r:embed="rId3"/>
          <a:stretch>
            <a:fillRect/>
          </a:stretch>
        </p:blipFill>
        <p:spPr>
          <a:xfrm>
            <a:off x="5897880" y="1463040"/>
            <a:ext cx="6126480" cy="2286000"/>
          </a:xfrm>
          <a:prstGeom prst="rect">
            <a:avLst/>
          </a:prstGeom>
        </p:spPr>
      </p:pic>
      <p:sp>
        <p:nvSpPr>
          <p:cNvPr id="33" name="TextBox 32"/>
          <p:cNvSpPr txBox="1"/>
          <p:nvPr/>
        </p:nvSpPr>
        <p:spPr>
          <a:xfrm>
            <a:off x="5897880" y="3840480"/>
            <a:ext cx="6126480" cy="320040"/>
          </a:xfrm>
          <a:prstGeom prst="rect">
            <a:avLst/>
          </a:prstGeom>
          <a:noFill/>
        </p:spPr>
        <p:txBody>
          <a:bodyPr wrap="square">
            <a:spAutoFit/>
          </a:bodyPr>
          <a:lstStyle/>
          <a:p>
            <a:pPr algn="l"/>
            <a:r>
              <a:rPr sz="1100" b="1" i="0">
                <a:solidFill>
                  <a:srgbClr val="1E6B45"/>
                </a:solidFill>
                <a:latin typeface="Calibri"/>
              </a:rPr>
              <a:t>ROLLING-ORIGIN CV PERFORMANCE</a:t>
            </a:r>
          </a:p>
        </p:txBody>
      </p:sp>
      <p:pic>
        <p:nvPicPr>
          <p:cNvPr id="34" name="Picture 33" descr="fig_rolling_origin_rmse.png"/>
          <p:cNvPicPr>
            <a:picLocks noChangeAspect="1"/>
          </p:cNvPicPr>
          <p:nvPr/>
        </p:nvPicPr>
        <p:blipFill>
          <a:blip r:embed="rId4"/>
          <a:stretch>
            <a:fillRect/>
          </a:stretch>
        </p:blipFill>
        <p:spPr>
          <a:xfrm>
            <a:off x="5897880" y="4206240"/>
            <a:ext cx="2926080" cy="2084831"/>
          </a:xfrm>
          <a:prstGeom prst="rect">
            <a:avLst/>
          </a:prstGeom>
        </p:spPr>
      </p:pic>
      <p:pic>
        <p:nvPicPr>
          <p:cNvPr id="35" name="Picture 34" descr="fig_horizon_r2.png"/>
          <p:cNvPicPr>
            <a:picLocks noChangeAspect="1"/>
          </p:cNvPicPr>
          <p:nvPr/>
        </p:nvPicPr>
        <p:blipFill>
          <a:blip r:embed="rId5"/>
          <a:stretch>
            <a:fillRect/>
          </a:stretch>
        </p:blipFill>
        <p:spPr>
          <a:xfrm>
            <a:off x="8915400" y="4206240"/>
            <a:ext cx="3108960" cy="20848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Benchmark Models &amp; Performance Evaluation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Four benchmark forecasters vs LightGBM across 3 crops · 4 horizons · 4 CV folds</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5486400" cy="320040"/>
          </a:xfrm>
          <a:prstGeom prst="rect">
            <a:avLst/>
          </a:prstGeom>
          <a:noFill/>
        </p:spPr>
        <p:txBody>
          <a:bodyPr wrap="square">
            <a:spAutoFit/>
          </a:bodyPr>
          <a:lstStyle/>
          <a:p>
            <a:pPr algn="l"/>
            <a:r>
              <a:rPr sz="1100" b="1" i="0">
                <a:solidFill>
                  <a:srgbClr val="1E6B45"/>
                </a:solidFill>
                <a:latin typeface="Calibri"/>
              </a:rPr>
              <a:t>BENCHMARK SUITE  (Script 13 — 366 lines)</a:t>
            </a:r>
          </a:p>
        </p:txBody>
      </p:sp>
      <p:sp>
        <p:nvSpPr>
          <p:cNvPr id="11" name="Rectangle 10"/>
          <p:cNvSpPr/>
          <p:nvPr/>
        </p:nvSpPr>
        <p:spPr>
          <a:xfrm>
            <a:off x="182880" y="148132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 y="1664208"/>
            <a:ext cx="393192" cy="274320"/>
          </a:xfrm>
          <a:prstGeom prst="rect">
            <a:avLst/>
          </a:prstGeom>
          <a:noFill/>
        </p:spPr>
        <p:txBody>
          <a:bodyPr wrap="square">
            <a:spAutoFit/>
          </a:bodyPr>
          <a:lstStyle/>
          <a:p>
            <a:pPr algn="ctr"/>
            <a:r>
              <a:rPr sz="1000" b="1" i="0">
                <a:solidFill>
                  <a:srgbClr val="FFFFFF"/>
                </a:solidFill>
                <a:latin typeface="Calibri"/>
              </a:rPr>
              <a:t>B0</a:t>
            </a:r>
          </a:p>
        </p:txBody>
      </p:sp>
      <p:sp>
        <p:nvSpPr>
          <p:cNvPr id="13" name="Rectangle 12"/>
          <p:cNvSpPr/>
          <p:nvPr/>
        </p:nvSpPr>
        <p:spPr>
          <a:xfrm>
            <a:off x="621792" y="148132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36192"/>
            <a:ext cx="1280160" cy="256032"/>
          </a:xfrm>
          <a:prstGeom prst="rect">
            <a:avLst/>
          </a:prstGeom>
          <a:noFill/>
        </p:spPr>
        <p:txBody>
          <a:bodyPr wrap="square">
            <a:spAutoFit/>
          </a:bodyPr>
          <a:lstStyle/>
          <a:p>
            <a:pPr algn="l"/>
            <a:r>
              <a:rPr sz="1100" b="1" i="0">
                <a:solidFill>
                  <a:srgbClr val="1A2E1E"/>
                </a:solidFill>
                <a:latin typeface="Calibri"/>
              </a:rPr>
              <a:t>Naïve</a:t>
            </a:r>
          </a:p>
        </p:txBody>
      </p:sp>
      <p:sp>
        <p:nvSpPr>
          <p:cNvPr id="15" name="TextBox 14"/>
          <p:cNvSpPr txBox="1"/>
          <p:nvPr/>
        </p:nvSpPr>
        <p:spPr>
          <a:xfrm>
            <a:off x="731520" y="1810512"/>
            <a:ext cx="3566160" cy="256032"/>
          </a:xfrm>
          <a:prstGeom prst="rect">
            <a:avLst/>
          </a:prstGeom>
          <a:noFill/>
        </p:spPr>
        <p:txBody>
          <a:bodyPr wrap="square">
            <a:spAutoFit/>
          </a:bodyPr>
          <a:lstStyle/>
          <a:p>
            <a:pPr algn="l"/>
            <a:r>
              <a:rPr sz="950" b="0" i="1">
                <a:solidFill>
                  <a:srgbClr val="5A6A60"/>
                </a:solidFill>
                <a:latin typeface="Calibri"/>
              </a:rPr>
              <a:t>Price at t as forecast for t+h</a:t>
            </a:r>
          </a:p>
        </p:txBody>
      </p:sp>
      <p:sp>
        <p:nvSpPr>
          <p:cNvPr id="16" name="TextBox 15"/>
          <p:cNvSpPr txBox="1"/>
          <p:nvPr/>
        </p:nvSpPr>
        <p:spPr>
          <a:xfrm>
            <a:off x="4389120" y="1536192"/>
            <a:ext cx="1143000" cy="256032"/>
          </a:xfrm>
          <a:prstGeom prst="rect">
            <a:avLst/>
          </a:prstGeom>
          <a:noFill/>
        </p:spPr>
        <p:txBody>
          <a:bodyPr wrap="square">
            <a:spAutoFit/>
          </a:bodyPr>
          <a:lstStyle/>
          <a:p>
            <a:pPr algn="l"/>
            <a:r>
              <a:rPr sz="850" b="0" i="0">
                <a:solidFill>
                  <a:srgbClr val="5A6A60"/>
                </a:solidFill>
                <a:latin typeface="Calibri"/>
              </a:rPr>
              <a:t>Simplest possible baseline; no model</a:t>
            </a:r>
          </a:p>
        </p:txBody>
      </p:sp>
      <p:sp>
        <p:nvSpPr>
          <p:cNvPr id="17" name="Rectangle 16"/>
          <p:cNvSpPr/>
          <p:nvPr/>
        </p:nvSpPr>
        <p:spPr>
          <a:xfrm>
            <a:off x="182880" y="230428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2487168"/>
            <a:ext cx="393192" cy="274320"/>
          </a:xfrm>
          <a:prstGeom prst="rect">
            <a:avLst/>
          </a:prstGeom>
          <a:noFill/>
        </p:spPr>
        <p:txBody>
          <a:bodyPr wrap="square">
            <a:spAutoFit/>
          </a:bodyPr>
          <a:lstStyle/>
          <a:p>
            <a:pPr algn="ctr"/>
            <a:r>
              <a:rPr sz="1000" b="1" i="0">
                <a:solidFill>
                  <a:srgbClr val="FFFFFF"/>
                </a:solidFill>
                <a:latin typeface="Calibri"/>
              </a:rPr>
              <a:t>B1</a:t>
            </a:r>
          </a:p>
        </p:txBody>
      </p:sp>
      <p:sp>
        <p:nvSpPr>
          <p:cNvPr id="19" name="Rectangle 18"/>
          <p:cNvSpPr/>
          <p:nvPr/>
        </p:nvSpPr>
        <p:spPr>
          <a:xfrm>
            <a:off x="621792" y="230428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359152"/>
            <a:ext cx="1280160" cy="256032"/>
          </a:xfrm>
          <a:prstGeom prst="rect">
            <a:avLst/>
          </a:prstGeom>
          <a:noFill/>
        </p:spPr>
        <p:txBody>
          <a:bodyPr wrap="square">
            <a:spAutoFit/>
          </a:bodyPr>
          <a:lstStyle/>
          <a:p>
            <a:pPr algn="l"/>
            <a:r>
              <a:rPr sz="1100" b="1" i="0">
                <a:solidFill>
                  <a:srgbClr val="1A2E1E"/>
                </a:solidFill>
                <a:latin typeface="Calibri"/>
              </a:rPr>
              <a:t>Seasonal Naïve</a:t>
            </a:r>
          </a:p>
        </p:txBody>
      </p:sp>
      <p:sp>
        <p:nvSpPr>
          <p:cNvPr id="21" name="TextBox 20"/>
          <p:cNvSpPr txBox="1"/>
          <p:nvPr/>
        </p:nvSpPr>
        <p:spPr>
          <a:xfrm>
            <a:off x="731520" y="2633472"/>
            <a:ext cx="3566160" cy="256032"/>
          </a:xfrm>
          <a:prstGeom prst="rect">
            <a:avLst/>
          </a:prstGeom>
          <a:noFill/>
        </p:spPr>
        <p:txBody>
          <a:bodyPr wrap="square">
            <a:spAutoFit/>
          </a:bodyPr>
          <a:lstStyle/>
          <a:p>
            <a:pPr algn="l"/>
            <a:r>
              <a:rPr sz="950" b="0" i="1">
                <a:solidFill>
                  <a:srgbClr val="5A6A60"/>
                </a:solidFill>
                <a:latin typeface="Calibri"/>
              </a:rPr>
              <a:t>Price at same week, prior year</a:t>
            </a:r>
          </a:p>
        </p:txBody>
      </p:sp>
      <p:sp>
        <p:nvSpPr>
          <p:cNvPr id="22" name="TextBox 21"/>
          <p:cNvSpPr txBox="1"/>
          <p:nvPr/>
        </p:nvSpPr>
        <p:spPr>
          <a:xfrm>
            <a:off x="4389120" y="2359152"/>
            <a:ext cx="1143000" cy="256032"/>
          </a:xfrm>
          <a:prstGeom prst="rect">
            <a:avLst/>
          </a:prstGeom>
          <a:noFill/>
        </p:spPr>
        <p:txBody>
          <a:bodyPr wrap="square">
            <a:spAutoFit/>
          </a:bodyPr>
          <a:lstStyle/>
          <a:p>
            <a:pPr algn="l"/>
            <a:r>
              <a:rPr sz="850" b="0" i="0">
                <a:solidFill>
                  <a:srgbClr val="5A6A60"/>
                </a:solidFill>
                <a:latin typeface="Calibri"/>
              </a:rPr>
              <a:t>Captures annual harvest cycle</a:t>
            </a:r>
          </a:p>
        </p:txBody>
      </p:sp>
      <p:sp>
        <p:nvSpPr>
          <p:cNvPr id="23" name="Rectangle 22"/>
          <p:cNvSpPr/>
          <p:nvPr/>
        </p:nvSpPr>
        <p:spPr>
          <a:xfrm>
            <a:off x="182880" y="312724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 y="3310128"/>
            <a:ext cx="393192" cy="274320"/>
          </a:xfrm>
          <a:prstGeom prst="rect">
            <a:avLst/>
          </a:prstGeom>
          <a:noFill/>
        </p:spPr>
        <p:txBody>
          <a:bodyPr wrap="square">
            <a:spAutoFit/>
          </a:bodyPr>
          <a:lstStyle/>
          <a:p>
            <a:pPr algn="ctr"/>
            <a:r>
              <a:rPr sz="1000" b="1" i="0">
                <a:solidFill>
                  <a:srgbClr val="FFFFFF"/>
                </a:solidFill>
                <a:latin typeface="Calibri"/>
              </a:rPr>
              <a:t>B2</a:t>
            </a:r>
          </a:p>
        </p:txBody>
      </p:sp>
      <p:sp>
        <p:nvSpPr>
          <p:cNvPr id="25" name="Rectangle 24"/>
          <p:cNvSpPr/>
          <p:nvPr/>
        </p:nvSpPr>
        <p:spPr>
          <a:xfrm>
            <a:off x="621792" y="312724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182112"/>
            <a:ext cx="1280160" cy="256032"/>
          </a:xfrm>
          <a:prstGeom prst="rect">
            <a:avLst/>
          </a:prstGeom>
          <a:noFill/>
        </p:spPr>
        <p:txBody>
          <a:bodyPr wrap="square">
            <a:spAutoFit/>
          </a:bodyPr>
          <a:lstStyle/>
          <a:p>
            <a:pPr algn="l"/>
            <a:r>
              <a:rPr sz="1100" b="1" i="0">
                <a:solidFill>
                  <a:srgbClr val="1A2E1E"/>
                </a:solidFill>
                <a:latin typeface="Calibri"/>
              </a:rPr>
              <a:t>Moving Average</a:t>
            </a:r>
          </a:p>
        </p:txBody>
      </p:sp>
      <p:sp>
        <p:nvSpPr>
          <p:cNvPr id="27" name="TextBox 26"/>
          <p:cNvSpPr txBox="1"/>
          <p:nvPr/>
        </p:nvSpPr>
        <p:spPr>
          <a:xfrm>
            <a:off x="731520" y="3456432"/>
            <a:ext cx="3566160" cy="256032"/>
          </a:xfrm>
          <a:prstGeom prst="rect">
            <a:avLst/>
          </a:prstGeom>
          <a:noFill/>
        </p:spPr>
        <p:txBody>
          <a:bodyPr wrap="square">
            <a:spAutoFit/>
          </a:bodyPr>
          <a:lstStyle/>
          <a:p>
            <a:pPr algn="l"/>
            <a:r>
              <a:rPr sz="950" b="0" i="1">
                <a:solidFill>
                  <a:srgbClr val="5A6A60"/>
                </a:solidFill>
                <a:latin typeface="Calibri"/>
              </a:rPr>
              <a:t>4-week trailing mean</a:t>
            </a:r>
          </a:p>
        </p:txBody>
      </p:sp>
      <p:sp>
        <p:nvSpPr>
          <p:cNvPr id="28" name="TextBox 27"/>
          <p:cNvSpPr txBox="1"/>
          <p:nvPr/>
        </p:nvSpPr>
        <p:spPr>
          <a:xfrm>
            <a:off x="4389120" y="3182112"/>
            <a:ext cx="1143000" cy="256032"/>
          </a:xfrm>
          <a:prstGeom prst="rect">
            <a:avLst/>
          </a:prstGeom>
          <a:noFill/>
        </p:spPr>
        <p:txBody>
          <a:bodyPr wrap="square">
            <a:spAutoFit/>
          </a:bodyPr>
          <a:lstStyle/>
          <a:p>
            <a:pPr algn="l"/>
            <a:r>
              <a:rPr sz="850" b="0" i="0">
                <a:solidFill>
                  <a:srgbClr val="5A6A60"/>
                </a:solidFill>
                <a:latin typeface="Calibri"/>
              </a:rPr>
              <a:t>Smoothed short-run trend</a:t>
            </a:r>
          </a:p>
        </p:txBody>
      </p:sp>
      <p:sp>
        <p:nvSpPr>
          <p:cNvPr id="29" name="Rectangle 28"/>
          <p:cNvSpPr/>
          <p:nvPr/>
        </p:nvSpPr>
        <p:spPr>
          <a:xfrm>
            <a:off x="182880" y="395020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 y="4133088"/>
            <a:ext cx="393192" cy="274320"/>
          </a:xfrm>
          <a:prstGeom prst="rect">
            <a:avLst/>
          </a:prstGeom>
          <a:noFill/>
        </p:spPr>
        <p:txBody>
          <a:bodyPr wrap="square">
            <a:spAutoFit/>
          </a:bodyPr>
          <a:lstStyle/>
          <a:p>
            <a:pPr algn="ctr"/>
            <a:r>
              <a:rPr sz="1000" b="1" i="0">
                <a:solidFill>
                  <a:srgbClr val="FFFFFF"/>
                </a:solidFill>
                <a:latin typeface="Calibri"/>
              </a:rPr>
              <a:t>B3</a:t>
            </a:r>
          </a:p>
        </p:txBody>
      </p:sp>
      <p:sp>
        <p:nvSpPr>
          <p:cNvPr id="31" name="Rectangle 30"/>
          <p:cNvSpPr/>
          <p:nvPr/>
        </p:nvSpPr>
        <p:spPr>
          <a:xfrm>
            <a:off x="621792" y="395020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005072"/>
            <a:ext cx="1280160" cy="256032"/>
          </a:xfrm>
          <a:prstGeom prst="rect">
            <a:avLst/>
          </a:prstGeom>
          <a:noFill/>
        </p:spPr>
        <p:txBody>
          <a:bodyPr wrap="square">
            <a:spAutoFit/>
          </a:bodyPr>
          <a:lstStyle/>
          <a:p>
            <a:pPr algn="l"/>
            <a:r>
              <a:rPr sz="1100" b="1" i="0">
                <a:solidFill>
                  <a:srgbClr val="1A2E1E"/>
                </a:solidFill>
                <a:latin typeface="Calibri"/>
              </a:rPr>
              <a:t>ARIMA</a:t>
            </a:r>
          </a:p>
        </p:txBody>
      </p:sp>
      <p:sp>
        <p:nvSpPr>
          <p:cNvPr id="33" name="TextBox 32"/>
          <p:cNvSpPr txBox="1"/>
          <p:nvPr/>
        </p:nvSpPr>
        <p:spPr>
          <a:xfrm>
            <a:off x="731520" y="4279392"/>
            <a:ext cx="3566160" cy="256032"/>
          </a:xfrm>
          <a:prstGeom prst="rect">
            <a:avLst/>
          </a:prstGeom>
          <a:noFill/>
        </p:spPr>
        <p:txBody>
          <a:bodyPr wrap="square">
            <a:spAutoFit/>
          </a:bodyPr>
          <a:lstStyle/>
          <a:p>
            <a:pPr algn="l"/>
            <a:r>
              <a:rPr sz="950" b="0" i="1">
                <a:solidFill>
                  <a:srgbClr val="5A6A60"/>
                </a:solidFill>
                <a:latin typeface="Calibri"/>
              </a:rPr>
              <a:t>Auto-selected (p,d,q) per market, per fold</a:t>
            </a:r>
          </a:p>
        </p:txBody>
      </p:sp>
      <p:sp>
        <p:nvSpPr>
          <p:cNvPr id="34" name="TextBox 33"/>
          <p:cNvSpPr txBox="1"/>
          <p:nvPr/>
        </p:nvSpPr>
        <p:spPr>
          <a:xfrm>
            <a:off x="4389120" y="4005072"/>
            <a:ext cx="1143000" cy="256032"/>
          </a:xfrm>
          <a:prstGeom prst="rect">
            <a:avLst/>
          </a:prstGeom>
          <a:noFill/>
        </p:spPr>
        <p:txBody>
          <a:bodyPr wrap="square">
            <a:spAutoFit/>
          </a:bodyPr>
          <a:lstStyle/>
          <a:p>
            <a:pPr algn="l"/>
            <a:r>
              <a:rPr sz="850" b="0" i="0">
                <a:solidFill>
                  <a:srgbClr val="5A6A60"/>
                </a:solidFill>
                <a:latin typeface="Calibri"/>
              </a:rPr>
              <a:t>Standard econometric benchmark</a:t>
            </a:r>
          </a:p>
        </p:txBody>
      </p:sp>
      <p:sp>
        <p:nvSpPr>
          <p:cNvPr id="35" name="TextBox 34"/>
          <p:cNvSpPr txBox="1"/>
          <p:nvPr/>
        </p:nvSpPr>
        <p:spPr>
          <a:xfrm>
            <a:off x="182880" y="4892040"/>
            <a:ext cx="5486400" cy="320040"/>
          </a:xfrm>
          <a:prstGeom prst="rect">
            <a:avLst/>
          </a:prstGeom>
          <a:noFill/>
        </p:spPr>
        <p:txBody>
          <a:bodyPr wrap="square">
            <a:spAutoFit/>
          </a:bodyPr>
          <a:lstStyle/>
          <a:p>
            <a:pPr algn="l"/>
            <a:r>
              <a:rPr sz="1100" b="1" i="0">
                <a:solidFill>
                  <a:srgbClr val="1E6B45"/>
                </a:solidFill>
                <a:latin typeface="Calibri"/>
              </a:rPr>
              <a:t>EVALUATION METRICS</a:t>
            </a:r>
          </a:p>
        </p:txBody>
      </p:sp>
      <p:sp>
        <p:nvSpPr>
          <p:cNvPr id="36" name="TextBox 35"/>
          <p:cNvSpPr txBox="1"/>
          <p:nvPr/>
        </p:nvSpPr>
        <p:spPr>
          <a:xfrm>
            <a:off x="182880" y="5257800"/>
            <a:ext cx="5486400" cy="1078992"/>
          </a:xfrm>
          <a:prstGeom prst="rect">
            <a:avLst/>
          </a:prstGeom>
          <a:noFill/>
        </p:spPr>
        <p:txBody>
          <a:bodyPr wrap="square">
            <a:spAutoFit/>
          </a:bodyPr>
          <a:lstStyle/>
          <a:p>
            <a:pPr>
              <a:spcBef>
                <a:spcPts val="400"/>
              </a:spcBef>
            </a:pPr>
            <a:r>
              <a:rPr sz="1100">
                <a:solidFill>
                  <a:srgbClr val="1A2E1E"/>
                </a:solidFill>
                <a:latin typeface="Calibri"/>
              </a:rPr>
              <a:t>▸  RMSE (Rs/quintal) — absolute forecast error magnitude</a:t>
            </a:r>
          </a:p>
          <a:p>
            <a:pPr>
              <a:spcBef>
                <a:spcPts val="400"/>
              </a:spcBef>
            </a:pPr>
            <a:r>
              <a:rPr sz="1100">
                <a:solidFill>
                  <a:srgbClr val="1A2E1E"/>
                </a:solidFill>
                <a:latin typeface="Calibri"/>
              </a:rPr>
              <a:t>▸  MAPE (%) — scale-free error; comparable across crops and markets</a:t>
            </a:r>
          </a:p>
          <a:p>
            <a:pPr>
              <a:spcBef>
                <a:spcPts val="400"/>
              </a:spcBef>
            </a:pPr>
            <a:r>
              <a:rPr sz="1100">
                <a:solidFill>
                  <a:srgbClr val="1A2E1E"/>
                </a:solidFill>
                <a:latin typeface="Calibri"/>
              </a:rPr>
              <a:t>▸  R² — proportion of price variance explained</a:t>
            </a:r>
          </a:p>
          <a:p>
            <a:pPr>
              <a:spcBef>
                <a:spcPts val="400"/>
              </a:spcBef>
            </a:pPr>
            <a:r>
              <a:rPr sz="1100">
                <a:solidFill>
                  <a:srgbClr val="1A2E1E"/>
                </a:solidFill>
                <a:latin typeface="Calibri"/>
              </a:rPr>
              <a:t>▸  Skill Score = 1 − (LightGBM RMSE / Naïve RMSE) — improvement over naïve</a:t>
            </a:r>
          </a:p>
          <a:p>
            <a:pPr>
              <a:spcBef>
                <a:spcPts val="400"/>
              </a:spcBef>
            </a:pPr>
            <a:r>
              <a:rPr sz="1100">
                <a:solidFill>
                  <a:srgbClr val="1A2E1E"/>
                </a:solidFill>
                <a:latin typeface="Calibri"/>
              </a:rPr>
              <a:t>▸  ROC-AUC — spike classifier; evaluates early-warning capability</a:t>
            </a:r>
          </a:p>
        </p:txBody>
      </p:sp>
      <p:sp>
        <p:nvSpPr>
          <p:cNvPr id="37" name="TextBox 36"/>
          <p:cNvSpPr txBox="1"/>
          <p:nvPr/>
        </p:nvSpPr>
        <p:spPr>
          <a:xfrm>
            <a:off x="5897880" y="1097280"/>
            <a:ext cx="6126480" cy="320040"/>
          </a:xfrm>
          <a:prstGeom prst="rect">
            <a:avLst/>
          </a:prstGeom>
          <a:noFill/>
        </p:spPr>
        <p:txBody>
          <a:bodyPr wrap="square">
            <a:spAutoFit/>
          </a:bodyPr>
          <a:lstStyle/>
          <a:p>
            <a:pPr algn="l"/>
            <a:r>
              <a:rPr sz="1100" b="1" i="0">
                <a:solidFill>
                  <a:srgbClr val="1E6B45"/>
                </a:solidFill>
                <a:latin typeface="Calibri"/>
              </a:rPr>
              <a:t>BENCHMARK COMPARISON CHART</a:t>
            </a:r>
          </a:p>
        </p:txBody>
      </p:sp>
      <p:pic>
        <p:nvPicPr>
          <p:cNvPr id="38" name="Picture 37" descr="fig_benchmark_comparison.png"/>
          <p:cNvPicPr>
            <a:picLocks noChangeAspect="1"/>
          </p:cNvPicPr>
          <p:nvPr/>
        </p:nvPicPr>
        <p:blipFill>
          <a:blip r:embed="rId3"/>
          <a:stretch>
            <a:fillRect/>
          </a:stretch>
        </p:blipFill>
        <p:spPr>
          <a:xfrm>
            <a:off x="5897880" y="1463040"/>
            <a:ext cx="6126480" cy="2651760"/>
          </a:xfrm>
          <a:prstGeom prst="rect">
            <a:avLst/>
          </a:prstGeom>
        </p:spPr>
      </p:pic>
      <p:sp>
        <p:nvSpPr>
          <p:cNvPr id="39" name="TextBox 38"/>
          <p:cNvSpPr txBox="1"/>
          <p:nvPr/>
        </p:nvSpPr>
        <p:spPr>
          <a:xfrm>
            <a:off x="5897880" y="4206240"/>
            <a:ext cx="6126480" cy="320040"/>
          </a:xfrm>
          <a:prstGeom prst="rect">
            <a:avLst/>
          </a:prstGeom>
          <a:noFill/>
        </p:spPr>
        <p:txBody>
          <a:bodyPr wrap="square">
            <a:spAutoFit/>
          </a:bodyPr>
          <a:lstStyle/>
          <a:p>
            <a:pPr algn="l"/>
            <a:r>
              <a:rPr sz="1100" b="1" i="0">
                <a:solidFill>
                  <a:srgbClr val="1E6B45"/>
                </a:solidFill>
                <a:latin typeface="Calibri"/>
              </a:rPr>
              <a:t>MAPE BY HORIZON</a:t>
            </a:r>
          </a:p>
        </p:txBody>
      </p:sp>
      <p:pic>
        <p:nvPicPr>
          <p:cNvPr id="40" name="Picture 39" descr="fig_mape_by_horizon.png"/>
          <p:cNvPicPr>
            <a:picLocks noChangeAspect="1"/>
          </p:cNvPicPr>
          <p:nvPr/>
        </p:nvPicPr>
        <p:blipFill>
          <a:blip r:embed="rId4"/>
          <a:stretch>
            <a:fillRect/>
          </a:stretch>
        </p:blipFill>
        <p:spPr>
          <a:xfrm>
            <a:off x="5897880" y="4572000"/>
            <a:ext cx="2834640" cy="1737360"/>
          </a:xfrm>
          <a:prstGeom prst="rect">
            <a:avLst/>
          </a:prstGeom>
        </p:spPr>
      </p:pic>
      <p:pic>
        <p:nvPicPr>
          <p:cNvPr id="41" name="Picture 40" descr="fig_skill_score.png"/>
          <p:cNvPicPr>
            <a:picLocks noChangeAspect="1"/>
          </p:cNvPicPr>
          <p:nvPr/>
        </p:nvPicPr>
        <p:blipFill>
          <a:blip r:embed="rId5"/>
          <a:stretch>
            <a:fillRect/>
          </a:stretch>
        </p:blipFill>
        <p:spPr>
          <a:xfrm>
            <a:off x="8823960" y="4572000"/>
            <a:ext cx="3200400" cy="1737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The Paper's Core Scientific Contribution — Ablation Study</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M0 → M6: Quantifying the marginal value of each data layer for price forecasting accuracy</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11795760" cy="384048"/>
          </a:xfrm>
          <a:prstGeom prst="rect">
            <a:avLst/>
          </a:prstGeom>
          <a:noFill/>
        </p:spPr>
        <p:txBody>
          <a:bodyPr wrap="square">
            <a:spAutoFit/>
          </a:bodyPr>
          <a:lstStyle/>
          <a:p>
            <a:pPr algn="l"/>
            <a:r>
              <a:rPr sz="1150" b="0" i="1">
                <a:solidFill>
                  <a:srgbClr val="1A2E1E"/>
                </a:solidFill>
                <a:latin typeface="Calibri"/>
              </a:rPr>
              <a:t>The ablation study answers the fundamental research question: How much does each data layer actually improve price forecasting?</a:t>
            </a:r>
          </a:p>
        </p:txBody>
      </p:sp>
      <p:graphicFrame>
        <p:nvGraphicFramePr>
          <p:cNvPr id="11" name="Table 10"/>
          <p:cNvGraphicFramePr>
            <a:graphicFrameLocks noGrp="1"/>
          </p:cNvGraphicFramePr>
          <p:nvPr/>
        </p:nvGraphicFramePr>
        <p:xfrm>
          <a:off x="182880" y="1572768"/>
          <a:ext cx="10195560" cy="3977639"/>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497204">
                <a:tc>
                  <a:txBody>
                    <a:bodyPr/>
                    <a:lstStyle/>
                    <a:p>
                      <a:pPr algn="ctr"/>
                      <a:r>
                        <a:rPr sz="950" b="1">
                          <a:solidFill>
                            <a:srgbClr val="FFFFFF"/>
                          </a:solidFill>
                          <a:latin typeface="Calibri"/>
                        </a:rPr>
                        <a:t>Model</a:t>
                      </a:r>
                    </a:p>
                  </a:txBody>
                  <a:tcPr>
                    <a:solidFill>
                      <a:srgbClr val="0D2240"/>
                    </a:solidFill>
                  </a:tcPr>
                </a:tc>
                <a:tc>
                  <a:txBody>
                    <a:bodyPr/>
                    <a:lstStyle/>
                    <a:p>
                      <a:pPr algn="ctr"/>
                      <a:r>
                        <a:rPr sz="950" b="1">
                          <a:solidFill>
                            <a:srgbClr val="FFFFFF"/>
                          </a:solidFill>
                          <a:latin typeface="Calibri"/>
                        </a:rPr>
                        <a:t>Layer Added</a:t>
                      </a:r>
                    </a:p>
                  </a:txBody>
                  <a:tcPr>
                    <a:solidFill>
                      <a:srgbClr val="0D2240"/>
                    </a:solidFill>
                  </a:tcPr>
                </a:tc>
                <a:tc>
                  <a:txBody>
                    <a:bodyPr/>
                    <a:lstStyle/>
                    <a:p>
                      <a:pPr algn="ctr"/>
                      <a:r>
                        <a:rPr sz="950" b="1">
                          <a:solidFill>
                            <a:srgbClr val="FFFFFF"/>
                          </a:solidFill>
                          <a:latin typeface="Calibri"/>
                        </a:rPr>
                        <a:t>Key Features</a:t>
                      </a:r>
                    </a:p>
                  </a:txBody>
                  <a:tcPr>
                    <a:solidFill>
                      <a:srgbClr val="0D2240"/>
                    </a:solidFill>
                  </a:tcPr>
                </a:tc>
                <a:tc>
                  <a:txBody>
                    <a:bodyPr/>
                    <a:lstStyle/>
                    <a:p>
                      <a:pPr algn="ctr"/>
                      <a:r>
                        <a:rPr sz="950" b="1">
                          <a:solidFill>
                            <a:srgbClr val="FFFFFF"/>
                          </a:solidFill>
                          <a:latin typeface="Calibri"/>
                        </a:rPr>
                        <a:t>Scientific Question</a:t>
                      </a:r>
                    </a:p>
                  </a:txBody>
                  <a:tcPr>
                    <a:solidFill>
                      <a:srgbClr val="0D2240"/>
                    </a:solidFill>
                  </a:tcPr>
                </a:tc>
                <a:tc>
                  <a:txBody>
                    <a:bodyPr/>
                    <a:lstStyle/>
                    <a:p>
                      <a:pPr algn="ctr"/>
                      <a:r>
                        <a:rPr sz="950" b="1">
                          <a:solidFill>
                            <a:srgbClr val="FFFFFF"/>
                          </a:solidFill>
                          <a:latin typeface="Calibri"/>
                        </a:rPr>
                        <a:t>Status</a:t>
                      </a:r>
                    </a:p>
                  </a:txBody>
                  <a:tcPr>
                    <a:solidFill>
                      <a:srgbClr val="0D2240"/>
                    </a:solidFill>
                  </a:tcPr>
                </a:tc>
                <a:extLst>
                  <a:ext uri="{0D108BD9-81ED-4DB2-BD59-A6C34878D82A}">
                    <a16:rowId xmlns:a16="http://schemas.microsoft.com/office/drawing/2014/main" val="10000"/>
                  </a:ext>
                </a:extLst>
              </a:tr>
              <a:tr h="497204">
                <a:tc>
                  <a:txBody>
                    <a:bodyPr/>
                    <a:lstStyle/>
                    <a:p>
                      <a:pPr algn="l"/>
                      <a:r>
                        <a:rPr sz="900">
                          <a:solidFill>
                            <a:srgbClr val="1A2E1E"/>
                          </a:solidFill>
                          <a:latin typeface="Calibri"/>
                        </a:rPr>
                        <a:t>M0</a:t>
                      </a:r>
                    </a:p>
                  </a:txBody>
                  <a:tcPr>
                    <a:solidFill>
                      <a:srgbClr val="FFFFFF"/>
                    </a:solidFill>
                  </a:tcPr>
                </a:tc>
                <a:tc>
                  <a:txBody>
                    <a:bodyPr/>
                    <a:lstStyle/>
                    <a:p>
                      <a:pPr algn="ctr"/>
                      <a:r>
                        <a:rPr sz="900">
                          <a:solidFill>
                            <a:srgbClr val="1A2E1E"/>
                          </a:solidFill>
                          <a:latin typeface="Calibri"/>
                        </a:rPr>
                        <a:t>Price Lags + Seasonality</a:t>
                      </a:r>
                    </a:p>
                  </a:txBody>
                  <a:tcPr>
                    <a:solidFill>
                      <a:srgbClr val="FFFFFF"/>
                    </a:solidFill>
                  </a:tcPr>
                </a:tc>
                <a:tc>
                  <a:txBody>
                    <a:bodyPr/>
                    <a:lstStyle/>
                    <a:p>
                      <a:pPr algn="ctr"/>
                      <a:r>
                        <a:rPr sz="900">
                          <a:solidFill>
                            <a:srgbClr val="1A2E1E"/>
                          </a:solidFill>
                          <a:latin typeface="Calibri"/>
                        </a:rPr>
                        <a:t>Log-price lag_1/2/4/8, rolling mean/std, week-of-year, month</a:t>
                      </a:r>
                    </a:p>
                  </a:txBody>
                  <a:tcPr>
                    <a:solidFill>
                      <a:srgbClr val="FFFFFF"/>
                    </a:solidFill>
                  </a:tcPr>
                </a:tc>
                <a:tc>
                  <a:txBody>
                    <a:bodyPr/>
                    <a:lstStyle/>
                    <a:p>
                      <a:pPr algn="ctr"/>
                      <a:r>
                        <a:rPr sz="900">
                          <a:solidFill>
                            <a:srgbClr val="1A2E1E"/>
                          </a:solidFill>
                          <a:latin typeface="Calibri"/>
                        </a:rPr>
                        <a:t>True baseline — price autocorrelation only</a:t>
                      </a:r>
                    </a:p>
                  </a:txBody>
                  <a:tcPr>
                    <a:solidFill>
                      <a:srgbClr val="FFFFFF"/>
                    </a:solidFill>
                  </a:tcPr>
                </a:tc>
                <a:tc>
                  <a:txBody>
                    <a:bodyPr/>
                    <a:lstStyle/>
                    <a:p>
                      <a:pPr algn="ctr"/>
                      <a:r>
                        <a:rPr sz="900">
                          <a:solidFill>
                            <a:srgbClr val="1A2E1E"/>
                          </a:solidFill>
                          <a:latin typeface="Calibri"/>
                        </a:rPr>
                        <a:t>RUNNING</a:t>
                      </a:r>
                    </a:p>
                  </a:txBody>
                  <a:tcPr>
                    <a:solidFill>
                      <a:srgbClr val="FFFFFF"/>
                    </a:solidFill>
                  </a:tcPr>
                </a:tc>
                <a:extLst>
                  <a:ext uri="{0D108BD9-81ED-4DB2-BD59-A6C34878D82A}">
                    <a16:rowId xmlns:a16="http://schemas.microsoft.com/office/drawing/2014/main" val="10001"/>
                  </a:ext>
                </a:extLst>
              </a:tr>
              <a:tr h="497204">
                <a:tc>
                  <a:txBody>
                    <a:bodyPr/>
                    <a:lstStyle/>
                    <a:p>
                      <a:pPr algn="l"/>
                      <a:r>
                        <a:rPr sz="900">
                          <a:solidFill>
                            <a:srgbClr val="1A2E1E"/>
                          </a:solidFill>
                          <a:latin typeface="Calibri"/>
                        </a:rPr>
                        <a:t>M1</a:t>
                      </a:r>
                    </a:p>
                  </a:txBody>
                  <a:tcPr>
                    <a:solidFill>
                      <a:srgbClr val="F0F6F3"/>
                    </a:solidFill>
                  </a:tcPr>
                </a:tc>
                <a:tc>
                  <a:txBody>
                    <a:bodyPr/>
                    <a:lstStyle/>
                    <a:p>
                      <a:pPr algn="ctr"/>
                      <a:r>
                        <a:rPr sz="900">
                          <a:solidFill>
                            <a:srgbClr val="1A2E1E"/>
                          </a:solidFill>
                          <a:latin typeface="Calibri"/>
                        </a:rPr>
                        <a:t>M0 + Market Fixed Effects</a:t>
                      </a:r>
                    </a:p>
                  </a:txBody>
                  <a:tcPr>
                    <a:solidFill>
                      <a:srgbClr val="F0F6F3"/>
                    </a:solidFill>
                  </a:tcPr>
                </a:tc>
                <a:tc>
                  <a:txBody>
                    <a:bodyPr/>
                    <a:lstStyle/>
                    <a:p>
                      <a:pPr algn="ctr"/>
                      <a:r>
                        <a:rPr sz="900">
                          <a:solidFill>
                            <a:srgbClr val="1A2E1E"/>
                          </a:solidFill>
                          <a:latin typeface="Calibri"/>
                        </a:rPr>
                        <a:t>Market identity, state identity, crop</a:t>
                      </a:r>
                    </a:p>
                  </a:txBody>
                  <a:tcPr>
                    <a:solidFill>
                      <a:srgbClr val="F0F6F3"/>
                    </a:solidFill>
                  </a:tcPr>
                </a:tc>
                <a:tc>
                  <a:txBody>
                    <a:bodyPr/>
                    <a:lstStyle/>
                    <a:p>
                      <a:pPr algn="ctr"/>
                      <a:r>
                        <a:rPr sz="900">
                          <a:solidFill>
                            <a:srgbClr val="1A2E1E"/>
                          </a:solidFill>
                          <a:latin typeface="Calibri"/>
                        </a:rPr>
                        <a:t>Adds cross-market structural heterogeneity</a:t>
                      </a:r>
                    </a:p>
                  </a:txBody>
                  <a:tcPr>
                    <a:solidFill>
                      <a:srgbClr val="F0F6F3"/>
                    </a:solidFill>
                  </a:tcPr>
                </a:tc>
                <a:tc>
                  <a:txBody>
                    <a:bodyPr/>
                    <a:lstStyle/>
                    <a:p>
                      <a:pPr algn="ctr"/>
                      <a:r>
                        <a:rPr sz="900">
                          <a:solidFill>
                            <a:srgbClr val="1A2E1E"/>
                          </a:solidFill>
                          <a:latin typeface="Calibri"/>
                        </a:rPr>
                        <a:t>RUNNING</a:t>
                      </a:r>
                    </a:p>
                  </a:txBody>
                  <a:tcPr>
                    <a:solidFill>
                      <a:srgbClr val="F0F6F3"/>
                    </a:solidFill>
                  </a:tcPr>
                </a:tc>
                <a:extLst>
                  <a:ext uri="{0D108BD9-81ED-4DB2-BD59-A6C34878D82A}">
                    <a16:rowId xmlns:a16="http://schemas.microsoft.com/office/drawing/2014/main" val="10002"/>
                  </a:ext>
                </a:extLst>
              </a:tr>
              <a:tr h="497204">
                <a:tc>
                  <a:txBody>
                    <a:bodyPr/>
                    <a:lstStyle/>
                    <a:p>
                      <a:pPr algn="l"/>
                      <a:r>
                        <a:rPr sz="900">
                          <a:solidFill>
                            <a:srgbClr val="1A2E1E"/>
                          </a:solidFill>
                          <a:latin typeface="Calibri"/>
                        </a:rPr>
                        <a:t>M2</a:t>
                      </a:r>
                    </a:p>
                  </a:txBody>
                  <a:tcPr>
                    <a:solidFill>
                      <a:srgbClr val="FFFFFF"/>
                    </a:solidFill>
                  </a:tcPr>
                </a:tc>
                <a:tc>
                  <a:txBody>
                    <a:bodyPr/>
                    <a:lstStyle/>
                    <a:p>
                      <a:pPr algn="ctr"/>
                      <a:r>
                        <a:rPr sz="900">
                          <a:solidFill>
                            <a:srgbClr val="1A2E1E"/>
                          </a:solidFill>
                          <a:latin typeface="Calibri"/>
                        </a:rPr>
                        <a:t>M1 + Macro-Logistics  (L4)</a:t>
                      </a:r>
                    </a:p>
                  </a:txBody>
                  <a:tcPr>
                    <a:solidFill>
                      <a:srgbClr val="FFFFFF"/>
                    </a:solidFill>
                  </a:tcPr>
                </a:tc>
                <a:tc>
                  <a:txBody>
                    <a:bodyPr/>
                    <a:lstStyle/>
                    <a:p>
                      <a:pPr algn="ctr"/>
                      <a:r>
                        <a:rPr sz="900">
                          <a:solidFill>
                            <a:srgbClr val="1A2E1E"/>
                          </a:solidFill>
                          <a:latin typeface="Calibri"/>
                        </a:rPr>
                        <a:t>Diesel, LPG, repo rate, WPI_crop, USD-INR</a:t>
                      </a:r>
                    </a:p>
                  </a:txBody>
                  <a:tcPr>
                    <a:solidFill>
                      <a:srgbClr val="FFFFFF"/>
                    </a:solidFill>
                  </a:tcPr>
                </a:tc>
                <a:tc>
                  <a:txBody>
                    <a:bodyPr/>
                    <a:lstStyle/>
                    <a:p>
                      <a:pPr algn="ctr"/>
                      <a:r>
                        <a:rPr sz="900">
                          <a:solidFill>
                            <a:srgbClr val="1A2E1E"/>
                          </a:solidFill>
                          <a:latin typeface="Calibri"/>
                        </a:rPr>
                        <a:t>Tests whether macro-economic signals add price signal</a:t>
                      </a:r>
                    </a:p>
                  </a:txBody>
                  <a:tcPr>
                    <a:solidFill>
                      <a:srgbClr val="FFFFFF"/>
                    </a:solidFill>
                  </a:tcPr>
                </a:tc>
                <a:tc>
                  <a:txBody>
                    <a:bodyPr/>
                    <a:lstStyle/>
                    <a:p>
                      <a:pPr algn="ctr"/>
                      <a:r>
                        <a:rPr sz="900">
                          <a:solidFill>
                            <a:srgbClr val="1A2E1E"/>
                          </a:solidFill>
                          <a:latin typeface="Calibri"/>
                        </a:rPr>
                        <a:t>RUNNING</a:t>
                      </a:r>
                    </a:p>
                  </a:txBody>
                  <a:tcPr>
                    <a:solidFill>
                      <a:srgbClr val="FFFFFF"/>
                    </a:solidFill>
                  </a:tcPr>
                </a:tc>
                <a:extLst>
                  <a:ext uri="{0D108BD9-81ED-4DB2-BD59-A6C34878D82A}">
                    <a16:rowId xmlns:a16="http://schemas.microsoft.com/office/drawing/2014/main" val="10003"/>
                  </a:ext>
                </a:extLst>
              </a:tr>
              <a:tr h="497204">
                <a:tc>
                  <a:txBody>
                    <a:bodyPr/>
                    <a:lstStyle/>
                    <a:p>
                      <a:pPr algn="l"/>
                      <a:r>
                        <a:rPr sz="900">
                          <a:solidFill>
                            <a:srgbClr val="1A2E1E"/>
                          </a:solidFill>
                          <a:latin typeface="Calibri"/>
                        </a:rPr>
                        <a:t>M3</a:t>
                      </a:r>
                    </a:p>
                  </a:txBody>
                  <a:tcPr>
                    <a:solidFill>
                      <a:srgbClr val="F0F6F3"/>
                    </a:solidFill>
                  </a:tcPr>
                </a:tc>
                <a:tc>
                  <a:txBody>
                    <a:bodyPr/>
                    <a:lstStyle/>
                    <a:p>
                      <a:pPr algn="ctr"/>
                      <a:r>
                        <a:rPr sz="900">
                          <a:solidFill>
                            <a:srgbClr val="1A2E1E"/>
                          </a:solidFill>
                          <a:latin typeface="Calibri"/>
                        </a:rPr>
                        <a:t>M2 + Satellite Vegetation  (L2)</a:t>
                      </a:r>
                    </a:p>
                  </a:txBody>
                  <a:tcPr>
                    <a:solidFill>
                      <a:srgbClr val="F0F6F3"/>
                    </a:solidFill>
                  </a:tcPr>
                </a:tc>
                <a:tc>
                  <a:txBody>
                    <a:bodyPr/>
                    <a:lstStyle/>
                    <a:p>
                      <a:pPr algn="ctr"/>
                      <a:r>
                        <a:rPr sz="900">
                          <a:solidFill>
                            <a:srgbClr val="1A2E1E"/>
                          </a:solidFill>
                          <a:latin typeface="Calibri"/>
                        </a:rPr>
                        <a:t>NDVI, EVI, NDVI_anomaly, valid_px_frac</a:t>
                      </a:r>
                    </a:p>
                  </a:txBody>
                  <a:tcPr>
                    <a:solidFill>
                      <a:srgbClr val="F0F6F3"/>
                    </a:solidFill>
                  </a:tcPr>
                </a:tc>
                <a:tc>
                  <a:txBody>
                    <a:bodyPr/>
                    <a:lstStyle/>
                    <a:p>
                      <a:pPr algn="ctr"/>
                      <a:r>
                        <a:rPr sz="900">
                          <a:solidFill>
                            <a:srgbClr val="1A2E1E"/>
                          </a:solidFill>
                          <a:latin typeface="Calibri"/>
                        </a:rPr>
                        <a:t>Tests whether crop health observed from space improves forecasts</a:t>
                      </a:r>
                    </a:p>
                  </a:txBody>
                  <a:tcPr>
                    <a:solidFill>
                      <a:srgbClr val="F0F6F3"/>
                    </a:solidFill>
                  </a:tcPr>
                </a:tc>
                <a:tc>
                  <a:txBody>
                    <a:bodyPr/>
                    <a:lstStyle/>
                    <a:p>
                      <a:pPr algn="ctr"/>
                      <a:r>
                        <a:rPr sz="900">
                          <a:solidFill>
                            <a:srgbClr val="1A2E1E"/>
                          </a:solidFill>
                          <a:latin typeface="Calibri"/>
                        </a:rPr>
                        <a:t>RUNNING</a:t>
                      </a:r>
                    </a:p>
                  </a:txBody>
                  <a:tcPr>
                    <a:solidFill>
                      <a:srgbClr val="F0F6F3"/>
                    </a:solidFill>
                  </a:tcPr>
                </a:tc>
                <a:extLst>
                  <a:ext uri="{0D108BD9-81ED-4DB2-BD59-A6C34878D82A}">
                    <a16:rowId xmlns:a16="http://schemas.microsoft.com/office/drawing/2014/main" val="10004"/>
                  </a:ext>
                </a:extLst>
              </a:tr>
              <a:tr h="497204">
                <a:tc>
                  <a:txBody>
                    <a:bodyPr/>
                    <a:lstStyle/>
                    <a:p>
                      <a:pPr algn="l"/>
                      <a:r>
                        <a:rPr sz="900">
                          <a:solidFill>
                            <a:srgbClr val="1A2E1E"/>
                          </a:solidFill>
                          <a:latin typeface="Calibri"/>
                        </a:rPr>
                        <a:t>M4</a:t>
                      </a:r>
                    </a:p>
                  </a:txBody>
                  <a:tcPr>
                    <a:solidFill>
                      <a:srgbClr val="FFFFFF"/>
                    </a:solidFill>
                  </a:tcPr>
                </a:tc>
                <a:tc>
                  <a:txBody>
                    <a:bodyPr/>
                    <a:lstStyle/>
                    <a:p>
                      <a:pPr algn="ctr"/>
                      <a:r>
                        <a:rPr sz="900">
                          <a:solidFill>
                            <a:srgbClr val="1A2E1E"/>
                          </a:solidFill>
                          <a:latin typeface="Calibri"/>
                        </a:rPr>
                        <a:t>M3 + Climate Stress  (L3)</a:t>
                      </a:r>
                    </a:p>
                  </a:txBody>
                  <a:tcPr>
                    <a:solidFill>
                      <a:srgbClr val="FFFFFF"/>
                    </a:solidFill>
                  </a:tcPr>
                </a:tc>
                <a:tc>
                  <a:txBody>
                    <a:bodyPr/>
                    <a:lstStyle/>
                    <a:p>
                      <a:pPr algn="ctr"/>
                      <a:r>
                        <a:rPr sz="900">
                          <a:solidFill>
                            <a:srgbClr val="1A2E1E"/>
                          </a:solidFill>
                          <a:latin typeface="Calibri"/>
                        </a:rPr>
                        <a:t>Tmax, heat_days_35/38, rain_weekly, frac_excess, LST_mean</a:t>
                      </a:r>
                    </a:p>
                  </a:txBody>
                  <a:tcPr>
                    <a:solidFill>
                      <a:srgbClr val="FFFFFF"/>
                    </a:solidFill>
                  </a:tcPr>
                </a:tc>
                <a:tc>
                  <a:txBody>
                    <a:bodyPr/>
                    <a:lstStyle/>
                    <a:p>
                      <a:pPr algn="ctr"/>
                      <a:r>
                        <a:rPr sz="900">
                          <a:solidFill>
                            <a:srgbClr val="1A2E1E"/>
                          </a:solidFill>
                          <a:latin typeface="Calibri"/>
                        </a:rPr>
                        <a:t>Tests whether weather risk drives price movements</a:t>
                      </a:r>
                    </a:p>
                  </a:txBody>
                  <a:tcPr>
                    <a:solidFill>
                      <a:srgbClr val="FFFFFF"/>
                    </a:solidFill>
                  </a:tcPr>
                </a:tc>
                <a:tc>
                  <a:txBody>
                    <a:bodyPr/>
                    <a:lstStyle/>
                    <a:p>
                      <a:pPr algn="ctr"/>
                      <a:r>
                        <a:rPr sz="900">
                          <a:solidFill>
                            <a:srgbClr val="1A2E1E"/>
                          </a:solidFill>
                          <a:latin typeface="Calibri"/>
                        </a:rPr>
                        <a:t>BUILT</a:t>
                      </a:r>
                    </a:p>
                  </a:txBody>
                  <a:tcPr>
                    <a:solidFill>
                      <a:srgbClr val="FFFFFF"/>
                    </a:solidFill>
                  </a:tcPr>
                </a:tc>
                <a:extLst>
                  <a:ext uri="{0D108BD9-81ED-4DB2-BD59-A6C34878D82A}">
                    <a16:rowId xmlns:a16="http://schemas.microsoft.com/office/drawing/2014/main" val="10005"/>
                  </a:ext>
                </a:extLst>
              </a:tr>
              <a:tr h="497204">
                <a:tc>
                  <a:txBody>
                    <a:bodyPr/>
                    <a:lstStyle/>
                    <a:p>
                      <a:pPr algn="l"/>
                      <a:r>
                        <a:rPr sz="900">
                          <a:solidFill>
                            <a:srgbClr val="1A2E1E"/>
                          </a:solidFill>
                          <a:latin typeface="Calibri"/>
                        </a:rPr>
                        <a:t>M5</a:t>
                      </a:r>
                    </a:p>
                  </a:txBody>
                  <a:tcPr>
                    <a:solidFill>
                      <a:srgbClr val="F0F6F3"/>
                    </a:solidFill>
                  </a:tcPr>
                </a:tc>
                <a:tc>
                  <a:txBody>
                    <a:bodyPr/>
                    <a:lstStyle/>
                    <a:p>
                      <a:pPr algn="ctr"/>
                      <a:r>
                        <a:rPr sz="900">
                          <a:solidFill>
                            <a:srgbClr val="1A2E1E"/>
                          </a:solidFill>
                          <a:latin typeface="Calibri"/>
                        </a:rPr>
                        <a:t>M4 + Infrastructure  (L5)</a:t>
                      </a:r>
                    </a:p>
                  </a:txBody>
                  <a:tcPr>
                    <a:solidFill>
                      <a:srgbClr val="F0F6F3"/>
                    </a:solidFill>
                  </a:tcPr>
                </a:tc>
                <a:tc>
                  <a:txBody>
                    <a:bodyPr/>
                    <a:lstStyle/>
                    <a:p>
                      <a:pPr algn="ctr"/>
                      <a:r>
                        <a:rPr sz="900">
                          <a:solidFill>
                            <a:srgbClr val="1A2E1E"/>
                          </a:solidFill>
                          <a:latin typeface="Calibri"/>
                        </a:rPr>
                        <a:t>Cold storage capacity, road density index, rural wages</a:t>
                      </a:r>
                    </a:p>
                  </a:txBody>
                  <a:tcPr>
                    <a:solidFill>
                      <a:srgbClr val="F0F6F3"/>
                    </a:solidFill>
                  </a:tcPr>
                </a:tc>
                <a:tc>
                  <a:txBody>
                    <a:bodyPr/>
                    <a:lstStyle/>
                    <a:p>
                      <a:pPr algn="ctr"/>
                      <a:r>
                        <a:rPr sz="900">
                          <a:solidFill>
                            <a:srgbClr val="1A2E1E"/>
                          </a:solidFill>
                          <a:latin typeface="Calibri"/>
                        </a:rPr>
                        <a:t>Tests logistics constraint signals</a:t>
                      </a:r>
                    </a:p>
                  </a:txBody>
                  <a:tcPr>
                    <a:solidFill>
                      <a:srgbClr val="F0F6F3"/>
                    </a:solidFill>
                  </a:tcPr>
                </a:tc>
                <a:tc>
                  <a:txBody>
                    <a:bodyPr/>
                    <a:lstStyle/>
                    <a:p>
                      <a:pPr algn="ctr"/>
                      <a:r>
                        <a:rPr sz="900">
                          <a:solidFill>
                            <a:srgbClr val="1A2E1E"/>
                          </a:solidFill>
                          <a:latin typeface="Calibri"/>
                        </a:rPr>
                        <a:t>PENDING</a:t>
                      </a:r>
                    </a:p>
                  </a:txBody>
                  <a:tcPr>
                    <a:solidFill>
                      <a:srgbClr val="F0F6F3"/>
                    </a:solidFill>
                  </a:tcPr>
                </a:tc>
                <a:extLst>
                  <a:ext uri="{0D108BD9-81ED-4DB2-BD59-A6C34878D82A}">
                    <a16:rowId xmlns:a16="http://schemas.microsoft.com/office/drawing/2014/main" val="10006"/>
                  </a:ext>
                </a:extLst>
              </a:tr>
              <a:tr h="497211">
                <a:tc>
                  <a:txBody>
                    <a:bodyPr/>
                    <a:lstStyle/>
                    <a:p>
                      <a:pPr algn="l"/>
                      <a:r>
                        <a:rPr sz="900">
                          <a:solidFill>
                            <a:srgbClr val="1A2E1E"/>
                          </a:solidFill>
                          <a:latin typeface="Calibri"/>
                        </a:rPr>
                        <a:t>M6</a:t>
                      </a:r>
                    </a:p>
                  </a:txBody>
                  <a:tcPr>
                    <a:solidFill>
                      <a:srgbClr val="FFFFFF"/>
                    </a:solidFill>
                  </a:tcPr>
                </a:tc>
                <a:tc>
                  <a:txBody>
                    <a:bodyPr/>
                    <a:lstStyle/>
                    <a:p>
                      <a:pPr algn="ctr"/>
                      <a:r>
                        <a:rPr sz="900">
                          <a:solidFill>
                            <a:srgbClr val="1A2E1E"/>
                          </a:solidFill>
                          <a:latin typeface="Calibri"/>
                        </a:rPr>
                        <a:t>M5 + Policy / Trade  (L6)</a:t>
                      </a:r>
                    </a:p>
                  </a:txBody>
                  <a:tcPr>
                    <a:solidFill>
                      <a:srgbClr val="FFFFFF"/>
                    </a:solidFill>
                  </a:tcPr>
                </a:tc>
                <a:tc>
                  <a:txBody>
                    <a:bodyPr/>
                    <a:lstStyle/>
                    <a:p>
                      <a:pPr algn="ctr"/>
                      <a:r>
                        <a:rPr sz="900">
                          <a:solidFill>
                            <a:srgbClr val="1A2E1E"/>
                          </a:solidFill>
                          <a:latin typeface="Calibri"/>
                        </a:rPr>
                        <a:t>Export ban dummies, MEP levels, NAFED intervention dates</a:t>
                      </a:r>
                    </a:p>
                  </a:txBody>
                  <a:tcPr>
                    <a:solidFill>
                      <a:srgbClr val="FFFFFF"/>
                    </a:solidFill>
                  </a:tcPr>
                </a:tc>
                <a:tc>
                  <a:txBody>
                    <a:bodyPr/>
                    <a:lstStyle/>
                    <a:p>
                      <a:pPr algn="ctr"/>
                      <a:r>
                        <a:rPr sz="900">
                          <a:solidFill>
                            <a:srgbClr val="1A2E1E"/>
                          </a:solidFill>
                          <a:latin typeface="Calibri"/>
                        </a:rPr>
                        <a:t>Tests whether policy events are predictable price drivers</a:t>
                      </a:r>
                    </a:p>
                  </a:txBody>
                  <a:tcPr>
                    <a:solidFill>
                      <a:srgbClr val="FFFFFF"/>
                    </a:solidFill>
                  </a:tcPr>
                </a:tc>
                <a:tc>
                  <a:txBody>
                    <a:bodyPr/>
                    <a:lstStyle/>
                    <a:p>
                      <a:pPr algn="ctr"/>
                      <a:r>
                        <a:rPr sz="900">
                          <a:solidFill>
                            <a:srgbClr val="1A2E1E"/>
                          </a:solidFill>
                          <a:latin typeface="Calibri"/>
                        </a:rPr>
                        <a:t>BLOCKED</a:t>
                      </a:r>
                    </a:p>
                  </a:txBody>
                  <a:tcPr>
                    <a:solidFill>
                      <a:srgbClr val="FFFFFF"/>
                    </a:solidFill>
                  </a:tcPr>
                </a:tc>
                <a:extLst>
                  <a:ext uri="{0D108BD9-81ED-4DB2-BD59-A6C34878D82A}">
                    <a16:rowId xmlns:a16="http://schemas.microsoft.com/office/drawing/2014/main" val="10007"/>
                  </a:ext>
                </a:extLst>
              </a:tr>
            </a:tbl>
          </a:graphicData>
        </a:graphic>
      </p:graphicFrame>
      <p:sp>
        <p:nvSpPr>
          <p:cNvPr id="12" name="Rectangle 11"/>
          <p:cNvSpPr/>
          <p:nvPr/>
        </p:nvSpPr>
        <p:spPr>
          <a:xfrm>
            <a:off x="182880" y="5669280"/>
            <a:ext cx="201168" cy="20116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5650992"/>
            <a:ext cx="1280160" cy="256032"/>
          </a:xfrm>
          <a:prstGeom prst="rect">
            <a:avLst/>
          </a:prstGeom>
          <a:noFill/>
        </p:spPr>
        <p:txBody>
          <a:bodyPr wrap="square">
            <a:spAutoFit/>
          </a:bodyPr>
          <a:lstStyle/>
          <a:p>
            <a:pPr algn="l"/>
            <a:r>
              <a:rPr sz="900" b="0" i="0">
                <a:solidFill>
                  <a:srgbClr val="1A2E1E"/>
                </a:solidFill>
                <a:latin typeface="Calibri"/>
              </a:rPr>
              <a:t>RUNNING</a:t>
            </a:r>
          </a:p>
        </p:txBody>
      </p:sp>
      <p:sp>
        <p:nvSpPr>
          <p:cNvPr id="14" name="Rectangle 13"/>
          <p:cNvSpPr/>
          <p:nvPr/>
        </p:nvSpPr>
        <p:spPr>
          <a:xfrm>
            <a:off x="1737360" y="5669280"/>
            <a:ext cx="201168" cy="201168"/>
          </a:xfrm>
          <a:prstGeom prst="rect">
            <a:avLst/>
          </a:prstGeom>
          <a:solidFill>
            <a:srgbClr val="18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93391" y="5650992"/>
            <a:ext cx="1280160" cy="256032"/>
          </a:xfrm>
          <a:prstGeom prst="rect">
            <a:avLst/>
          </a:prstGeom>
          <a:noFill/>
        </p:spPr>
        <p:txBody>
          <a:bodyPr wrap="square">
            <a:spAutoFit/>
          </a:bodyPr>
          <a:lstStyle/>
          <a:p>
            <a:pPr algn="l"/>
            <a:r>
              <a:rPr sz="900" b="0" i="0">
                <a:solidFill>
                  <a:srgbClr val="1A2E1E"/>
                </a:solidFill>
                <a:latin typeface="Calibri"/>
              </a:rPr>
              <a:t>BUILT</a:t>
            </a:r>
          </a:p>
        </p:txBody>
      </p:sp>
      <p:sp>
        <p:nvSpPr>
          <p:cNvPr id="16" name="Rectangle 15"/>
          <p:cNvSpPr/>
          <p:nvPr/>
        </p:nvSpPr>
        <p:spPr>
          <a:xfrm>
            <a:off x="3291840" y="5669280"/>
            <a:ext cx="201168" cy="20116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47872" y="5650992"/>
            <a:ext cx="1280160" cy="256032"/>
          </a:xfrm>
          <a:prstGeom prst="rect">
            <a:avLst/>
          </a:prstGeom>
          <a:noFill/>
        </p:spPr>
        <p:txBody>
          <a:bodyPr wrap="square">
            <a:spAutoFit/>
          </a:bodyPr>
          <a:lstStyle/>
          <a:p>
            <a:pPr algn="l"/>
            <a:r>
              <a:rPr sz="900" b="0" i="0">
                <a:solidFill>
                  <a:srgbClr val="1A2E1E"/>
                </a:solidFill>
                <a:latin typeface="Calibri"/>
              </a:rPr>
              <a:t>PENDING</a:t>
            </a:r>
          </a:p>
        </p:txBody>
      </p:sp>
      <p:sp>
        <p:nvSpPr>
          <p:cNvPr id="18" name="Rectangle 17"/>
          <p:cNvSpPr/>
          <p:nvPr/>
        </p:nvSpPr>
        <p:spPr>
          <a:xfrm>
            <a:off x="4846320" y="5669280"/>
            <a:ext cx="201168" cy="20116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02352" y="5650992"/>
            <a:ext cx="1280160" cy="256032"/>
          </a:xfrm>
          <a:prstGeom prst="rect">
            <a:avLst/>
          </a:prstGeom>
          <a:noFill/>
        </p:spPr>
        <p:txBody>
          <a:bodyPr wrap="square">
            <a:spAutoFit/>
          </a:bodyPr>
          <a:lstStyle/>
          <a:p>
            <a:pPr algn="l"/>
            <a:r>
              <a:rPr sz="900" b="0" i="0">
                <a:solidFill>
                  <a:srgbClr val="1A2E1E"/>
                </a:solidFill>
                <a:latin typeface="Calibri"/>
              </a:rPr>
              <a:t>BLOCKED</a:t>
            </a:r>
          </a:p>
        </p:txBody>
      </p:sp>
      <p:pic>
        <p:nvPicPr>
          <p:cNvPr id="20" name="Picture 19" descr="fig_ablation_mape.png"/>
          <p:cNvPicPr>
            <a:picLocks noChangeAspect="1"/>
          </p:cNvPicPr>
          <p:nvPr/>
        </p:nvPicPr>
        <p:blipFill>
          <a:blip r:embed="rId3"/>
          <a:stretch>
            <a:fillRect/>
          </a:stretch>
        </p:blipFill>
        <p:spPr>
          <a:xfrm>
            <a:off x="6675120" y="5486400"/>
            <a:ext cx="2743200" cy="1005840"/>
          </a:xfrm>
          <a:prstGeom prst="rect">
            <a:avLst/>
          </a:prstGeom>
        </p:spPr>
      </p:pic>
      <p:pic>
        <p:nvPicPr>
          <p:cNvPr id="21" name="Picture 20" descr="fig_ablation_r2.png"/>
          <p:cNvPicPr>
            <a:picLocks noChangeAspect="1"/>
          </p:cNvPicPr>
          <p:nvPr/>
        </p:nvPicPr>
        <p:blipFill>
          <a:blip r:embed="rId4"/>
          <a:stretch>
            <a:fillRect/>
          </a:stretch>
        </p:blipFill>
        <p:spPr>
          <a:xfrm>
            <a:off x="9601200" y="5486400"/>
            <a:ext cx="2377440" cy="1005840"/>
          </a:xfrm>
          <a:prstGeom prst="rect">
            <a:avLst/>
          </a:prstGeom>
        </p:spPr>
      </p:pic>
      <p:sp>
        <p:nvSpPr>
          <p:cNvPr id="22" name="TextBox 21"/>
          <p:cNvSpPr txBox="1"/>
          <p:nvPr/>
        </p:nvSpPr>
        <p:spPr>
          <a:xfrm>
            <a:off x="182880" y="5943600"/>
            <a:ext cx="6217920" cy="594360"/>
          </a:xfrm>
          <a:prstGeom prst="rect">
            <a:avLst/>
          </a:prstGeom>
          <a:noFill/>
        </p:spPr>
        <p:txBody>
          <a:bodyPr wrap="square">
            <a:spAutoFit/>
          </a:bodyPr>
          <a:lstStyle/>
          <a:p>
            <a:pPr algn="l"/>
            <a:r>
              <a:rPr sz="950" b="0" i="1">
                <a:solidFill>
                  <a:srgbClr val="5A6A60"/>
                </a:solidFill>
                <a:latin typeface="Calibri"/>
              </a:rPr>
              <a:t>PAPER HYPOTHESIS: Each layer from M0→M4 reduces MAPE significantly. M3 (satellite) and M4 (climate) together should show the largest incremental gain at h=8 weeks — because supply-side signals matter most for medium-range forecasting.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Code &amp; Data Infrastructure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16 Python scripts · 5 GEE scripts · 29 paper-ready figures · GitHub repository</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7772400" cy="320040"/>
          </a:xfrm>
          <a:prstGeom prst="rect">
            <a:avLst/>
          </a:prstGeom>
          <a:noFill/>
        </p:spPr>
        <p:txBody>
          <a:bodyPr wrap="square">
            <a:spAutoFit/>
          </a:bodyPr>
          <a:lstStyle/>
          <a:p>
            <a:pPr algn="l"/>
            <a:r>
              <a:rPr sz="1100" b="1" i="0">
                <a:solidFill>
                  <a:srgbClr val="1E6B45"/>
                </a:solidFill>
                <a:latin typeface="Calibri"/>
              </a:rPr>
              <a:t>PYTHON SCRIPTS  (all in scripts/ directory)</a:t>
            </a:r>
          </a:p>
        </p:txBody>
      </p:sp>
      <p:graphicFrame>
        <p:nvGraphicFramePr>
          <p:cNvPr id="11" name="Table 10"/>
          <p:cNvGraphicFramePr>
            <a:graphicFrameLocks noGrp="1"/>
          </p:cNvGraphicFramePr>
          <p:nvPr/>
        </p:nvGraphicFramePr>
        <p:xfrm>
          <a:off x="182880" y="1463040"/>
          <a:ext cx="7772400" cy="475488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528320">
                <a:tc>
                  <a:txBody>
                    <a:bodyPr/>
                    <a:lstStyle/>
                    <a:p>
                      <a:pPr algn="ctr"/>
                      <a:r>
                        <a:rPr sz="1000" b="1">
                          <a:solidFill>
                            <a:srgbClr val="FFFFFF"/>
                          </a:solidFill>
                          <a:latin typeface="Calibri"/>
                        </a:rPr>
                        <a:t>Script</a:t>
                      </a:r>
                    </a:p>
                  </a:txBody>
                  <a:tcPr>
                    <a:solidFill>
                      <a:srgbClr val="0D2240"/>
                    </a:solidFill>
                  </a:tcPr>
                </a:tc>
                <a:tc>
                  <a:txBody>
                    <a:bodyPr/>
                    <a:lstStyle/>
                    <a:p>
                      <a:pPr algn="ctr"/>
                      <a:r>
                        <a:rPr sz="1000" b="1">
                          <a:solidFill>
                            <a:srgbClr val="FFFFFF"/>
                          </a:solidFill>
                          <a:latin typeface="Calibri"/>
                        </a:rPr>
                        <a:t>Function</a:t>
                      </a:r>
                    </a:p>
                  </a:txBody>
                  <a:tcPr>
                    <a:solidFill>
                      <a:srgbClr val="0D2240"/>
                    </a:solidFill>
                  </a:tcPr>
                </a:tc>
                <a:tc>
                  <a:txBody>
                    <a:bodyPr/>
                    <a:lstStyle/>
                    <a:p>
                      <a:pPr algn="ctr"/>
                      <a:r>
                        <a:rPr sz="1000" b="1">
                          <a:solidFill>
                            <a:srgbClr val="FFFFFF"/>
                          </a:solidFill>
                          <a:latin typeface="Calibri"/>
                        </a:rPr>
                        <a:t>Lines</a:t>
                      </a:r>
                    </a:p>
                  </a:txBody>
                  <a:tcPr>
                    <a:solidFill>
                      <a:srgbClr val="0D2240"/>
                    </a:solidFill>
                  </a:tcPr>
                </a:tc>
                <a:tc>
                  <a:txBody>
                    <a:bodyPr/>
                    <a:lstStyle/>
                    <a:p>
                      <a:pPr algn="ctr"/>
                      <a:r>
                        <a:rPr sz="1000" b="1">
                          <a:solidFill>
                            <a:srgbClr val="FFFFFF"/>
                          </a:solidFill>
                          <a:latin typeface="Calibri"/>
                        </a:rPr>
                        <a:t>Outputs</a:t>
                      </a:r>
                    </a:p>
                  </a:txBody>
                  <a:tcPr>
                    <a:solidFill>
                      <a:srgbClr val="0D2240"/>
                    </a:solidFill>
                  </a:tcPr>
                </a:tc>
                <a:extLst>
                  <a:ext uri="{0D108BD9-81ED-4DB2-BD59-A6C34878D82A}">
                    <a16:rowId xmlns:a16="http://schemas.microsoft.com/office/drawing/2014/main" val="10000"/>
                  </a:ext>
                </a:extLst>
              </a:tr>
              <a:tr h="528320">
                <a:tc>
                  <a:txBody>
                    <a:bodyPr/>
                    <a:lstStyle/>
                    <a:p>
                      <a:pPr algn="l"/>
                      <a:r>
                        <a:rPr sz="950">
                          <a:solidFill>
                            <a:srgbClr val="1A2E1E"/>
                          </a:solidFill>
                          <a:latin typeface="Calibri"/>
                        </a:rPr>
                        <a:t>09</a:t>
                      </a:r>
                    </a:p>
                  </a:txBody>
                  <a:tcPr>
                    <a:solidFill>
                      <a:srgbClr val="FFFFFF"/>
                    </a:solidFill>
                  </a:tcPr>
                </a:tc>
                <a:tc>
                  <a:txBody>
                    <a:bodyPr/>
                    <a:lstStyle/>
                    <a:p>
                      <a:pPr algn="ctr"/>
                      <a:r>
                        <a:rPr sz="950">
                          <a:solidFill>
                            <a:srgbClr val="1A2E1E"/>
                          </a:solidFill>
                          <a:latin typeface="Calibri"/>
                        </a:rPr>
                        <a:t>Agmarknet Weekly Panel</a:t>
                      </a:r>
                    </a:p>
                  </a:txBody>
                  <a:tcPr>
                    <a:solidFill>
                      <a:srgbClr val="FFFFFF"/>
                    </a:solidFill>
                  </a:tcPr>
                </a:tc>
                <a:tc>
                  <a:txBody>
                    <a:bodyPr/>
                    <a:lstStyle/>
                    <a:p>
                      <a:pPr algn="ctr"/>
                      <a:r>
                        <a:rPr sz="950">
                          <a:solidFill>
                            <a:srgbClr val="1A2E1E"/>
                          </a:solidFill>
                          <a:latin typeface="Calibri"/>
                        </a:rPr>
                        <a:t>249</a:t>
                      </a:r>
                    </a:p>
                  </a:txBody>
                  <a:tcPr>
                    <a:solidFill>
                      <a:srgbClr val="FFFFFF"/>
                    </a:solidFill>
                  </a:tcPr>
                </a:tc>
                <a:tc>
                  <a:txBody>
                    <a:bodyPr/>
                    <a:lstStyle/>
                    <a:p>
                      <a:pPr algn="ctr"/>
                      <a:r>
                        <a:rPr sz="950">
                          <a:solidFill>
                            <a:srgbClr val="1A2E1E"/>
                          </a:solidFill>
                          <a:latin typeface="Calibri"/>
                        </a:rPr>
                        <a:t>tomato/onion/potato_weekly_panel.csv</a:t>
                      </a:r>
                    </a:p>
                  </a:txBody>
                  <a:tcPr>
                    <a:solidFill>
                      <a:srgbClr val="FFFFFF"/>
                    </a:solidFill>
                  </a:tcPr>
                </a:tc>
                <a:extLst>
                  <a:ext uri="{0D108BD9-81ED-4DB2-BD59-A6C34878D82A}">
                    <a16:rowId xmlns:a16="http://schemas.microsoft.com/office/drawing/2014/main" val="10001"/>
                  </a:ext>
                </a:extLst>
              </a:tr>
              <a:tr h="528320">
                <a:tc>
                  <a:txBody>
                    <a:bodyPr/>
                    <a:lstStyle/>
                    <a:p>
                      <a:pPr algn="l"/>
                      <a:r>
                        <a:rPr sz="950">
                          <a:solidFill>
                            <a:srgbClr val="1A2E1E"/>
                          </a:solidFill>
                          <a:latin typeface="Calibri"/>
                        </a:rPr>
                        <a:t>10</a:t>
                      </a:r>
                    </a:p>
                  </a:txBody>
                  <a:tcPr>
                    <a:solidFill>
                      <a:srgbClr val="F0F6F3"/>
                    </a:solidFill>
                  </a:tcPr>
                </a:tc>
                <a:tc>
                  <a:txBody>
                    <a:bodyPr/>
                    <a:lstStyle/>
                    <a:p>
                      <a:pPr algn="ctr"/>
                      <a:r>
                        <a:rPr sz="950">
                          <a:solidFill>
                            <a:srgbClr val="1A2E1E"/>
                          </a:solidFill>
                          <a:latin typeface="Calibri"/>
                        </a:rPr>
                        <a:t>CMIE Macro Parser</a:t>
                      </a:r>
                    </a:p>
                  </a:txBody>
                  <a:tcPr>
                    <a:solidFill>
                      <a:srgbClr val="F0F6F3"/>
                    </a:solidFill>
                  </a:tcPr>
                </a:tc>
                <a:tc>
                  <a:txBody>
                    <a:bodyPr/>
                    <a:lstStyle/>
                    <a:p>
                      <a:pPr algn="ctr"/>
                      <a:r>
                        <a:rPr sz="950">
                          <a:solidFill>
                            <a:srgbClr val="1A2E1E"/>
                          </a:solidFill>
                          <a:latin typeface="Calibri"/>
                        </a:rPr>
                        <a:t>332</a:t>
                      </a:r>
                    </a:p>
                  </a:txBody>
                  <a:tcPr>
                    <a:solidFill>
                      <a:srgbClr val="F0F6F3"/>
                    </a:solidFill>
                  </a:tcPr>
                </a:tc>
                <a:tc>
                  <a:txBody>
                    <a:bodyPr/>
                    <a:lstStyle/>
                    <a:p>
                      <a:pPr algn="ctr"/>
                      <a:r>
                        <a:rPr sz="950">
                          <a:solidFill>
                            <a:srgbClr val="1A2E1E"/>
                          </a:solidFill>
                          <a:latin typeface="Calibri"/>
                        </a:rPr>
                        <a:t>cmie_macro_2017_2025.csv</a:t>
                      </a:r>
                    </a:p>
                  </a:txBody>
                  <a:tcPr>
                    <a:solidFill>
                      <a:srgbClr val="F0F6F3"/>
                    </a:solidFill>
                  </a:tcPr>
                </a:tc>
                <a:extLst>
                  <a:ext uri="{0D108BD9-81ED-4DB2-BD59-A6C34878D82A}">
                    <a16:rowId xmlns:a16="http://schemas.microsoft.com/office/drawing/2014/main" val="10002"/>
                  </a:ext>
                </a:extLst>
              </a:tr>
              <a:tr h="528320">
                <a:tc>
                  <a:txBody>
                    <a:bodyPr/>
                    <a:lstStyle/>
                    <a:p>
                      <a:pPr algn="l"/>
                      <a:r>
                        <a:rPr sz="950">
                          <a:solidFill>
                            <a:srgbClr val="1A2E1E"/>
                          </a:solidFill>
                          <a:latin typeface="Calibri"/>
                        </a:rPr>
                        <a:t>11</a:t>
                      </a:r>
                    </a:p>
                  </a:txBody>
                  <a:tcPr>
                    <a:solidFill>
                      <a:srgbClr val="FFFFFF"/>
                    </a:solidFill>
                  </a:tcPr>
                </a:tc>
                <a:tc>
                  <a:txBody>
                    <a:bodyPr/>
                    <a:lstStyle/>
                    <a:p>
                      <a:pPr algn="ctr"/>
                      <a:r>
                        <a:rPr sz="950">
                          <a:solidFill>
                            <a:srgbClr val="1A2E1E"/>
                          </a:solidFill>
                          <a:latin typeface="Calibri"/>
                        </a:rPr>
                        <a:t>Market Selection &amp; Coverage</a:t>
                      </a:r>
                    </a:p>
                  </a:txBody>
                  <a:tcPr>
                    <a:solidFill>
                      <a:srgbClr val="FFFFFF"/>
                    </a:solidFill>
                  </a:tcPr>
                </a:tc>
                <a:tc>
                  <a:txBody>
                    <a:bodyPr/>
                    <a:lstStyle/>
                    <a:p>
                      <a:pPr algn="ctr"/>
                      <a:r>
                        <a:rPr sz="950">
                          <a:solidFill>
                            <a:srgbClr val="1A2E1E"/>
                          </a:solidFill>
                          <a:latin typeface="Calibri"/>
                        </a:rPr>
                        <a:t>358</a:t>
                      </a:r>
                    </a:p>
                  </a:txBody>
                  <a:tcPr>
                    <a:solidFill>
                      <a:srgbClr val="FFFFFF"/>
                    </a:solidFill>
                  </a:tcPr>
                </a:tc>
                <a:tc>
                  <a:txBody>
                    <a:bodyPr/>
                    <a:lstStyle/>
                    <a:p>
                      <a:pPr algn="ctr"/>
                      <a:r>
                        <a:rPr sz="950">
                          <a:solidFill>
                            <a:srgbClr val="1A2E1E"/>
                          </a:solidFill>
                          <a:latin typeface="Calibri"/>
                        </a:rPr>
                        <a:t>filtered_panel_top.csv + 5 figures</a:t>
                      </a:r>
                    </a:p>
                  </a:txBody>
                  <a:tcPr>
                    <a:solidFill>
                      <a:srgbClr val="FFFFFF"/>
                    </a:solidFill>
                  </a:tcPr>
                </a:tc>
                <a:extLst>
                  <a:ext uri="{0D108BD9-81ED-4DB2-BD59-A6C34878D82A}">
                    <a16:rowId xmlns:a16="http://schemas.microsoft.com/office/drawing/2014/main" val="10003"/>
                  </a:ext>
                </a:extLst>
              </a:tr>
              <a:tr h="528320">
                <a:tc>
                  <a:txBody>
                    <a:bodyPr/>
                    <a:lstStyle/>
                    <a:p>
                      <a:pPr algn="l"/>
                      <a:r>
                        <a:rPr sz="950">
                          <a:solidFill>
                            <a:srgbClr val="1A2E1E"/>
                          </a:solidFill>
                          <a:latin typeface="Calibri"/>
                        </a:rPr>
                        <a:t>12</a:t>
                      </a:r>
                    </a:p>
                  </a:txBody>
                  <a:tcPr>
                    <a:solidFill>
                      <a:srgbClr val="F0F6F3"/>
                    </a:solidFill>
                  </a:tcPr>
                </a:tc>
                <a:tc>
                  <a:txBody>
                    <a:bodyPr/>
                    <a:lstStyle/>
                    <a:p>
                      <a:pPr algn="ctr"/>
                      <a:r>
                        <a:rPr sz="950">
                          <a:solidFill>
                            <a:srgbClr val="1A2E1E"/>
                          </a:solidFill>
                          <a:latin typeface="Calibri"/>
                        </a:rPr>
                        <a:t>LightGBM Rolling-Origin CV</a:t>
                      </a:r>
                    </a:p>
                  </a:txBody>
                  <a:tcPr>
                    <a:solidFill>
                      <a:srgbClr val="F0F6F3"/>
                    </a:solidFill>
                  </a:tcPr>
                </a:tc>
                <a:tc>
                  <a:txBody>
                    <a:bodyPr/>
                    <a:lstStyle/>
                    <a:p>
                      <a:pPr algn="ctr"/>
                      <a:r>
                        <a:rPr sz="950">
                          <a:solidFill>
                            <a:srgbClr val="1A2E1E"/>
                          </a:solidFill>
                          <a:latin typeface="Calibri"/>
                        </a:rPr>
                        <a:t>472</a:t>
                      </a:r>
                    </a:p>
                  </a:txBody>
                  <a:tcPr>
                    <a:solidFill>
                      <a:srgbClr val="F0F6F3"/>
                    </a:solidFill>
                  </a:tcPr>
                </a:tc>
                <a:tc>
                  <a:txBody>
                    <a:bodyPr/>
                    <a:lstStyle/>
                    <a:p>
                      <a:pPr algn="ctr"/>
                      <a:r>
                        <a:rPr sz="950">
                          <a:solidFill>
                            <a:srgbClr val="1A2E1E"/>
                          </a:solidFill>
                          <a:latin typeface="Calibri"/>
                        </a:rPr>
                        <a:t>Rolling RMSE/MAPE/R² + SHAP figures</a:t>
                      </a:r>
                    </a:p>
                  </a:txBody>
                  <a:tcPr>
                    <a:solidFill>
                      <a:srgbClr val="F0F6F3"/>
                    </a:solidFill>
                  </a:tcPr>
                </a:tc>
                <a:extLst>
                  <a:ext uri="{0D108BD9-81ED-4DB2-BD59-A6C34878D82A}">
                    <a16:rowId xmlns:a16="http://schemas.microsoft.com/office/drawing/2014/main" val="10004"/>
                  </a:ext>
                </a:extLst>
              </a:tr>
              <a:tr h="528320">
                <a:tc>
                  <a:txBody>
                    <a:bodyPr/>
                    <a:lstStyle/>
                    <a:p>
                      <a:pPr algn="l"/>
                      <a:r>
                        <a:rPr sz="950">
                          <a:solidFill>
                            <a:srgbClr val="1A2E1E"/>
                          </a:solidFill>
                          <a:latin typeface="Calibri"/>
                        </a:rPr>
                        <a:t>13</a:t>
                      </a:r>
                    </a:p>
                  </a:txBody>
                  <a:tcPr>
                    <a:solidFill>
                      <a:srgbClr val="FFFFFF"/>
                    </a:solidFill>
                  </a:tcPr>
                </a:tc>
                <a:tc>
                  <a:txBody>
                    <a:bodyPr/>
                    <a:lstStyle/>
                    <a:p>
                      <a:pPr algn="ctr"/>
                      <a:r>
                        <a:rPr sz="950">
                          <a:solidFill>
                            <a:srgbClr val="1A2E1E"/>
                          </a:solidFill>
                          <a:latin typeface="Calibri"/>
                        </a:rPr>
                        <a:t>Benchmark Models</a:t>
                      </a:r>
                    </a:p>
                  </a:txBody>
                  <a:tcPr>
                    <a:solidFill>
                      <a:srgbClr val="FFFFFF"/>
                    </a:solidFill>
                  </a:tcPr>
                </a:tc>
                <a:tc>
                  <a:txBody>
                    <a:bodyPr/>
                    <a:lstStyle/>
                    <a:p>
                      <a:pPr algn="ctr"/>
                      <a:r>
                        <a:rPr sz="950">
                          <a:solidFill>
                            <a:srgbClr val="1A2E1E"/>
                          </a:solidFill>
                          <a:latin typeface="Calibri"/>
                        </a:rPr>
                        <a:t>366</a:t>
                      </a:r>
                    </a:p>
                  </a:txBody>
                  <a:tcPr>
                    <a:solidFill>
                      <a:srgbClr val="FFFFFF"/>
                    </a:solidFill>
                  </a:tcPr>
                </a:tc>
                <a:tc>
                  <a:txBody>
                    <a:bodyPr/>
                    <a:lstStyle/>
                    <a:p>
                      <a:pPr algn="ctr"/>
                      <a:r>
                        <a:rPr sz="950">
                          <a:solidFill>
                            <a:srgbClr val="1A2E1E"/>
                          </a:solidFill>
                          <a:latin typeface="Calibri"/>
                        </a:rPr>
                        <a:t>Benchmark comparison figures</a:t>
                      </a:r>
                    </a:p>
                  </a:txBody>
                  <a:tcPr>
                    <a:solidFill>
                      <a:srgbClr val="FFFFFF"/>
                    </a:solidFill>
                  </a:tcPr>
                </a:tc>
                <a:extLst>
                  <a:ext uri="{0D108BD9-81ED-4DB2-BD59-A6C34878D82A}">
                    <a16:rowId xmlns:a16="http://schemas.microsoft.com/office/drawing/2014/main" val="10005"/>
                  </a:ext>
                </a:extLst>
              </a:tr>
              <a:tr h="528320">
                <a:tc>
                  <a:txBody>
                    <a:bodyPr/>
                    <a:lstStyle/>
                    <a:p>
                      <a:pPr algn="l"/>
                      <a:r>
                        <a:rPr sz="950">
                          <a:solidFill>
                            <a:srgbClr val="1A2E1E"/>
                          </a:solidFill>
                          <a:latin typeface="Calibri"/>
                        </a:rPr>
                        <a:t>14</a:t>
                      </a:r>
                    </a:p>
                  </a:txBody>
                  <a:tcPr>
                    <a:solidFill>
                      <a:srgbClr val="F0F6F3"/>
                    </a:solidFill>
                  </a:tcPr>
                </a:tc>
                <a:tc>
                  <a:txBody>
                    <a:bodyPr/>
                    <a:lstStyle/>
                    <a:p>
                      <a:pPr algn="ctr"/>
                      <a:r>
                        <a:rPr sz="950">
                          <a:solidFill>
                            <a:srgbClr val="1A2E1E"/>
                          </a:solidFill>
                          <a:latin typeface="Calibri"/>
                        </a:rPr>
                        <a:t>Satellite &amp; Climate Features</a:t>
                      </a:r>
                    </a:p>
                  </a:txBody>
                  <a:tcPr>
                    <a:solidFill>
                      <a:srgbClr val="F0F6F3"/>
                    </a:solidFill>
                  </a:tcPr>
                </a:tc>
                <a:tc>
                  <a:txBody>
                    <a:bodyPr/>
                    <a:lstStyle/>
                    <a:p>
                      <a:pPr algn="ctr"/>
                      <a:r>
                        <a:rPr sz="950">
                          <a:solidFill>
                            <a:srgbClr val="1A2E1E"/>
                          </a:solidFill>
                          <a:latin typeface="Calibri"/>
                        </a:rPr>
                        <a:t>650</a:t>
                      </a:r>
                    </a:p>
                  </a:txBody>
                  <a:tcPr>
                    <a:solidFill>
                      <a:srgbClr val="F0F6F3"/>
                    </a:solidFill>
                  </a:tcPr>
                </a:tc>
                <a:tc>
                  <a:txBody>
                    <a:bodyPr/>
                    <a:lstStyle/>
                    <a:p>
                      <a:pPr algn="ctr"/>
                      <a:r>
                        <a:rPr sz="950">
                          <a:solidFill>
                            <a:srgbClr val="1A2E1E"/>
                          </a:solidFill>
                          <a:latin typeface="Calibri"/>
                        </a:rPr>
                        <a:t>zone_weekly / crop_weekly / market_zone .csv</a:t>
                      </a:r>
                    </a:p>
                  </a:txBody>
                  <a:tcPr>
                    <a:solidFill>
                      <a:srgbClr val="F0F6F3"/>
                    </a:solidFill>
                  </a:tcPr>
                </a:tc>
                <a:extLst>
                  <a:ext uri="{0D108BD9-81ED-4DB2-BD59-A6C34878D82A}">
                    <a16:rowId xmlns:a16="http://schemas.microsoft.com/office/drawing/2014/main" val="10006"/>
                  </a:ext>
                </a:extLst>
              </a:tr>
              <a:tr h="528320">
                <a:tc>
                  <a:txBody>
                    <a:bodyPr/>
                    <a:lstStyle/>
                    <a:p>
                      <a:pPr algn="l"/>
                      <a:r>
                        <a:rPr sz="950">
                          <a:solidFill>
                            <a:srgbClr val="1A2E1E"/>
                          </a:solidFill>
                          <a:latin typeface="Calibri"/>
                        </a:rPr>
                        <a:t>15</a:t>
                      </a:r>
                    </a:p>
                  </a:txBody>
                  <a:tcPr>
                    <a:solidFill>
                      <a:srgbClr val="FFFFFF"/>
                    </a:solidFill>
                  </a:tcPr>
                </a:tc>
                <a:tc>
                  <a:txBody>
                    <a:bodyPr/>
                    <a:lstStyle/>
                    <a:p>
                      <a:pPr algn="ctr"/>
                      <a:r>
                        <a:rPr sz="950">
                          <a:solidFill>
                            <a:srgbClr val="1A2E1E"/>
                          </a:solidFill>
                          <a:latin typeface="Calibri"/>
                        </a:rPr>
                        <a:t>Ablation Study M0–M4</a:t>
                      </a:r>
                    </a:p>
                  </a:txBody>
                  <a:tcPr>
                    <a:solidFill>
                      <a:srgbClr val="FFFFFF"/>
                    </a:solidFill>
                  </a:tcPr>
                </a:tc>
                <a:tc>
                  <a:txBody>
                    <a:bodyPr/>
                    <a:lstStyle/>
                    <a:p>
                      <a:pPr algn="ctr"/>
                      <a:r>
                        <a:rPr sz="950">
                          <a:solidFill>
                            <a:srgbClr val="1A2E1E"/>
                          </a:solidFill>
                          <a:latin typeface="Calibri"/>
                        </a:rPr>
                        <a:t>607</a:t>
                      </a:r>
                    </a:p>
                  </a:txBody>
                  <a:tcPr>
                    <a:solidFill>
                      <a:srgbClr val="FFFFFF"/>
                    </a:solidFill>
                  </a:tcPr>
                </a:tc>
                <a:tc>
                  <a:txBody>
                    <a:bodyPr/>
                    <a:lstStyle/>
                    <a:p>
                      <a:pPr algn="ctr"/>
                      <a:r>
                        <a:rPr sz="950">
                          <a:solidFill>
                            <a:srgbClr val="1A2E1E"/>
                          </a:solidFill>
                          <a:latin typeface="Calibri"/>
                        </a:rPr>
                        <a:t>Ablation MAPE/R² heatmaps</a:t>
                      </a:r>
                    </a:p>
                  </a:txBody>
                  <a:tcPr>
                    <a:solidFill>
                      <a:srgbClr val="FFFFFF"/>
                    </a:solidFill>
                  </a:tcPr>
                </a:tc>
                <a:extLst>
                  <a:ext uri="{0D108BD9-81ED-4DB2-BD59-A6C34878D82A}">
                    <a16:rowId xmlns:a16="http://schemas.microsoft.com/office/drawing/2014/main" val="10007"/>
                  </a:ext>
                </a:extLst>
              </a:tr>
              <a:tr h="528320">
                <a:tc>
                  <a:txBody>
                    <a:bodyPr/>
                    <a:lstStyle/>
                    <a:p>
                      <a:pPr algn="l"/>
                      <a:r>
                        <a:rPr sz="950">
                          <a:solidFill>
                            <a:srgbClr val="1A2E1E"/>
                          </a:solidFill>
                          <a:latin typeface="Calibri"/>
                        </a:rPr>
                        <a:t>16</a:t>
                      </a:r>
                    </a:p>
                  </a:txBody>
                  <a:tcPr>
                    <a:solidFill>
                      <a:srgbClr val="F0F6F3"/>
                    </a:solidFill>
                  </a:tcPr>
                </a:tc>
                <a:tc>
                  <a:txBody>
                    <a:bodyPr/>
                    <a:lstStyle/>
                    <a:p>
                      <a:pPr algn="ctr"/>
                      <a:r>
                        <a:rPr sz="950">
                          <a:solidFill>
                            <a:srgbClr val="1A2E1E"/>
                          </a:solidFill>
                          <a:latin typeface="Calibri"/>
                        </a:rPr>
                        <a:t>Zone Assignment</a:t>
                      </a:r>
                    </a:p>
                  </a:txBody>
                  <a:tcPr>
                    <a:solidFill>
                      <a:srgbClr val="F0F6F3"/>
                    </a:solidFill>
                  </a:tcPr>
                </a:tc>
                <a:tc>
                  <a:txBody>
                    <a:bodyPr/>
                    <a:lstStyle/>
                    <a:p>
                      <a:pPr algn="ctr"/>
                      <a:r>
                        <a:rPr sz="950">
                          <a:solidFill>
                            <a:srgbClr val="1A2E1E"/>
                          </a:solidFill>
                          <a:latin typeface="Calibri"/>
                        </a:rPr>
                        <a:t>443</a:t>
                      </a:r>
                    </a:p>
                  </a:txBody>
                  <a:tcPr>
                    <a:solidFill>
                      <a:srgbClr val="F0F6F3"/>
                    </a:solidFill>
                  </a:tcPr>
                </a:tc>
                <a:tc>
                  <a:txBody>
                    <a:bodyPr/>
                    <a:lstStyle/>
                    <a:p>
                      <a:pPr algn="ctr"/>
                      <a:r>
                        <a:rPr sz="950">
                          <a:solidFill>
                            <a:srgbClr val="1A2E1E"/>
                          </a:solidFill>
                          <a:latin typeface="Calibri"/>
                        </a:rPr>
                        <a:t>zone_assignment.csv + 3 map figures</a:t>
                      </a:r>
                    </a:p>
                  </a:txBody>
                  <a:tcPr>
                    <a:solidFill>
                      <a:srgbClr val="F0F6F3"/>
                    </a:solidFill>
                  </a:tcPr>
                </a:tc>
                <a:extLst>
                  <a:ext uri="{0D108BD9-81ED-4DB2-BD59-A6C34878D82A}">
                    <a16:rowId xmlns:a16="http://schemas.microsoft.com/office/drawing/2014/main" val="10008"/>
                  </a:ext>
                </a:extLst>
              </a:tr>
            </a:tbl>
          </a:graphicData>
        </a:graphic>
      </p:graphicFrame>
      <p:sp>
        <p:nvSpPr>
          <p:cNvPr id="12" name="TextBox 11"/>
          <p:cNvSpPr txBox="1"/>
          <p:nvPr/>
        </p:nvSpPr>
        <p:spPr>
          <a:xfrm>
            <a:off x="182880" y="6309360"/>
            <a:ext cx="7772400" cy="256032"/>
          </a:xfrm>
          <a:prstGeom prst="rect">
            <a:avLst/>
          </a:prstGeom>
          <a:noFill/>
        </p:spPr>
        <p:txBody>
          <a:bodyPr wrap="square">
            <a:spAutoFit/>
          </a:bodyPr>
          <a:lstStyle/>
          <a:p>
            <a:pPr algn="l"/>
            <a:r>
              <a:rPr sz="900" b="0" i="1">
                <a:solidFill>
                  <a:srgbClr val="5A6A60"/>
                </a:solidFill>
                <a:latin typeface="Calibri"/>
              </a:rPr>
              <a:t>GEE scripts: gee_01 ERA5 · gee_02 CHIRPS · gee_03 S2 · gee_04 MODIS NDVI · gee_05 MODIS LST</a:t>
            </a:r>
          </a:p>
        </p:txBody>
      </p:sp>
      <p:sp>
        <p:nvSpPr>
          <p:cNvPr id="13" name="TextBox 12"/>
          <p:cNvSpPr txBox="1"/>
          <p:nvPr/>
        </p:nvSpPr>
        <p:spPr>
          <a:xfrm>
            <a:off x="8229600" y="1097280"/>
            <a:ext cx="3749039" cy="320040"/>
          </a:xfrm>
          <a:prstGeom prst="rect">
            <a:avLst/>
          </a:prstGeom>
          <a:noFill/>
        </p:spPr>
        <p:txBody>
          <a:bodyPr wrap="square">
            <a:spAutoFit/>
          </a:bodyPr>
          <a:lstStyle/>
          <a:p>
            <a:pPr algn="l"/>
            <a:r>
              <a:rPr sz="1100" b="1" i="0">
                <a:solidFill>
                  <a:srgbClr val="1E6B45"/>
                </a:solidFill>
                <a:latin typeface="Calibri"/>
              </a:rPr>
              <a:t>KEY DATA FILES</a:t>
            </a:r>
          </a:p>
        </p:txBody>
      </p:sp>
      <p:graphicFrame>
        <p:nvGraphicFramePr>
          <p:cNvPr id="14" name="Table 13"/>
          <p:cNvGraphicFramePr>
            <a:graphicFrameLocks noGrp="1"/>
          </p:cNvGraphicFramePr>
          <p:nvPr/>
        </p:nvGraphicFramePr>
        <p:xfrm>
          <a:off x="8229600" y="1463040"/>
          <a:ext cx="3749040" cy="30632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06324">
                <a:tc>
                  <a:txBody>
                    <a:bodyPr/>
                    <a:lstStyle/>
                    <a:p>
                      <a:pPr algn="ctr"/>
                      <a:r>
                        <a:rPr sz="950" b="1">
                          <a:solidFill>
                            <a:srgbClr val="FFFFFF"/>
                          </a:solidFill>
                          <a:latin typeface="Calibri"/>
                        </a:rPr>
                        <a:t>File</a:t>
                      </a:r>
                    </a:p>
                  </a:txBody>
                  <a:tcPr>
                    <a:solidFill>
                      <a:srgbClr val="0D2240"/>
                    </a:solidFill>
                  </a:tcPr>
                </a:tc>
                <a:tc>
                  <a:txBody>
                    <a:bodyPr/>
                    <a:lstStyle/>
                    <a:p>
                      <a:pPr algn="ctr"/>
                      <a:r>
                        <a:rPr sz="950" b="1">
                          <a:solidFill>
                            <a:srgbClr val="FFFFFF"/>
                          </a:solidFill>
                          <a:latin typeface="Calibri"/>
                        </a:rPr>
                        <a:t>Size</a:t>
                      </a:r>
                    </a:p>
                  </a:txBody>
                  <a:tcPr>
                    <a:solidFill>
                      <a:srgbClr val="0D2240"/>
                    </a:solidFill>
                  </a:tcPr>
                </a:tc>
                <a:extLst>
                  <a:ext uri="{0D108BD9-81ED-4DB2-BD59-A6C34878D82A}">
                    <a16:rowId xmlns:a16="http://schemas.microsoft.com/office/drawing/2014/main" val="10000"/>
                  </a:ext>
                </a:extLst>
              </a:tr>
              <a:tr h="306324">
                <a:tc>
                  <a:txBody>
                    <a:bodyPr/>
                    <a:lstStyle/>
                    <a:p>
                      <a:pPr algn="l"/>
                      <a:r>
                        <a:rPr sz="900">
                          <a:solidFill>
                            <a:srgbClr val="1A2E1E"/>
                          </a:solidFill>
                          <a:latin typeface="Calibri"/>
                        </a:rPr>
                        <a:t>tomato_weekly_panel.csv</a:t>
                      </a:r>
                    </a:p>
                  </a:txBody>
                  <a:tcPr>
                    <a:solidFill>
                      <a:srgbClr val="FFFFFF"/>
                    </a:solidFill>
                  </a:tcPr>
                </a:tc>
                <a:tc>
                  <a:txBody>
                    <a:bodyPr/>
                    <a:lstStyle/>
                    <a:p>
                      <a:pPr algn="ctr"/>
                      <a:r>
                        <a:rPr sz="900">
                          <a:solidFill>
                            <a:srgbClr val="1A2E1E"/>
                          </a:solidFill>
                          <a:latin typeface="Calibri"/>
                        </a:rPr>
                        <a:t>70 MB</a:t>
                      </a:r>
                    </a:p>
                  </a:txBody>
                  <a:tcPr>
                    <a:solidFill>
                      <a:srgbClr val="FFFFFF"/>
                    </a:solidFill>
                  </a:tcPr>
                </a:tc>
                <a:extLst>
                  <a:ext uri="{0D108BD9-81ED-4DB2-BD59-A6C34878D82A}">
                    <a16:rowId xmlns:a16="http://schemas.microsoft.com/office/drawing/2014/main" val="10001"/>
                  </a:ext>
                </a:extLst>
              </a:tr>
              <a:tr h="306324">
                <a:tc>
                  <a:txBody>
                    <a:bodyPr/>
                    <a:lstStyle/>
                    <a:p>
                      <a:pPr algn="l"/>
                      <a:r>
                        <a:rPr sz="900">
                          <a:solidFill>
                            <a:srgbClr val="1A2E1E"/>
                          </a:solidFill>
                          <a:latin typeface="Calibri"/>
                        </a:rPr>
                        <a:t>onion_weekly_panel.csv</a:t>
                      </a:r>
                    </a:p>
                  </a:txBody>
                  <a:tcPr>
                    <a:solidFill>
                      <a:srgbClr val="F0F6F3"/>
                    </a:solidFill>
                  </a:tcPr>
                </a:tc>
                <a:tc>
                  <a:txBody>
                    <a:bodyPr/>
                    <a:lstStyle/>
                    <a:p>
                      <a:pPr algn="ctr"/>
                      <a:r>
                        <a:rPr sz="900">
                          <a:solidFill>
                            <a:srgbClr val="1A2E1E"/>
                          </a:solidFill>
                          <a:latin typeface="Calibri"/>
                        </a:rPr>
                        <a:t>35 MB</a:t>
                      </a:r>
                    </a:p>
                  </a:txBody>
                  <a:tcPr>
                    <a:solidFill>
                      <a:srgbClr val="F0F6F3"/>
                    </a:solidFill>
                  </a:tcPr>
                </a:tc>
                <a:extLst>
                  <a:ext uri="{0D108BD9-81ED-4DB2-BD59-A6C34878D82A}">
                    <a16:rowId xmlns:a16="http://schemas.microsoft.com/office/drawing/2014/main" val="10002"/>
                  </a:ext>
                </a:extLst>
              </a:tr>
              <a:tr h="306324">
                <a:tc>
                  <a:txBody>
                    <a:bodyPr/>
                    <a:lstStyle/>
                    <a:p>
                      <a:pPr algn="l"/>
                      <a:r>
                        <a:rPr sz="900">
                          <a:solidFill>
                            <a:srgbClr val="1A2E1E"/>
                          </a:solidFill>
                          <a:latin typeface="Calibri"/>
                        </a:rPr>
                        <a:t>potato_weekly_panel.csv</a:t>
                      </a:r>
                    </a:p>
                  </a:txBody>
                  <a:tcPr>
                    <a:solidFill>
                      <a:srgbClr val="FFFFFF"/>
                    </a:solidFill>
                  </a:tcPr>
                </a:tc>
                <a:tc>
                  <a:txBody>
                    <a:bodyPr/>
                    <a:lstStyle/>
                    <a:p>
                      <a:pPr algn="ctr"/>
                      <a:r>
                        <a:rPr sz="900">
                          <a:solidFill>
                            <a:srgbClr val="1A2E1E"/>
                          </a:solidFill>
                          <a:latin typeface="Calibri"/>
                        </a:rPr>
                        <a:t>4 MB</a:t>
                      </a:r>
                    </a:p>
                  </a:txBody>
                  <a:tcPr>
                    <a:solidFill>
                      <a:srgbClr val="FFFFFF"/>
                    </a:solidFill>
                  </a:tcPr>
                </a:tc>
                <a:extLst>
                  <a:ext uri="{0D108BD9-81ED-4DB2-BD59-A6C34878D82A}">
                    <a16:rowId xmlns:a16="http://schemas.microsoft.com/office/drawing/2014/main" val="10003"/>
                  </a:ext>
                </a:extLst>
              </a:tr>
              <a:tr h="306324">
                <a:tc>
                  <a:txBody>
                    <a:bodyPr/>
                    <a:lstStyle/>
                    <a:p>
                      <a:pPr algn="l"/>
                      <a:r>
                        <a:rPr sz="900">
                          <a:solidFill>
                            <a:srgbClr val="1A2E1E"/>
                          </a:solidFill>
                          <a:latin typeface="Calibri"/>
                        </a:rPr>
                        <a:t>crop_weekly_features.csv</a:t>
                      </a:r>
                    </a:p>
                  </a:txBody>
                  <a:tcPr>
                    <a:solidFill>
                      <a:srgbClr val="F0F6F3"/>
                    </a:solidFill>
                  </a:tcPr>
                </a:tc>
                <a:tc>
                  <a:txBody>
                    <a:bodyPr/>
                    <a:lstStyle/>
                    <a:p>
                      <a:pPr algn="ctr"/>
                      <a:r>
                        <a:rPr sz="900">
                          <a:solidFill>
                            <a:srgbClr val="1A2E1E"/>
                          </a:solidFill>
                          <a:latin typeface="Calibri"/>
                        </a:rPr>
                        <a:t>~800 KB</a:t>
                      </a:r>
                    </a:p>
                  </a:txBody>
                  <a:tcPr>
                    <a:solidFill>
                      <a:srgbClr val="F0F6F3"/>
                    </a:solidFill>
                  </a:tcPr>
                </a:tc>
                <a:extLst>
                  <a:ext uri="{0D108BD9-81ED-4DB2-BD59-A6C34878D82A}">
                    <a16:rowId xmlns:a16="http://schemas.microsoft.com/office/drawing/2014/main" val="10004"/>
                  </a:ext>
                </a:extLst>
              </a:tr>
              <a:tr h="306324">
                <a:tc>
                  <a:txBody>
                    <a:bodyPr/>
                    <a:lstStyle/>
                    <a:p>
                      <a:pPr algn="l"/>
                      <a:r>
                        <a:rPr sz="900">
                          <a:solidFill>
                            <a:srgbClr val="1A2E1E"/>
                          </a:solidFill>
                          <a:latin typeface="Calibri"/>
                        </a:rPr>
                        <a:t>zone_assignment.csv</a:t>
                      </a:r>
                    </a:p>
                  </a:txBody>
                  <a:tcPr>
                    <a:solidFill>
                      <a:srgbClr val="FFFFFF"/>
                    </a:solidFill>
                  </a:tcPr>
                </a:tc>
                <a:tc>
                  <a:txBody>
                    <a:bodyPr/>
                    <a:lstStyle/>
                    <a:p>
                      <a:pPr algn="ctr"/>
                      <a:r>
                        <a:rPr sz="900">
                          <a:solidFill>
                            <a:srgbClr val="1A2E1E"/>
                          </a:solidFill>
                          <a:latin typeface="Calibri"/>
                        </a:rPr>
                        <a:t>313 KB</a:t>
                      </a:r>
                    </a:p>
                  </a:txBody>
                  <a:tcPr>
                    <a:solidFill>
                      <a:srgbClr val="FFFFFF"/>
                    </a:solidFill>
                  </a:tcPr>
                </a:tc>
                <a:extLst>
                  <a:ext uri="{0D108BD9-81ED-4DB2-BD59-A6C34878D82A}">
                    <a16:rowId xmlns:a16="http://schemas.microsoft.com/office/drawing/2014/main" val="10005"/>
                  </a:ext>
                </a:extLst>
              </a:tr>
              <a:tr h="306324">
                <a:tc>
                  <a:txBody>
                    <a:bodyPr/>
                    <a:lstStyle/>
                    <a:p>
                      <a:pPr algn="l"/>
                      <a:r>
                        <a:rPr sz="900">
                          <a:solidFill>
                            <a:srgbClr val="1A2E1E"/>
                          </a:solidFill>
                          <a:latin typeface="Calibri"/>
                        </a:rPr>
                        <a:t>ppac_diesel_lpg_2017_2025.csv</a:t>
                      </a:r>
                    </a:p>
                  </a:txBody>
                  <a:tcPr>
                    <a:solidFill>
                      <a:srgbClr val="F0F6F3"/>
                    </a:solidFill>
                  </a:tcPr>
                </a:tc>
                <a:tc>
                  <a:txBody>
                    <a:bodyPr/>
                    <a:lstStyle/>
                    <a:p>
                      <a:pPr algn="ctr"/>
                      <a:r>
                        <a:rPr sz="900">
                          <a:solidFill>
                            <a:srgbClr val="1A2E1E"/>
                          </a:solidFill>
                          <a:latin typeface="Calibri"/>
                        </a:rPr>
                        <a:t>6 KB</a:t>
                      </a:r>
                    </a:p>
                  </a:txBody>
                  <a:tcPr>
                    <a:solidFill>
                      <a:srgbClr val="F0F6F3"/>
                    </a:solidFill>
                  </a:tcPr>
                </a:tc>
                <a:extLst>
                  <a:ext uri="{0D108BD9-81ED-4DB2-BD59-A6C34878D82A}">
                    <a16:rowId xmlns:a16="http://schemas.microsoft.com/office/drawing/2014/main" val="10006"/>
                  </a:ext>
                </a:extLst>
              </a:tr>
              <a:tr h="306324">
                <a:tc>
                  <a:txBody>
                    <a:bodyPr/>
                    <a:lstStyle/>
                    <a:p>
                      <a:pPr algn="l"/>
                      <a:r>
                        <a:rPr sz="900">
                          <a:solidFill>
                            <a:srgbClr val="1A2E1E"/>
                          </a:solidFill>
                          <a:latin typeface="Calibri"/>
                        </a:rPr>
                        <a:t>rbi_repo_rate_2017_2025.csv</a:t>
                      </a:r>
                    </a:p>
                  </a:txBody>
                  <a:tcPr>
                    <a:solidFill>
                      <a:srgbClr val="FFFFFF"/>
                    </a:solidFill>
                  </a:tcPr>
                </a:tc>
                <a:tc>
                  <a:txBody>
                    <a:bodyPr/>
                    <a:lstStyle/>
                    <a:p>
                      <a:pPr algn="ctr"/>
                      <a:r>
                        <a:rPr sz="900">
                          <a:solidFill>
                            <a:srgbClr val="1A2E1E"/>
                          </a:solidFill>
                          <a:latin typeface="Calibri"/>
                        </a:rPr>
                        <a:t>5 KB</a:t>
                      </a:r>
                    </a:p>
                  </a:txBody>
                  <a:tcPr>
                    <a:solidFill>
                      <a:srgbClr val="FFFFFF"/>
                    </a:solidFill>
                  </a:tcPr>
                </a:tc>
                <a:extLst>
                  <a:ext uri="{0D108BD9-81ED-4DB2-BD59-A6C34878D82A}">
                    <a16:rowId xmlns:a16="http://schemas.microsoft.com/office/drawing/2014/main" val="10007"/>
                  </a:ext>
                </a:extLst>
              </a:tr>
              <a:tr h="306324">
                <a:tc>
                  <a:txBody>
                    <a:bodyPr/>
                    <a:lstStyle/>
                    <a:p>
                      <a:pPr algn="l"/>
                      <a:r>
                        <a:rPr sz="900">
                          <a:solidFill>
                            <a:srgbClr val="1A2E1E"/>
                          </a:solidFill>
                          <a:latin typeface="Calibri"/>
                        </a:rPr>
                        <a:t>rbi_wpi_fruitsvegetables_*.csv</a:t>
                      </a:r>
                    </a:p>
                  </a:txBody>
                  <a:tcPr>
                    <a:solidFill>
                      <a:srgbClr val="F0F6F3"/>
                    </a:solidFill>
                  </a:tcPr>
                </a:tc>
                <a:tc>
                  <a:txBody>
                    <a:bodyPr/>
                    <a:lstStyle/>
                    <a:p>
                      <a:pPr algn="ctr"/>
                      <a:r>
                        <a:rPr sz="900">
                          <a:solidFill>
                            <a:srgbClr val="1A2E1E"/>
                          </a:solidFill>
                          <a:latin typeface="Calibri"/>
                        </a:rPr>
                        <a:t>7 KB</a:t>
                      </a:r>
                    </a:p>
                  </a:txBody>
                  <a:tcPr>
                    <a:solidFill>
                      <a:srgbClr val="F0F6F3"/>
                    </a:solidFill>
                  </a:tcPr>
                </a:tc>
                <a:extLst>
                  <a:ext uri="{0D108BD9-81ED-4DB2-BD59-A6C34878D82A}">
                    <a16:rowId xmlns:a16="http://schemas.microsoft.com/office/drawing/2014/main" val="10008"/>
                  </a:ext>
                </a:extLst>
              </a:tr>
              <a:tr h="306324">
                <a:tc>
                  <a:txBody>
                    <a:bodyPr/>
                    <a:lstStyle/>
                    <a:p>
                      <a:pPr algn="l"/>
                      <a:r>
                        <a:rPr sz="900">
                          <a:solidFill>
                            <a:srgbClr val="1A2E1E"/>
                          </a:solidFill>
                          <a:latin typeface="Calibri"/>
                        </a:rPr>
                        <a:t>geocode_cache.json</a:t>
                      </a:r>
                    </a:p>
                  </a:txBody>
                  <a:tcPr>
                    <a:solidFill>
                      <a:srgbClr val="FFFFFF"/>
                    </a:solidFill>
                  </a:tcPr>
                </a:tc>
                <a:tc>
                  <a:txBody>
                    <a:bodyPr/>
                    <a:lstStyle/>
                    <a:p>
                      <a:pPr algn="ctr"/>
                      <a:r>
                        <a:rPr sz="900">
                          <a:solidFill>
                            <a:srgbClr val="1A2E1E"/>
                          </a:solidFill>
                          <a:latin typeface="Calibri"/>
                        </a:rPr>
                        <a:t>42 KB</a:t>
                      </a:r>
                    </a:p>
                  </a:txBody>
                  <a:tcPr>
                    <a:solidFill>
                      <a:srgbClr val="FFFFFF"/>
                    </a:solidFill>
                  </a:tcPr>
                </a:tc>
                <a:extLst>
                  <a:ext uri="{0D108BD9-81ED-4DB2-BD59-A6C34878D82A}">
                    <a16:rowId xmlns:a16="http://schemas.microsoft.com/office/drawing/2014/main" val="10009"/>
                  </a:ext>
                </a:extLst>
              </a:tr>
            </a:tbl>
          </a:graphicData>
        </a:graphic>
      </p:graphicFrame>
      <p:sp>
        <p:nvSpPr>
          <p:cNvPr id="15" name="TextBox 14"/>
          <p:cNvSpPr txBox="1"/>
          <p:nvPr/>
        </p:nvSpPr>
        <p:spPr>
          <a:xfrm>
            <a:off x="8229600" y="4663440"/>
            <a:ext cx="3749039" cy="320040"/>
          </a:xfrm>
          <a:prstGeom prst="rect">
            <a:avLst/>
          </a:prstGeom>
          <a:noFill/>
        </p:spPr>
        <p:txBody>
          <a:bodyPr wrap="square">
            <a:spAutoFit/>
          </a:bodyPr>
          <a:lstStyle/>
          <a:p>
            <a:pPr algn="l"/>
            <a:r>
              <a:rPr sz="1100" b="1" i="0">
                <a:solidFill>
                  <a:srgbClr val="1E6B45"/>
                </a:solidFill>
                <a:latin typeface="Calibri"/>
              </a:rPr>
              <a:t>GITHUB REPOSITORY</a:t>
            </a:r>
          </a:p>
        </p:txBody>
      </p:sp>
      <p:sp>
        <p:nvSpPr>
          <p:cNvPr id="16" name="TextBox 15"/>
          <p:cNvSpPr txBox="1"/>
          <p:nvPr/>
        </p:nvSpPr>
        <p:spPr>
          <a:xfrm>
            <a:off x="8229600" y="5029200"/>
            <a:ext cx="3749039" cy="1188720"/>
          </a:xfrm>
          <a:prstGeom prst="rect">
            <a:avLst/>
          </a:prstGeom>
          <a:noFill/>
        </p:spPr>
        <p:txBody>
          <a:bodyPr wrap="square">
            <a:spAutoFit/>
          </a:bodyPr>
          <a:lstStyle/>
          <a:p>
            <a:pPr>
              <a:spcBef>
                <a:spcPts val="500"/>
              </a:spcBef>
            </a:pPr>
            <a:r>
              <a:rPr sz="1000">
                <a:solidFill>
                  <a:srgbClr val="1A2E1E"/>
                </a:solidFill>
                <a:latin typeface="Calibri"/>
              </a:rPr>
              <a:t>masroor01/TOP-Digital-Twin</a:t>
            </a:r>
          </a:p>
          <a:p>
            <a:pPr>
              <a:spcBef>
                <a:spcPts val="500"/>
              </a:spcBef>
            </a:pPr>
            <a:r>
              <a:rPr sz="1000">
                <a:solidFill>
                  <a:srgbClr val="1A2E1E"/>
                </a:solidFill>
                <a:latin typeface="Calibri"/>
              </a:rPr>
              <a:t>All scripts · GEE code · .gitignore</a:t>
            </a:r>
          </a:p>
          <a:p>
            <a:pPr>
              <a:spcBef>
                <a:spcPts val="500"/>
              </a:spcBef>
            </a:pPr>
            <a:r>
              <a:rPr sz="1000">
                <a:solidFill>
                  <a:srgbClr val="1A2E1E"/>
                </a:solidFill>
                <a:latin typeface="Calibri"/>
              </a:rPr>
              <a:t>top_weekly_panel.csv excluded</a:t>
            </a:r>
          </a:p>
          <a:p>
            <a:pPr>
              <a:spcBef>
                <a:spcPts val="500"/>
              </a:spcBef>
            </a:pPr>
            <a:r>
              <a:rPr sz="1000">
                <a:solidFill>
                  <a:srgbClr val="1A2E1E"/>
                </a:solidFill>
                <a:latin typeface="Calibri"/>
              </a:rPr>
              <a:t>(107 MB exceeds GitHub 100 MB limit)</a:t>
            </a:r>
          </a:p>
          <a:p>
            <a:pPr>
              <a:spcBef>
                <a:spcPts val="500"/>
              </a:spcBef>
            </a:pPr>
            <a:r>
              <a:rPr sz="1000">
                <a:solidFill>
                  <a:srgbClr val="1A2E1E"/>
                </a:solidFill>
                <a:latin typeface="Calibri"/>
              </a:rPr>
              <a:t>Data available on request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Current Status Dashboard</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Progress across all six layers and four modules — as of July 2026</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Rectangle 9"/>
          <p:cNvSpPr/>
          <p:nvPr/>
        </p:nvSpPr>
        <p:spPr>
          <a:xfrm>
            <a:off x="182880"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152144"/>
            <a:ext cx="2880360" cy="228600"/>
          </a:xfrm>
          <a:prstGeom prst="rect">
            <a:avLst/>
          </a:prstGeom>
          <a:noFill/>
        </p:spPr>
        <p:txBody>
          <a:bodyPr wrap="square">
            <a:spAutoFit/>
          </a:bodyPr>
          <a:lstStyle/>
          <a:p>
            <a:pPr algn="l"/>
            <a:r>
              <a:rPr sz="1000" b="1" i="0">
                <a:solidFill>
                  <a:srgbClr val="FFFFFF"/>
                </a:solidFill>
                <a:latin typeface="Calibri"/>
              </a:rPr>
              <a:t>L1  Market Prices</a:t>
            </a:r>
          </a:p>
        </p:txBody>
      </p:sp>
      <p:sp>
        <p:nvSpPr>
          <p:cNvPr id="13" name="Rectangle 12"/>
          <p:cNvSpPr/>
          <p:nvPr/>
        </p:nvSpPr>
        <p:spPr>
          <a:xfrm>
            <a:off x="3200400"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18688"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15" name="TextBox 14"/>
          <p:cNvSpPr txBox="1"/>
          <p:nvPr/>
        </p:nvSpPr>
        <p:spPr>
          <a:xfrm>
            <a:off x="274320" y="1463040"/>
            <a:ext cx="3566160" cy="256032"/>
          </a:xfrm>
          <a:prstGeom prst="rect">
            <a:avLst/>
          </a:prstGeom>
          <a:noFill/>
        </p:spPr>
        <p:txBody>
          <a:bodyPr wrap="square">
            <a:spAutoFit/>
          </a:bodyPr>
          <a:lstStyle/>
          <a:p>
            <a:pPr algn="l"/>
            <a:r>
              <a:rPr sz="900" b="0" i="0">
                <a:solidFill>
                  <a:srgbClr val="5A6A60"/>
                </a:solidFill>
                <a:latin typeface="Calibri"/>
              </a:rPr>
              <a:t>Agmarknet 2017–2025 · 2,495 markets · Script 09</a:t>
            </a:r>
          </a:p>
        </p:txBody>
      </p:sp>
      <p:sp>
        <p:nvSpPr>
          <p:cNvPr id="16" name="TextBox 15"/>
          <p:cNvSpPr txBox="1"/>
          <p:nvPr/>
        </p:nvSpPr>
        <p:spPr>
          <a:xfrm>
            <a:off x="274320"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17" name="Rectangle 16"/>
          <p:cNvSpPr/>
          <p:nvPr/>
        </p:nvSpPr>
        <p:spPr>
          <a:xfrm>
            <a:off x="4178808"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78808"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0248" y="1152144"/>
            <a:ext cx="2880360" cy="228600"/>
          </a:xfrm>
          <a:prstGeom prst="rect">
            <a:avLst/>
          </a:prstGeom>
          <a:noFill/>
        </p:spPr>
        <p:txBody>
          <a:bodyPr wrap="square">
            <a:spAutoFit/>
          </a:bodyPr>
          <a:lstStyle/>
          <a:p>
            <a:pPr algn="l"/>
            <a:r>
              <a:rPr sz="1000" b="1" i="0">
                <a:solidFill>
                  <a:srgbClr val="FFFFFF"/>
                </a:solidFill>
                <a:latin typeface="Calibri"/>
              </a:rPr>
              <a:t>L2  Satellite (2017–24)</a:t>
            </a:r>
          </a:p>
        </p:txBody>
      </p:sp>
      <p:sp>
        <p:nvSpPr>
          <p:cNvPr id="20" name="Rectangle 19"/>
          <p:cNvSpPr/>
          <p:nvPr/>
        </p:nvSpPr>
        <p:spPr>
          <a:xfrm>
            <a:off x="7196328"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14616"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22" name="TextBox 21"/>
          <p:cNvSpPr txBox="1"/>
          <p:nvPr/>
        </p:nvSpPr>
        <p:spPr>
          <a:xfrm>
            <a:off x="4270248" y="1463040"/>
            <a:ext cx="3566160" cy="256032"/>
          </a:xfrm>
          <a:prstGeom prst="rect">
            <a:avLst/>
          </a:prstGeom>
          <a:noFill/>
        </p:spPr>
        <p:txBody>
          <a:bodyPr wrap="square">
            <a:spAutoFit/>
          </a:bodyPr>
          <a:lstStyle/>
          <a:p>
            <a:pPr algn="l"/>
            <a:r>
              <a:rPr sz="900" b="0" i="0">
                <a:solidFill>
                  <a:srgbClr val="5A6A60"/>
                </a:solidFill>
                <a:latin typeface="Calibri"/>
              </a:rPr>
              <a:t>Sentinel-2 + MODIS NDVI/LST · Scripts 14+GEE</a:t>
            </a:r>
          </a:p>
        </p:txBody>
      </p:sp>
      <p:sp>
        <p:nvSpPr>
          <p:cNvPr id="23" name="TextBox 22"/>
          <p:cNvSpPr txBox="1"/>
          <p:nvPr/>
        </p:nvSpPr>
        <p:spPr>
          <a:xfrm>
            <a:off x="4270248"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24" name="Rectangle 23"/>
          <p:cNvSpPr/>
          <p:nvPr/>
        </p:nvSpPr>
        <p:spPr>
          <a:xfrm>
            <a:off x="8174736"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74736"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66175" y="1152144"/>
            <a:ext cx="2880360" cy="228600"/>
          </a:xfrm>
          <a:prstGeom prst="rect">
            <a:avLst/>
          </a:prstGeom>
          <a:noFill/>
        </p:spPr>
        <p:txBody>
          <a:bodyPr wrap="square">
            <a:spAutoFit/>
          </a:bodyPr>
          <a:lstStyle/>
          <a:p>
            <a:pPr algn="l"/>
            <a:r>
              <a:rPr sz="1000" b="1" i="0">
                <a:solidFill>
                  <a:srgbClr val="FFFFFF"/>
                </a:solidFill>
                <a:latin typeface="Calibri"/>
              </a:rPr>
              <a:t>L3  Climate (2017–24)</a:t>
            </a:r>
          </a:p>
        </p:txBody>
      </p:sp>
      <p:sp>
        <p:nvSpPr>
          <p:cNvPr id="27" name="Rectangle 26"/>
          <p:cNvSpPr/>
          <p:nvPr/>
        </p:nvSpPr>
        <p:spPr>
          <a:xfrm>
            <a:off x="11192255"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10544"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29" name="TextBox 28"/>
          <p:cNvSpPr txBox="1"/>
          <p:nvPr/>
        </p:nvSpPr>
        <p:spPr>
          <a:xfrm>
            <a:off x="8266175" y="1463040"/>
            <a:ext cx="3566160" cy="256032"/>
          </a:xfrm>
          <a:prstGeom prst="rect">
            <a:avLst/>
          </a:prstGeom>
          <a:noFill/>
        </p:spPr>
        <p:txBody>
          <a:bodyPr wrap="square">
            <a:spAutoFit/>
          </a:bodyPr>
          <a:lstStyle/>
          <a:p>
            <a:pPr algn="l"/>
            <a:r>
              <a:rPr sz="900" b="0" i="0">
                <a:solidFill>
                  <a:srgbClr val="5A6A60"/>
                </a:solidFill>
                <a:latin typeface="Calibri"/>
              </a:rPr>
              <a:t>ERA5 + CHIRPS · Scripts 14+GEE</a:t>
            </a:r>
          </a:p>
        </p:txBody>
      </p:sp>
      <p:sp>
        <p:nvSpPr>
          <p:cNvPr id="30" name="TextBox 29"/>
          <p:cNvSpPr txBox="1"/>
          <p:nvPr/>
        </p:nvSpPr>
        <p:spPr>
          <a:xfrm>
            <a:off x="8266175"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31" name="Rectangle 30"/>
          <p:cNvSpPr/>
          <p:nvPr/>
        </p:nvSpPr>
        <p:spPr>
          <a:xfrm>
            <a:off x="182880"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 y="2194560"/>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2231136"/>
            <a:ext cx="2880360" cy="228600"/>
          </a:xfrm>
          <a:prstGeom prst="rect">
            <a:avLst/>
          </a:prstGeom>
          <a:noFill/>
        </p:spPr>
        <p:txBody>
          <a:bodyPr wrap="square">
            <a:spAutoFit/>
          </a:bodyPr>
          <a:lstStyle/>
          <a:p>
            <a:pPr algn="l"/>
            <a:r>
              <a:rPr sz="1000" b="1" i="0">
                <a:solidFill>
                  <a:srgbClr val="FFFFFF"/>
                </a:solidFill>
                <a:latin typeface="Calibri"/>
              </a:rPr>
              <a:t>L4  Macro-Logistics</a:t>
            </a:r>
          </a:p>
        </p:txBody>
      </p:sp>
      <p:sp>
        <p:nvSpPr>
          <p:cNvPr id="34" name="Rectangle 33"/>
          <p:cNvSpPr/>
          <p:nvPr/>
        </p:nvSpPr>
        <p:spPr>
          <a:xfrm>
            <a:off x="3200400" y="2221991"/>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18688" y="2231136"/>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36" name="TextBox 35"/>
          <p:cNvSpPr txBox="1"/>
          <p:nvPr/>
        </p:nvSpPr>
        <p:spPr>
          <a:xfrm>
            <a:off x="274320" y="2542032"/>
            <a:ext cx="3566160" cy="256032"/>
          </a:xfrm>
          <a:prstGeom prst="rect">
            <a:avLst/>
          </a:prstGeom>
          <a:noFill/>
        </p:spPr>
        <p:txBody>
          <a:bodyPr wrap="square">
            <a:spAutoFit/>
          </a:bodyPr>
          <a:lstStyle/>
          <a:p>
            <a:pPr algn="l"/>
            <a:r>
              <a:rPr sz="900" b="0" i="0">
                <a:solidFill>
                  <a:srgbClr val="5A6A60"/>
                </a:solidFill>
                <a:latin typeface="Calibri"/>
              </a:rPr>
              <a:t>CMIE · PPAC · RBI DBIE · Scripts 10</a:t>
            </a:r>
          </a:p>
        </p:txBody>
      </p:sp>
      <p:sp>
        <p:nvSpPr>
          <p:cNvPr id="37" name="TextBox 36"/>
          <p:cNvSpPr txBox="1"/>
          <p:nvPr/>
        </p:nvSpPr>
        <p:spPr>
          <a:xfrm>
            <a:off x="274320" y="2798064"/>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38" name="Rectangle 37"/>
          <p:cNvSpPr/>
          <p:nvPr/>
        </p:nvSpPr>
        <p:spPr>
          <a:xfrm>
            <a:off x="4178808"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78808" y="2194560"/>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70248" y="2231136"/>
            <a:ext cx="2880360" cy="228600"/>
          </a:xfrm>
          <a:prstGeom prst="rect">
            <a:avLst/>
          </a:prstGeom>
          <a:noFill/>
        </p:spPr>
        <p:txBody>
          <a:bodyPr wrap="square">
            <a:spAutoFit/>
          </a:bodyPr>
          <a:lstStyle/>
          <a:p>
            <a:pPr algn="l"/>
            <a:r>
              <a:rPr sz="1000" b="1" i="0">
                <a:solidFill>
                  <a:srgbClr val="FFFFFF"/>
                </a:solidFill>
                <a:latin typeface="Calibri"/>
              </a:rPr>
              <a:t>L2/L3 2025 Topup</a:t>
            </a:r>
          </a:p>
        </p:txBody>
      </p:sp>
      <p:sp>
        <p:nvSpPr>
          <p:cNvPr id="41" name="Rectangle 40"/>
          <p:cNvSpPr/>
          <p:nvPr/>
        </p:nvSpPr>
        <p:spPr>
          <a:xfrm>
            <a:off x="7196328" y="2221991"/>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14616" y="2231136"/>
            <a:ext cx="667512" cy="219456"/>
          </a:xfrm>
          <a:prstGeom prst="rect">
            <a:avLst/>
          </a:prstGeom>
          <a:noFill/>
        </p:spPr>
        <p:txBody>
          <a:bodyPr wrap="square">
            <a:spAutoFit/>
          </a:bodyPr>
          <a:lstStyle/>
          <a:p>
            <a:pPr algn="ctr"/>
            <a:r>
              <a:rPr sz="850" b="1" i="0">
                <a:solidFill>
                  <a:srgbClr val="FFFFFF"/>
                </a:solidFill>
                <a:latin typeface="Calibri"/>
              </a:rPr>
              <a:t>60%</a:t>
            </a:r>
          </a:p>
        </p:txBody>
      </p:sp>
      <p:sp>
        <p:nvSpPr>
          <p:cNvPr id="43" name="TextBox 42"/>
          <p:cNvSpPr txBox="1"/>
          <p:nvPr/>
        </p:nvSpPr>
        <p:spPr>
          <a:xfrm>
            <a:off x="4270248" y="2542032"/>
            <a:ext cx="3566160" cy="256032"/>
          </a:xfrm>
          <a:prstGeom prst="rect">
            <a:avLst/>
          </a:prstGeom>
          <a:noFill/>
        </p:spPr>
        <p:txBody>
          <a:bodyPr wrap="square">
            <a:spAutoFit/>
          </a:bodyPr>
          <a:lstStyle/>
          <a:p>
            <a:pPr algn="l"/>
            <a:r>
              <a:rPr sz="900" b="0" i="0">
                <a:solidFill>
                  <a:srgbClr val="5A6A60"/>
                </a:solidFill>
                <a:latin typeface="Calibri"/>
              </a:rPr>
              <a:t>GEE scripts written; execution pending</a:t>
            </a:r>
          </a:p>
        </p:txBody>
      </p:sp>
      <p:sp>
        <p:nvSpPr>
          <p:cNvPr id="44" name="TextBox 43"/>
          <p:cNvSpPr txBox="1"/>
          <p:nvPr/>
        </p:nvSpPr>
        <p:spPr>
          <a:xfrm>
            <a:off x="4270248" y="2798064"/>
            <a:ext cx="3566160" cy="274320"/>
          </a:xfrm>
          <a:prstGeom prst="rect">
            <a:avLst/>
          </a:prstGeom>
          <a:noFill/>
        </p:spPr>
        <p:txBody>
          <a:bodyPr wrap="square">
            <a:spAutoFit/>
          </a:bodyPr>
          <a:lstStyle/>
          <a:p>
            <a:pPr algn="l"/>
            <a:r>
              <a:rPr sz="950" b="1" i="0">
                <a:solidFill>
                  <a:srgbClr val="1A2E1E"/>
                </a:solidFill>
                <a:latin typeface="Calibri"/>
              </a:rPr>
              <a:t>NEXT ACTION</a:t>
            </a:r>
          </a:p>
        </p:txBody>
      </p:sp>
      <p:sp>
        <p:nvSpPr>
          <p:cNvPr id="45" name="Rectangle 44"/>
          <p:cNvSpPr/>
          <p:nvPr/>
        </p:nvSpPr>
        <p:spPr>
          <a:xfrm>
            <a:off x="8174736"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174736" y="2194560"/>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66175" y="2231136"/>
            <a:ext cx="2880360" cy="228600"/>
          </a:xfrm>
          <a:prstGeom prst="rect">
            <a:avLst/>
          </a:prstGeom>
          <a:noFill/>
        </p:spPr>
        <p:txBody>
          <a:bodyPr wrap="square">
            <a:spAutoFit/>
          </a:bodyPr>
          <a:lstStyle/>
          <a:p>
            <a:pPr algn="l"/>
            <a:r>
              <a:rPr sz="1000" b="1" i="0">
                <a:solidFill>
                  <a:srgbClr val="FFFFFF"/>
                </a:solidFill>
                <a:latin typeface="Calibri"/>
              </a:rPr>
              <a:t>L5  Infrastructure</a:t>
            </a:r>
          </a:p>
        </p:txBody>
      </p:sp>
      <p:sp>
        <p:nvSpPr>
          <p:cNvPr id="48" name="Rectangle 47"/>
          <p:cNvSpPr/>
          <p:nvPr/>
        </p:nvSpPr>
        <p:spPr>
          <a:xfrm>
            <a:off x="11192255" y="2221991"/>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210544" y="2231136"/>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50" name="TextBox 49"/>
          <p:cNvSpPr txBox="1"/>
          <p:nvPr/>
        </p:nvSpPr>
        <p:spPr>
          <a:xfrm>
            <a:off x="8266175" y="2542032"/>
            <a:ext cx="3566160" cy="256032"/>
          </a:xfrm>
          <a:prstGeom prst="rect">
            <a:avLst/>
          </a:prstGeom>
          <a:noFill/>
        </p:spPr>
        <p:txBody>
          <a:bodyPr wrap="square">
            <a:spAutoFit/>
          </a:bodyPr>
          <a:lstStyle/>
          <a:p>
            <a:pPr algn="l"/>
            <a:r>
              <a:rPr sz="900" b="0" i="0">
                <a:solidFill>
                  <a:srgbClr val="5A6A60"/>
                </a:solidFill>
                <a:latin typeface="Calibri"/>
              </a:rPr>
              <a:t>Cold storage · Road density · Rural wages</a:t>
            </a:r>
          </a:p>
        </p:txBody>
      </p:sp>
      <p:sp>
        <p:nvSpPr>
          <p:cNvPr id="51" name="TextBox 50"/>
          <p:cNvSpPr txBox="1"/>
          <p:nvPr/>
        </p:nvSpPr>
        <p:spPr>
          <a:xfrm>
            <a:off x="8266175" y="2798064"/>
            <a:ext cx="3566160" cy="274320"/>
          </a:xfrm>
          <a:prstGeom prst="rect">
            <a:avLst/>
          </a:prstGeom>
          <a:noFill/>
        </p:spPr>
        <p:txBody>
          <a:bodyPr wrap="square">
            <a:spAutoFit/>
          </a:bodyPr>
          <a:lstStyle/>
          <a:p>
            <a:pPr algn="l"/>
            <a:r>
              <a:rPr sz="950" b="1" i="0">
                <a:solidFill>
                  <a:srgbClr val="1A2E1E"/>
                </a:solidFill>
                <a:latin typeface="Calibri"/>
              </a:rPr>
              <a:t>NOT STARTED</a:t>
            </a:r>
          </a:p>
        </p:txBody>
      </p:sp>
      <p:sp>
        <p:nvSpPr>
          <p:cNvPr id="52" name="Rectangle 51"/>
          <p:cNvSpPr/>
          <p:nvPr/>
        </p:nvSpPr>
        <p:spPr>
          <a:xfrm>
            <a:off x="182880"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82880" y="3273552"/>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4320" y="3310128"/>
            <a:ext cx="2880360" cy="228600"/>
          </a:xfrm>
          <a:prstGeom prst="rect">
            <a:avLst/>
          </a:prstGeom>
          <a:noFill/>
        </p:spPr>
        <p:txBody>
          <a:bodyPr wrap="square">
            <a:spAutoFit/>
          </a:bodyPr>
          <a:lstStyle/>
          <a:p>
            <a:pPr algn="l"/>
            <a:r>
              <a:rPr sz="1000" b="1" i="0">
                <a:solidFill>
                  <a:srgbClr val="FFFFFF"/>
                </a:solidFill>
                <a:latin typeface="Calibri"/>
              </a:rPr>
              <a:t>L6  Policy / Trade</a:t>
            </a:r>
          </a:p>
        </p:txBody>
      </p:sp>
      <p:sp>
        <p:nvSpPr>
          <p:cNvPr id="55" name="Rectangle 54"/>
          <p:cNvSpPr/>
          <p:nvPr/>
        </p:nvSpPr>
        <p:spPr>
          <a:xfrm>
            <a:off x="3200400" y="3300984"/>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18688" y="3310128"/>
            <a:ext cx="667512" cy="219456"/>
          </a:xfrm>
          <a:prstGeom prst="rect">
            <a:avLst/>
          </a:prstGeom>
          <a:noFill/>
        </p:spPr>
        <p:txBody>
          <a:bodyPr wrap="square">
            <a:spAutoFit/>
          </a:bodyPr>
          <a:lstStyle/>
          <a:p>
            <a:pPr algn="ctr"/>
            <a:r>
              <a:rPr sz="850" b="1" i="0">
                <a:solidFill>
                  <a:srgbClr val="FFFFFF"/>
                </a:solidFill>
                <a:latin typeface="Calibri"/>
              </a:rPr>
              <a:t>15%</a:t>
            </a:r>
          </a:p>
        </p:txBody>
      </p:sp>
      <p:sp>
        <p:nvSpPr>
          <p:cNvPr id="57" name="TextBox 56"/>
          <p:cNvSpPr txBox="1"/>
          <p:nvPr/>
        </p:nvSpPr>
        <p:spPr>
          <a:xfrm>
            <a:off x="274320" y="3621024"/>
            <a:ext cx="3566160" cy="256032"/>
          </a:xfrm>
          <a:prstGeom prst="rect">
            <a:avLst/>
          </a:prstGeom>
          <a:noFill/>
        </p:spPr>
        <p:txBody>
          <a:bodyPr wrap="square">
            <a:spAutoFit/>
          </a:bodyPr>
          <a:lstStyle/>
          <a:p>
            <a:pPr algn="l"/>
            <a:r>
              <a:rPr sz="900" b="0" i="0">
                <a:solidFill>
                  <a:srgbClr val="5A6A60"/>
                </a:solidFill>
                <a:latin typeface="Calibri"/>
              </a:rPr>
              <a:t>Export bans · MEP · NAFED · Letters sent</a:t>
            </a:r>
          </a:p>
        </p:txBody>
      </p:sp>
      <p:sp>
        <p:nvSpPr>
          <p:cNvPr id="58" name="TextBox 57"/>
          <p:cNvSpPr txBox="1"/>
          <p:nvPr/>
        </p:nvSpPr>
        <p:spPr>
          <a:xfrm>
            <a:off x="274320" y="3877056"/>
            <a:ext cx="3566160" cy="274320"/>
          </a:xfrm>
          <a:prstGeom prst="rect">
            <a:avLst/>
          </a:prstGeom>
          <a:noFill/>
        </p:spPr>
        <p:txBody>
          <a:bodyPr wrap="square">
            <a:spAutoFit/>
          </a:bodyPr>
          <a:lstStyle/>
          <a:p>
            <a:pPr algn="l"/>
            <a:r>
              <a:rPr sz="950" b="1" i="0">
                <a:solidFill>
                  <a:srgbClr val="1A2E1E"/>
                </a:solidFill>
                <a:latin typeface="Calibri"/>
              </a:rPr>
              <a:t>IN PROGRESS</a:t>
            </a:r>
          </a:p>
        </p:txBody>
      </p:sp>
      <p:sp>
        <p:nvSpPr>
          <p:cNvPr id="59" name="Rectangle 58"/>
          <p:cNvSpPr/>
          <p:nvPr/>
        </p:nvSpPr>
        <p:spPr>
          <a:xfrm>
            <a:off x="4178808"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178808" y="3273552"/>
            <a:ext cx="3794760" cy="292608"/>
          </a:xfrm>
          <a:prstGeom prst="rect">
            <a:avLst/>
          </a:prstGeom>
          <a:solidFill>
            <a:srgbClr val="18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270248" y="3310128"/>
            <a:ext cx="2880360" cy="228600"/>
          </a:xfrm>
          <a:prstGeom prst="rect">
            <a:avLst/>
          </a:prstGeom>
          <a:noFill/>
        </p:spPr>
        <p:txBody>
          <a:bodyPr wrap="square">
            <a:spAutoFit/>
          </a:bodyPr>
          <a:lstStyle/>
          <a:p>
            <a:pPr algn="l"/>
            <a:r>
              <a:rPr sz="1000" b="1" i="0">
                <a:solidFill>
                  <a:srgbClr val="FFFFFF"/>
                </a:solidFill>
                <a:latin typeface="Calibri"/>
              </a:rPr>
              <a:t>Module A  Supply Signal</a:t>
            </a:r>
          </a:p>
        </p:txBody>
      </p:sp>
      <p:sp>
        <p:nvSpPr>
          <p:cNvPr id="62" name="Rectangle 61"/>
          <p:cNvSpPr/>
          <p:nvPr/>
        </p:nvSpPr>
        <p:spPr>
          <a:xfrm>
            <a:off x="7196328" y="3300984"/>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14616" y="3310128"/>
            <a:ext cx="667512" cy="219456"/>
          </a:xfrm>
          <a:prstGeom prst="rect">
            <a:avLst/>
          </a:prstGeom>
          <a:noFill/>
        </p:spPr>
        <p:txBody>
          <a:bodyPr wrap="square">
            <a:spAutoFit/>
          </a:bodyPr>
          <a:lstStyle/>
          <a:p>
            <a:pPr algn="ctr"/>
            <a:r>
              <a:rPr sz="850" b="1" i="0">
                <a:solidFill>
                  <a:srgbClr val="FFFFFF"/>
                </a:solidFill>
                <a:latin typeface="Calibri"/>
              </a:rPr>
              <a:t>80%</a:t>
            </a:r>
          </a:p>
        </p:txBody>
      </p:sp>
      <p:sp>
        <p:nvSpPr>
          <p:cNvPr id="64" name="TextBox 63"/>
          <p:cNvSpPr txBox="1"/>
          <p:nvPr/>
        </p:nvSpPr>
        <p:spPr>
          <a:xfrm>
            <a:off x="4270248" y="3621024"/>
            <a:ext cx="3566160" cy="256032"/>
          </a:xfrm>
          <a:prstGeom prst="rect">
            <a:avLst/>
          </a:prstGeom>
          <a:noFill/>
        </p:spPr>
        <p:txBody>
          <a:bodyPr wrap="square">
            <a:spAutoFit/>
          </a:bodyPr>
          <a:lstStyle/>
          <a:p>
            <a:pPr algn="l"/>
            <a:r>
              <a:rPr sz="900" b="0" i="0">
                <a:solidFill>
                  <a:srgbClr val="5A6A60"/>
                </a:solidFill>
                <a:latin typeface="Calibri"/>
              </a:rPr>
              <a:t>NDVI anomaly + heat-stress score pipeline</a:t>
            </a:r>
          </a:p>
        </p:txBody>
      </p:sp>
      <p:sp>
        <p:nvSpPr>
          <p:cNvPr id="65" name="TextBox 64"/>
          <p:cNvSpPr txBox="1"/>
          <p:nvPr/>
        </p:nvSpPr>
        <p:spPr>
          <a:xfrm>
            <a:off x="4270248" y="3877056"/>
            <a:ext cx="3566160" cy="274320"/>
          </a:xfrm>
          <a:prstGeom prst="rect">
            <a:avLst/>
          </a:prstGeom>
          <a:noFill/>
        </p:spPr>
        <p:txBody>
          <a:bodyPr wrap="square">
            <a:spAutoFit/>
          </a:bodyPr>
          <a:lstStyle/>
          <a:p>
            <a:pPr algn="l"/>
            <a:r>
              <a:rPr sz="950" b="1" i="0">
                <a:solidFill>
                  <a:srgbClr val="1A2E1E"/>
                </a:solidFill>
                <a:latin typeface="Calibri"/>
              </a:rPr>
              <a:t>BUILT</a:t>
            </a:r>
          </a:p>
        </p:txBody>
      </p:sp>
      <p:sp>
        <p:nvSpPr>
          <p:cNvPr id="66" name="Rectangle 65"/>
          <p:cNvSpPr/>
          <p:nvPr/>
        </p:nvSpPr>
        <p:spPr>
          <a:xfrm>
            <a:off x="8174736"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174736" y="3273552"/>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66175" y="3310128"/>
            <a:ext cx="2880360" cy="228600"/>
          </a:xfrm>
          <a:prstGeom prst="rect">
            <a:avLst/>
          </a:prstGeom>
          <a:noFill/>
        </p:spPr>
        <p:txBody>
          <a:bodyPr wrap="square">
            <a:spAutoFit/>
          </a:bodyPr>
          <a:lstStyle/>
          <a:p>
            <a:pPr algn="l"/>
            <a:r>
              <a:rPr sz="1000" b="1" i="0">
                <a:solidFill>
                  <a:srgbClr val="FFFFFF"/>
                </a:solidFill>
                <a:latin typeface="Calibri"/>
              </a:rPr>
              <a:t>Module B  Forecasting</a:t>
            </a:r>
          </a:p>
        </p:txBody>
      </p:sp>
      <p:sp>
        <p:nvSpPr>
          <p:cNvPr id="69" name="Rectangle 68"/>
          <p:cNvSpPr/>
          <p:nvPr/>
        </p:nvSpPr>
        <p:spPr>
          <a:xfrm>
            <a:off x="11192255" y="3300984"/>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210544" y="3310128"/>
            <a:ext cx="667512" cy="219456"/>
          </a:xfrm>
          <a:prstGeom prst="rect">
            <a:avLst/>
          </a:prstGeom>
          <a:noFill/>
        </p:spPr>
        <p:txBody>
          <a:bodyPr wrap="square">
            <a:spAutoFit/>
          </a:bodyPr>
          <a:lstStyle/>
          <a:p>
            <a:pPr algn="ctr"/>
            <a:r>
              <a:rPr sz="850" b="1" i="0">
                <a:solidFill>
                  <a:srgbClr val="FFFFFF"/>
                </a:solidFill>
                <a:latin typeface="Calibri"/>
              </a:rPr>
              <a:t>90%</a:t>
            </a:r>
          </a:p>
        </p:txBody>
      </p:sp>
      <p:sp>
        <p:nvSpPr>
          <p:cNvPr id="71" name="TextBox 70"/>
          <p:cNvSpPr txBox="1"/>
          <p:nvPr/>
        </p:nvSpPr>
        <p:spPr>
          <a:xfrm>
            <a:off x="8266175" y="3621024"/>
            <a:ext cx="3566160" cy="256032"/>
          </a:xfrm>
          <a:prstGeom prst="rect">
            <a:avLst/>
          </a:prstGeom>
          <a:noFill/>
        </p:spPr>
        <p:txBody>
          <a:bodyPr wrap="square">
            <a:spAutoFit/>
          </a:bodyPr>
          <a:lstStyle/>
          <a:p>
            <a:pPr algn="l"/>
            <a:r>
              <a:rPr sz="900" b="0" i="0">
                <a:solidFill>
                  <a:srgbClr val="5A6A60"/>
                </a:solidFill>
                <a:latin typeface="Calibri"/>
              </a:rPr>
              <a:t>LightGBM + Benchmarks + 4-fold CV · Scripts 12/13</a:t>
            </a:r>
          </a:p>
        </p:txBody>
      </p:sp>
      <p:sp>
        <p:nvSpPr>
          <p:cNvPr id="72" name="TextBox 71"/>
          <p:cNvSpPr txBox="1"/>
          <p:nvPr/>
        </p:nvSpPr>
        <p:spPr>
          <a:xfrm>
            <a:off x="8266175" y="3877056"/>
            <a:ext cx="3566160" cy="274320"/>
          </a:xfrm>
          <a:prstGeom prst="rect">
            <a:avLst/>
          </a:prstGeom>
          <a:noFill/>
        </p:spPr>
        <p:txBody>
          <a:bodyPr wrap="square">
            <a:spAutoFit/>
          </a:bodyPr>
          <a:lstStyle/>
          <a:p>
            <a:pPr algn="l"/>
            <a:r>
              <a:rPr sz="950" b="1" i="0">
                <a:solidFill>
                  <a:srgbClr val="1A2E1E"/>
                </a:solidFill>
                <a:latin typeface="Calibri"/>
              </a:rPr>
              <a:t>RUNNING</a:t>
            </a:r>
          </a:p>
        </p:txBody>
      </p:sp>
      <p:sp>
        <p:nvSpPr>
          <p:cNvPr id="73" name="Rectangle 72"/>
          <p:cNvSpPr/>
          <p:nvPr/>
        </p:nvSpPr>
        <p:spPr>
          <a:xfrm>
            <a:off x="182880"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82880" y="4352544"/>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74320" y="4389120"/>
            <a:ext cx="2880360" cy="228600"/>
          </a:xfrm>
          <a:prstGeom prst="rect">
            <a:avLst/>
          </a:prstGeom>
          <a:noFill/>
        </p:spPr>
        <p:txBody>
          <a:bodyPr wrap="square">
            <a:spAutoFit/>
          </a:bodyPr>
          <a:lstStyle/>
          <a:p>
            <a:pPr algn="l"/>
            <a:r>
              <a:rPr sz="1000" b="1" i="0">
                <a:solidFill>
                  <a:srgbClr val="FFFFFF"/>
                </a:solidFill>
                <a:latin typeface="Calibri"/>
              </a:rPr>
              <a:t>Ablation M0–M4</a:t>
            </a:r>
          </a:p>
        </p:txBody>
      </p:sp>
      <p:sp>
        <p:nvSpPr>
          <p:cNvPr id="76" name="Rectangle 75"/>
          <p:cNvSpPr/>
          <p:nvPr/>
        </p:nvSpPr>
        <p:spPr>
          <a:xfrm>
            <a:off x="3200400" y="4379976"/>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218688" y="4389120"/>
            <a:ext cx="667512" cy="219456"/>
          </a:xfrm>
          <a:prstGeom prst="rect">
            <a:avLst/>
          </a:prstGeom>
          <a:noFill/>
        </p:spPr>
        <p:txBody>
          <a:bodyPr wrap="square">
            <a:spAutoFit/>
          </a:bodyPr>
          <a:lstStyle/>
          <a:p>
            <a:pPr algn="ctr"/>
            <a:r>
              <a:rPr sz="850" b="1" i="0">
                <a:solidFill>
                  <a:srgbClr val="FFFFFF"/>
                </a:solidFill>
                <a:latin typeface="Calibri"/>
              </a:rPr>
              <a:t>70%</a:t>
            </a:r>
          </a:p>
        </p:txBody>
      </p:sp>
      <p:sp>
        <p:nvSpPr>
          <p:cNvPr id="78" name="TextBox 77"/>
          <p:cNvSpPr txBox="1"/>
          <p:nvPr/>
        </p:nvSpPr>
        <p:spPr>
          <a:xfrm>
            <a:off x="274320" y="4700016"/>
            <a:ext cx="3566160" cy="256032"/>
          </a:xfrm>
          <a:prstGeom prst="rect">
            <a:avLst/>
          </a:prstGeom>
          <a:noFill/>
        </p:spPr>
        <p:txBody>
          <a:bodyPr wrap="square">
            <a:spAutoFit/>
          </a:bodyPr>
          <a:lstStyle/>
          <a:p>
            <a:pPr algn="l"/>
            <a:r>
              <a:rPr sz="900" b="0" i="0">
                <a:solidFill>
                  <a:srgbClr val="5A6A60"/>
                </a:solidFill>
                <a:latin typeface="Calibri"/>
              </a:rPr>
              <a:t>Script 15 complete; final 2025 data pending</a:t>
            </a:r>
          </a:p>
        </p:txBody>
      </p:sp>
      <p:sp>
        <p:nvSpPr>
          <p:cNvPr id="79" name="TextBox 78"/>
          <p:cNvSpPr txBox="1"/>
          <p:nvPr/>
        </p:nvSpPr>
        <p:spPr>
          <a:xfrm>
            <a:off x="274320" y="4956048"/>
            <a:ext cx="3566160" cy="274320"/>
          </a:xfrm>
          <a:prstGeom prst="rect">
            <a:avLst/>
          </a:prstGeom>
          <a:noFill/>
        </p:spPr>
        <p:txBody>
          <a:bodyPr wrap="square">
            <a:spAutoFit/>
          </a:bodyPr>
          <a:lstStyle/>
          <a:p>
            <a:pPr algn="l"/>
            <a:r>
              <a:rPr sz="950" b="1" i="0">
                <a:solidFill>
                  <a:srgbClr val="1A2E1E"/>
                </a:solidFill>
                <a:latin typeface="Calibri"/>
              </a:rPr>
              <a:t>IN PROGRESS</a:t>
            </a:r>
          </a:p>
        </p:txBody>
      </p:sp>
      <p:sp>
        <p:nvSpPr>
          <p:cNvPr id="80" name="Rectangle 79"/>
          <p:cNvSpPr/>
          <p:nvPr/>
        </p:nvSpPr>
        <p:spPr>
          <a:xfrm>
            <a:off x="4178808"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4178808" y="4352544"/>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270248" y="4389120"/>
            <a:ext cx="2880360" cy="228600"/>
          </a:xfrm>
          <a:prstGeom prst="rect">
            <a:avLst/>
          </a:prstGeom>
          <a:noFill/>
        </p:spPr>
        <p:txBody>
          <a:bodyPr wrap="square">
            <a:spAutoFit/>
          </a:bodyPr>
          <a:lstStyle/>
          <a:p>
            <a:pPr algn="l"/>
            <a:r>
              <a:rPr sz="1000" b="1" i="0">
                <a:solidFill>
                  <a:srgbClr val="FFFFFF"/>
                </a:solidFill>
                <a:latin typeface="Calibri"/>
              </a:rPr>
              <a:t>Ablation M5–M6</a:t>
            </a:r>
          </a:p>
        </p:txBody>
      </p:sp>
      <p:sp>
        <p:nvSpPr>
          <p:cNvPr id="83" name="Rectangle 82"/>
          <p:cNvSpPr/>
          <p:nvPr/>
        </p:nvSpPr>
        <p:spPr>
          <a:xfrm>
            <a:off x="7196328" y="4379976"/>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214616" y="4389120"/>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85" name="TextBox 84"/>
          <p:cNvSpPr txBox="1"/>
          <p:nvPr/>
        </p:nvSpPr>
        <p:spPr>
          <a:xfrm>
            <a:off x="4270248" y="4700016"/>
            <a:ext cx="3566160" cy="256032"/>
          </a:xfrm>
          <a:prstGeom prst="rect">
            <a:avLst/>
          </a:prstGeom>
          <a:noFill/>
        </p:spPr>
        <p:txBody>
          <a:bodyPr wrap="square">
            <a:spAutoFit/>
          </a:bodyPr>
          <a:lstStyle/>
          <a:p>
            <a:pPr algn="l"/>
            <a:r>
              <a:rPr sz="900" b="0" i="0">
                <a:solidFill>
                  <a:srgbClr val="5A6A60"/>
                </a:solidFill>
                <a:latin typeface="Calibri"/>
              </a:rPr>
              <a:t>Blocked on Layer 5 and 6 data</a:t>
            </a:r>
          </a:p>
        </p:txBody>
      </p:sp>
      <p:sp>
        <p:nvSpPr>
          <p:cNvPr id="86" name="TextBox 85"/>
          <p:cNvSpPr txBox="1"/>
          <p:nvPr/>
        </p:nvSpPr>
        <p:spPr>
          <a:xfrm>
            <a:off x="4270248" y="4956048"/>
            <a:ext cx="3566160" cy="274320"/>
          </a:xfrm>
          <a:prstGeom prst="rect">
            <a:avLst/>
          </a:prstGeom>
          <a:noFill/>
        </p:spPr>
        <p:txBody>
          <a:bodyPr wrap="square">
            <a:spAutoFit/>
          </a:bodyPr>
          <a:lstStyle/>
          <a:p>
            <a:pPr algn="l"/>
            <a:r>
              <a:rPr sz="950" b="1" i="0">
                <a:solidFill>
                  <a:srgbClr val="1A2E1E"/>
                </a:solidFill>
                <a:latin typeface="Calibri"/>
              </a:rPr>
              <a:t>BLOCKED</a:t>
            </a:r>
          </a:p>
        </p:txBody>
      </p:sp>
      <p:sp>
        <p:nvSpPr>
          <p:cNvPr id="87" name="Rectangle 86"/>
          <p:cNvSpPr/>
          <p:nvPr/>
        </p:nvSpPr>
        <p:spPr>
          <a:xfrm>
            <a:off x="8174736"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174736" y="4352544"/>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266175" y="4389120"/>
            <a:ext cx="2880360" cy="228600"/>
          </a:xfrm>
          <a:prstGeom prst="rect">
            <a:avLst/>
          </a:prstGeom>
          <a:noFill/>
        </p:spPr>
        <p:txBody>
          <a:bodyPr wrap="square">
            <a:spAutoFit/>
          </a:bodyPr>
          <a:lstStyle/>
          <a:p>
            <a:pPr algn="l"/>
            <a:r>
              <a:rPr sz="1000" b="1" i="0">
                <a:solidFill>
                  <a:srgbClr val="FFFFFF"/>
                </a:solidFill>
                <a:latin typeface="Calibri"/>
              </a:rPr>
              <a:t>Module C  Market Network</a:t>
            </a:r>
          </a:p>
        </p:txBody>
      </p:sp>
      <p:sp>
        <p:nvSpPr>
          <p:cNvPr id="90" name="Rectangle 89"/>
          <p:cNvSpPr/>
          <p:nvPr/>
        </p:nvSpPr>
        <p:spPr>
          <a:xfrm>
            <a:off x="11192255" y="4379976"/>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1210544" y="4389120"/>
            <a:ext cx="667512" cy="219456"/>
          </a:xfrm>
          <a:prstGeom prst="rect">
            <a:avLst/>
          </a:prstGeom>
          <a:noFill/>
        </p:spPr>
        <p:txBody>
          <a:bodyPr wrap="square">
            <a:spAutoFit/>
          </a:bodyPr>
          <a:lstStyle/>
          <a:p>
            <a:pPr algn="ctr"/>
            <a:r>
              <a:rPr sz="850" b="1" i="0">
                <a:solidFill>
                  <a:srgbClr val="FFFFFF"/>
                </a:solidFill>
                <a:latin typeface="Calibri"/>
              </a:rPr>
              <a:t>10%</a:t>
            </a:r>
          </a:p>
        </p:txBody>
      </p:sp>
      <p:sp>
        <p:nvSpPr>
          <p:cNvPr id="92" name="TextBox 91"/>
          <p:cNvSpPr txBox="1"/>
          <p:nvPr/>
        </p:nvSpPr>
        <p:spPr>
          <a:xfrm>
            <a:off x="8266175" y="4700016"/>
            <a:ext cx="3566160" cy="256032"/>
          </a:xfrm>
          <a:prstGeom prst="rect">
            <a:avLst/>
          </a:prstGeom>
          <a:noFill/>
        </p:spPr>
        <p:txBody>
          <a:bodyPr wrap="square">
            <a:spAutoFit/>
          </a:bodyPr>
          <a:lstStyle/>
          <a:p>
            <a:pPr algn="l"/>
            <a:r>
              <a:rPr sz="900" b="0" i="0">
                <a:solidFill>
                  <a:srgbClr val="5A6A60"/>
                </a:solidFill>
                <a:latin typeface="Calibri"/>
              </a:rPr>
              <a:t>Granger causality · leader-follower</a:t>
            </a:r>
          </a:p>
        </p:txBody>
      </p:sp>
      <p:sp>
        <p:nvSpPr>
          <p:cNvPr id="93" name="TextBox 92"/>
          <p:cNvSpPr txBox="1"/>
          <p:nvPr/>
        </p:nvSpPr>
        <p:spPr>
          <a:xfrm>
            <a:off x="8266175" y="4956048"/>
            <a:ext cx="3566160" cy="274320"/>
          </a:xfrm>
          <a:prstGeom prst="rect">
            <a:avLst/>
          </a:prstGeom>
          <a:noFill/>
        </p:spPr>
        <p:txBody>
          <a:bodyPr wrap="square">
            <a:spAutoFit/>
          </a:bodyPr>
          <a:lstStyle/>
          <a:p>
            <a:pPr algn="l"/>
            <a:r>
              <a:rPr sz="950" b="1" i="0">
                <a:solidFill>
                  <a:srgbClr val="1A2E1E"/>
                </a:solidFill>
                <a:latin typeface="Calibri"/>
              </a:rPr>
              <a:t>DESIGNED</a:t>
            </a:r>
          </a:p>
        </p:txBody>
      </p:sp>
      <p:sp>
        <p:nvSpPr>
          <p:cNvPr id="94" name="Rectangle 93"/>
          <p:cNvSpPr/>
          <p:nvPr/>
        </p:nvSpPr>
        <p:spPr>
          <a:xfrm>
            <a:off x="182880"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82880" y="5431536"/>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74320" y="5468112"/>
            <a:ext cx="2880360" cy="228600"/>
          </a:xfrm>
          <a:prstGeom prst="rect">
            <a:avLst/>
          </a:prstGeom>
          <a:noFill/>
        </p:spPr>
        <p:txBody>
          <a:bodyPr wrap="square">
            <a:spAutoFit/>
          </a:bodyPr>
          <a:lstStyle/>
          <a:p>
            <a:pPr algn="l"/>
            <a:r>
              <a:rPr sz="1000" b="1" i="0">
                <a:solidFill>
                  <a:srgbClr val="FFFFFF"/>
                </a:solidFill>
                <a:latin typeface="Calibri"/>
              </a:rPr>
              <a:t>Module D  Stress Testing</a:t>
            </a:r>
          </a:p>
        </p:txBody>
      </p:sp>
      <p:sp>
        <p:nvSpPr>
          <p:cNvPr id="97" name="Rectangle 96"/>
          <p:cNvSpPr/>
          <p:nvPr/>
        </p:nvSpPr>
        <p:spPr>
          <a:xfrm>
            <a:off x="3200400" y="5458968"/>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218688" y="5468112"/>
            <a:ext cx="667512" cy="219456"/>
          </a:xfrm>
          <a:prstGeom prst="rect">
            <a:avLst/>
          </a:prstGeom>
          <a:noFill/>
        </p:spPr>
        <p:txBody>
          <a:bodyPr wrap="square">
            <a:spAutoFit/>
          </a:bodyPr>
          <a:lstStyle/>
          <a:p>
            <a:pPr algn="ctr"/>
            <a:r>
              <a:rPr sz="850" b="1" i="0">
                <a:solidFill>
                  <a:srgbClr val="FFFFFF"/>
                </a:solidFill>
                <a:latin typeface="Calibri"/>
              </a:rPr>
              <a:t>5%</a:t>
            </a:r>
          </a:p>
        </p:txBody>
      </p:sp>
      <p:sp>
        <p:nvSpPr>
          <p:cNvPr id="99" name="TextBox 98"/>
          <p:cNvSpPr txBox="1"/>
          <p:nvPr/>
        </p:nvSpPr>
        <p:spPr>
          <a:xfrm>
            <a:off x="274320" y="5779007"/>
            <a:ext cx="3566160" cy="256032"/>
          </a:xfrm>
          <a:prstGeom prst="rect">
            <a:avLst/>
          </a:prstGeom>
          <a:noFill/>
        </p:spPr>
        <p:txBody>
          <a:bodyPr wrap="square">
            <a:spAutoFit/>
          </a:bodyPr>
          <a:lstStyle/>
          <a:p>
            <a:pPr algn="l"/>
            <a:r>
              <a:rPr sz="900" b="0" i="0">
                <a:solidFill>
                  <a:srgbClr val="5A6A60"/>
                </a:solidFill>
                <a:latin typeface="Calibri"/>
              </a:rPr>
              <a:t>Export ban / climate / fuel scenarios</a:t>
            </a:r>
          </a:p>
        </p:txBody>
      </p:sp>
      <p:sp>
        <p:nvSpPr>
          <p:cNvPr id="100" name="TextBox 99"/>
          <p:cNvSpPr txBox="1"/>
          <p:nvPr/>
        </p:nvSpPr>
        <p:spPr>
          <a:xfrm>
            <a:off x="274320" y="6035040"/>
            <a:ext cx="3566160" cy="274320"/>
          </a:xfrm>
          <a:prstGeom prst="rect">
            <a:avLst/>
          </a:prstGeom>
          <a:noFill/>
        </p:spPr>
        <p:txBody>
          <a:bodyPr wrap="square">
            <a:spAutoFit/>
          </a:bodyPr>
          <a:lstStyle/>
          <a:p>
            <a:pPr algn="l"/>
            <a:r>
              <a:rPr sz="950" b="1" i="0">
                <a:solidFill>
                  <a:srgbClr val="1A2E1E"/>
                </a:solidFill>
                <a:latin typeface="Calibri"/>
              </a:rPr>
              <a:t>DESIGNED</a:t>
            </a:r>
          </a:p>
        </p:txBody>
      </p:sp>
      <p:sp>
        <p:nvSpPr>
          <p:cNvPr id="101" name="Rectangle 100"/>
          <p:cNvSpPr/>
          <p:nvPr/>
        </p:nvSpPr>
        <p:spPr>
          <a:xfrm>
            <a:off x="4178808"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178808" y="5431536"/>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4270248" y="5468112"/>
            <a:ext cx="2880360" cy="228600"/>
          </a:xfrm>
          <a:prstGeom prst="rect">
            <a:avLst/>
          </a:prstGeom>
          <a:noFill/>
        </p:spPr>
        <p:txBody>
          <a:bodyPr wrap="square">
            <a:spAutoFit/>
          </a:bodyPr>
          <a:lstStyle/>
          <a:p>
            <a:pPr algn="l"/>
            <a:r>
              <a:rPr sz="1000" b="1" i="0">
                <a:solidFill>
                  <a:srgbClr val="FFFFFF"/>
                </a:solidFill>
                <a:latin typeface="Calibri"/>
              </a:rPr>
              <a:t>Crisis Backtesting</a:t>
            </a:r>
          </a:p>
        </p:txBody>
      </p:sp>
      <p:sp>
        <p:nvSpPr>
          <p:cNvPr id="104" name="Rectangle 103"/>
          <p:cNvSpPr/>
          <p:nvPr/>
        </p:nvSpPr>
        <p:spPr>
          <a:xfrm>
            <a:off x="7196328" y="5458968"/>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214616" y="5468112"/>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106" name="TextBox 105"/>
          <p:cNvSpPr txBox="1"/>
          <p:nvPr/>
        </p:nvSpPr>
        <p:spPr>
          <a:xfrm>
            <a:off x="4270248" y="5779007"/>
            <a:ext cx="3566160" cy="256032"/>
          </a:xfrm>
          <a:prstGeom prst="rect">
            <a:avLst/>
          </a:prstGeom>
          <a:noFill/>
        </p:spPr>
        <p:txBody>
          <a:bodyPr wrap="square">
            <a:spAutoFit/>
          </a:bodyPr>
          <a:lstStyle/>
          <a:p>
            <a:pPr algn="l"/>
            <a:r>
              <a:rPr sz="900" b="0" i="0">
                <a:solidFill>
                  <a:srgbClr val="5A6A60"/>
                </a:solidFill>
                <a:latin typeface="Calibri"/>
              </a:rPr>
              <a:t>2019 onion · 2023 tomato · COVID 2020</a:t>
            </a:r>
          </a:p>
        </p:txBody>
      </p:sp>
      <p:sp>
        <p:nvSpPr>
          <p:cNvPr id="107" name="TextBox 106"/>
          <p:cNvSpPr txBox="1"/>
          <p:nvPr/>
        </p:nvSpPr>
        <p:spPr>
          <a:xfrm>
            <a:off x="4270248" y="6035040"/>
            <a:ext cx="3566160" cy="274320"/>
          </a:xfrm>
          <a:prstGeom prst="rect">
            <a:avLst/>
          </a:prstGeom>
          <a:noFill/>
        </p:spPr>
        <p:txBody>
          <a:bodyPr wrap="square">
            <a:spAutoFit/>
          </a:bodyPr>
          <a:lstStyle/>
          <a:p>
            <a:pPr algn="l"/>
            <a:r>
              <a:rPr sz="950" b="1" i="0">
                <a:solidFill>
                  <a:srgbClr val="1A2E1E"/>
                </a:solidFill>
                <a:latin typeface="Calibri"/>
              </a:rPr>
              <a:t>NOT STARTED</a:t>
            </a:r>
          </a:p>
        </p:txBody>
      </p:sp>
      <p:sp>
        <p:nvSpPr>
          <p:cNvPr id="108" name="Rectangle 107"/>
          <p:cNvSpPr/>
          <p:nvPr/>
        </p:nvSpPr>
        <p:spPr>
          <a:xfrm>
            <a:off x="8174736"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8174736" y="5431536"/>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266175" y="5468112"/>
            <a:ext cx="2880360" cy="228600"/>
          </a:xfrm>
          <a:prstGeom prst="rect">
            <a:avLst/>
          </a:prstGeom>
          <a:noFill/>
        </p:spPr>
        <p:txBody>
          <a:bodyPr wrap="square">
            <a:spAutoFit/>
          </a:bodyPr>
          <a:lstStyle/>
          <a:p>
            <a:pPr algn="l"/>
            <a:r>
              <a:rPr sz="1000" b="1" i="0">
                <a:solidFill>
                  <a:srgbClr val="FFFFFF"/>
                </a:solidFill>
                <a:latin typeface="Calibri"/>
              </a:rPr>
              <a:t>Manuscript Draft</a:t>
            </a:r>
          </a:p>
        </p:txBody>
      </p:sp>
      <p:sp>
        <p:nvSpPr>
          <p:cNvPr id="111" name="Rectangle 110"/>
          <p:cNvSpPr/>
          <p:nvPr/>
        </p:nvSpPr>
        <p:spPr>
          <a:xfrm>
            <a:off x="11192255" y="5458968"/>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1210544" y="5468112"/>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113" name="TextBox 112"/>
          <p:cNvSpPr txBox="1"/>
          <p:nvPr/>
        </p:nvSpPr>
        <p:spPr>
          <a:xfrm>
            <a:off x="8266175" y="5779007"/>
            <a:ext cx="3566160" cy="256032"/>
          </a:xfrm>
          <a:prstGeom prst="rect">
            <a:avLst/>
          </a:prstGeom>
          <a:noFill/>
        </p:spPr>
        <p:txBody>
          <a:bodyPr wrap="square">
            <a:spAutoFit/>
          </a:bodyPr>
          <a:lstStyle/>
          <a:p>
            <a:pPr algn="l"/>
            <a:r>
              <a:rPr sz="900" b="0" i="0">
                <a:solidFill>
                  <a:srgbClr val="5A6A60"/>
                </a:solidFill>
                <a:latin typeface="Calibri"/>
              </a:rPr>
              <a:t>Targeting CELA / Agricultural Systems</a:t>
            </a:r>
          </a:p>
        </p:txBody>
      </p:sp>
      <p:sp>
        <p:nvSpPr>
          <p:cNvPr id="114" name="TextBox 113"/>
          <p:cNvSpPr txBox="1"/>
          <p:nvPr/>
        </p:nvSpPr>
        <p:spPr>
          <a:xfrm>
            <a:off x="8266175" y="6035040"/>
            <a:ext cx="3566160" cy="274320"/>
          </a:xfrm>
          <a:prstGeom prst="rect">
            <a:avLst/>
          </a:prstGeom>
          <a:noFill/>
        </p:spPr>
        <p:txBody>
          <a:bodyPr wrap="square">
            <a:spAutoFit/>
          </a:bodyPr>
          <a:lstStyle/>
          <a:p>
            <a:pPr algn="l"/>
            <a:r>
              <a:rPr sz="950" b="1" i="0">
                <a:solidFill>
                  <a:srgbClr val="1A2E1E"/>
                </a:solidFill>
                <a:latin typeface="Calibri"/>
              </a:rPr>
              <a:t>NOT STARTED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Pending Actions &amp; Outstanding Data Gaps</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Clear prioritisation of what is needed before manuscript submission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Rectangle 9"/>
          <p:cNvSpPr/>
          <p:nvPr/>
        </p:nvSpPr>
        <p:spPr>
          <a:xfrm>
            <a:off x="182880" y="1097280"/>
            <a:ext cx="11750040" cy="3200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115568"/>
            <a:ext cx="11430000" cy="274320"/>
          </a:xfrm>
          <a:prstGeom prst="rect">
            <a:avLst/>
          </a:prstGeom>
          <a:noFill/>
        </p:spPr>
        <p:txBody>
          <a:bodyPr wrap="square">
            <a:spAutoFit/>
          </a:bodyPr>
          <a:lstStyle/>
          <a:p>
            <a:pPr algn="l"/>
            <a:r>
              <a:rPr sz="1100" b="1" i="0">
                <a:solidFill>
                  <a:srgbClr val="FFFFFF"/>
                </a:solidFill>
                <a:latin typeface="Calibri"/>
              </a:rPr>
              <a:t>IMMEDIATE — THIS WEEK</a:t>
            </a:r>
          </a:p>
        </p:txBody>
      </p:sp>
      <p:sp>
        <p:nvSpPr>
          <p:cNvPr id="12" name="TextBox 11"/>
          <p:cNvSpPr txBox="1"/>
          <p:nvPr/>
        </p:nvSpPr>
        <p:spPr>
          <a:xfrm>
            <a:off x="182880" y="1481328"/>
            <a:ext cx="11612880" cy="1179810"/>
          </a:xfrm>
          <a:prstGeom prst="rect">
            <a:avLst/>
          </a:prstGeom>
          <a:noFill/>
        </p:spPr>
        <p:txBody>
          <a:bodyPr wrap="square">
            <a:spAutoFit/>
          </a:bodyPr>
          <a:lstStyle/>
          <a:p>
            <a:pPr>
              <a:spcBef>
                <a:spcPts val="400"/>
              </a:spcBef>
            </a:pPr>
            <a:r>
              <a:rPr sz="900" dirty="0">
                <a:solidFill>
                  <a:srgbClr val="1A2E1E"/>
                </a:solidFill>
                <a:latin typeface="Calibri"/>
              </a:rPr>
              <a:t>1.  Run 5 GEE scripts in Google Earth Engine Code Editor (gee_01 through gee_05)</a:t>
            </a:r>
          </a:p>
          <a:p>
            <a:pPr>
              <a:spcBef>
                <a:spcPts val="400"/>
              </a:spcBef>
            </a:pPr>
            <a:r>
              <a:rPr sz="900" dirty="0">
                <a:solidFill>
                  <a:srgbClr val="1A2E1E"/>
                </a:solidFill>
                <a:latin typeface="Calibri"/>
              </a:rPr>
              <a:t>    →  Click Tasks tab → Run all 17 export tasks per script (85 total CSV files)</a:t>
            </a:r>
          </a:p>
          <a:p>
            <a:pPr>
              <a:spcBef>
                <a:spcPts val="400"/>
              </a:spcBef>
            </a:pPr>
            <a:r>
              <a:rPr sz="900" dirty="0">
                <a:solidFill>
                  <a:srgbClr val="1A2E1E"/>
                </a:solidFill>
                <a:latin typeface="Calibri"/>
              </a:rPr>
              <a:t>    →  Download from Google Drive folder 'TOP_Digital_Twin_GEE_2025'</a:t>
            </a:r>
          </a:p>
          <a:p>
            <a:pPr>
              <a:spcBef>
                <a:spcPts val="400"/>
              </a:spcBef>
            </a:pPr>
            <a:r>
              <a:rPr sz="900" dirty="0">
                <a:solidFill>
                  <a:srgbClr val="1A2E1E"/>
                </a:solidFill>
                <a:latin typeface="Calibri"/>
              </a:rPr>
              <a:t>    →  </a:t>
            </a:r>
            <a:r>
              <a:rPr sz="900" dirty="0" err="1">
                <a:solidFill>
                  <a:srgbClr val="1A2E1E"/>
                </a:solidFill>
                <a:latin typeface="Calibri"/>
              </a:rPr>
              <a:t>Organise</a:t>
            </a:r>
            <a:r>
              <a:rPr sz="900" dirty="0">
                <a:solidFill>
                  <a:srgbClr val="1A2E1E"/>
                </a:solidFill>
                <a:latin typeface="Calibri"/>
              </a:rPr>
              <a:t> into Downloads\GEE_2025\{era5, chirps, s2, </a:t>
            </a:r>
            <a:r>
              <a:rPr sz="900" dirty="0" err="1">
                <a:solidFill>
                  <a:srgbClr val="1A2E1E"/>
                </a:solidFill>
                <a:latin typeface="Calibri"/>
              </a:rPr>
              <a:t>modis</a:t>
            </a:r>
            <a:r>
              <a:rPr sz="900" dirty="0">
                <a:solidFill>
                  <a:srgbClr val="1A2E1E"/>
                </a:solidFill>
                <a:latin typeface="Calibri"/>
              </a:rPr>
              <a:t>}</a:t>
            </a:r>
          </a:p>
          <a:p>
            <a:pPr>
              <a:spcBef>
                <a:spcPts val="400"/>
              </a:spcBef>
            </a:pPr>
            <a:r>
              <a:rPr sz="900" dirty="0">
                <a:solidFill>
                  <a:srgbClr val="1A2E1E"/>
                </a:solidFill>
                <a:latin typeface="Calibri"/>
              </a:rPr>
              <a:t>    →  Re-run Script 14 to generate 2025-extended crop_weekly_features.csv (470 weeks)</a:t>
            </a:r>
          </a:p>
          <a:p>
            <a:pPr>
              <a:spcBef>
                <a:spcPts val="400"/>
              </a:spcBef>
            </a:pPr>
            <a:r>
              <a:rPr sz="900" dirty="0">
                <a:solidFill>
                  <a:srgbClr val="1A2E1E"/>
                </a:solidFill>
                <a:latin typeface="Calibri"/>
              </a:rPr>
              <a:t>    →  Re-run Script 15 to update ablation M0–M4 with full 2025 fold</a:t>
            </a:r>
          </a:p>
        </p:txBody>
      </p:sp>
      <p:sp>
        <p:nvSpPr>
          <p:cNvPr id="13" name="Rectangle 12"/>
          <p:cNvSpPr/>
          <p:nvPr/>
        </p:nvSpPr>
        <p:spPr>
          <a:xfrm>
            <a:off x="182880" y="2697480"/>
            <a:ext cx="11750040" cy="3200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715768"/>
            <a:ext cx="11430000" cy="274320"/>
          </a:xfrm>
          <a:prstGeom prst="rect">
            <a:avLst/>
          </a:prstGeom>
          <a:noFill/>
        </p:spPr>
        <p:txBody>
          <a:bodyPr wrap="square">
            <a:spAutoFit/>
          </a:bodyPr>
          <a:lstStyle/>
          <a:p>
            <a:pPr algn="l"/>
            <a:r>
              <a:rPr sz="1100" b="1" i="0">
                <a:solidFill>
                  <a:srgbClr val="FFFFFF"/>
                </a:solidFill>
                <a:latin typeface="Calibri"/>
              </a:rPr>
              <a:t>SHORT TERM — 2–4 WEEKS</a:t>
            </a:r>
          </a:p>
        </p:txBody>
      </p:sp>
      <p:sp>
        <p:nvSpPr>
          <p:cNvPr id="15" name="TextBox 14"/>
          <p:cNvSpPr txBox="1"/>
          <p:nvPr/>
        </p:nvSpPr>
        <p:spPr>
          <a:xfrm>
            <a:off x="182880" y="3081528"/>
            <a:ext cx="11612880" cy="1436291"/>
          </a:xfrm>
          <a:prstGeom prst="rect">
            <a:avLst/>
          </a:prstGeom>
          <a:noFill/>
        </p:spPr>
        <p:txBody>
          <a:bodyPr wrap="square">
            <a:spAutoFit/>
          </a:bodyPr>
          <a:lstStyle/>
          <a:p>
            <a:pPr>
              <a:spcBef>
                <a:spcPts val="400"/>
              </a:spcBef>
            </a:pPr>
            <a:r>
              <a:rPr sz="800" dirty="0">
                <a:solidFill>
                  <a:srgbClr val="1A2E1E"/>
                </a:solidFill>
                <a:latin typeface="Calibri"/>
              </a:rPr>
              <a:t>2.  Layer 6 — Policy/Trade database:</a:t>
            </a:r>
          </a:p>
          <a:p>
            <a:pPr>
              <a:spcBef>
                <a:spcPts val="400"/>
              </a:spcBef>
            </a:pPr>
            <a:r>
              <a:rPr sz="800" dirty="0">
                <a:solidFill>
                  <a:srgbClr val="1A2E1E"/>
                </a:solidFill>
                <a:latin typeface="Calibri"/>
              </a:rPr>
              <a:t>    ·  Export ban dates from APEDA and </a:t>
            </a:r>
            <a:r>
              <a:rPr sz="800" dirty="0" err="1">
                <a:solidFill>
                  <a:srgbClr val="1A2E1E"/>
                </a:solidFill>
                <a:latin typeface="Calibri"/>
              </a:rPr>
              <a:t>MoC</a:t>
            </a:r>
            <a:r>
              <a:rPr sz="800" dirty="0">
                <a:solidFill>
                  <a:srgbClr val="1A2E1E"/>
                </a:solidFill>
                <a:latin typeface="Calibri"/>
              </a:rPr>
              <a:t> notifications (2017–2025, searchable online)</a:t>
            </a:r>
          </a:p>
          <a:p>
            <a:pPr>
              <a:spcBef>
                <a:spcPts val="400"/>
              </a:spcBef>
            </a:pPr>
            <a:r>
              <a:rPr sz="800" dirty="0">
                <a:solidFill>
                  <a:srgbClr val="1A2E1E"/>
                </a:solidFill>
                <a:latin typeface="Calibri"/>
              </a:rPr>
              <a:t>    ·  MEP (Minimum Export Price) time series from APEDA circulars</a:t>
            </a:r>
          </a:p>
          <a:p>
            <a:pPr>
              <a:spcBef>
                <a:spcPts val="400"/>
              </a:spcBef>
            </a:pPr>
            <a:r>
              <a:rPr sz="800" dirty="0">
                <a:solidFill>
                  <a:srgbClr val="1A2E1E"/>
                </a:solidFill>
                <a:latin typeface="Calibri"/>
              </a:rPr>
              <a:t>    ·  NAFED/NCCF intervention dates and quantities from annual reports</a:t>
            </a:r>
          </a:p>
          <a:p>
            <a:pPr>
              <a:spcBef>
                <a:spcPts val="400"/>
              </a:spcBef>
            </a:pPr>
            <a:r>
              <a:rPr sz="800" dirty="0">
                <a:solidFill>
                  <a:srgbClr val="1A2E1E"/>
                </a:solidFill>
                <a:latin typeface="Calibri"/>
              </a:rPr>
              <a:t>    ·  Await IMD and NAFED formal data response (letters sent)</a:t>
            </a:r>
          </a:p>
          <a:p>
            <a:pPr>
              <a:spcBef>
                <a:spcPts val="400"/>
              </a:spcBef>
            </a:pPr>
            <a:r>
              <a:rPr sz="800" dirty="0">
                <a:solidFill>
                  <a:srgbClr val="1A2E1E"/>
                </a:solidFill>
                <a:latin typeface="Calibri"/>
              </a:rPr>
              <a:t>3.  Layer 5 — Infrastructure data:</a:t>
            </a:r>
          </a:p>
          <a:p>
            <a:pPr>
              <a:spcBef>
                <a:spcPts val="400"/>
              </a:spcBef>
            </a:pPr>
            <a:r>
              <a:rPr sz="800" dirty="0">
                <a:solidFill>
                  <a:srgbClr val="1A2E1E"/>
                </a:solidFill>
                <a:latin typeface="Calibri"/>
              </a:rPr>
              <a:t>    ·  Cold storage capacity: NHB State Horticulture Mission reports (available online)</a:t>
            </a:r>
          </a:p>
          <a:p>
            <a:pPr>
              <a:spcBef>
                <a:spcPts val="400"/>
              </a:spcBef>
            </a:pPr>
            <a:r>
              <a:rPr sz="800" dirty="0">
                <a:solidFill>
                  <a:srgbClr val="1A2E1E"/>
                </a:solidFill>
                <a:latin typeface="Calibri"/>
              </a:rPr>
              <a:t>    ·  Road connectivity index: PMGSY district-level data (available from MoRTH portal)</a:t>
            </a:r>
          </a:p>
        </p:txBody>
      </p:sp>
      <p:sp>
        <p:nvSpPr>
          <p:cNvPr id="16" name="Rectangle 15"/>
          <p:cNvSpPr/>
          <p:nvPr/>
        </p:nvSpPr>
        <p:spPr>
          <a:xfrm>
            <a:off x="182880" y="4553712"/>
            <a:ext cx="11750040" cy="320040"/>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4572000"/>
            <a:ext cx="11430000" cy="274320"/>
          </a:xfrm>
          <a:prstGeom prst="rect">
            <a:avLst/>
          </a:prstGeom>
          <a:noFill/>
        </p:spPr>
        <p:txBody>
          <a:bodyPr wrap="square">
            <a:spAutoFit/>
          </a:bodyPr>
          <a:lstStyle/>
          <a:p>
            <a:pPr algn="l"/>
            <a:r>
              <a:rPr sz="1100" b="1" i="0">
                <a:solidFill>
                  <a:srgbClr val="FFFFFF"/>
                </a:solidFill>
                <a:latin typeface="Calibri"/>
              </a:rPr>
              <a:t>MEDIUM TERM — 4–8 WEEKS</a:t>
            </a:r>
          </a:p>
        </p:txBody>
      </p:sp>
      <p:sp>
        <p:nvSpPr>
          <p:cNvPr id="18" name="TextBox 17"/>
          <p:cNvSpPr txBox="1"/>
          <p:nvPr/>
        </p:nvSpPr>
        <p:spPr>
          <a:xfrm>
            <a:off x="182880" y="4937760"/>
            <a:ext cx="11612880" cy="1318310"/>
          </a:xfrm>
          <a:prstGeom prst="rect">
            <a:avLst/>
          </a:prstGeom>
          <a:noFill/>
        </p:spPr>
        <p:txBody>
          <a:bodyPr wrap="square">
            <a:spAutoFit/>
          </a:bodyPr>
          <a:lstStyle/>
          <a:p>
            <a:pPr>
              <a:spcBef>
                <a:spcPts val="400"/>
              </a:spcBef>
            </a:pPr>
            <a:r>
              <a:rPr sz="1000" dirty="0">
                <a:solidFill>
                  <a:srgbClr val="1A2E1E"/>
                </a:solidFill>
                <a:latin typeface="Calibri"/>
              </a:rPr>
              <a:t>4.  Run Module C (Granger causality + market network) — Script to be written</a:t>
            </a:r>
          </a:p>
          <a:p>
            <a:pPr>
              <a:spcBef>
                <a:spcPts val="400"/>
              </a:spcBef>
            </a:pPr>
            <a:r>
              <a:rPr sz="1000" dirty="0">
                <a:solidFill>
                  <a:srgbClr val="1A2E1E"/>
                </a:solidFill>
                <a:latin typeface="Calibri"/>
              </a:rPr>
              <a:t>5.  Run Module D (Scenario stress tests: export ban, climate shock, fuel price shock) — Script to be written</a:t>
            </a:r>
          </a:p>
          <a:p>
            <a:pPr>
              <a:spcBef>
                <a:spcPts val="400"/>
              </a:spcBef>
            </a:pPr>
            <a:r>
              <a:rPr sz="1000" dirty="0">
                <a:solidFill>
                  <a:srgbClr val="1A2E1E"/>
                </a:solidFill>
                <a:latin typeface="Calibri"/>
              </a:rPr>
              <a:t>6.  Crisis </a:t>
            </a:r>
            <a:r>
              <a:rPr sz="1000" dirty="0" err="1">
                <a:solidFill>
                  <a:srgbClr val="1A2E1E"/>
                </a:solidFill>
                <a:latin typeface="Calibri"/>
              </a:rPr>
              <a:t>backtesting</a:t>
            </a:r>
            <a:r>
              <a:rPr sz="1000" dirty="0">
                <a:solidFill>
                  <a:srgbClr val="1A2E1E"/>
                </a:solidFill>
                <a:latin typeface="Calibri"/>
              </a:rPr>
              <a:t>: 2019 onion crisis, 2023 tomato spike, COVID-2020 disruption</a:t>
            </a:r>
          </a:p>
          <a:p>
            <a:pPr>
              <a:spcBef>
                <a:spcPts val="400"/>
              </a:spcBef>
            </a:pPr>
            <a:r>
              <a:rPr sz="1000" dirty="0">
                <a:solidFill>
                  <a:srgbClr val="1A2E1E"/>
                </a:solidFill>
                <a:latin typeface="Calibri"/>
              </a:rPr>
              <a:t>7.  Diebold-Mariano tests for statistical comparison of </a:t>
            </a:r>
            <a:r>
              <a:rPr sz="1000" dirty="0" err="1">
                <a:solidFill>
                  <a:srgbClr val="1A2E1E"/>
                </a:solidFill>
                <a:latin typeface="Calibri"/>
              </a:rPr>
              <a:t>LightGBM</a:t>
            </a:r>
            <a:r>
              <a:rPr sz="1000" dirty="0">
                <a:solidFill>
                  <a:srgbClr val="1A2E1E"/>
                </a:solidFill>
                <a:latin typeface="Calibri"/>
              </a:rPr>
              <a:t> vs ARIMA forecast errors</a:t>
            </a:r>
          </a:p>
          <a:p>
            <a:pPr>
              <a:spcBef>
                <a:spcPts val="400"/>
              </a:spcBef>
            </a:pPr>
            <a:r>
              <a:rPr sz="1000" dirty="0">
                <a:solidFill>
                  <a:srgbClr val="1A2E1E"/>
                </a:solidFill>
                <a:latin typeface="Calibri"/>
              </a:rPr>
              <a:t>8.  Generate remaining manuscript figures (missing-data heatmap, imputation summary table,</a:t>
            </a:r>
          </a:p>
          <a:p>
            <a:pPr>
              <a:spcBef>
                <a:spcPts val="400"/>
              </a:spcBef>
            </a:pPr>
            <a:r>
              <a:rPr sz="1000" dirty="0">
                <a:solidFill>
                  <a:srgbClr val="1A2E1E"/>
                </a:solidFill>
                <a:latin typeface="Calibri"/>
              </a:rPr>
              <a:t>    market integration network diagram, scenario stress-test outputs)</a:t>
            </a:r>
          </a:p>
        </p:txBody>
      </p:sp>
      <p:sp>
        <p:nvSpPr>
          <p:cNvPr id="19" name="TextBox 18"/>
          <p:cNvSpPr txBox="1"/>
          <p:nvPr/>
        </p:nvSpPr>
        <p:spPr>
          <a:xfrm>
            <a:off x="182880" y="6239979"/>
            <a:ext cx="11795760" cy="238527"/>
          </a:xfrm>
          <a:prstGeom prst="rect">
            <a:avLst/>
          </a:prstGeom>
          <a:noFill/>
        </p:spPr>
        <p:txBody>
          <a:bodyPr wrap="square">
            <a:spAutoFit/>
          </a:bodyPr>
          <a:lstStyle/>
          <a:p>
            <a:pPr algn="l"/>
            <a:r>
              <a:rPr sz="950" b="1" i="0" dirty="0">
                <a:solidFill>
                  <a:srgbClr val="14355A"/>
                </a:solidFill>
                <a:latin typeface="Calibri"/>
              </a:rPr>
              <a:t>DECISION POINT:  Ablation M0–M4 alone is sufficient for a strong Q1 paper.  Proceeding without M5/M6 while disclosing as future work is the recommended submission strategy.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Timeline to Submission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Estimated 12–14 weeks from today to manuscript submission — targeting Q4 2026</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23138"/>
          </a:xfrm>
          <a:prstGeom prst="rect">
            <a:avLst/>
          </a:prstGeom>
          <a:noFill/>
        </p:spPr>
        <p:txBody>
          <a:bodyPr wrap="square">
            <a:spAutoFit/>
          </a:bodyPr>
          <a:lstStyle/>
          <a:p>
            <a:pPr algn="r"/>
            <a:r>
              <a:rPr sz="850" b="0" i="0" dirty="0">
                <a:solidFill>
                  <a:srgbClr val="C8DDD0"/>
                </a:solidFill>
                <a:latin typeface="Calibri"/>
              </a:rPr>
              <a:t>REVIEW</a:t>
            </a:r>
          </a:p>
        </p:txBody>
      </p:sp>
      <p:sp>
        <p:nvSpPr>
          <p:cNvPr id="10" name="TextBox 9"/>
          <p:cNvSpPr txBox="1"/>
          <p:nvPr/>
        </p:nvSpPr>
        <p:spPr>
          <a:xfrm>
            <a:off x="182880" y="1097280"/>
            <a:ext cx="11795760" cy="320040"/>
          </a:xfrm>
          <a:prstGeom prst="rect">
            <a:avLst/>
          </a:prstGeom>
          <a:noFill/>
        </p:spPr>
        <p:txBody>
          <a:bodyPr wrap="square">
            <a:spAutoFit/>
          </a:bodyPr>
          <a:lstStyle/>
          <a:p>
            <a:pPr algn="l"/>
            <a:r>
              <a:rPr sz="1100" b="1" i="0">
                <a:solidFill>
                  <a:srgbClr val="1E6B45"/>
                </a:solidFill>
                <a:latin typeface="Calibri"/>
              </a:rPr>
              <a:t>PHASE TIMELINE  (week estimates from July 2026)</a:t>
            </a:r>
          </a:p>
        </p:txBody>
      </p:sp>
      <p:sp>
        <p:nvSpPr>
          <p:cNvPr id="11" name="Rectangle 10"/>
          <p:cNvSpPr/>
          <p:nvPr/>
        </p:nvSpPr>
        <p:spPr>
          <a:xfrm>
            <a:off x="182880" y="1508760"/>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508760"/>
            <a:ext cx="411480" cy="877824"/>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1783080"/>
            <a:ext cx="320040" cy="320040"/>
          </a:xfrm>
          <a:prstGeom prst="rect">
            <a:avLst/>
          </a:prstGeom>
          <a:noFill/>
        </p:spPr>
        <p:txBody>
          <a:bodyPr wrap="square">
            <a:spAutoFit/>
          </a:bodyPr>
          <a:lstStyle/>
          <a:p>
            <a:pPr algn="ctr"/>
            <a:r>
              <a:rPr sz="1300" b="1" i="0">
                <a:solidFill>
                  <a:srgbClr val="FFFFFF"/>
                </a:solidFill>
                <a:latin typeface="Calibri"/>
              </a:rPr>
              <a:t>1</a:t>
            </a:r>
          </a:p>
        </p:txBody>
      </p:sp>
      <p:sp>
        <p:nvSpPr>
          <p:cNvPr id="14" name="Rectangle 13"/>
          <p:cNvSpPr/>
          <p:nvPr/>
        </p:nvSpPr>
        <p:spPr>
          <a:xfrm>
            <a:off x="621792" y="1508760"/>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563624"/>
            <a:ext cx="3017520" cy="292608"/>
          </a:xfrm>
          <a:prstGeom prst="rect">
            <a:avLst/>
          </a:prstGeom>
          <a:noFill/>
        </p:spPr>
        <p:txBody>
          <a:bodyPr wrap="square">
            <a:spAutoFit/>
          </a:bodyPr>
          <a:lstStyle/>
          <a:p>
            <a:pPr algn="l"/>
            <a:r>
              <a:rPr sz="1100" b="1" i="0">
                <a:solidFill>
                  <a:srgbClr val="1A2E1E"/>
                </a:solidFill>
                <a:latin typeface="Calibri"/>
              </a:rPr>
              <a:t>Data Finalization</a:t>
            </a:r>
          </a:p>
        </p:txBody>
      </p:sp>
      <p:sp>
        <p:nvSpPr>
          <p:cNvPr id="16" name="TextBox 15"/>
          <p:cNvSpPr txBox="1"/>
          <p:nvPr/>
        </p:nvSpPr>
        <p:spPr>
          <a:xfrm>
            <a:off x="3886200" y="1563624"/>
            <a:ext cx="1920240" cy="274320"/>
          </a:xfrm>
          <a:prstGeom prst="rect">
            <a:avLst/>
          </a:prstGeom>
          <a:noFill/>
        </p:spPr>
        <p:txBody>
          <a:bodyPr wrap="square">
            <a:spAutoFit/>
          </a:bodyPr>
          <a:lstStyle/>
          <a:p>
            <a:pPr algn="r"/>
            <a:r>
              <a:rPr sz="1000" b="1" i="0">
                <a:solidFill>
                  <a:srgbClr val="0B6E4F"/>
                </a:solidFill>
                <a:latin typeface="Calibri"/>
              </a:rPr>
              <a:t>Wks 1–2</a:t>
            </a:r>
          </a:p>
        </p:txBody>
      </p:sp>
      <p:sp>
        <p:nvSpPr>
          <p:cNvPr id="17" name="TextBox 16"/>
          <p:cNvSpPr txBox="1"/>
          <p:nvPr/>
        </p:nvSpPr>
        <p:spPr>
          <a:xfrm>
            <a:off x="731520" y="1874519"/>
            <a:ext cx="5074920" cy="457200"/>
          </a:xfrm>
          <a:prstGeom prst="rect">
            <a:avLst/>
          </a:prstGeom>
          <a:noFill/>
        </p:spPr>
        <p:txBody>
          <a:bodyPr wrap="square">
            <a:spAutoFit/>
          </a:bodyPr>
          <a:lstStyle/>
          <a:p>
            <a:pPr algn="l"/>
            <a:r>
              <a:rPr sz="900" b="0" i="0">
                <a:solidFill>
                  <a:srgbClr val="5A6A60"/>
                </a:solidFill>
                <a:latin typeface="Calibri"/>
              </a:rPr>
              <a:t>GEE 2025 topup execution + Layer 6 policy events compilation + Layer 5 infrastructure data</a:t>
            </a:r>
          </a:p>
        </p:txBody>
      </p:sp>
      <p:sp>
        <p:nvSpPr>
          <p:cNvPr id="18" name="Rectangle 17"/>
          <p:cNvSpPr/>
          <p:nvPr/>
        </p:nvSpPr>
        <p:spPr>
          <a:xfrm>
            <a:off x="6172200" y="1508760"/>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2200" y="1508760"/>
            <a:ext cx="411480" cy="87782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1783080"/>
            <a:ext cx="320040" cy="320040"/>
          </a:xfrm>
          <a:prstGeom prst="rect">
            <a:avLst/>
          </a:prstGeom>
          <a:noFill/>
        </p:spPr>
        <p:txBody>
          <a:bodyPr wrap="square">
            <a:spAutoFit/>
          </a:bodyPr>
          <a:lstStyle/>
          <a:p>
            <a:pPr algn="ctr"/>
            <a:r>
              <a:rPr sz="1300" b="1" i="0">
                <a:solidFill>
                  <a:srgbClr val="FFFFFF"/>
                </a:solidFill>
                <a:latin typeface="Calibri"/>
              </a:rPr>
              <a:t>2</a:t>
            </a:r>
          </a:p>
        </p:txBody>
      </p:sp>
      <p:sp>
        <p:nvSpPr>
          <p:cNvPr id="21" name="Rectangle 20"/>
          <p:cNvSpPr/>
          <p:nvPr/>
        </p:nvSpPr>
        <p:spPr>
          <a:xfrm>
            <a:off x="6611112" y="1508760"/>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20840" y="1563624"/>
            <a:ext cx="3017520" cy="292608"/>
          </a:xfrm>
          <a:prstGeom prst="rect">
            <a:avLst/>
          </a:prstGeom>
          <a:noFill/>
        </p:spPr>
        <p:txBody>
          <a:bodyPr wrap="square">
            <a:spAutoFit/>
          </a:bodyPr>
          <a:lstStyle/>
          <a:p>
            <a:pPr algn="l"/>
            <a:r>
              <a:rPr sz="1100" b="1" i="0">
                <a:solidFill>
                  <a:srgbClr val="1A2E1E"/>
                </a:solidFill>
                <a:latin typeface="Calibri"/>
              </a:rPr>
              <a:t>Satellite &amp; Climate Ext.</a:t>
            </a:r>
          </a:p>
        </p:txBody>
      </p:sp>
      <p:sp>
        <p:nvSpPr>
          <p:cNvPr id="23" name="TextBox 22"/>
          <p:cNvSpPr txBox="1"/>
          <p:nvPr/>
        </p:nvSpPr>
        <p:spPr>
          <a:xfrm>
            <a:off x="9875520" y="1563624"/>
            <a:ext cx="1920240" cy="274320"/>
          </a:xfrm>
          <a:prstGeom prst="rect">
            <a:avLst/>
          </a:prstGeom>
          <a:noFill/>
        </p:spPr>
        <p:txBody>
          <a:bodyPr wrap="square">
            <a:spAutoFit/>
          </a:bodyPr>
          <a:lstStyle/>
          <a:p>
            <a:pPr algn="r"/>
            <a:r>
              <a:rPr sz="1000" b="1" i="0">
                <a:solidFill>
                  <a:srgbClr val="E8A020"/>
                </a:solidFill>
                <a:latin typeface="Calibri"/>
              </a:rPr>
              <a:t>Wks 1–2</a:t>
            </a:r>
          </a:p>
        </p:txBody>
      </p:sp>
      <p:sp>
        <p:nvSpPr>
          <p:cNvPr id="24" name="TextBox 23"/>
          <p:cNvSpPr txBox="1"/>
          <p:nvPr/>
        </p:nvSpPr>
        <p:spPr>
          <a:xfrm>
            <a:off x="6720840" y="1874519"/>
            <a:ext cx="5074920" cy="457200"/>
          </a:xfrm>
          <a:prstGeom prst="rect">
            <a:avLst/>
          </a:prstGeom>
          <a:noFill/>
        </p:spPr>
        <p:txBody>
          <a:bodyPr wrap="square">
            <a:spAutoFit/>
          </a:bodyPr>
          <a:lstStyle/>
          <a:p>
            <a:pPr algn="l"/>
            <a:r>
              <a:rPr sz="900" b="0" i="0">
                <a:solidFill>
                  <a:srgbClr val="5A6A60"/>
                </a:solidFill>
                <a:latin typeface="Calibri"/>
              </a:rPr>
              <a:t>Re-run Script 14 with 2025 data → 470-week crop_weekly_features.csv complete</a:t>
            </a:r>
          </a:p>
        </p:txBody>
      </p:sp>
      <p:sp>
        <p:nvSpPr>
          <p:cNvPr id="25" name="Rectangle 24"/>
          <p:cNvSpPr/>
          <p:nvPr/>
        </p:nvSpPr>
        <p:spPr>
          <a:xfrm>
            <a:off x="182880" y="2478024"/>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78024"/>
            <a:ext cx="411480" cy="87782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6032" y="2752344"/>
            <a:ext cx="320040" cy="320040"/>
          </a:xfrm>
          <a:prstGeom prst="rect">
            <a:avLst/>
          </a:prstGeom>
          <a:noFill/>
        </p:spPr>
        <p:txBody>
          <a:bodyPr wrap="square">
            <a:spAutoFit/>
          </a:bodyPr>
          <a:lstStyle/>
          <a:p>
            <a:pPr algn="ctr"/>
            <a:r>
              <a:rPr sz="1300" b="1" i="0">
                <a:solidFill>
                  <a:srgbClr val="FFFFFF"/>
                </a:solidFill>
                <a:latin typeface="Calibri"/>
              </a:rPr>
              <a:t>3</a:t>
            </a:r>
          </a:p>
        </p:txBody>
      </p:sp>
      <p:sp>
        <p:nvSpPr>
          <p:cNvPr id="28" name="Rectangle 27"/>
          <p:cNvSpPr/>
          <p:nvPr/>
        </p:nvSpPr>
        <p:spPr>
          <a:xfrm>
            <a:off x="621792" y="2478024"/>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2532888"/>
            <a:ext cx="3017520" cy="292608"/>
          </a:xfrm>
          <a:prstGeom prst="rect">
            <a:avLst/>
          </a:prstGeom>
          <a:noFill/>
        </p:spPr>
        <p:txBody>
          <a:bodyPr wrap="square">
            <a:spAutoFit/>
          </a:bodyPr>
          <a:lstStyle/>
          <a:p>
            <a:pPr algn="l"/>
            <a:r>
              <a:rPr sz="1100" b="1" i="0">
                <a:solidFill>
                  <a:srgbClr val="1A2E1E"/>
                </a:solidFill>
                <a:latin typeface="Calibri"/>
              </a:rPr>
              <a:t>Ablation M0–M4 Final</a:t>
            </a:r>
          </a:p>
        </p:txBody>
      </p:sp>
      <p:sp>
        <p:nvSpPr>
          <p:cNvPr id="30" name="TextBox 29"/>
          <p:cNvSpPr txBox="1"/>
          <p:nvPr/>
        </p:nvSpPr>
        <p:spPr>
          <a:xfrm>
            <a:off x="3886200" y="2532888"/>
            <a:ext cx="1920240" cy="274320"/>
          </a:xfrm>
          <a:prstGeom prst="rect">
            <a:avLst/>
          </a:prstGeom>
          <a:noFill/>
        </p:spPr>
        <p:txBody>
          <a:bodyPr wrap="square">
            <a:spAutoFit/>
          </a:bodyPr>
          <a:lstStyle/>
          <a:p>
            <a:pPr algn="r"/>
            <a:r>
              <a:rPr sz="1000" b="1" i="0">
                <a:solidFill>
                  <a:srgbClr val="E8A020"/>
                </a:solidFill>
                <a:latin typeface="Calibri"/>
              </a:rPr>
              <a:t>Wks 2–3</a:t>
            </a:r>
          </a:p>
        </p:txBody>
      </p:sp>
      <p:sp>
        <p:nvSpPr>
          <p:cNvPr id="31" name="TextBox 30"/>
          <p:cNvSpPr txBox="1"/>
          <p:nvPr/>
        </p:nvSpPr>
        <p:spPr>
          <a:xfrm>
            <a:off x="731520" y="2843784"/>
            <a:ext cx="5074920" cy="457200"/>
          </a:xfrm>
          <a:prstGeom prst="rect">
            <a:avLst/>
          </a:prstGeom>
          <a:noFill/>
        </p:spPr>
        <p:txBody>
          <a:bodyPr wrap="square">
            <a:spAutoFit/>
          </a:bodyPr>
          <a:lstStyle/>
          <a:p>
            <a:pPr algn="l"/>
            <a:r>
              <a:rPr sz="900" b="0" i="0">
                <a:solidFill>
                  <a:srgbClr val="5A6A60"/>
                </a:solidFill>
                <a:latin typeface="Calibri"/>
              </a:rPr>
              <a:t>Complete 4-fold CV with 2025 fold → finalize ablation table → paper Table 3</a:t>
            </a:r>
          </a:p>
        </p:txBody>
      </p:sp>
      <p:sp>
        <p:nvSpPr>
          <p:cNvPr id="32" name="Rectangle 31"/>
          <p:cNvSpPr/>
          <p:nvPr/>
        </p:nvSpPr>
        <p:spPr>
          <a:xfrm>
            <a:off x="6172200" y="2478024"/>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2200" y="2478024"/>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45352" y="2752344"/>
            <a:ext cx="320040" cy="320040"/>
          </a:xfrm>
          <a:prstGeom prst="rect">
            <a:avLst/>
          </a:prstGeom>
          <a:noFill/>
        </p:spPr>
        <p:txBody>
          <a:bodyPr wrap="square">
            <a:spAutoFit/>
          </a:bodyPr>
          <a:lstStyle/>
          <a:p>
            <a:pPr algn="ctr"/>
            <a:r>
              <a:rPr sz="1300" b="1" i="0">
                <a:solidFill>
                  <a:srgbClr val="FFFFFF"/>
                </a:solidFill>
                <a:latin typeface="Calibri"/>
              </a:rPr>
              <a:t>4</a:t>
            </a:r>
          </a:p>
        </p:txBody>
      </p:sp>
      <p:sp>
        <p:nvSpPr>
          <p:cNvPr id="35" name="Rectangle 34"/>
          <p:cNvSpPr/>
          <p:nvPr/>
        </p:nvSpPr>
        <p:spPr>
          <a:xfrm>
            <a:off x="6611112" y="2478024"/>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20840" y="2532888"/>
            <a:ext cx="3017520" cy="292608"/>
          </a:xfrm>
          <a:prstGeom prst="rect">
            <a:avLst/>
          </a:prstGeom>
          <a:noFill/>
        </p:spPr>
        <p:txBody>
          <a:bodyPr wrap="square">
            <a:spAutoFit/>
          </a:bodyPr>
          <a:lstStyle/>
          <a:p>
            <a:pPr algn="l"/>
            <a:r>
              <a:rPr sz="1100" b="1" i="0">
                <a:solidFill>
                  <a:srgbClr val="1A2E1E"/>
                </a:solidFill>
                <a:latin typeface="Calibri"/>
              </a:rPr>
              <a:t>Ablation M5–M6</a:t>
            </a:r>
          </a:p>
        </p:txBody>
      </p:sp>
      <p:sp>
        <p:nvSpPr>
          <p:cNvPr id="37" name="TextBox 36"/>
          <p:cNvSpPr txBox="1"/>
          <p:nvPr/>
        </p:nvSpPr>
        <p:spPr>
          <a:xfrm>
            <a:off x="9875520" y="2532888"/>
            <a:ext cx="1920240" cy="274320"/>
          </a:xfrm>
          <a:prstGeom prst="rect">
            <a:avLst/>
          </a:prstGeom>
          <a:noFill/>
        </p:spPr>
        <p:txBody>
          <a:bodyPr wrap="square">
            <a:spAutoFit/>
          </a:bodyPr>
          <a:lstStyle/>
          <a:p>
            <a:pPr algn="r"/>
            <a:r>
              <a:rPr sz="1000" b="1" i="0">
                <a:solidFill>
                  <a:srgbClr val="9B2D2D"/>
                </a:solidFill>
                <a:latin typeface="Calibri"/>
              </a:rPr>
              <a:t>Wks 3–5</a:t>
            </a:r>
          </a:p>
        </p:txBody>
      </p:sp>
      <p:sp>
        <p:nvSpPr>
          <p:cNvPr id="38" name="TextBox 37"/>
          <p:cNvSpPr txBox="1"/>
          <p:nvPr/>
        </p:nvSpPr>
        <p:spPr>
          <a:xfrm>
            <a:off x="6720840" y="2843784"/>
            <a:ext cx="5074920" cy="457200"/>
          </a:xfrm>
          <a:prstGeom prst="rect">
            <a:avLst/>
          </a:prstGeom>
          <a:noFill/>
        </p:spPr>
        <p:txBody>
          <a:bodyPr wrap="square">
            <a:spAutoFit/>
          </a:bodyPr>
          <a:lstStyle/>
          <a:p>
            <a:pPr algn="l"/>
            <a:r>
              <a:rPr sz="900" b="0" i="0">
                <a:solidFill>
                  <a:srgbClr val="5A6A60"/>
                </a:solidFill>
                <a:latin typeface="Calibri"/>
              </a:rPr>
              <a:t>Incorporate infrastructure + policy layers → extend ablation table [IF data available]</a:t>
            </a:r>
          </a:p>
        </p:txBody>
      </p:sp>
      <p:sp>
        <p:nvSpPr>
          <p:cNvPr id="39" name="Rectangle 38"/>
          <p:cNvSpPr/>
          <p:nvPr/>
        </p:nvSpPr>
        <p:spPr>
          <a:xfrm>
            <a:off x="182880" y="3447288"/>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82880" y="3447288"/>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6032" y="3721608"/>
            <a:ext cx="320040" cy="320040"/>
          </a:xfrm>
          <a:prstGeom prst="rect">
            <a:avLst/>
          </a:prstGeom>
          <a:noFill/>
        </p:spPr>
        <p:txBody>
          <a:bodyPr wrap="square">
            <a:spAutoFit/>
          </a:bodyPr>
          <a:lstStyle/>
          <a:p>
            <a:pPr algn="ctr"/>
            <a:r>
              <a:rPr sz="1300" b="1" i="0">
                <a:solidFill>
                  <a:srgbClr val="FFFFFF"/>
                </a:solidFill>
                <a:latin typeface="Calibri"/>
              </a:rPr>
              <a:t>5</a:t>
            </a:r>
          </a:p>
        </p:txBody>
      </p:sp>
      <p:sp>
        <p:nvSpPr>
          <p:cNvPr id="42" name="Rectangle 41"/>
          <p:cNvSpPr/>
          <p:nvPr/>
        </p:nvSpPr>
        <p:spPr>
          <a:xfrm>
            <a:off x="621792" y="3447288"/>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31520" y="3502152"/>
            <a:ext cx="3017520" cy="292608"/>
          </a:xfrm>
          <a:prstGeom prst="rect">
            <a:avLst/>
          </a:prstGeom>
          <a:noFill/>
        </p:spPr>
        <p:txBody>
          <a:bodyPr wrap="square">
            <a:spAutoFit/>
          </a:bodyPr>
          <a:lstStyle/>
          <a:p>
            <a:pPr algn="l"/>
            <a:r>
              <a:rPr sz="1100" b="1" i="0">
                <a:solidFill>
                  <a:srgbClr val="1A2E1E"/>
                </a:solidFill>
                <a:latin typeface="Calibri"/>
              </a:rPr>
              <a:t>Module C — Network</a:t>
            </a:r>
          </a:p>
        </p:txBody>
      </p:sp>
      <p:sp>
        <p:nvSpPr>
          <p:cNvPr id="44" name="TextBox 43"/>
          <p:cNvSpPr txBox="1"/>
          <p:nvPr/>
        </p:nvSpPr>
        <p:spPr>
          <a:xfrm>
            <a:off x="3886200" y="3502152"/>
            <a:ext cx="1920240" cy="274320"/>
          </a:xfrm>
          <a:prstGeom prst="rect">
            <a:avLst/>
          </a:prstGeom>
          <a:noFill/>
        </p:spPr>
        <p:txBody>
          <a:bodyPr wrap="square">
            <a:spAutoFit/>
          </a:bodyPr>
          <a:lstStyle/>
          <a:p>
            <a:pPr algn="r"/>
            <a:r>
              <a:rPr sz="1000" b="1" i="0">
                <a:solidFill>
                  <a:srgbClr val="9B2D2D"/>
                </a:solidFill>
                <a:latin typeface="Calibri"/>
              </a:rPr>
              <a:t>Wks 4–6</a:t>
            </a:r>
          </a:p>
        </p:txBody>
      </p:sp>
      <p:sp>
        <p:nvSpPr>
          <p:cNvPr id="45" name="TextBox 44"/>
          <p:cNvSpPr txBox="1"/>
          <p:nvPr/>
        </p:nvSpPr>
        <p:spPr>
          <a:xfrm>
            <a:off x="731520" y="3813048"/>
            <a:ext cx="5074920" cy="457200"/>
          </a:xfrm>
          <a:prstGeom prst="rect">
            <a:avLst/>
          </a:prstGeom>
          <a:noFill/>
        </p:spPr>
        <p:txBody>
          <a:bodyPr wrap="square">
            <a:spAutoFit/>
          </a:bodyPr>
          <a:lstStyle/>
          <a:p>
            <a:pPr algn="l"/>
            <a:r>
              <a:rPr sz="900" b="0" i="0">
                <a:solidFill>
                  <a:srgbClr val="5A6A60"/>
                </a:solidFill>
                <a:latin typeface="Calibri"/>
              </a:rPr>
              <a:t>Granger causality across markets → identify price leaders → network visualization</a:t>
            </a:r>
          </a:p>
        </p:txBody>
      </p:sp>
      <p:sp>
        <p:nvSpPr>
          <p:cNvPr id="46" name="Rectangle 45"/>
          <p:cNvSpPr/>
          <p:nvPr/>
        </p:nvSpPr>
        <p:spPr>
          <a:xfrm>
            <a:off x="6172200" y="3447288"/>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72200" y="3447288"/>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45352" y="3721608"/>
            <a:ext cx="320040" cy="320040"/>
          </a:xfrm>
          <a:prstGeom prst="rect">
            <a:avLst/>
          </a:prstGeom>
          <a:noFill/>
        </p:spPr>
        <p:txBody>
          <a:bodyPr wrap="square">
            <a:spAutoFit/>
          </a:bodyPr>
          <a:lstStyle/>
          <a:p>
            <a:pPr algn="ctr"/>
            <a:r>
              <a:rPr sz="1300" b="1" i="0">
                <a:solidFill>
                  <a:srgbClr val="FFFFFF"/>
                </a:solidFill>
                <a:latin typeface="Calibri"/>
              </a:rPr>
              <a:t>6</a:t>
            </a:r>
          </a:p>
        </p:txBody>
      </p:sp>
      <p:sp>
        <p:nvSpPr>
          <p:cNvPr id="49" name="Rectangle 48"/>
          <p:cNvSpPr/>
          <p:nvPr/>
        </p:nvSpPr>
        <p:spPr>
          <a:xfrm>
            <a:off x="6611112" y="3447288"/>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720840" y="3502152"/>
            <a:ext cx="3017520" cy="292608"/>
          </a:xfrm>
          <a:prstGeom prst="rect">
            <a:avLst/>
          </a:prstGeom>
          <a:noFill/>
        </p:spPr>
        <p:txBody>
          <a:bodyPr wrap="square">
            <a:spAutoFit/>
          </a:bodyPr>
          <a:lstStyle/>
          <a:p>
            <a:pPr algn="l"/>
            <a:r>
              <a:rPr sz="1100" b="1" i="0">
                <a:solidFill>
                  <a:srgbClr val="1A2E1E"/>
                </a:solidFill>
                <a:latin typeface="Calibri"/>
              </a:rPr>
              <a:t>Module D — Scenarios</a:t>
            </a:r>
          </a:p>
        </p:txBody>
      </p:sp>
      <p:sp>
        <p:nvSpPr>
          <p:cNvPr id="51" name="TextBox 50"/>
          <p:cNvSpPr txBox="1"/>
          <p:nvPr/>
        </p:nvSpPr>
        <p:spPr>
          <a:xfrm>
            <a:off x="9875520" y="3502152"/>
            <a:ext cx="1920240" cy="274320"/>
          </a:xfrm>
          <a:prstGeom prst="rect">
            <a:avLst/>
          </a:prstGeom>
          <a:noFill/>
        </p:spPr>
        <p:txBody>
          <a:bodyPr wrap="square">
            <a:spAutoFit/>
          </a:bodyPr>
          <a:lstStyle/>
          <a:p>
            <a:pPr algn="r"/>
            <a:r>
              <a:rPr sz="1000" b="1" i="0">
                <a:solidFill>
                  <a:srgbClr val="9B2D2D"/>
                </a:solidFill>
                <a:latin typeface="Calibri"/>
              </a:rPr>
              <a:t>Wks 5–7</a:t>
            </a:r>
          </a:p>
        </p:txBody>
      </p:sp>
      <p:sp>
        <p:nvSpPr>
          <p:cNvPr id="52" name="TextBox 51"/>
          <p:cNvSpPr txBox="1"/>
          <p:nvPr/>
        </p:nvSpPr>
        <p:spPr>
          <a:xfrm>
            <a:off x="6720840" y="3813048"/>
            <a:ext cx="5074920" cy="457200"/>
          </a:xfrm>
          <a:prstGeom prst="rect">
            <a:avLst/>
          </a:prstGeom>
          <a:noFill/>
        </p:spPr>
        <p:txBody>
          <a:bodyPr wrap="square">
            <a:spAutoFit/>
          </a:bodyPr>
          <a:lstStyle/>
          <a:p>
            <a:pPr algn="l"/>
            <a:r>
              <a:rPr sz="900" b="0" i="0">
                <a:solidFill>
                  <a:srgbClr val="5A6A60"/>
                </a:solidFill>
                <a:latin typeface="Calibri"/>
              </a:rPr>
              <a:t>Stress tests: export ban / climate shock / fuel price shock → scenario figures</a:t>
            </a:r>
          </a:p>
        </p:txBody>
      </p:sp>
      <p:sp>
        <p:nvSpPr>
          <p:cNvPr id="53" name="Rectangle 52"/>
          <p:cNvSpPr/>
          <p:nvPr/>
        </p:nvSpPr>
        <p:spPr>
          <a:xfrm>
            <a:off x="182880" y="4416552"/>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82880" y="4416552"/>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6032" y="4690872"/>
            <a:ext cx="320040" cy="320040"/>
          </a:xfrm>
          <a:prstGeom prst="rect">
            <a:avLst/>
          </a:prstGeom>
          <a:noFill/>
        </p:spPr>
        <p:txBody>
          <a:bodyPr wrap="square">
            <a:spAutoFit/>
          </a:bodyPr>
          <a:lstStyle/>
          <a:p>
            <a:pPr algn="ctr"/>
            <a:r>
              <a:rPr sz="1300" b="1" i="0">
                <a:solidFill>
                  <a:srgbClr val="FFFFFF"/>
                </a:solidFill>
                <a:latin typeface="Calibri"/>
              </a:rPr>
              <a:t>7</a:t>
            </a:r>
          </a:p>
        </p:txBody>
      </p:sp>
      <p:sp>
        <p:nvSpPr>
          <p:cNvPr id="56" name="Rectangle 55"/>
          <p:cNvSpPr/>
          <p:nvPr/>
        </p:nvSpPr>
        <p:spPr>
          <a:xfrm>
            <a:off x="621792" y="4416552"/>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31520" y="4471416"/>
            <a:ext cx="3017520" cy="292608"/>
          </a:xfrm>
          <a:prstGeom prst="rect">
            <a:avLst/>
          </a:prstGeom>
          <a:noFill/>
        </p:spPr>
        <p:txBody>
          <a:bodyPr wrap="square">
            <a:spAutoFit/>
          </a:bodyPr>
          <a:lstStyle/>
          <a:p>
            <a:pPr algn="l"/>
            <a:r>
              <a:rPr sz="1100" b="1" i="0">
                <a:solidFill>
                  <a:srgbClr val="1A2E1E"/>
                </a:solidFill>
                <a:latin typeface="Calibri"/>
              </a:rPr>
              <a:t>Crisis Backtesting</a:t>
            </a:r>
          </a:p>
        </p:txBody>
      </p:sp>
      <p:sp>
        <p:nvSpPr>
          <p:cNvPr id="58" name="TextBox 57"/>
          <p:cNvSpPr txBox="1"/>
          <p:nvPr/>
        </p:nvSpPr>
        <p:spPr>
          <a:xfrm>
            <a:off x="3886200" y="4471416"/>
            <a:ext cx="1920240" cy="274320"/>
          </a:xfrm>
          <a:prstGeom prst="rect">
            <a:avLst/>
          </a:prstGeom>
          <a:noFill/>
        </p:spPr>
        <p:txBody>
          <a:bodyPr wrap="square">
            <a:spAutoFit/>
          </a:bodyPr>
          <a:lstStyle/>
          <a:p>
            <a:pPr algn="r"/>
            <a:r>
              <a:rPr sz="1000" b="1" i="0">
                <a:solidFill>
                  <a:srgbClr val="9B2D2D"/>
                </a:solidFill>
                <a:latin typeface="Calibri"/>
              </a:rPr>
              <a:t>Wks 6–8</a:t>
            </a:r>
          </a:p>
        </p:txBody>
      </p:sp>
      <p:sp>
        <p:nvSpPr>
          <p:cNvPr id="59" name="TextBox 58"/>
          <p:cNvSpPr txBox="1"/>
          <p:nvPr/>
        </p:nvSpPr>
        <p:spPr>
          <a:xfrm>
            <a:off x="731520" y="4782312"/>
            <a:ext cx="5074920" cy="457200"/>
          </a:xfrm>
          <a:prstGeom prst="rect">
            <a:avLst/>
          </a:prstGeom>
          <a:noFill/>
        </p:spPr>
        <p:txBody>
          <a:bodyPr wrap="square">
            <a:spAutoFit/>
          </a:bodyPr>
          <a:lstStyle/>
          <a:p>
            <a:pPr algn="l"/>
            <a:r>
              <a:rPr sz="900" b="0" i="0">
                <a:solidFill>
                  <a:srgbClr val="5A6A60"/>
                </a:solidFill>
                <a:latin typeface="Calibri"/>
              </a:rPr>
              <a:t>Validate against 2019 onion crash, 2023 tomato spike, COVID 2020</a:t>
            </a:r>
          </a:p>
        </p:txBody>
      </p:sp>
      <p:sp>
        <p:nvSpPr>
          <p:cNvPr id="60" name="Rectangle 59"/>
          <p:cNvSpPr/>
          <p:nvPr/>
        </p:nvSpPr>
        <p:spPr>
          <a:xfrm>
            <a:off x="6172200" y="4416552"/>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172200" y="4416552"/>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245352" y="4690872"/>
            <a:ext cx="320040" cy="320040"/>
          </a:xfrm>
          <a:prstGeom prst="rect">
            <a:avLst/>
          </a:prstGeom>
          <a:noFill/>
        </p:spPr>
        <p:txBody>
          <a:bodyPr wrap="square">
            <a:spAutoFit/>
          </a:bodyPr>
          <a:lstStyle/>
          <a:p>
            <a:pPr algn="ctr"/>
            <a:r>
              <a:rPr sz="1300" b="1" i="0">
                <a:solidFill>
                  <a:srgbClr val="FFFFFF"/>
                </a:solidFill>
                <a:latin typeface="Calibri"/>
              </a:rPr>
              <a:t>8</a:t>
            </a:r>
          </a:p>
        </p:txBody>
      </p:sp>
      <p:sp>
        <p:nvSpPr>
          <p:cNvPr id="63" name="Rectangle 62"/>
          <p:cNvSpPr/>
          <p:nvPr/>
        </p:nvSpPr>
        <p:spPr>
          <a:xfrm>
            <a:off x="6611112" y="4416552"/>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720840" y="4471416"/>
            <a:ext cx="3017520" cy="292608"/>
          </a:xfrm>
          <a:prstGeom prst="rect">
            <a:avLst/>
          </a:prstGeom>
          <a:noFill/>
        </p:spPr>
        <p:txBody>
          <a:bodyPr wrap="square">
            <a:spAutoFit/>
          </a:bodyPr>
          <a:lstStyle/>
          <a:p>
            <a:pPr algn="l"/>
            <a:r>
              <a:rPr sz="1100" b="1" i="0">
                <a:solidFill>
                  <a:srgbClr val="1A2E1E"/>
                </a:solidFill>
                <a:latin typeface="Calibri"/>
              </a:rPr>
              <a:t>Manuscript Draft</a:t>
            </a:r>
          </a:p>
        </p:txBody>
      </p:sp>
      <p:sp>
        <p:nvSpPr>
          <p:cNvPr id="65" name="TextBox 64"/>
          <p:cNvSpPr txBox="1"/>
          <p:nvPr/>
        </p:nvSpPr>
        <p:spPr>
          <a:xfrm>
            <a:off x="9875520" y="4471416"/>
            <a:ext cx="1920240" cy="274320"/>
          </a:xfrm>
          <a:prstGeom prst="rect">
            <a:avLst/>
          </a:prstGeom>
          <a:noFill/>
        </p:spPr>
        <p:txBody>
          <a:bodyPr wrap="square">
            <a:spAutoFit/>
          </a:bodyPr>
          <a:lstStyle/>
          <a:p>
            <a:pPr algn="r"/>
            <a:r>
              <a:rPr sz="1000" b="1" i="0">
                <a:solidFill>
                  <a:srgbClr val="9B2D2D"/>
                </a:solidFill>
                <a:latin typeface="Calibri"/>
              </a:rPr>
              <a:t>Wks 8–11</a:t>
            </a:r>
          </a:p>
        </p:txBody>
      </p:sp>
      <p:sp>
        <p:nvSpPr>
          <p:cNvPr id="66" name="TextBox 65"/>
          <p:cNvSpPr txBox="1"/>
          <p:nvPr/>
        </p:nvSpPr>
        <p:spPr>
          <a:xfrm>
            <a:off x="6720840" y="4782312"/>
            <a:ext cx="5074920" cy="457200"/>
          </a:xfrm>
          <a:prstGeom prst="rect">
            <a:avLst/>
          </a:prstGeom>
          <a:noFill/>
        </p:spPr>
        <p:txBody>
          <a:bodyPr wrap="square">
            <a:spAutoFit/>
          </a:bodyPr>
          <a:lstStyle/>
          <a:p>
            <a:pPr algn="l"/>
            <a:r>
              <a:rPr sz="900" b="0" i="0">
                <a:solidFill>
                  <a:srgbClr val="5A6A60"/>
                </a:solidFill>
                <a:latin typeface="Calibri"/>
              </a:rPr>
              <a:t>Write all sections · Final figure production · Internal review</a:t>
            </a:r>
          </a:p>
        </p:txBody>
      </p:sp>
      <p:sp>
        <p:nvSpPr>
          <p:cNvPr id="67" name="Rectangle 66"/>
          <p:cNvSpPr/>
          <p:nvPr/>
        </p:nvSpPr>
        <p:spPr>
          <a:xfrm>
            <a:off x="182880" y="5385816"/>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82880" y="5385816"/>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56032" y="5660136"/>
            <a:ext cx="320040" cy="320040"/>
          </a:xfrm>
          <a:prstGeom prst="rect">
            <a:avLst/>
          </a:prstGeom>
          <a:noFill/>
        </p:spPr>
        <p:txBody>
          <a:bodyPr wrap="square">
            <a:spAutoFit/>
          </a:bodyPr>
          <a:lstStyle/>
          <a:p>
            <a:pPr algn="ctr"/>
            <a:r>
              <a:rPr sz="1300" b="1" i="0">
                <a:solidFill>
                  <a:srgbClr val="FFFFFF"/>
                </a:solidFill>
                <a:latin typeface="Calibri"/>
              </a:rPr>
              <a:t>9</a:t>
            </a:r>
          </a:p>
        </p:txBody>
      </p:sp>
      <p:sp>
        <p:nvSpPr>
          <p:cNvPr id="70" name="Rectangle 69"/>
          <p:cNvSpPr/>
          <p:nvPr/>
        </p:nvSpPr>
        <p:spPr>
          <a:xfrm>
            <a:off x="621792" y="5385816"/>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1520" y="5440680"/>
            <a:ext cx="3017520" cy="292608"/>
          </a:xfrm>
          <a:prstGeom prst="rect">
            <a:avLst/>
          </a:prstGeom>
          <a:noFill/>
        </p:spPr>
        <p:txBody>
          <a:bodyPr wrap="square">
            <a:spAutoFit/>
          </a:bodyPr>
          <a:lstStyle/>
          <a:p>
            <a:pPr algn="l"/>
            <a:r>
              <a:rPr sz="1100" b="1" i="0">
                <a:solidFill>
                  <a:srgbClr val="1A2E1E"/>
                </a:solidFill>
                <a:latin typeface="Calibri"/>
              </a:rPr>
              <a:t>PI / Co-author Review</a:t>
            </a:r>
          </a:p>
        </p:txBody>
      </p:sp>
      <p:sp>
        <p:nvSpPr>
          <p:cNvPr id="72" name="TextBox 71"/>
          <p:cNvSpPr txBox="1"/>
          <p:nvPr/>
        </p:nvSpPr>
        <p:spPr>
          <a:xfrm>
            <a:off x="3886200" y="5440680"/>
            <a:ext cx="1920240" cy="274320"/>
          </a:xfrm>
          <a:prstGeom prst="rect">
            <a:avLst/>
          </a:prstGeom>
          <a:noFill/>
        </p:spPr>
        <p:txBody>
          <a:bodyPr wrap="square">
            <a:spAutoFit/>
          </a:bodyPr>
          <a:lstStyle/>
          <a:p>
            <a:pPr algn="r"/>
            <a:r>
              <a:rPr sz="1000" b="1" i="0">
                <a:solidFill>
                  <a:srgbClr val="9B2D2D"/>
                </a:solidFill>
                <a:latin typeface="Calibri"/>
              </a:rPr>
              <a:t>Wks 11–12</a:t>
            </a:r>
          </a:p>
        </p:txBody>
      </p:sp>
      <p:sp>
        <p:nvSpPr>
          <p:cNvPr id="73" name="TextBox 72"/>
          <p:cNvSpPr txBox="1"/>
          <p:nvPr/>
        </p:nvSpPr>
        <p:spPr>
          <a:xfrm>
            <a:off x="731520" y="5751576"/>
            <a:ext cx="5074920" cy="457200"/>
          </a:xfrm>
          <a:prstGeom prst="rect">
            <a:avLst/>
          </a:prstGeom>
          <a:noFill/>
        </p:spPr>
        <p:txBody>
          <a:bodyPr wrap="square">
            <a:spAutoFit/>
          </a:bodyPr>
          <a:lstStyle/>
          <a:p>
            <a:pPr algn="l"/>
            <a:r>
              <a:rPr sz="900" b="0" i="0">
                <a:solidFill>
                  <a:srgbClr val="5A6A60"/>
                </a:solidFill>
                <a:latin typeface="Calibri"/>
              </a:rPr>
              <a:t>Revise draft · Statistical review · Journal selection finalisation</a:t>
            </a:r>
          </a:p>
        </p:txBody>
      </p:sp>
      <p:sp>
        <p:nvSpPr>
          <p:cNvPr id="74" name="Rectangle 73"/>
          <p:cNvSpPr/>
          <p:nvPr/>
        </p:nvSpPr>
        <p:spPr>
          <a:xfrm>
            <a:off x="6172200" y="5385816"/>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172200" y="5385816"/>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245352" y="5660136"/>
            <a:ext cx="320040" cy="320040"/>
          </a:xfrm>
          <a:prstGeom prst="rect">
            <a:avLst/>
          </a:prstGeom>
          <a:noFill/>
        </p:spPr>
        <p:txBody>
          <a:bodyPr wrap="square">
            <a:spAutoFit/>
          </a:bodyPr>
          <a:lstStyle/>
          <a:p>
            <a:pPr algn="ctr"/>
            <a:r>
              <a:rPr sz="1300" b="1" i="0">
                <a:solidFill>
                  <a:srgbClr val="FFFFFF"/>
                </a:solidFill>
                <a:latin typeface="Calibri"/>
              </a:rPr>
              <a:t>10</a:t>
            </a:r>
          </a:p>
        </p:txBody>
      </p:sp>
      <p:sp>
        <p:nvSpPr>
          <p:cNvPr id="77" name="Rectangle 76"/>
          <p:cNvSpPr/>
          <p:nvPr/>
        </p:nvSpPr>
        <p:spPr>
          <a:xfrm>
            <a:off x="6611112" y="5385816"/>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720840" y="5440680"/>
            <a:ext cx="3017520" cy="292608"/>
          </a:xfrm>
          <a:prstGeom prst="rect">
            <a:avLst/>
          </a:prstGeom>
          <a:noFill/>
        </p:spPr>
        <p:txBody>
          <a:bodyPr wrap="square">
            <a:spAutoFit/>
          </a:bodyPr>
          <a:lstStyle/>
          <a:p>
            <a:pPr algn="l"/>
            <a:r>
              <a:rPr sz="1100" b="1" i="0">
                <a:solidFill>
                  <a:srgbClr val="1A2E1E"/>
                </a:solidFill>
                <a:latin typeface="Calibri"/>
              </a:rPr>
              <a:t>Submission</a:t>
            </a:r>
          </a:p>
        </p:txBody>
      </p:sp>
      <p:sp>
        <p:nvSpPr>
          <p:cNvPr id="79" name="TextBox 78"/>
          <p:cNvSpPr txBox="1"/>
          <p:nvPr/>
        </p:nvSpPr>
        <p:spPr>
          <a:xfrm>
            <a:off x="9875520" y="5440680"/>
            <a:ext cx="1920240" cy="274320"/>
          </a:xfrm>
          <a:prstGeom prst="rect">
            <a:avLst/>
          </a:prstGeom>
          <a:noFill/>
        </p:spPr>
        <p:txBody>
          <a:bodyPr wrap="square">
            <a:spAutoFit/>
          </a:bodyPr>
          <a:lstStyle/>
          <a:p>
            <a:pPr algn="r"/>
            <a:r>
              <a:rPr sz="1000" b="1" i="0">
                <a:solidFill>
                  <a:srgbClr val="9B2D2D"/>
                </a:solidFill>
                <a:latin typeface="Calibri"/>
              </a:rPr>
              <a:t>Wk 13–14</a:t>
            </a:r>
          </a:p>
        </p:txBody>
      </p:sp>
      <p:sp>
        <p:nvSpPr>
          <p:cNvPr id="80" name="TextBox 79"/>
          <p:cNvSpPr txBox="1"/>
          <p:nvPr/>
        </p:nvSpPr>
        <p:spPr>
          <a:xfrm>
            <a:off x="6720840" y="5751576"/>
            <a:ext cx="5074920" cy="457200"/>
          </a:xfrm>
          <a:prstGeom prst="rect">
            <a:avLst/>
          </a:prstGeom>
          <a:noFill/>
        </p:spPr>
        <p:txBody>
          <a:bodyPr wrap="square">
            <a:spAutoFit/>
          </a:bodyPr>
          <a:lstStyle/>
          <a:p>
            <a:pPr algn="l"/>
            <a:r>
              <a:rPr sz="900" b="0" i="0">
                <a:solidFill>
                  <a:srgbClr val="5A6A60"/>
                </a:solidFill>
                <a:latin typeface="Calibri"/>
              </a:rPr>
              <a:t>Final polish · Cover letter · Submit to Computers &amp; Electronics in Agriculture</a:t>
            </a:r>
          </a:p>
        </p:txBody>
      </p:sp>
      <p:sp>
        <p:nvSpPr>
          <p:cNvPr id="81" name="TextBox 80"/>
          <p:cNvSpPr txBox="1"/>
          <p:nvPr/>
        </p:nvSpPr>
        <p:spPr>
          <a:xfrm>
            <a:off x="182880" y="6326799"/>
            <a:ext cx="11795760" cy="256032"/>
          </a:xfrm>
          <a:prstGeom prst="rect">
            <a:avLst/>
          </a:prstGeom>
          <a:noFill/>
        </p:spPr>
        <p:txBody>
          <a:bodyPr wrap="square">
            <a:spAutoFit/>
          </a:bodyPr>
          <a:lstStyle/>
          <a:p>
            <a:pPr algn="l"/>
            <a:r>
              <a:rPr sz="1000" b="1" i="0" dirty="0">
                <a:solidFill>
                  <a:srgbClr val="14355A"/>
                </a:solidFill>
                <a:latin typeface="Calibri"/>
              </a:rPr>
              <a:t>CRITICAL PATH:  GEE </a:t>
            </a:r>
            <a:r>
              <a:rPr sz="1000" b="1" i="0" dirty="0" err="1">
                <a:solidFill>
                  <a:srgbClr val="14355A"/>
                </a:solidFill>
                <a:latin typeface="Calibri"/>
              </a:rPr>
              <a:t>topup</a:t>
            </a:r>
            <a:r>
              <a:rPr sz="1000" b="1" i="0" dirty="0">
                <a:solidFill>
                  <a:srgbClr val="14355A"/>
                </a:solidFill>
                <a:latin typeface="Calibri"/>
              </a:rPr>
              <a:t> (</a:t>
            </a:r>
            <a:r>
              <a:rPr sz="1000" b="1" i="0" dirty="0" err="1">
                <a:solidFill>
                  <a:srgbClr val="14355A"/>
                </a:solidFill>
                <a:latin typeface="Calibri"/>
              </a:rPr>
              <a:t>Wk</a:t>
            </a:r>
            <a:r>
              <a:rPr sz="1000" b="1" i="0" dirty="0">
                <a:solidFill>
                  <a:srgbClr val="14355A"/>
                </a:solidFill>
                <a:latin typeface="Calibri"/>
              </a:rPr>
              <a:t> 1)  →  Ablation M0–M4 complete (</a:t>
            </a:r>
            <a:r>
              <a:rPr sz="1000" b="1" i="0" dirty="0" err="1">
                <a:solidFill>
                  <a:srgbClr val="14355A"/>
                </a:solidFill>
                <a:latin typeface="Calibri"/>
              </a:rPr>
              <a:t>Wk</a:t>
            </a:r>
            <a:r>
              <a:rPr sz="1000" b="1" i="0" dirty="0">
                <a:solidFill>
                  <a:srgbClr val="14355A"/>
                </a:solidFill>
                <a:latin typeface="Calibri"/>
              </a:rPr>
              <a:t> 3)  →  Manuscript draft (</a:t>
            </a:r>
            <a:r>
              <a:rPr sz="1000" b="1" i="0" dirty="0" err="1">
                <a:solidFill>
                  <a:srgbClr val="14355A"/>
                </a:solidFill>
                <a:latin typeface="Calibri"/>
              </a:rPr>
              <a:t>Wks</a:t>
            </a:r>
            <a:r>
              <a:rPr sz="1000" b="1" i="0" dirty="0">
                <a:solidFill>
                  <a:srgbClr val="14355A"/>
                </a:solidFill>
                <a:latin typeface="Calibri"/>
              </a:rPr>
              <a:t> 8–11)  →  SUBMISSION (</a:t>
            </a:r>
            <a:r>
              <a:rPr sz="1000" b="1" i="0" dirty="0" err="1">
                <a:solidFill>
                  <a:srgbClr val="14355A"/>
                </a:solidFill>
                <a:latin typeface="Calibri"/>
              </a:rPr>
              <a:t>Wk</a:t>
            </a:r>
            <a:r>
              <a:rPr sz="1000" b="1" i="0" dirty="0">
                <a:solidFill>
                  <a:srgbClr val="14355A"/>
                </a:solidFill>
                <a:latin typeface="Calibri"/>
              </a:rPr>
              <a:t> 13–14 = October/November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16807</Words>
  <Application>Microsoft Office PowerPoint</Application>
  <PresentationFormat>Custom</PresentationFormat>
  <Paragraphs>1372</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 Masroor</cp:lastModifiedBy>
  <cp:revision>5</cp:revision>
  <dcterms:created xsi:type="dcterms:W3CDTF">2013-01-27T09:14:16Z</dcterms:created>
  <dcterms:modified xsi:type="dcterms:W3CDTF">2026-07-20T05:13:55Z</dcterms:modified>
  <cp:category/>
</cp:coreProperties>
</file>