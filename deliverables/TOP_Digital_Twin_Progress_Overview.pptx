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2053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making time. This is a shorter check-in than a full results review -- I want to walk through where the project stands right now: what's been built, what stage each piece is at, and what's still open. I'm deliberately leaving out the detailed numbers and figures today -- those are ready separately whenever it's useful to go through them -- this is purely a progress and status update.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quick stops: what the project is building, then a status check across each major piece -- data, forecasting, early warning and causal analysis, and the production system -- then a look at how we've handled our own mistakes, what happened this week specifically, a milestone timeline, what's still open, and what's next. Stop me anywhere.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grounding on what this actually is. Tomato, onion, and potato are the most price-volatile staple vegetables in the Indian basket, and today's policy response is mostly reactive -- interventions get announced after a spike is already visible. This project is building three connected capabilities into one system: price forecasting per market and crop, an early-warning detector that flags an escalating episode before it peaks, and a causal evaluation layer that can honestly say whether a given intervention actually moved prices. I won't go through the results of any of these today -- just where each one stands.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sits on six integrated data layers, all built and current: market prices and arrivals, satellite vegetation indices, climate data, macroeconomic indicators, infrastructure like cold storage and road density, and a hand-verified policy events layer. Every layer is checked against primary sources rather than taken at face value -- I'll come back to that verification culture later in the talk.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foundation is built and current: over seventeen hundred markets across the three crops, nine years of weekly history, six integrated data layers. Every market has to clear a minimum real-data coverage bar before it's used, so this isn't a thin panel. Worth flagging honestly: we did find and fix a real bug in how the panel was originally built, which grew the usable market count substantially once corrected -- I'll talk more generally about that kind of finding-and-fixing culture in a few slides. And right now, live, we're validating an even fresher raw-data pull for potato and onion, with tomato's version expected shortly.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forecasting pipeline is built and validated. Rather than reporting one black-box accuracy number, we run a structured ablation study that isolates exactly which data layer contributes what -- that's built and validated, cross-validated with a rolling-origin design across multiple time folds that we've extended as new 2026 data has come in. The model family itself -- gradient-boosted trees -- wasn't just assumed; it was tested against four alternative approaches, including deep learning, before being confirmed as the right production choice. And everywhere we compare approaches, we use formal statistical testing, not just eyeballing point estimates. On top of all that, a full interpretability analysis is complete, so we know what the model is actually using at every forecast horizon, not just how accurate it is. I'm not going to walk through the actual numbers today -- just confirming this whole layer is done and validated.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connected pieces here, both built and validated. First, the forecasting model has been backtested against several real, independently verified price crises spanning 2023 through 2025 across all three crops -- a genuine real-world stress test, not just a statistical holdout. Second, a dedicated early-warning classifier is built: it's trained to recognize the shape of an escalating episode before it peaks, using leave-one-episode-out validation so it's never tested on data it effectively saw during training. This quarter we expanded that validation from a partial design to a genuinely complete one covering multiple verified episodes for every crop. And where one episode came out weaker than the others, we didn't just report the number -- we dug into why and have a real diagnosis for it. Again, no numbers today, just confirming this is built and validated.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piece I think is most methodologically distinct: a dedicated causal-inference pipeline, using Synthetic Difference-in-Differences, built specifically to answer a question forecasting accuracy alone can't -- did a specific policy intervention actually cause a price change, or would that change have happened anyway. We've applied it to the 2023-24 onion export-restriction episode using three independent research designs that cross-check each other, and every single estimate that comes out gets stress-tested with formal placebo and robustness checks before we trust it -- we don't report a bare point estimate. This quarter we extended the same rigor to a second outcome variable, market arrivals, not just price. Full detail and the actual findings are available separately -- today's just confirming this entire layer is built and validated.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pieces, both built and validated. A market-leadership network maps which markets tend to move first and which follow, using bidirectional causality testing, and we specifically checked and ruled out that this is just an artifact of which markets happen to report more consistently. And a reproducible what-if stress-testing battery is in place -- named scenarios like a diesel-price shock or an export-policy change, runnable on demand against the live production models without retraining. Along the way we found and fixed a real sign-error in an earlier version of the policy-scenario logic, and that's now structurally prevented from happening again, not just patched once.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research feeds a genuinely live, public production system, already running, not sitting in offline notebooks. Twelve saved models across all crops and horizons, serving a public dashboard that auto-redeploys whenever we update the underlying models. It gives per-market forecasts, what-if scenario sliders, a data-quality flag per market, and a validated uncertainty band on every forecast, so it's honest about how much to trust each number. And the whole repository is public -- a deliberate choice, since every underlying data source is public government data -- which is also what lets us run this on free hosting.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slide specifically on process, because I think how a project handles its own mistakes says as much about its quality as any individual result. This quarter we found a real data-integrity bug -- two market names colliding across different states -- and fixed it across every script it touched, and we confirmed, rather than assumed, that it had zero effect on anything already published. We also explored two full architectural approaches in real depth and deliberately rejected both once formal testing didn't support them, rather than quietly keeping whichever one looked better on the surface. And there's now a permanent automated sanity checker that runs after every pipeline update, encoding the failure signature of every bug we've found so far, so none of them can silently come back. This habit -- actively looking for our own errors and disclosing them, not just reporting what worked -- is something I treat as core to this project's credibility, not a footnote.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bring things fully up to date: this week we found and fixed a data-completeness bug — a narrow gap in how the pipeline handled markets that were simply a week or two behind on reporting, which had previously just been left blank instead of getting a sensible estimate. We confirmed the fix doesn't touch any published result — every downstream model was already excluding those rows anyway, so this only makes the underlying data itself more honest. Separately, we received a fresher raw-data pull for potato and onion and independently validated it as legitimate before touching anything with it. We're still waiting on the equivalent tomato file, and deliberately holding off on merging and re-running the pipeline until all three crops are in hand together.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give a sense of pace over the last two months: the repository went public and the dashboard deployed in July, alongside a full data refresh. August brought a major data-panel fix, two architectures explored and honestly rejected, the causal policy pipeline closed out as a rigorous result, a project-wide data-integrity bug found and fixed, the early-warning detector completed across all crops, and most recently a second causal outcome variable added alongside this week's data-completeness fix and the raw-data refresh now in progress. This has been a continuously active process, not something built once and left alone.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an honest accounting, here's everything genuinely still open, kept deliberately high-level: a full-capacity deep-learning comparison hasn't completed yet; a handful of older comparison scripts have deliberately deferred re-runs; one already-rejected exploratory architecture was never re-verified against a recent fix, which is low priority since it's rejected anyway but still genuinely open; a few macro series haven't been extended to the latest data; there's a real tension between two specific findings worth investigating directly; whether a production credential is configured for one dashboard feature is unconfirmed; and the manuscript itself is intentionally starting fresh from a cleared slate rather than an old partial draft.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next. Immediately: finish receiving and validating the tomato raw-data file, then merge all three crops and re-run the pipeline. In the short term: work through the deferred re-runs and resolve that one open tension between findings I mentioned. In the medium term: complete the full-capacity deep-learning comparison and confirm the dashboard's production credential. And ongoing, in parallel: write the manuscript fresh, section by section, directly against this now-verified body of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status check. Every major piece of this system -- forecasting, early warning, causal analysis, and the production dashboard -- is built and validated, the project is moving at a steady, active pace, and we're treating our own mistakes as seriously as our results. Happy to go into the actual numbers and findings whenever that's useful -- today was deliberately just the shape of where things stand.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11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11A"/>
          </a:solidFill>
          <a:ln/>
        </p:spPr>
      </p:sp>
      <p:sp>
        <p:nvSpPr>
          <p:cNvPr id="3" name="Text 1"/>
          <p:cNvSpPr/>
          <p:nvPr/>
        </p:nvSpPr>
        <p:spPr>
          <a:xfrm>
            <a:off x="731520" y="2103120"/>
            <a:ext cx="10698480" cy="91440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TOP DIGITAL TWIN</a:t>
            </a:r>
            <a:endParaRPr lang="en-US" sz="4400" dirty="0"/>
          </a:p>
        </p:txBody>
      </p:sp>
      <p:sp>
        <p:nvSpPr>
          <p:cNvPr id="4" name="Text 2"/>
          <p:cNvSpPr/>
          <p:nvPr/>
        </p:nvSpPr>
        <p:spPr>
          <a:xfrm>
            <a:off x="731520" y="3017520"/>
            <a:ext cx="9875520" cy="548640"/>
          </a:xfrm>
          <a:prstGeom prst="rect">
            <a:avLst/>
          </a:prstGeom>
          <a:noFill/>
          <a:ln/>
        </p:spPr>
        <p:txBody>
          <a:bodyPr wrap="square" lIns="0" tIns="0" rIns="0" bIns="0" rtlCol="0" anchor="ctr"/>
          <a:lstStyle/>
          <a:p>
            <a:pPr marL="0" indent="0" algn="l">
              <a:buNone/>
            </a:pPr>
            <a:r>
              <a:rPr lang="en-US" sz="2000" dirty="0">
                <a:solidFill>
                  <a:srgbClr val="7FA671"/>
                </a:solidFill>
                <a:latin typeface="Calibri" pitchFamily="34" charset="0"/>
                <a:ea typeface="Calibri" pitchFamily="34" charset="-122"/>
                <a:cs typeface="Calibri" pitchFamily="34" charset="-120"/>
              </a:rPr>
              <a:t>Progress Overview</a:t>
            </a:r>
            <a:endParaRPr lang="en-US" sz="2000" dirty="0"/>
          </a:p>
        </p:txBody>
      </p:sp>
      <p:sp>
        <p:nvSpPr>
          <p:cNvPr id="5" name="Shape 3"/>
          <p:cNvSpPr/>
          <p:nvPr/>
        </p:nvSpPr>
        <p:spPr>
          <a:xfrm>
            <a:off x="749808" y="3657600"/>
            <a:ext cx="2011680" cy="0"/>
          </a:xfrm>
          <a:prstGeom prst="line">
            <a:avLst/>
          </a:prstGeom>
          <a:noFill/>
          <a:ln w="38100">
            <a:solidFill>
              <a:srgbClr val="C1502E"/>
            </a:solidFill>
            <a:prstDash val="solid"/>
          </a:ln>
        </p:spPr>
      </p:sp>
      <p:sp>
        <p:nvSpPr>
          <p:cNvPr id="6" name="Text 4"/>
          <p:cNvSpPr/>
          <p:nvPr/>
        </p:nvSpPr>
        <p:spPr>
          <a:xfrm>
            <a:off x="731520" y="3840480"/>
            <a:ext cx="9875520" cy="457200"/>
          </a:xfrm>
          <a:prstGeom prst="rect">
            <a:avLst/>
          </a:prstGeom>
          <a:noFill/>
          <a:ln/>
        </p:spPr>
        <p:txBody>
          <a:bodyPr wrap="square" lIns="0" tIns="0" rIns="0" bIns="0" rtlCol="0" anchor="ctr"/>
          <a:lstStyle/>
          <a:p>
            <a:pPr marL="0" indent="0" algn="l">
              <a:buNone/>
            </a:pPr>
            <a:r>
              <a:rPr lang="en-US" sz="1400" i="1" dirty="0">
                <a:solidFill>
                  <a:srgbClr val="FFFFFF"/>
                </a:solidFill>
                <a:latin typeface="Calibri" pitchFamily="34" charset="0"/>
                <a:ea typeface="Calibri" pitchFamily="34" charset="-122"/>
                <a:cs typeface="Calibri" pitchFamily="34" charset="-120"/>
              </a:rPr>
              <a:t>Where things stand — no detailed results, just what's been built</a:t>
            </a:r>
            <a:endParaRPr lang="en-US" sz="1400" dirty="0"/>
          </a:p>
        </p:txBody>
      </p:sp>
      <p:sp>
        <p:nvSpPr>
          <p:cNvPr id="7" name="Text 5"/>
          <p:cNvSpPr/>
          <p:nvPr/>
        </p:nvSpPr>
        <p:spPr>
          <a:xfrm>
            <a:off x="731520" y="5623560"/>
            <a:ext cx="7315200" cy="914400"/>
          </a:xfrm>
          <a:prstGeom prst="rect">
            <a:avLst/>
          </a:prstGeom>
          <a:noFill/>
          <a:ln/>
        </p:spPr>
        <p:txBody>
          <a:bodyPr wrap="square" lIns="0" tIns="0" rIns="0" bIns="0" rtlCol="0" anchor="ctr"/>
          <a:lstStyle/>
          <a:p>
            <a:pPr marL="0" indent="0" algn="l">
              <a:lnSpc>
                <a:spcPct val="130000"/>
              </a:lnSpc>
              <a:buNone/>
            </a:pPr>
            <a:r>
              <a:rPr lang="en-US" sz="1300" dirty="0">
                <a:solidFill>
                  <a:srgbClr val="7FA671"/>
                </a:solidFill>
                <a:latin typeface="Calibri" pitchFamily="34" charset="0"/>
                <a:ea typeface="Calibri" pitchFamily="34" charset="-122"/>
                <a:cs typeface="Calibri" pitchFamily="34" charset="-120"/>
              </a:rPr>
              <a:t>Presented by: </a:t>
            </a:r>
            <a:r>
              <a:rPr lang="en-US" sz="1300" b="1" dirty="0">
                <a:solidFill>
                  <a:srgbClr val="FFFFFF"/>
                </a:solidFill>
                <a:latin typeface="Calibri" pitchFamily="34" charset="0"/>
                <a:ea typeface="Calibri" pitchFamily="34" charset="-122"/>
                <a:cs typeface="Calibri" pitchFamily="34" charset="-120"/>
              </a:rPr>
              <a:t>Dr. Masroor
IBPR, </a:t>
            </a:r>
            <a:r>
              <a:rPr lang="en-US" sz="1300" dirty="0">
                <a:solidFill>
                  <a:srgbClr val="7FA671"/>
                </a:solidFill>
                <a:latin typeface="Calibri" pitchFamily="34" charset="0"/>
                <a:ea typeface="Calibri" pitchFamily="34" charset="-122"/>
                <a:cs typeface="Calibri" pitchFamily="34" charset="-120"/>
              </a:rPr>
              <a:t>SKUAST-Kashmir</a:t>
            </a:r>
            <a:endParaRPr lang="en-US" sz="1300" dirty="0"/>
          </a:p>
        </p:txBody>
      </p:sp>
      <p:sp>
        <p:nvSpPr>
          <p:cNvPr id="9" name="Text 6"/>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9DB89A"/>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0" name="Text 7"/>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9DB89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What I'll Cover</a:t>
            </a:r>
            <a:endParaRPr lang="en-US" sz="3000" dirty="0"/>
          </a:p>
        </p:txBody>
      </p:sp>
      <p:sp>
        <p:nvSpPr>
          <p:cNvPr id="4" name="Text 2"/>
          <p:cNvSpPr/>
          <p:nvPr/>
        </p:nvSpPr>
        <p:spPr>
          <a:xfrm>
            <a:off x="502920" y="14173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01</a:t>
            </a:r>
            <a:endParaRPr lang="en-US" sz="2600" dirty="0"/>
          </a:p>
        </p:txBody>
      </p:sp>
      <p:sp>
        <p:nvSpPr>
          <p:cNvPr id="5" name="Text 3"/>
          <p:cNvSpPr/>
          <p:nvPr/>
        </p:nvSpPr>
        <p:spPr>
          <a:xfrm>
            <a:off x="1188720" y="14356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What the project is building</a:t>
            </a:r>
            <a:endParaRPr lang="en-US" sz="1400" dirty="0"/>
          </a:p>
        </p:txBody>
      </p:sp>
      <p:sp>
        <p:nvSpPr>
          <p:cNvPr id="6" name="Text 4"/>
          <p:cNvSpPr/>
          <p:nvPr/>
        </p:nvSpPr>
        <p:spPr>
          <a:xfrm>
            <a:off x="502920" y="23317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02</a:t>
            </a:r>
            <a:endParaRPr lang="en-US" sz="2600" dirty="0"/>
          </a:p>
        </p:txBody>
      </p:sp>
      <p:sp>
        <p:nvSpPr>
          <p:cNvPr id="7" name="Text 5"/>
          <p:cNvSpPr/>
          <p:nvPr/>
        </p:nvSpPr>
        <p:spPr>
          <a:xfrm>
            <a:off x="1188720" y="23500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Data foundation — status</a:t>
            </a:r>
            <a:endParaRPr lang="en-US" sz="1400" dirty="0"/>
          </a:p>
        </p:txBody>
      </p:sp>
      <p:sp>
        <p:nvSpPr>
          <p:cNvPr id="8" name="Text 6"/>
          <p:cNvSpPr/>
          <p:nvPr/>
        </p:nvSpPr>
        <p:spPr>
          <a:xfrm>
            <a:off x="502920" y="32461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03</a:t>
            </a:r>
            <a:endParaRPr lang="en-US" sz="2600" dirty="0"/>
          </a:p>
        </p:txBody>
      </p:sp>
      <p:sp>
        <p:nvSpPr>
          <p:cNvPr id="9" name="Text 7"/>
          <p:cNvSpPr/>
          <p:nvPr/>
        </p:nvSpPr>
        <p:spPr>
          <a:xfrm>
            <a:off x="1188720" y="32644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Forecasting pipeline — status</a:t>
            </a:r>
            <a:endParaRPr lang="en-US" sz="1400" dirty="0"/>
          </a:p>
        </p:txBody>
      </p:sp>
      <p:sp>
        <p:nvSpPr>
          <p:cNvPr id="10" name="Text 8"/>
          <p:cNvSpPr/>
          <p:nvPr/>
        </p:nvSpPr>
        <p:spPr>
          <a:xfrm>
            <a:off x="502920" y="41605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04</a:t>
            </a:r>
            <a:endParaRPr lang="en-US" sz="2600" dirty="0"/>
          </a:p>
        </p:txBody>
      </p:sp>
      <p:sp>
        <p:nvSpPr>
          <p:cNvPr id="11" name="Text 9"/>
          <p:cNvSpPr/>
          <p:nvPr/>
        </p:nvSpPr>
        <p:spPr>
          <a:xfrm>
            <a:off x="1188720" y="41788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Early-warning &amp; causal analysis — status</a:t>
            </a:r>
            <a:endParaRPr lang="en-US" sz="1400" dirty="0"/>
          </a:p>
        </p:txBody>
      </p:sp>
      <p:sp>
        <p:nvSpPr>
          <p:cNvPr id="12" name="Text 10"/>
          <p:cNvSpPr/>
          <p:nvPr/>
        </p:nvSpPr>
        <p:spPr>
          <a:xfrm>
            <a:off x="502920" y="50749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05</a:t>
            </a:r>
            <a:endParaRPr lang="en-US" sz="2600" dirty="0"/>
          </a:p>
        </p:txBody>
      </p:sp>
      <p:sp>
        <p:nvSpPr>
          <p:cNvPr id="13" name="Text 11"/>
          <p:cNvSpPr/>
          <p:nvPr/>
        </p:nvSpPr>
        <p:spPr>
          <a:xfrm>
            <a:off x="1188720" y="50932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Production system — status</a:t>
            </a:r>
            <a:endParaRPr lang="en-US" sz="1400" dirty="0"/>
          </a:p>
        </p:txBody>
      </p:sp>
      <p:sp>
        <p:nvSpPr>
          <p:cNvPr id="14" name="Text 12"/>
          <p:cNvSpPr/>
          <p:nvPr/>
        </p:nvSpPr>
        <p:spPr>
          <a:xfrm>
            <a:off x="6217920" y="14173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06</a:t>
            </a:r>
            <a:endParaRPr lang="en-US" sz="2600" dirty="0"/>
          </a:p>
        </p:txBody>
      </p:sp>
      <p:sp>
        <p:nvSpPr>
          <p:cNvPr id="15" name="Text 13"/>
          <p:cNvSpPr/>
          <p:nvPr/>
        </p:nvSpPr>
        <p:spPr>
          <a:xfrm>
            <a:off x="6903720" y="14356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Scientific process: bugs found &amp; fixed</a:t>
            </a:r>
            <a:endParaRPr lang="en-US" sz="1400" dirty="0"/>
          </a:p>
        </p:txBody>
      </p:sp>
      <p:sp>
        <p:nvSpPr>
          <p:cNvPr id="16" name="Text 14"/>
          <p:cNvSpPr/>
          <p:nvPr/>
        </p:nvSpPr>
        <p:spPr>
          <a:xfrm>
            <a:off x="6217920" y="23317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07</a:t>
            </a:r>
            <a:endParaRPr lang="en-US" sz="2600" dirty="0"/>
          </a:p>
        </p:txBody>
      </p:sp>
      <p:sp>
        <p:nvSpPr>
          <p:cNvPr id="17" name="Text 15"/>
          <p:cNvSpPr/>
          <p:nvPr/>
        </p:nvSpPr>
        <p:spPr>
          <a:xfrm>
            <a:off x="6903720" y="23500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This week's work</a:t>
            </a:r>
            <a:endParaRPr lang="en-US" sz="1400" dirty="0"/>
          </a:p>
        </p:txBody>
      </p:sp>
      <p:sp>
        <p:nvSpPr>
          <p:cNvPr id="18" name="Text 16"/>
          <p:cNvSpPr/>
          <p:nvPr/>
        </p:nvSpPr>
        <p:spPr>
          <a:xfrm>
            <a:off x="6217920" y="32461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08</a:t>
            </a:r>
            <a:endParaRPr lang="en-US" sz="2600" dirty="0"/>
          </a:p>
        </p:txBody>
      </p:sp>
      <p:sp>
        <p:nvSpPr>
          <p:cNvPr id="19" name="Text 17"/>
          <p:cNvSpPr/>
          <p:nvPr/>
        </p:nvSpPr>
        <p:spPr>
          <a:xfrm>
            <a:off x="6903720" y="32644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Milestones so far</a:t>
            </a:r>
            <a:endParaRPr lang="en-US" sz="1400" dirty="0"/>
          </a:p>
        </p:txBody>
      </p:sp>
      <p:sp>
        <p:nvSpPr>
          <p:cNvPr id="20" name="Text 18"/>
          <p:cNvSpPr/>
          <p:nvPr/>
        </p:nvSpPr>
        <p:spPr>
          <a:xfrm>
            <a:off x="6217920" y="41605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09</a:t>
            </a:r>
            <a:endParaRPr lang="en-US" sz="2600" dirty="0"/>
          </a:p>
        </p:txBody>
      </p:sp>
      <p:sp>
        <p:nvSpPr>
          <p:cNvPr id="21" name="Text 19"/>
          <p:cNvSpPr/>
          <p:nvPr/>
        </p:nvSpPr>
        <p:spPr>
          <a:xfrm>
            <a:off x="6903720" y="41788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What's still open</a:t>
            </a:r>
            <a:endParaRPr lang="en-US" sz="1400" dirty="0"/>
          </a:p>
        </p:txBody>
      </p:sp>
      <p:sp>
        <p:nvSpPr>
          <p:cNvPr id="22" name="Text 20"/>
          <p:cNvSpPr/>
          <p:nvPr/>
        </p:nvSpPr>
        <p:spPr>
          <a:xfrm>
            <a:off x="6217920" y="5074920"/>
            <a:ext cx="640080" cy="731520"/>
          </a:xfrm>
          <a:prstGeom prst="rect">
            <a:avLst/>
          </a:prstGeom>
          <a:noFill/>
          <a:ln/>
        </p:spPr>
        <p:txBody>
          <a:bodyPr wrap="square" lIns="0" tIns="0" rIns="0" bIns="0" rtlCol="0" anchor="t"/>
          <a:lstStyle/>
          <a:p>
            <a:pPr marL="0" indent="0" algn="l">
              <a:buNone/>
            </a:pPr>
            <a:r>
              <a:rPr lang="en-US" sz="2600" b="1" dirty="0">
                <a:solidFill>
                  <a:srgbClr val="7FA671"/>
                </a:solidFill>
                <a:latin typeface="Cambria" pitchFamily="34" charset="0"/>
                <a:ea typeface="Cambria" pitchFamily="34" charset="-122"/>
                <a:cs typeface="Cambria" pitchFamily="34" charset="-120"/>
              </a:rPr>
              <a:t>10</a:t>
            </a:r>
            <a:endParaRPr lang="en-US" sz="2600" dirty="0"/>
          </a:p>
        </p:txBody>
      </p:sp>
      <p:sp>
        <p:nvSpPr>
          <p:cNvPr id="23" name="Text 21"/>
          <p:cNvSpPr/>
          <p:nvPr/>
        </p:nvSpPr>
        <p:spPr>
          <a:xfrm>
            <a:off x="6903720" y="5093208"/>
            <a:ext cx="4709160" cy="777240"/>
          </a:xfrm>
          <a:prstGeom prst="rect">
            <a:avLst/>
          </a:prstGeom>
          <a:noFill/>
          <a:ln/>
        </p:spPr>
        <p:txBody>
          <a:bodyPr wrap="square" lIns="0" tIns="0" rIns="0" bIns="0" rtlCol="0" anchor="t"/>
          <a:lstStyle/>
          <a:p>
            <a:pPr marL="0" indent="0" algn="l">
              <a:buNone/>
            </a:pPr>
            <a:r>
              <a:rPr lang="en-US" sz="1400" dirty="0">
                <a:solidFill>
                  <a:srgbClr val="20291F"/>
                </a:solidFill>
                <a:latin typeface="Calibri" pitchFamily="34" charset="0"/>
                <a:ea typeface="Calibri" pitchFamily="34" charset="-122"/>
                <a:cs typeface="Calibri" pitchFamily="34" charset="-120"/>
              </a:rPr>
              <a:t>Next steps</a:t>
            </a:r>
            <a:endParaRPr lang="en-US" sz="1400" dirty="0"/>
          </a:p>
        </p:txBody>
      </p:sp>
      <p:sp>
        <p:nvSpPr>
          <p:cNvPr id="25" name="Text 22"/>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6" name="Text 23"/>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THE MISSION</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A Digital Twin for Tomato, Onion &amp; Potato Prices</a:t>
            </a:r>
            <a:endParaRPr lang="en-US" sz="3000" dirty="0"/>
          </a:p>
        </p:txBody>
      </p:sp>
      <p:sp>
        <p:nvSpPr>
          <p:cNvPr id="4" name="Text 2"/>
          <p:cNvSpPr/>
          <p:nvPr/>
        </p:nvSpPr>
        <p:spPr>
          <a:xfrm>
            <a:off x="502920" y="1463040"/>
            <a:ext cx="11155680" cy="2377440"/>
          </a:xfrm>
          <a:prstGeom prst="rect">
            <a:avLst/>
          </a:prstGeom>
          <a:noFill/>
          <a:ln/>
        </p:spPr>
        <p:txBody>
          <a:bodyPr wrap="square" rtlCol="0" anchor="t"/>
          <a:lstStyle/>
          <a:p>
            <a:pPr marL="342900" indent="-342900">
              <a:lnSpc>
                <a:spcPct val="112000"/>
              </a:lnSpc>
              <a:spcAft>
                <a:spcPts val="1200"/>
              </a:spcAft>
              <a:buSzPct val="100000"/>
              <a:buChar char="▪"/>
            </a:pPr>
            <a:r>
              <a:rPr lang="en-US" sz="1550" dirty="0">
                <a:solidFill>
                  <a:srgbClr val="20291F"/>
                </a:solidFill>
                <a:latin typeface="Calibri" pitchFamily="34" charset="0"/>
                <a:ea typeface="Calibri" pitchFamily="34" charset="-122"/>
                <a:cs typeface="Calibri" pitchFamily="34" charset="-120"/>
              </a:rPr>
              <a:t>Tomato, onion, and potato are India's most price-volatile staple vegetables — spikes hurt consumers, crashes hurt producers, often in the same season.</a:t>
            </a:r>
            <a:endParaRPr lang="en-US" sz="1550" dirty="0"/>
          </a:p>
          <a:p>
            <a:pPr marL="342900" indent="-342900">
              <a:lnSpc>
                <a:spcPct val="112000"/>
              </a:lnSpc>
              <a:spcAft>
                <a:spcPts val="1200"/>
              </a:spcAft>
              <a:buSzPct val="100000"/>
              <a:buChar char="▪"/>
            </a:pPr>
            <a:r>
              <a:rPr lang="en-US" sz="1550" dirty="0">
                <a:solidFill>
                  <a:srgbClr val="20291F"/>
                </a:solidFill>
                <a:latin typeface="Calibri" pitchFamily="34" charset="0"/>
                <a:ea typeface="Calibri" pitchFamily="34" charset="-122"/>
                <a:cs typeface="Calibri" pitchFamily="34" charset="-120"/>
              </a:rPr>
              <a:t>Government response today is largely reactive: export bans, duties, MEP changes announced after a spike is already visible.</a:t>
            </a:r>
            <a:endParaRPr lang="en-US" sz="1550" dirty="0"/>
          </a:p>
          <a:p>
            <a:pPr marL="342900" indent="-342900">
              <a:lnSpc>
                <a:spcPct val="112000"/>
              </a:lnSpc>
              <a:spcAft>
                <a:spcPts val="1200"/>
              </a:spcAft>
              <a:buSzPct val="100000"/>
              <a:buChar char="▪"/>
            </a:pPr>
            <a:r>
              <a:rPr lang="en-US" sz="1550" dirty="0">
                <a:solidFill>
                  <a:srgbClr val="20291F"/>
                </a:solidFill>
                <a:latin typeface="Calibri" pitchFamily="34" charset="0"/>
                <a:ea typeface="Calibri" pitchFamily="34" charset="-122"/>
                <a:cs typeface="Calibri" pitchFamily="34" charset="-120"/>
              </a:rPr>
              <a:t>This project is building three connected capabilities in one system:</a:t>
            </a:r>
            <a:endParaRPr lang="en-US" sz="1550" dirty="0"/>
          </a:p>
        </p:txBody>
      </p:sp>
      <p:sp>
        <p:nvSpPr>
          <p:cNvPr id="5" name="Shape 3"/>
          <p:cNvSpPr/>
          <p:nvPr/>
        </p:nvSpPr>
        <p:spPr>
          <a:xfrm>
            <a:off x="502920" y="3977640"/>
            <a:ext cx="3566160" cy="2148840"/>
          </a:xfrm>
          <a:prstGeom prst="roundRect">
            <a:avLst>
              <a:gd name="adj" fmla="val 3404"/>
            </a:avLst>
          </a:prstGeom>
          <a:solidFill>
            <a:srgbClr val="E4ECDE"/>
          </a:solidFill>
          <a:ln w="12700">
            <a:solidFill>
              <a:srgbClr val="D6E0D1"/>
            </a:solidFill>
            <a:prstDash val="solid"/>
          </a:ln>
        </p:spPr>
      </p:sp>
      <p:sp>
        <p:nvSpPr>
          <p:cNvPr id="6" name="Shape 4"/>
          <p:cNvSpPr/>
          <p:nvPr/>
        </p:nvSpPr>
        <p:spPr>
          <a:xfrm>
            <a:off x="777240" y="4206240"/>
            <a:ext cx="502920" cy="502920"/>
          </a:xfrm>
          <a:prstGeom prst="ellipse">
            <a:avLst/>
          </a:prstGeom>
          <a:solidFill>
            <a:srgbClr val="C1502E"/>
          </a:solidFill>
          <a:ln/>
        </p:spPr>
      </p:sp>
      <p:sp>
        <p:nvSpPr>
          <p:cNvPr id="7" name="Text 5"/>
          <p:cNvSpPr/>
          <p:nvPr/>
        </p:nvSpPr>
        <p:spPr>
          <a:xfrm>
            <a:off x="777240" y="4206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777240" y="4846320"/>
            <a:ext cx="3017520" cy="457200"/>
          </a:xfrm>
          <a:prstGeom prst="rect">
            <a:avLst/>
          </a:prstGeom>
          <a:noFill/>
          <a:ln/>
        </p:spPr>
        <p:txBody>
          <a:bodyPr wrap="square" lIns="0" tIns="0" rIns="0" bIns="0" rtlCol="0" anchor="ctr"/>
          <a:lstStyle/>
          <a:p>
            <a:pPr marL="0" indent="0">
              <a:buNone/>
            </a:pPr>
            <a:r>
              <a:rPr lang="en-US" sz="1450" b="1" dirty="0">
                <a:solidFill>
                  <a:srgbClr val="20291F"/>
                </a:solidFill>
                <a:latin typeface="Calibri" pitchFamily="34" charset="0"/>
                <a:ea typeface="Calibri" pitchFamily="34" charset="-122"/>
                <a:cs typeface="Calibri" pitchFamily="34" charset="-120"/>
              </a:rPr>
              <a:t>Price forecasting</a:t>
            </a:r>
            <a:endParaRPr lang="en-US" sz="1450" dirty="0"/>
          </a:p>
        </p:txBody>
      </p:sp>
      <p:sp>
        <p:nvSpPr>
          <p:cNvPr id="9" name="Text 7"/>
          <p:cNvSpPr/>
          <p:nvPr/>
        </p:nvSpPr>
        <p:spPr>
          <a:xfrm>
            <a:off x="777240" y="5303520"/>
            <a:ext cx="3017520" cy="64008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per market, per crop, multiple horizons</a:t>
            </a:r>
            <a:endParaRPr lang="en-US" sz="1150" dirty="0"/>
          </a:p>
        </p:txBody>
      </p:sp>
      <p:sp>
        <p:nvSpPr>
          <p:cNvPr id="10" name="Shape 8"/>
          <p:cNvSpPr/>
          <p:nvPr/>
        </p:nvSpPr>
        <p:spPr>
          <a:xfrm>
            <a:off x="4251960" y="3977640"/>
            <a:ext cx="3566160" cy="2148840"/>
          </a:xfrm>
          <a:prstGeom prst="roundRect">
            <a:avLst>
              <a:gd name="adj" fmla="val 3404"/>
            </a:avLst>
          </a:prstGeom>
          <a:solidFill>
            <a:srgbClr val="E4ECDE"/>
          </a:solidFill>
          <a:ln w="12700">
            <a:solidFill>
              <a:srgbClr val="D6E0D1"/>
            </a:solidFill>
            <a:prstDash val="solid"/>
          </a:ln>
        </p:spPr>
      </p:sp>
      <p:sp>
        <p:nvSpPr>
          <p:cNvPr id="11" name="Shape 9"/>
          <p:cNvSpPr/>
          <p:nvPr/>
        </p:nvSpPr>
        <p:spPr>
          <a:xfrm>
            <a:off x="4526280" y="4206240"/>
            <a:ext cx="502920" cy="502920"/>
          </a:xfrm>
          <a:prstGeom prst="ellipse">
            <a:avLst/>
          </a:prstGeom>
          <a:solidFill>
            <a:srgbClr val="C1502E"/>
          </a:solidFill>
          <a:ln/>
        </p:spPr>
      </p:sp>
      <p:sp>
        <p:nvSpPr>
          <p:cNvPr id="12" name="Text 10"/>
          <p:cNvSpPr/>
          <p:nvPr/>
        </p:nvSpPr>
        <p:spPr>
          <a:xfrm>
            <a:off x="4526280" y="4206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4526280" y="4846320"/>
            <a:ext cx="3017520" cy="457200"/>
          </a:xfrm>
          <a:prstGeom prst="rect">
            <a:avLst/>
          </a:prstGeom>
          <a:noFill/>
          <a:ln/>
        </p:spPr>
        <p:txBody>
          <a:bodyPr wrap="square" lIns="0" tIns="0" rIns="0" bIns="0" rtlCol="0" anchor="ctr"/>
          <a:lstStyle/>
          <a:p>
            <a:pPr marL="0" indent="0">
              <a:buNone/>
            </a:pPr>
            <a:r>
              <a:rPr lang="en-US" sz="1450" b="1" dirty="0">
                <a:solidFill>
                  <a:srgbClr val="20291F"/>
                </a:solidFill>
                <a:latin typeface="Calibri" pitchFamily="34" charset="0"/>
                <a:ea typeface="Calibri" pitchFamily="34" charset="-122"/>
                <a:cs typeface="Calibri" pitchFamily="34" charset="-120"/>
              </a:rPr>
              <a:t>Early-warning detection</a:t>
            </a:r>
            <a:endParaRPr lang="en-US" sz="1450" dirty="0"/>
          </a:p>
        </p:txBody>
      </p:sp>
      <p:sp>
        <p:nvSpPr>
          <p:cNvPr id="14" name="Text 12"/>
          <p:cNvSpPr/>
          <p:nvPr/>
        </p:nvSpPr>
        <p:spPr>
          <a:xfrm>
            <a:off x="4526280" y="5303520"/>
            <a:ext cx="3017520" cy="64008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flag escalating episodes before they peak</a:t>
            </a:r>
            <a:endParaRPr lang="en-US" sz="1150" dirty="0"/>
          </a:p>
        </p:txBody>
      </p:sp>
      <p:sp>
        <p:nvSpPr>
          <p:cNvPr id="15" name="Shape 13"/>
          <p:cNvSpPr/>
          <p:nvPr/>
        </p:nvSpPr>
        <p:spPr>
          <a:xfrm>
            <a:off x="8001000" y="3977640"/>
            <a:ext cx="3566160" cy="2148840"/>
          </a:xfrm>
          <a:prstGeom prst="roundRect">
            <a:avLst>
              <a:gd name="adj" fmla="val 3404"/>
            </a:avLst>
          </a:prstGeom>
          <a:solidFill>
            <a:srgbClr val="E4ECDE"/>
          </a:solidFill>
          <a:ln w="12700">
            <a:solidFill>
              <a:srgbClr val="D6E0D1"/>
            </a:solidFill>
            <a:prstDash val="solid"/>
          </a:ln>
        </p:spPr>
      </p:sp>
      <p:sp>
        <p:nvSpPr>
          <p:cNvPr id="16" name="Shape 14"/>
          <p:cNvSpPr/>
          <p:nvPr/>
        </p:nvSpPr>
        <p:spPr>
          <a:xfrm>
            <a:off x="8275320" y="4206240"/>
            <a:ext cx="502920" cy="502920"/>
          </a:xfrm>
          <a:prstGeom prst="ellipse">
            <a:avLst/>
          </a:prstGeom>
          <a:solidFill>
            <a:srgbClr val="C1502E"/>
          </a:solidFill>
          <a:ln/>
        </p:spPr>
      </p:sp>
      <p:sp>
        <p:nvSpPr>
          <p:cNvPr id="17" name="Text 15"/>
          <p:cNvSpPr/>
          <p:nvPr/>
        </p:nvSpPr>
        <p:spPr>
          <a:xfrm>
            <a:off x="8275320" y="4206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8275320" y="4846320"/>
            <a:ext cx="3017520" cy="457200"/>
          </a:xfrm>
          <a:prstGeom prst="rect">
            <a:avLst/>
          </a:prstGeom>
          <a:noFill/>
          <a:ln/>
        </p:spPr>
        <p:txBody>
          <a:bodyPr wrap="square" lIns="0" tIns="0" rIns="0" bIns="0" rtlCol="0" anchor="ctr"/>
          <a:lstStyle/>
          <a:p>
            <a:pPr marL="0" indent="0">
              <a:buNone/>
            </a:pPr>
            <a:r>
              <a:rPr lang="en-US" sz="1450" b="1" dirty="0">
                <a:solidFill>
                  <a:srgbClr val="20291F"/>
                </a:solidFill>
                <a:latin typeface="Calibri" pitchFamily="34" charset="0"/>
                <a:ea typeface="Calibri" pitchFamily="34" charset="-122"/>
                <a:cs typeface="Calibri" pitchFamily="34" charset="-120"/>
              </a:rPr>
              <a:t>Causal policy evaluation</a:t>
            </a:r>
            <a:endParaRPr lang="en-US" sz="1450" dirty="0"/>
          </a:p>
        </p:txBody>
      </p:sp>
      <p:sp>
        <p:nvSpPr>
          <p:cNvPr id="19" name="Text 17"/>
          <p:cNvSpPr/>
          <p:nvPr/>
        </p:nvSpPr>
        <p:spPr>
          <a:xfrm>
            <a:off x="8275320" y="5303520"/>
            <a:ext cx="3017520" cy="64008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did a given intervention actually work?</a:t>
            </a:r>
            <a:endParaRPr lang="en-US" sz="1150" dirty="0"/>
          </a:p>
        </p:txBody>
      </p:sp>
      <p:sp>
        <p:nvSpPr>
          <p:cNvPr id="21" name="Text 18"/>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2" name="Text 19"/>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Built on Six Integrated Data Layers</a:t>
            </a:r>
            <a:endParaRPr lang="en-US" sz="3000" dirty="0"/>
          </a:p>
        </p:txBody>
      </p:sp>
      <p:sp>
        <p:nvSpPr>
          <p:cNvPr id="4" name="Shape 2"/>
          <p:cNvSpPr/>
          <p:nvPr/>
        </p:nvSpPr>
        <p:spPr>
          <a:xfrm>
            <a:off x="502920" y="1554480"/>
            <a:ext cx="5394960" cy="1234440"/>
          </a:xfrm>
          <a:prstGeom prst="roundRect">
            <a:avLst>
              <a:gd name="adj" fmla="val 5926"/>
            </a:avLst>
          </a:prstGeom>
          <a:solidFill>
            <a:srgbClr val="E4ECDE"/>
          </a:solidFill>
          <a:ln w="12700">
            <a:solidFill>
              <a:srgbClr val="D6E0D1"/>
            </a:solidFill>
            <a:prstDash val="solid"/>
          </a:ln>
        </p:spPr>
      </p:sp>
      <p:sp>
        <p:nvSpPr>
          <p:cNvPr id="5" name="Shape 3"/>
          <p:cNvSpPr/>
          <p:nvPr/>
        </p:nvSpPr>
        <p:spPr>
          <a:xfrm>
            <a:off x="777240" y="1810512"/>
            <a:ext cx="365760" cy="365760"/>
          </a:xfrm>
          <a:prstGeom prst="ellipse">
            <a:avLst/>
          </a:prstGeom>
          <a:solidFill>
            <a:srgbClr val="C1502E"/>
          </a:solidFill>
          <a:ln/>
        </p:spPr>
      </p:sp>
      <p:sp>
        <p:nvSpPr>
          <p:cNvPr id="6" name="Text 4"/>
          <p:cNvSpPr/>
          <p:nvPr/>
        </p:nvSpPr>
        <p:spPr>
          <a:xfrm>
            <a:off x="777240" y="181051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280160" y="1700784"/>
            <a:ext cx="4480560" cy="36576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Market</a:t>
            </a:r>
            <a:endParaRPr lang="en-US" sz="1500" dirty="0"/>
          </a:p>
        </p:txBody>
      </p:sp>
      <p:sp>
        <p:nvSpPr>
          <p:cNvPr id="8" name="Text 6"/>
          <p:cNvSpPr/>
          <p:nvPr/>
        </p:nvSpPr>
        <p:spPr>
          <a:xfrm>
            <a:off x="1280160" y="2084832"/>
            <a:ext cx="4480560" cy="54864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Weekly Agmarknet price + arrivals, 2017-2026</a:t>
            </a:r>
            <a:endParaRPr lang="en-US" sz="1150" dirty="0"/>
          </a:p>
        </p:txBody>
      </p:sp>
      <p:sp>
        <p:nvSpPr>
          <p:cNvPr id="9" name="Shape 7"/>
          <p:cNvSpPr/>
          <p:nvPr/>
        </p:nvSpPr>
        <p:spPr>
          <a:xfrm>
            <a:off x="6126480" y="1554480"/>
            <a:ext cx="5394960" cy="1234440"/>
          </a:xfrm>
          <a:prstGeom prst="roundRect">
            <a:avLst>
              <a:gd name="adj" fmla="val 5926"/>
            </a:avLst>
          </a:prstGeom>
          <a:solidFill>
            <a:srgbClr val="E4ECDE"/>
          </a:solidFill>
          <a:ln w="12700">
            <a:solidFill>
              <a:srgbClr val="D6E0D1"/>
            </a:solidFill>
            <a:prstDash val="solid"/>
          </a:ln>
        </p:spPr>
      </p:sp>
      <p:sp>
        <p:nvSpPr>
          <p:cNvPr id="10" name="Shape 8"/>
          <p:cNvSpPr/>
          <p:nvPr/>
        </p:nvSpPr>
        <p:spPr>
          <a:xfrm>
            <a:off x="6400800" y="1810512"/>
            <a:ext cx="365760" cy="365760"/>
          </a:xfrm>
          <a:prstGeom prst="ellipse">
            <a:avLst/>
          </a:prstGeom>
          <a:solidFill>
            <a:srgbClr val="C1502E"/>
          </a:solidFill>
          <a:ln/>
        </p:spPr>
      </p:sp>
      <p:sp>
        <p:nvSpPr>
          <p:cNvPr id="11" name="Text 9"/>
          <p:cNvSpPr/>
          <p:nvPr/>
        </p:nvSpPr>
        <p:spPr>
          <a:xfrm>
            <a:off x="6400800" y="181051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6903720" y="1700784"/>
            <a:ext cx="4480560" cy="36576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Satellite</a:t>
            </a:r>
            <a:endParaRPr lang="en-US" sz="1500" dirty="0"/>
          </a:p>
        </p:txBody>
      </p:sp>
      <p:sp>
        <p:nvSpPr>
          <p:cNvPr id="13" name="Text 11"/>
          <p:cNvSpPr/>
          <p:nvPr/>
        </p:nvSpPr>
        <p:spPr>
          <a:xfrm>
            <a:off x="6903720" y="2084832"/>
            <a:ext cx="4480560" cy="54864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Sentinel-2 / MODIS vegetation indices</a:t>
            </a:r>
            <a:endParaRPr lang="en-US" sz="1150" dirty="0"/>
          </a:p>
        </p:txBody>
      </p:sp>
      <p:sp>
        <p:nvSpPr>
          <p:cNvPr id="14" name="Shape 12"/>
          <p:cNvSpPr/>
          <p:nvPr/>
        </p:nvSpPr>
        <p:spPr>
          <a:xfrm>
            <a:off x="502920" y="3017520"/>
            <a:ext cx="5394960" cy="1234440"/>
          </a:xfrm>
          <a:prstGeom prst="roundRect">
            <a:avLst>
              <a:gd name="adj" fmla="val 5926"/>
            </a:avLst>
          </a:prstGeom>
          <a:solidFill>
            <a:srgbClr val="E4ECDE"/>
          </a:solidFill>
          <a:ln w="12700">
            <a:solidFill>
              <a:srgbClr val="D6E0D1"/>
            </a:solidFill>
            <a:prstDash val="solid"/>
          </a:ln>
        </p:spPr>
      </p:sp>
      <p:sp>
        <p:nvSpPr>
          <p:cNvPr id="15" name="Shape 13"/>
          <p:cNvSpPr/>
          <p:nvPr/>
        </p:nvSpPr>
        <p:spPr>
          <a:xfrm>
            <a:off x="777240" y="3273552"/>
            <a:ext cx="365760" cy="365760"/>
          </a:xfrm>
          <a:prstGeom prst="ellipse">
            <a:avLst/>
          </a:prstGeom>
          <a:solidFill>
            <a:srgbClr val="C1502E"/>
          </a:solidFill>
          <a:ln/>
        </p:spPr>
      </p:sp>
      <p:sp>
        <p:nvSpPr>
          <p:cNvPr id="16" name="Text 14"/>
          <p:cNvSpPr/>
          <p:nvPr/>
        </p:nvSpPr>
        <p:spPr>
          <a:xfrm>
            <a:off x="777240" y="327355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280160" y="3163824"/>
            <a:ext cx="4480560" cy="36576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Climate</a:t>
            </a:r>
            <a:endParaRPr lang="en-US" sz="1500" dirty="0"/>
          </a:p>
        </p:txBody>
      </p:sp>
      <p:sp>
        <p:nvSpPr>
          <p:cNvPr id="18" name="Text 16"/>
          <p:cNvSpPr/>
          <p:nvPr/>
        </p:nvSpPr>
        <p:spPr>
          <a:xfrm>
            <a:off x="1280160" y="3547872"/>
            <a:ext cx="4480560" cy="54864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ERA5-Land temperature, CHIRPS rainfall</a:t>
            </a:r>
            <a:endParaRPr lang="en-US" sz="1150" dirty="0"/>
          </a:p>
        </p:txBody>
      </p:sp>
      <p:sp>
        <p:nvSpPr>
          <p:cNvPr id="19" name="Shape 17"/>
          <p:cNvSpPr/>
          <p:nvPr/>
        </p:nvSpPr>
        <p:spPr>
          <a:xfrm>
            <a:off x="6126480" y="3017520"/>
            <a:ext cx="5394960" cy="1234440"/>
          </a:xfrm>
          <a:prstGeom prst="roundRect">
            <a:avLst>
              <a:gd name="adj" fmla="val 5926"/>
            </a:avLst>
          </a:prstGeom>
          <a:solidFill>
            <a:srgbClr val="E4ECDE"/>
          </a:solidFill>
          <a:ln w="12700">
            <a:solidFill>
              <a:srgbClr val="D6E0D1"/>
            </a:solidFill>
            <a:prstDash val="solid"/>
          </a:ln>
        </p:spPr>
      </p:sp>
      <p:sp>
        <p:nvSpPr>
          <p:cNvPr id="20" name="Shape 18"/>
          <p:cNvSpPr/>
          <p:nvPr/>
        </p:nvSpPr>
        <p:spPr>
          <a:xfrm>
            <a:off x="6400800" y="3273552"/>
            <a:ext cx="365760" cy="365760"/>
          </a:xfrm>
          <a:prstGeom prst="ellipse">
            <a:avLst/>
          </a:prstGeom>
          <a:solidFill>
            <a:srgbClr val="C1502E"/>
          </a:solidFill>
          <a:ln/>
        </p:spPr>
      </p:sp>
      <p:sp>
        <p:nvSpPr>
          <p:cNvPr id="21" name="Text 19"/>
          <p:cNvSpPr/>
          <p:nvPr/>
        </p:nvSpPr>
        <p:spPr>
          <a:xfrm>
            <a:off x="6400800" y="327355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6903720" y="3163824"/>
            <a:ext cx="4480560" cy="36576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Macro</a:t>
            </a:r>
            <a:endParaRPr lang="en-US" sz="1500" dirty="0"/>
          </a:p>
        </p:txBody>
      </p:sp>
      <p:sp>
        <p:nvSpPr>
          <p:cNvPr id="23" name="Text 21"/>
          <p:cNvSpPr/>
          <p:nvPr/>
        </p:nvSpPr>
        <p:spPr>
          <a:xfrm>
            <a:off x="6903720" y="3547872"/>
            <a:ext cx="4480560" cy="54864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CMIE/RBI/PPAC economic indicators</a:t>
            </a:r>
            <a:endParaRPr lang="en-US" sz="1150" dirty="0"/>
          </a:p>
        </p:txBody>
      </p:sp>
      <p:sp>
        <p:nvSpPr>
          <p:cNvPr id="24" name="Shape 22"/>
          <p:cNvSpPr/>
          <p:nvPr/>
        </p:nvSpPr>
        <p:spPr>
          <a:xfrm>
            <a:off x="502920" y="4480560"/>
            <a:ext cx="5394960" cy="1234440"/>
          </a:xfrm>
          <a:prstGeom prst="roundRect">
            <a:avLst>
              <a:gd name="adj" fmla="val 5926"/>
            </a:avLst>
          </a:prstGeom>
          <a:solidFill>
            <a:srgbClr val="E4ECDE"/>
          </a:solidFill>
          <a:ln w="12700">
            <a:solidFill>
              <a:srgbClr val="D6E0D1"/>
            </a:solidFill>
            <a:prstDash val="solid"/>
          </a:ln>
        </p:spPr>
      </p:sp>
      <p:sp>
        <p:nvSpPr>
          <p:cNvPr id="25" name="Shape 23"/>
          <p:cNvSpPr/>
          <p:nvPr/>
        </p:nvSpPr>
        <p:spPr>
          <a:xfrm>
            <a:off x="777240" y="4736592"/>
            <a:ext cx="365760" cy="365760"/>
          </a:xfrm>
          <a:prstGeom prst="ellipse">
            <a:avLst/>
          </a:prstGeom>
          <a:solidFill>
            <a:srgbClr val="C1502E"/>
          </a:solidFill>
          <a:ln/>
        </p:spPr>
      </p:sp>
      <p:sp>
        <p:nvSpPr>
          <p:cNvPr id="26" name="Text 24"/>
          <p:cNvSpPr/>
          <p:nvPr/>
        </p:nvSpPr>
        <p:spPr>
          <a:xfrm>
            <a:off x="777240" y="473659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280160" y="4626864"/>
            <a:ext cx="4480560" cy="36576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Infrastructure</a:t>
            </a:r>
            <a:endParaRPr lang="en-US" sz="1500" dirty="0"/>
          </a:p>
        </p:txBody>
      </p:sp>
      <p:sp>
        <p:nvSpPr>
          <p:cNvPr id="28" name="Text 26"/>
          <p:cNvSpPr/>
          <p:nvPr/>
        </p:nvSpPr>
        <p:spPr>
          <a:xfrm>
            <a:off x="1280160" y="5010912"/>
            <a:ext cx="4480560" cy="54864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Cold-storage capacity, road density</a:t>
            </a:r>
            <a:endParaRPr lang="en-US" sz="1150" dirty="0"/>
          </a:p>
        </p:txBody>
      </p:sp>
      <p:sp>
        <p:nvSpPr>
          <p:cNvPr id="29" name="Shape 27"/>
          <p:cNvSpPr/>
          <p:nvPr/>
        </p:nvSpPr>
        <p:spPr>
          <a:xfrm>
            <a:off x="6126480" y="4480560"/>
            <a:ext cx="5394960" cy="1234440"/>
          </a:xfrm>
          <a:prstGeom prst="roundRect">
            <a:avLst>
              <a:gd name="adj" fmla="val 5926"/>
            </a:avLst>
          </a:prstGeom>
          <a:solidFill>
            <a:srgbClr val="E4ECDE"/>
          </a:solidFill>
          <a:ln w="12700">
            <a:solidFill>
              <a:srgbClr val="D6E0D1"/>
            </a:solidFill>
            <a:prstDash val="solid"/>
          </a:ln>
        </p:spPr>
      </p:sp>
      <p:sp>
        <p:nvSpPr>
          <p:cNvPr id="30" name="Shape 28"/>
          <p:cNvSpPr/>
          <p:nvPr/>
        </p:nvSpPr>
        <p:spPr>
          <a:xfrm>
            <a:off x="6400800" y="4736592"/>
            <a:ext cx="365760" cy="365760"/>
          </a:xfrm>
          <a:prstGeom prst="ellipse">
            <a:avLst/>
          </a:prstGeom>
          <a:solidFill>
            <a:srgbClr val="C1502E"/>
          </a:solidFill>
          <a:ln/>
        </p:spPr>
      </p:sp>
      <p:sp>
        <p:nvSpPr>
          <p:cNvPr id="31" name="Text 29"/>
          <p:cNvSpPr/>
          <p:nvPr/>
        </p:nvSpPr>
        <p:spPr>
          <a:xfrm>
            <a:off x="6400800" y="473659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6903720" y="4626864"/>
            <a:ext cx="4480560" cy="365760"/>
          </a:xfrm>
          <a:prstGeom prst="rect">
            <a:avLst/>
          </a:prstGeom>
          <a:noFill/>
          <a:ln/>
        </p:spPr>
        <p:txBody>
          <a:bodyPr wrap="square" lIns="0" tIns="0" rIns="0" bIns="0" rtlCol="0" anchor="ctr"/>
          <a:lstStyle/>
          <a:p>
            <a:pPr marL="0" indent="0">
              <a:buNone/>
            </a:pPr>
            <a:r>
              <a:rPr lang="en-US" sz="1500" b="1" dirty="0">
                <a:solidFill>
                  <a:srgbClr val="2C5F2D"/>
                </a:solidFill>
                <a:latin typeface="Calibri" pitchFamily="34" charset="0"/>
                <a:ea typeface="Calibri" pitchFamily="34" charset="-122"/>
                <a:cs typeface="Calibri" pitchFamily="34" charset="-120"/>
              </a:rPr>
              <a:t>Policy</a:t>
            </a:r>
            <a:endParaRPr lang="en-US" sz="1500" dirty="0"/>
          </a:p>
        </p:txBody>
      </p:sp>
      <p:sp>
        <p:nvSpPr>
          <p:cNvPr id="33" name="Text 31"/>
          <p:cNvSpPr/>
          <p:nvPr/>
        </p:nvSpPr>
        <p:spPr>
          <a:xfrm>
            <a:off x="6903720" y="5010912"/>
            <a:ext cx="4480560" cy="548640"/>
          </a:xfrm>
          <a:prstGeom prst="rect">
            <a:avLst/>
          </a:prstGeom>
          <a:noFill/>
          <a:ln/>
        </p:spPr>
        <p:txBody>
          <a:bodyPr wrap="square" lIns="0" tIns="0" rIns="0" bIns="0" rtlCol="0" anchor="ctr"/>
          <a:lstStyle/>
          <a:p>
            <a:pPr marL="0" indent="0">
              <a:buNone/>
            </a:pPr>
            <a:r>
              <a:rPr lang="en-US" sz="1150" dirty="0">
                <a:solidFill>
                  <a:srgbClr val="5B6B57"/>
                </a:solidFill>
                <a:latin typeface="Calibri" pitchFamily="34" charset="0"/>
                <a:ea typeface="Calibri" pitchFamily="34" charset="-122"/>
                <a:cs typeface="Calibri" pitchFamily="34" charset="-120"/>
              </a:rPr>
              <a:t>Verified export bans, duty, MEP, buffer releases</a:t>
            </a:r>
            <a:endParaRPr lang="en-US" sz="1150" dirty="0"/>
          </a:p>
        </p:txBody>
      </p:sp>
      <p:sp>
        <p:nvSpPr>
          <p:cNvPr id="35" name="Text 32"/>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36" name="Text 33"/>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STATUS CHECK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Data Foundation</a:t>
            </a:r>
            <a:endParaRPr lang="en-US" sz="3000" dirty="0"/>
          </a:p>
        </p:txBody>
      </p:sp>
      <p:sp>
        <p:nvSpPr>
          <p:cNvPr id="4" name="Shape 2"/>
          <p:cNvSpPr/>
          <p:nvPr/>
        </p:nvSpPr>
        <p:spPr>
          <a:xfrm>
            <a:off x="9144000" y="457200"/>
            <a:ext cx="2286000" cy="384048"/>
          </a:xfrm>
          <a:prstGeom prst="roundRect">
            <a:avLst>
              <a:gd name="adj" fmla="val 50000"/>
            </a:avLst>
          </a:prstGeom>
          <a:solidFill>
            <a:srgbClr val="E4ECDE"/>
          </a:solidFill>
          <a:ln w="12700">
            <a:solidFill>
              <a:srgbClr val="2C5F2D"/>
            </a:solidFill>
            <a:prstDash val="solid"/>
          </a:ln>
        </p:spPr>
      </p:sp>
      <p:sp>
        <p:nvSpPr>
          <p:cNvPr id="5" name="Text 3"/>
          <p:cNvSpPr/>
          <p:nvPr/>
        </p:nvSpPr>
        <p:spPr>
          <a:xfrm>
            <a:off x="9144000" y="457200"/>
            <a:ext cx="2286000" cy="384048"/>
          </a:xfrm>
          <a:prstGeom prst="rect">
            <a:avLst/>
          </a:prstGeom>
          <a:noFill/>
          <a:ln/>
        </p:spPr>
        <p:txBody>
          <a:bodyPr wrap="square" lIns="0" tIns="0" rIns="0" bIns="0" rtlCol="0" anchor="ctr"/>
          <a:lstStyle/>
          <a:p>
            <a:pPr marL="0" indent="0" algn="ctr">
              <a:buNone/>
            </a:pPr>
            <a:r>
              <a:rPr lang="en-US" sz="1050" b="1" kern="0" spc="50" dirty="0">
                <a:solidFill>
                  <a:srgbClr val="2C5F2D"/>
                </a:solidFill>
                <a:latin typeface="Calibri" pitchFamily="34" charset="0"/>
                <a:ea typeface="Calibri" pitchFamily="34" charset="-122"/>
                <a:cs typeface="Calibri" pitchFamily="34" charset="-120"/>
              </a:rPr>
              <a:t>BUILT &amp; CURRENT</a:t>
            </a:r>
            <a:endParaRPr lang="en-US" sz="1050" dirty="0"/>
          </a:p>
        </p:txBody>
      </p:sp>
      <p:sp>
        <p:nvSpPr>
          <p:cNvPr id="6" name="Shape 4"/>
          <p:cNvSpPr/>
          <p:nvPr/>
        </p:nvSpPr>
        <p:spPr>
          <a:xfrm>
            <a:off x="502920" y="1554480"/>
            <a:ext cx="3566160" cy="1371600"/>
          </a:xfrm>
          <a:prstGeom prst="roundRect">
            <a:avLst>
              <a:gd name="adj" fmla="val 5333"/>
            </a:avLst>
          </a:prstGeom>
          <a:solidFill>
            <a:srgbClr val="E4ECDE"/>
          </a:solidFill>
          <a:ln w="12700">
            <a:solidFill>
              <a:srgbClr val="D6E0D1"/>
            </a:solidFill>
            <a:prstDash val="solid"/>
          </a:ln>
        </p:spPr>
      </p:sp>
      <p:sp>
        <p:nvSpPr>
          <p:cNvPr id="7" name="Text 5"/>
          <p:cNvSpPr/>
          <p:nvPr/>
        </p:nvSpPr>
        <p:spPr>
          <a:xfrm>
            <a:off x="502920" y="1737360"/>
            <a:ext cx="3566160" cy="502920"/>
          </a:xfrm>
          <a:prstGeom prst="rect">
            <a:avLst/>
          </a:prstGeom>
          <a:noFill/>
          <a:ln/>
        </p:spPr>
        <p:txBody>
          <a:bodyPr wrap="square" lIns="0" tIns="0" rIns="0" bIns="0"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1,736</a:t>
            </a:r>
            <a:endParaRPr lang="en-US" sz="2800" dirty="0"/>
          </a:p>
        </p:txBody>
      </p:sp>
      <p:sp>
        <p:nvSpPr>
          <p:cNvPr id="8" name="Text 6"/>
          <p:cNvSpPr/>
          <p:nvPr/>
        </p:nvSpPr>
        <p:spPr>
          <a:xfrm>
            <a:off x="502920" y="2240280"/>
            <a:ext cx="3566160" cy="457200"/>
          </a:xfrm>
          <a:prstGeom prst="rect">
            <a:avLst/>
          </a:prstGeom>
          <a:noFill/>
          <a:ln/>
        </p:spPr>
        <p:txBody>
          <a:bodyPr wrap="square" lIns="0" tIns="0" rIns="0" bIns="0" rtlCol="0" anchor="t"/>
          <a:lstStyle/>
          <a:p>
            <a:pPr marL="0" indent="0" algn="ctr">
              <a:buNone/>
            </a:pPr>
            <a:r>
              <a:rPr lang="en-US" sz="1100" dirty="0">
                <a:solidFill>
                  <a:srgbClr val="5B6B57"/>
                </a:solidFill>
                <a:latin typeface="Calibri" pitchFamily="34" charset="0"/>
                <a:ea typeface="Calibri" pitchFamily="34" charset="-122"/>
                <a:cs typeface="Calibri" pitchFamily="34" charset="-120"/>
              </a:rPr>
              <a:t>markets across all 3 crops</a:t>
            </a:r>
            <a:endParaRPr lang="en-US" sz="1100" dirty="0"/>
          </a:p>
        </p:txBody>
      </p:sp>
      <p:sp>
        <p:nvSpPr>
          <p:cNvPr id="9" name="Shape 7"/>
          <p:cNvSpPr/>
          <p:nvPr/>
        </p:nvSpPr>
        <p:spPr>
          <a:xfrm>
            <a:off x="4251960" y="1554480"/>
            <a:ext cx="3566160" cy="1371600"/>
          </a:xfrm>
          <a:prstGeom prst="roundRect">
            <a:avLst>
              <a:gd name="adj" fmla="val 5333"/>
            </a:avLst>
          </a:prstGeom>
          <a:solidFill>
            <a:srgbClr val="E4ECDE"/>
          </a:solidFill>
          <a:ln w="12700">
            <a:solidFill>
              <a:srgbClr val="D6E0D1"/>
            </a:solidFill>
            <a:prstDash val="solid"/>
          </a:ln>
        </p:spPr>
      </p:sp>
      <p:sp>
        <p:nvSpPr>
          <p:cNvPr id="10" name="Text 8"/>
          <p:cNvSpPr/>
          <p:nvPr/>
        </p:nvSpPr>
        <p:spPr>
          <a:xfrm>
            <a:off x="4251960" y="1737360"/>
            <a:ext cx="3566160" cy="502920"/>
          </a:xfrm>
          <a:prstGeom prst="rect">
            <a:avLst/>
          </a:prstGeom>
          <a:noFill/>
          <a:ln/>
        </p:spPr>
        <p:txBody>
          <a:bodyPr wrap="square" lIns="0" tIns="0" rIns="0" bIns="0"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9 years</a:t>
            </a:r>
            <a:endParaRPr lang="en-US" sz="2800" dirty="0"/>
          </a:p>
        </p:txBody>
      </p:sp>
      <p:sp>
        <p:nvSpPr>
          <p:cNvPr id="11" name="Text 9"/>
          <p:cNvSpPr/>
          <p:nvPr/>
        </p:nvSpPr>
        <p:spPr>
          <a:xfrm>
            <a:off x="4251960" y="2240280"/>
            <a:ext cx="3566160" cy="457200"/>
          </a:xfrm>
          <a:prstGeom prst="rect">
            <a:avLst/>
          </a:prstGeom>
          <a:noFill/>
          <a:ln/>
        </p:spPr>
        <p:txBody>
          <a:bodyPr wrap="square" lIns="0" tIns="0" rIns="0" bIns="0" rtlCol="0" anchor="t"/>
          <a:lstStyle/>
          <a:p>
            <a:pPr marL="0" indent="0" algn="ctr">
              <a:buNone/>
            </a:pPr>
            <a:r>
              <a:rPr lang="en-US" sz="1100" dirty="0">
                <a:solidFill>
                  <a:srgbClr val="5B6B57"/>
                </a:solidFill>
                <a:latin typeface="Calibri" pitchFamily="34" charset="0"/>
                <a:ea typeface="Calibri" pitchFamily="34" charset="-122"/>
                <a:cs typeface="Calibri" pitchFamily="34" charset="-120"/>
              </a:rPr>
              <a:t>of weekly history (2017-2026)</a:t>
            </a:r>
            <a:endParaRPr lang="en-US" sz="1100" dirty="0"/>
          </a:p>
        </p:txBody>
      </p:sp>
      <p:sp>
        <p:nvSpPr>
          <p:cNvPr id="12" name="Shape 10"/>
          <p:cNvSpPr/>
          <p:nvPr/>
        </p:nvSpPr>
        <p:spPr>
          <a:xfrm>
            <a:off x="8001000" y="1554480"/>
            <a:ext cx="3566160" cy="1371600"/>
          </a:xfrm>
          <a:prstGeom prst="roundRect">
            <a:avLst>
              <a:gd name="adj" fmla="val 5333"/>
            </a:avLst>
          </a:prstGeom>
          <a:solidFill>
            <a:srgbClr val="E4ECDE"/>
          </a:solidFill>
          <a:ln w="12700">
            <a:solidFill>
              <a:srgbClr val="D6E0D1"/>
            </a:solidFill>
            <a:prstDash val="solid"/>
          </a:ln>
        </p:spPr>
      </p:sp>
      <p:sp>
        <p:nvSpPr>
          <p:cNvPr id="13" name="Text 11"/>
          <p:cNvSpPr/>
          <p:nvPr/>
        </p:nvSpPr>
        <p:spPr>
          <a:xfrm>
            <a:off x="8001000" y="1737360"/>
            <a:ext cx="3566160" cy="502920"/>
          </a:xfrm>
          <a:prstGeom prst="rect">
            <a:avLst/>
          </a:prstGeom>
          <a:noFill/>
          <a:ln/>
        </p:spPr>
        <p:txBody>
          <a:bodyPr wrap="square" lIns="0" tIns="0" rIns="0" bIns="0"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6</a:t>
            </a:r>
            <a:endParaRPr lang="en-US" sz="2800" dirty="0"/>
          </a:p>
        </p:txBody>
      </p:sp>
      <p:sp>
        <p:nvSpPr>
          <p:cNvPr id="14" name="Text 12"/>
          <p:cNvSpPr/>
          <p:nvPr/>
        </p:nvSpPr>
        <p:spPr>
          <a:xfrm>
            <a:off x="8001000" y="2240280"/>
            <a:ext cx="3566160" cy="457200"/>
          </a:xfrm>
          <a:prstGeom prst="rect">
            <a:avLst/>
          </a:prstGeom>
          <a:noFill/>
          <a:ln/>
        </p:spPr>
        <p:txBody>
          <a:bodyPr wrap="square" lIns="0" tIns="0" rIns="0" bIns="0" rtlCol="0" anchor="t"/>
          <a:lstStyle/>
          <a:p>
            <a:pPr marL="0" indent="0" algn="ctr">
              <a:buNone/>
            </a:pPr>
            <a:r>
              <a:rPr lang="en-US" sz="1100" dirty="0">
                <a:solidFill>
                  <a:srgbClr val="5B6B57"/>
                </a:solidFill>
                <a:latin typeface="Calibri" pitchFamily="34" charset="0"/>
                <a:ea typeface="Calibri" pitchFamily="34" charset="-122"/>
                <a:cs typeface="Calibri" pitchFamily="34" charset="-120"/>
              </a:rPr>
              <a:t>integrated data layers</a:t>
            </a:r>
            <a:endParaRPr lang="en-US" sz="1100" dirty="0"/>
          </a:p>
        </p:txBody>
      </p:sp>
      <p:sp>
        <p:nvSpPr>
          <p:cNvPr id="15" name="Text 13"/>
          <p:cNvSpPr/>
          <p:nvPr/>
        </p:nvSpPr>
        <p:spPr>
          <a:xfrm>
            <a:off x="502920" y="329184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Every market required to clear a minimum real-data coverage threshold — no thin or cherry-picked markets.</a:t>
            </a:r>
            <a:endParaRPr lang="en-US" sz="1450" dirty="0"/>
          </a:p>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A real bug in how the panel was built (a fixed calendar grid for every market) was found and fixed this quarter, substantially growing the usable panel.</a:t>
            </a:r>
            <a:endParaRPr lang="en-US" sz="1450" dirty="0"/>
          </a:p>
          <a:p>
            <a:pPr marL="342900" indent="-342900">
              <a:lnSpc>
                <a:spcPct val="112000"/>
              </a:lnSpc>
              <a:spcAft>
                <a:spcPts val="1200"/>
              </a:spcAft>
              <a:buSzPct val="100000"/>
              <a:buChar char="▪"/>
            </a:pPr>
            <a:r>
              <a:rPr lang="en-US" sz="1450" dirty="0">
                <a:solidFill>
                  <a:srgbClr val="20291F"/>
                </a:solidFill>
                <a:latin typeface="Calibri" pitchFamily="34" charset="0"/>
                <a:ea typeface="Calibri" pitchFamily="34" charset="-122"/>
                <a:cs typeface="Calibri" pitchFamily="34" charset="-120"/>
              </a:rPr>
              <a:t>A weekly market-refresh pipeline is in place; a fresher raw-data pull for potato and onion is being validated right now, with tomato's equivalent expected shortly.</a:t>
            </a:r>
            <a:endParaRPr lang="en-US" sz="1450" dirty="0"/>
          </a:p>
        </p:txBody>
      </p:sp>
      <p:sp>
        <p:nvSpPr>
          <p:cNvPr id="17" name="Text 14"/>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8" name="Text 15"/>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STATUS CHECK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Forecasting Pipeline</a:t>
            </a:r>
            <a:endParaRPr lang="en-US" sz="3000" dirty="0"/>
          </a:p>
        </p:txBody>
      </p:sp>
      <p:sp>
        <p:nvSpPr>
          <p:cNvPr id="4" name="Shape 2"/>
          <p:cNvSpPr/>
          <p:nvPr/>
        </p:nvSpPr>
        <p:spPr>
          <a:xfrm>
            <a:off x="9144000" y="457200"/>
            <a:ext cx="2286000" cy="384048"/>
          </a:xfrm>
          <a:prstGeom prst="roundRect">
            <a:avLst>
              <a:gd name="adj" fmla="val 50000"/>
            </a:avLst>
          </a:prstGeom>
          <a:solidFill>
            <a:srgbClr val="E4ECDE"/>
          </a:solidFill>
          <a:ln w="12700">
            <a:solidFill>
              <a:srgbClr val="2C5F2D"/>
            </a:solidFill>
            <a:prstDash val="solid"/>
          </a:ln>
        </p:spPr>
      </p:sp>
      <p:sp>
        <p:nvSpPr>
          <p:cNvPr id="5" name="Text 3"/>
          <p:cNvSpPr/>
          <p:nvPr/>
        </p:nvSpPr>
        <p:spPr>
          <a:xfrm>
            <a:off x="9144000" y="457200"/>
            <a:ext cx="2286000" cy="384048"/>
          </a:xfrm>
          <a:prstGeom prst="rect">
            <a:avLst/>
          </a:prstGeom>
          <a:noFill/>
          <a:ln/>
        </p:spPr>
        <p:txBody>
          <a:bodyPr wrap="square" lIns="0" tIns="0" rIns="0" bIns="0" rtlCol="0" anchor="ctr"/>
          <a:lstStyle/>
          <a:p>
            <a:pPr marL="0" indent="0" algn="ctr">
              <a:buNone/>
            </a:pPr>
            <a:r>
              <a:rPr lang="en-US" sz="1050" b="1" kern="0" spc="50" dirty="0">
                <a:solidFill>
                  <a:srgbClr val="2C5F2D"/>
                </a:solidFill>
                <a:latin typeface="Calibri" pitchFamily="34" charset="0"/>
                <a:ea typeface="Calibri" pitchFamily="34" charset="-122"/>
                <a:cs typeface="Calibri" pitchFamily="34" charset="-120"/>
              </a:rPr>
              <a:t>BUILT &amp; VALIDATED</a:t>
            </a:r>
            <a:endParaRPr lang="en-US" sz="1050" dirty="0"/>
          </a:p>
        </p:txBody>
      </p:sp>
      <p:sp>
        <p:nvSpPr>
          <p:cNvPr id="6" name="Text 4"/>
          <p:cNvSpPr/>
          <p:nvPr/>
        </p:nvSpPr>
        <p:spPr>
          <a:xfrm>
            <a:off x="502920" y="155448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structured ablation study isolates exactly which data layers help, rather than reporting one black-box accuracy number — built and validated.</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Cross-validated with a rolling-origin design across multiple time folds, extended as new 2026 data has come in.</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The chosen model family (gradient-boosted trees) was tested against 4 alternative approaches — other tree methods and deep learning — before being confirmed as the production choice.</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Formal statistical testing (not just point estimates) is used throughout to confirm which approach genuinely wins where.</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Full interpretability analysis (SHAP) is complete, showing what the model is actually using at every horizon.</a:t>
            </a:r>
            <a:endParaRPr lang="en-US" sz="1500" dirty="0"/>
          </a:p>
        </p:txBody>
      </p:sp>
      <p:sp>
        <p:nvSpPr>
          <p:cNvPr id="7" name="Shape 5"/>
          <p:cNvSpPr/>
          <p:nvPr/>
        </p:nvSpPr>
        <p:spPr>
          <a:xfrm>
            <a:off x="502920" y="4206240"/>
            <a:ext cx="11155680" cy="0"/>
          </a:xfrm>
          <a:prstGeom prst="line">
            <a:avLst/>
          </a:prstGeom>
          <a:noFill/>
          <a:ln w="12700">
            <a:solidFill>
              <a:srgbClr val="D6E0D1"/>
            </a:solidFill>
            <a:prstDash val="solid"/>
          </a:ln>
        </p:spPr>
      </p:sp>
      <p:sp>
        <p:nvSpPr>
          <p:cNvPr id="8" name="Text 6"/>
          <p:cNvSpPr/>
          <p:nvPr/>
        </p:nvSpPr>
        <p:spPr>
          <a:xfrm>
            <a:off x="502920" y="4370832"/>
            <a:ext cx="11155680" cy="256032"/>
          </a:xfrm>
          <a:prstGeom prst="rect">
            <a:avLst/>
          </a:prstGeom>
          <a:noFill/>
          <a:ln/>
        </p:spPr>
        <p:txBody>
          <a:bodyPr wrap="square" lIns="0" tIns="0" rIns="0" bIns="0" rtlCol="0" anchor="ctr"/>
          <a:lstStyle/>
          <a:p>
            <a:pPr marL="0" indent="0">
              <a:buNone/>
            </a:pPr>
            <a:r>
              <a:rPr lang="en-US" sz="1000" b="1" kern="0" spc="100" dirty="0">
                <a:solidFill>
                  <a:srgbClr val="5B6B57"/>
                </a:solidFill>
                <a:latin typeface="Calibri" pitchFamily="34" charset="0"/>
                <a:ea typeface="Calibri" pitchFamily="34" charset="-122"/>
                <a:cs typeface="Calibri" pitchFamily="34" charset="-120"/>
              </a:rPr>
              <a:t>COMPONENTS IN THIS AREA</a:t>
            </a:r>
            <a:endParaRPr lang="en-US" sz="1000" dirty="0"/>
          </a:p>
        </p:txBody>
      </p:sp>
      <p:sp>
        <p:nvSpPr>
          <p:cNvPr id="9" name="Shape 7"/>
          <p:cNvSpPr/>
          <p:nvPr/>
        </p:nvSpPr>
        <p:spPr>
          <a:xfrm>
            <a:off x="502920" y="4709160"/>
            <a:ext cx="1528877" cy="402336"/>
          </a:xfrm>
          <a:prstGeom prst="roundRect">
            <a:avLst>
              <a:gd name="adj" fmla="val 50000"/>
            </a:avLst>
          </a:prstGeom>
          <a:solidFill>
            <a:srgbClr val="E4ECDE"/>
          </a:solidFill>
          <a:ln w="9525">
            <a:solidFill>
              <a:srgbClr val="D6E0D1"/>
            </a:solidFill>
            <a:prstDash val="solid"/>
          </a:ln>
        </p:spPr>
      </p:sp>
      <p:sp>
        <p:nvSpPr>
          <p:cNvPr id="10" name="Text 8"/>
          <p:cNvSpPr/>
          <p:nvPr/>
        </p:nvSpPr>
        <p:spPr>
          <a:xfrm>
            <a:off x="502920" y="4709160"/>
            <a:ext cx="1528877"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Ablation Study</a:t>
            </a:r>
            <a:endParaRPr lang="en-US" sz="1100" dirty="0"/>
          </a:p>
        </p:txBody>
      </p:sp>
      <p:sp>
        <p:nvSpPr>
          <p:cNvPr id="11" name="Shape 9"/>
          <p:cNvSpPr/>
          <p:nvPr/>
        </p:nvSpPr>
        <p:spPr>
          <a:xfrm>
            <a:off x="2232965" y="4709160"/>
            <a:ext cx="1770278" cy="402336"/>
          </a:xfrm>
          <a:prstGeom prst="roundRect">
            <a:avLst>
              <a:gd name="adj" fmla="val 50000"/>
            </a:avLst>
          </a:prstGeom>
          <a:solidFill>
            <a:srgbClr val="E4ECDE"/>
          </a:solidFill>
          <a:ln w="9525">
            <a:solidFill>
              <a:srgbClr val="D6E0D1"/>
            </a:solidFill>
            <a:prstDash val="solid"/>
          </a:ln>
        </p:spPr>
      </p:sp>
      <p:sp>
        <p:nvSpPr>
          <p:cNvPr id="12" name="Text 10"/>
          <p:cNvSpPr/>
          <p:nvPr/>
        </p:nvSpPr>
        <p:spPr>
          <a:xfrm>
            <a:off x="2232965" y="4709160"/>
            <a:ext cx="1770278"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Rolling-Origin CV</a:t>
            </a:r>
            <a:endParaRPr lang="en-US" sz="1100" dirty="0"/>
          </a:p>
        </p:txBody>
      </p:sp>
      <p:sp>
        <p:nvSpPr>
          <p:cNvPr id="13" name="Shape 11"/>
          <p:cNvSpPr/>
          <p:nvPr/>
        </p:nvSpPr>
        <p:spPr>
          <a:xfrm>
            <a:off x="4204411" y="4709160"/>
            <a:ext cx="2253082" cy="402336"/>
          </a:xfrm>
          <a:prstGeom prst="roundRect">
            <a:avLst>
              <a:gd name="adj" fmla="val 50000"/>
            </a:avLst>
          </a:prstGeom>
          <a:solidFill>
            <a:srgbClr val="E4ECDE"/>
          </a:solidFill>
          <a:ln w="9525">
            <a:solidFill>
              <a:srgbClr val="D6E0D1"/>
            </a:solidFill>
            <a:prstDash val="solid"/>
          </a:ln>
        </p:spPr>
      </p:sp>
      <p:sp>
        <p:nvSpPr>
          <p:cNvPr id="14" name="Text 12"/>
          <p:cNvSpPr/>
          <p:nvPr/>
        </p:nvSpPr>
        <p:spPr>
          <a:xfrm>
            <a:off x="4204411" y="4709160"/>
            <a:ext cx="2253082"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Model-Family Comparison</a:t>
            </a:r>
            <a:endParaRPr lang="en-US" sz="1100" dirty="0"/>
          </a:p>
        </p:txBody>
      </p:sp>
      <p:sp>
        <p:nvSpPr>
          <p:cNvPr id="15" name="Shape 13"/>
          <p:cNvSpPr/>
          <p:nvPr/>
        </p:nvSpPr>
        <p:spPr>
          <a:xfrm>
            <a:off x="6658661" y="4709160"/>
            <a:ext cx="2977286" cy="402336"/>
          </a:xfrm>
          <a:prstGeom prst="roundRect">
            <a:avLst>
              <a:gd name="adj" fmla="val 50000"/>
            </a:avLst>
          </a:prstGeom>
          <a:solidFill>
            <a:srgbClr val="E4ECDE"/>
          </a:solidFill>
          <a:ln w="9525">
            <a:solidFill>
              <a:srgbClr val="D6E0D1"/>
            </a:solidFill>
            <a:prstDash val="solid"/>
          </a:ln>
        </p:spPr>
      </p:sp>
      <p:sp>
        <p:nvSpPr>
          <p:cNvPr id="16" name="Text 14"/>
          <p:cNvSpPr/>
          <p:nvPr/>
        </p:nvSpPr>
        <p:spPr>
          <a:xfrm>
            <a:off x="6658661" y="4709160"/>
            <a:ext cx="2977286"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Statistical Significance Testing</a:t>
            </a:r>
            <a:endParaRPr lang="en-US" sz="1100" dirty="0"/>
          </a:p>
        </p:txBody>
      </p:sp>
      <p:sp>
        <p:nvSpPr>
          <p:cNvPr id="17" name="Shape 15"/>
          <p:cNvSpPr/>
          <p:nvPr/>
        </p:nvSpPr>
        <p:spPr>
          <a:xfrm>
            <a:off x="502920" y="5257800"/>
            <a:ext cx="2092147" cy="402336"/>
          </a:xfrm>
          <a:prstGeom prst="roundRect">
            <a:avLst>
              <a:gd name="adj" fmla="val 50000"/>
            </a:avLst>
          </a:prstGeom>
          <a:solidFill>
            <a:srgbClr val="E4ECDE"/>
          </a:solidFill>
          <a:ln w="9525">
            <a:solidFill>
              <a:srgbClr val="D6E0D1"/>
            </a:solidFill>
            <a:prstDash val="solid"/>
          </a:ln>
        </p:spPr>
      </p:sp>
      <p:sp>
        <p:nvSpPr>
          <p:cNvPr id="18" name="Text 16"/>
          <p:cNvSpPr/>
          <p:nvPr/>
        </p:nvSpPr>
        <p:spPr>
          <a:xfrm>
            <a:off x="502920" y="5257800"/>
            <a:ext cx="2092147"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SHAP Interpretability</a:t>
            </a:r>
            <a:endParaRPr lang="en-US" sz="1100" dirty="0"/>
          </a:p>
        </p:txBody>
      </p:sp>
      <p:sp>
        <p:nvSpPr>
          <p:cNvPr id="20" name="Text 17"/>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1" name="Text 18"/>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STATUS CHECK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Real-World Validation &amp; Early Warning</a:t>
            </a:r>
            <a:endParaRPr lang="en-US" sz="3000" dirty="0"/>
          </a:p>
        </p:txBody>
      </p:sp>
      <p:sp>
        <p:nvSpPr>
          <p:cNvPr id="4" name="Shape 2"/>
          <p:cNvSpPr/>
          <p:nvPr/>
        </p:nvSpPr>
        <p:spPr>
          <a:xfrm>
            <a:off x="9144000" y="457200"/>
            <a:ext cx="2286000" cy="384048"/>
          </a:xfrm>
          <a:prstGeom prst="roundRect">
            <a:avLst>
              <a:gd name="adj" fmla="val 50000"/>
            </a:avLst>
          </a:prstGeom>
          <a:solidFill>
            <a:srgbClr val="E4ECDE"/>
          </a:solidFill>
          <a:ln w="12700">
            <a:solidFill>
              <a:srgbClr val="2C5F2D"/>
            </a:solidFill>
            <a:prstDash val="solid"/>
          </a:ln>
        </p:spPr>
      </p:sp>
      <p:sp>
        <p:nvSpPr>
          <p:cNvPr id="5" name="Text 3"/>
          <p:cNvSpPr/>
          <p:nvPr/>
        </p:nvSpPr>
        <p:spPr>
          <a:xfrm>
            <a:off x="9144000" y="457200"/>
            <a:ext cx="2286000" cy="384048"/>
          </a:xfrm>
          <a:prstGeom prst="rect">
            <a:avLst/>
          </a:prstGeom>
          <a:noFill/>
          <a:ln/>
        </p:spPr>
        <p:txBody>
          <a:bodyPr wrap="square" lIns="0" tIns="0" rIns="0" bIns="0" rtlCol="0" anchor="ctr"/>
          <a:lstStyle/>
          <a:p>
            <a:pPr marL="0" indent="0" algn="ctr">
              <a:buNone/>
            </a:pPr>
            <a:r>
              <a:rPr lang="en-US" sz="1050" b="1" kern="0" spc="50" dirty="0">
                <a:solidFill>
                  <a:srgbClr val="2C5F2D"/>
                </a:solidFill>
                <a:latin typeface="Calibri" pitchFamily="34" charset="0"/>
                <a:ea typeface="Calibri" pitchFamily="34" charset="-122"/>
                <a:cs typeface="Calibri" pitchFamily="34" charset="-120"/>
              </a:rPr>
              <a:t>BUILT &amp; VALIDATED</a:t>
            </a:r>
            <a:endParaRPr lang="en-US" sz="1050" dirty="0"/>
          </a:p>
        </p:txBody>
      </p:sp>
      <p:sp>
        <p:nvSpPr>
          <p:cNvPr id="6" name="Text 4"/>
          <p:cNvSpPr/>
          <p:nvPr/>
        </p:nvSpPr>
        <p:spPr>
          <a:xfrm>
            <a:off x="502920" y="155448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The forecasting model has been backtested against several real, independently verified price crises from 2023-2025 across all three crops — not just held-out statistical folds.</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dedicated early-warning classifier is built: trained to flag an escalating episode before it peaks, using only the price signal shape available before the fact.</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Validated with a leave-one-episode-out design across multiple verified episodes per crop, expanded this quarter from a partial design to a genuinely complete one for all three crops.</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Where a signal came out weaker for one episode, the reason was investigated and diagnosed directly, rather than left unexplained.</a:t>
            </a:r>
            <a:endParaRPr lang="en-US" sz="1500" dirty="0"/>
          </a:p>
        </p:txBody>
      </p:sp>
      <p:sp>
        <p:nvSpPr>
          <p:cNvPr id="7" name="Shape 5"/>
          <p:cNvSpPr/>
          <p:nvPr/>
        </p:nvSpPr>
        <p:spPr>
          <a:xfrm>
            <a:off x="502920" y="4343400"/>
            <a:ext cx="11155680" cy="0"/>
          </a:xfrm>
          <a:prstGeom prst="line">
            <a:avLst/>
          </a:prstGeom>
          <a:noFill/>
          <a:ln w="12700">
            <a:solidFill>
              <a:srgbClr val="D6E0D1"/>
            </a:solidFill>
            <a:prstDash val="solid"/>
          </a:ln>
        </p:spPr>
      </p:sp>
      <p:sp>
        <p:nvSpPr>
          <p:cNvPr id="8" name="Text 6"/>
          <p:cNvSpPr/>
          <p:nvPr/>
        </p:nvSpPr>
        <p:spPr>
          <a:xfrm>
            <a:off x="502920" y="4507992"/>
            <a:ext cx="11155680" cy="256032"/>
          </a:xfrm>
          <a:prstGeom prst="rect">
            <a:avLst/>
          </a:prstGeom>
          <a:noFill/>
          <a:ln/>
        </p:spPr>
        <p:txBody>
          <a:bodyPr wrap="square" lIns="0" tIns="0" rIns="0" bIns="0" rtlCol="0" anchor="ctr"/>
          <a:lstStyle/>
          <a:p>
            <a:pPr marL="0" indent="0">
              <a:buNone/>
            </a:pPr>
            <a:r>
              <a:rPr lang="en-US" sz="1000" b="1" kern="0" spc="100" dirty="0">
                <a:solidFill>
                  <a:srgbClr val="5B6B57"/>
                </a:solidFill>
                <a:latin typeface="Calibri" pitchFamily="34" charset="0"/>
                <a:ea typeface="Calibri" pitchFamily="34" charset="-122"/>
                <a:cs typeface="Calibri" pitchFamily="34" charset="-120"/>
              </a:rPr>
              <a:t>COMPONENTS IN THIS AREA</a:t>
            </a:r>
            <a:endParaRPr lang="en-US" sz="1000" dirty="0"/>
          </a:p>
        </p:txBody>
      </p:sp>
      <p:sp>
        <p:nvSpPr>
          <p:cNvPr id="9" name="Shape 7"/>
          <p:cNvSpPr/>
          <p:nvPr/>
        </p:nvSpPr>
        <p:spPr>
          <a:xfrm>
            <a:off x="502920" y="4846320"/>
            <a:ext cx="1850746" cy="402336"/>
          </a:xfrm>
          <a:prstGeom prst="roundRect">
            <a:avLst>
              <a:gd name="adj" fmla="val 50000"/>
            </a:avLst>
          </a:prstGeom>
          <a:solidFill>
            <a:srgbClr val="E4ECDE"/>
          </a:solidFill>
          <a:ln w="9525">
            <a:solidFill>
              <a:srgbClr val="D6E0D1"/>
            </a:solidFill>
            <a:prstDash val="solid"/>
          </a:ln>
        </p:spPr>
      </p:sp>
      <p:sp>
        <p:nvSpPr>
          <p:cNvPr id="10" name="Text 8"/>
          <p:cNvSpPr/>
          <p:nvPr/>
        </p:nvSpPr>
        <p:spPr>
          <a:xfrm>
            <a:off x="502920" y="4846320"/>
            <a:ext cx="1850746"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Crisis Backtesting</a:t>
            </a:r>
            <a:endParaRPr lang="en-US" sz="1100" dirty="0"/>
          </a:p>
        </p:txBody>
      </p:sp>
      <p:sp>
        <p:nvSpPr>
          <p:cNvPr id="11" name="Shape 9"/>
          <p:cNvSpPr/>
          <p:nvPr/>
        </p:nvSpPr>
        <p:spPr>
          <a:xfrm>
            <a:off x="2554834" y="4846320"/>
            <a:ext cx="2977286" cy="402336"/>
          </a:xfrm>
          <a:prstGeom prst="roundRect">
            <a:avLst>
              <a:gd name="adj" fmla="val 50000"/>
            </a:avLst>
          </a:prstGeom>
          <a:solidFill>
            <a:srgbClr val="E4ECDE"/>
          </a:solidFill>
          <a:ln w="9525">
            <a:solidFill>
              <a:srgbClr val="D6E0D1"/>
            </a:solidFill>
            <a:prstDash val="solid"/>
          </a:ln>
        </p:spPr>
      </p:sp>
      <p:sp>
        <p:nvSpPr>
          <p:cNvPr id="12" name="Text 10"/>
          <p:cNvSpPr/>
          <p:nvPr/>
        </p:nvSpPr>
        <p:spPr>
          <a:xfrm>
            <a:off x="2554834" y="4846320"/>
            <a:ext cx="2977286"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Leave-One-Episode-Out Validation</a:t>
            </a:r>
            <a:endParaRPr lang="en-US" sz="1100" dirty="0"/>
          </a:p>
        </p:txBody>
      </p:sp>
      <p:sp>
        <p:nvSpPr>
          <p:cNvPr id="13" name="Shape 11"/>
          <p:cNvSpPr/>
          <p:nvPr/>
        </p:nvSpPr>
        <p:spPr>
          <a:xfrm>
            <a:off x="5733288" y="4846320"/>
            <a:ext cx="1931213" cy="402336"/>
          </a:xfrm>
          <a:prstGeom prst="roundRect">
            <a:avLst>
              <a:gd name="adj" fmla="val 50000"/>
            </a:avLst>
          </a:prstGeom>
          <a:solidFill>
            <a:srgbClr val="E4ECDE"/>
          </a:solidFill>
          <a:ln w="9525">
            <a:solidFill>
              <a:srgbClr val="D6E0D1"/>
            </a:solidFill>
            <a:prstDash val="solid"/>
          </a:ln>
        </p:spPr>
      </p:sp>
      <p:sp>
        <p:nvSpPr>
          <p:cNvPr id="14" name="Text 12"/>
          <p:cNvSpPr/>
          <p:nvPr/>
        </p:nvSpPr>
        <p:spPr>
          <a:xfrm>
            <a:off x="5733288" y="4846320"/>
            <a:ext cx="1931213"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Escalation Detector</a:t>
            </a:r>
            <a:endParaRPr lang="en-US" sz="1100" dirty="0"/>
          </a:p>
        </p:txBody>
      </p:sp>
      <p:sp>
        <p:nvSpPr>
          <p:cNvPr id="15" name="Shape 13"/>
          <p:cNvSpPr/>
          <p:nvPr/>
        </p:nvSpPr>
        <p:spPr>
          <a:xfrm>
            <a:off x="7865669" y="4846320"/>
            <a:ext cx="2655418" cy="402336"/>
          </a:xfrm>
          <a:prstGeom prst="roundRect">
            <a:avLst>
              <a:gd name="adj" fmla="val 50000"/>
            </a:avLst>
          </a:prstGeom>
          <a:solidFill>
            <a:srgbClr val="E4ECDE"/>
          </a:solidFill>
          <a:ln w="9525">
            <a:solidFill>
              <a:srgbClr val="D6E0D1"/>
            </a:solidFill>
            <a:prstDash val="solid"/>
          </a:ln>
        </p:spPr>
      </p:sp>
      <p:sp>
        <p:nvSpPr>
          <p:cNvPr id="16" name="Text 14"/>
          <p:cNvSpPr/>
          <p:nvPr/>
        </p:nvSpPr>
        <p:spPr>
          <a:xfrm>
            <a:off x="7865669" y="4846320"/>
            <a:ext cx="2655418"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Placebo Significance Testing</a:t>
            </a:r>
            <a:endParaRPr lang="en-US" sz="1100" dirty="0"/>
          </a:p>
        </p:txBody>
      </p:sp>
      <p:sp>
        <p:nvSpPr>
          <p:cNvPr id="18" name="Text 15"/>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9" name="Text 16"/>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STATUS CHECK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Causal Policy Analysis</a:t>
            </a:r>
            <a:endParaRPr lang="en-US" sz="3000" dirty="0"/>
          </a:p>
        </p:txBody>
      </p:sp>
      <p:sp>
        <p:nvSpPr>
          <p:cNvPr id="4" name="Shape 2"/>
          <p:cNvSpPr/>
          <p:nvPr/>
        </p:nvSpPr>
        <p:spPr>
          <a:xfrm>
            <a:off x="9144000" y="457200"/>
            <a:ext cx="2286000" cy="384048"/>
          </a:xfrm>
          <a:prstGeom prst="roundRect">
            <a:avLst>
              <a:gd name="adj" fmla="val 50000"/>
            </a:avLst>
          </a:prstGeom>
          <a:solidFill>
            <a:srgbClr val="E4ECDE"/>
          </a:solidFill>
          <a:ln w="12700">
            <a:solidFill>
              <a:srgbClr val="2C5F2D"/>
            </a:solidFill>
            <a:prstDash val="solid"/>
          </a:ln>
        </p:spPr>
      </p:sp>
      <p:sp>
        <p:nvSpPr>
          <p:cNvPr id="5" name="Text 3"/>
          <p:cNvSpPr/>
          <p:nvPr/>
        </p:nvSpPr>
        <p:spPr>
          <a:xfrm>
            <a:off x="9144000" y="457200"/>
            <a:ext cx="2286000" cy="384048"/>
          </a:xfrm>
          <a:prstGeom prst="rect">
            <a:avLst/>
          </a:prstGeom>
          <a:noFill/>
          <a:ln/>
        </p:spPr>
        <p:txBody>
          <a:bodyPr wrap="square" lIns="0" tIns="0" rIns="0" bIns="0" rtlCol="0" anchor="ctr"/>
          <a:lstStyle/>
          <a:p>
            <a:pPr marL="0" indent="0" algn="ctr">
              <a:buNone/>
            </a:pPr>
            <a:r>
              <a:rPr lang="en-US" sz="1050" b="1" kern="0" spc="50" dirty="0">
                <a:solidFill>
                  <a:srgbClr val="2C5F2D"/>
                </a:solidFill>
                <a:latin typeface="Calibri" pitchFamily="34" charset="0"/>
                <a:ea typeface="Calibri" pitchFamily="34" charset="-122"/>
                <a:cs typeface="Calibri" pitchFamily="34" charset="-120"/>
              </a:rPr>
              <a:t>BUILT &amp; VALIDATED</a:t>
            </a:r>
            <a:endParaRPr lang="en-US" sz="1050" dirty="0"/>
          </a:p>
        </p:txBody>
      </p:sp>
      <p:sp>
        <p:nvSpPr>
          <p:cNvPr id="6" name="Text 4"/>
          <p:cNvSpPr/>
          <p:nvPr/>
        </p:nvSpPr>
        <p:spPr>
          <a:xfrm>
            <a:off x="502920" y="155448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dedicated causal-inference pipeline (Synthetic Difference-in-Differences) is built to answer a question forecasting accuracy alone cannot: did a specific policy intervention actually cause a price change?</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Applied to the 2023-24 onion export-restriction episode using three independent research designs, cross-checked against each other.</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Every estimate is stress-tested with formal placebo and robustness checks before being trusted — not just reported as a single point estimate.</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Extended this quarter to also test the effect on market arrivals (quantity), not just price — the full robustness suite now covers both outcomes.</a:t>
            </a:r>
            <a:endParaRPr lang="en-US" sz="1500" dirty="0"/>
          </a:p>
        </p:txBody>
      </p:sp>
      <p:sp>
        <p:nvSpPr>
          <p:cNvPr id="7" name="Shape 5"/>
          <p:cNvSpPr/>
          <p:nvPr/>
        </p:nvSpPr>
        <p:spPr>
          <a:xfrm>
            <a:off x="502920" y="4343400"/>
            <a:ext cx="11155680" cy="0"/>
          </a:xfrm>
          <a:prstGeom prst="line">
            <a:avLst/>
          </a:prstGeom>
          <a:noFill/>
          <a:ln w="12700">
            <a:solidFill>
              <a:srgbClr val="D6E0D1"/>
            </a:solidFill>
            <a:prstDash val="solid"/>
          </a:ln>
        </p:spPr>
      </p:sp>
      <p:sp>
        <p:nvSpPr>
          <p:cNvPr id="8" name="Text 6"/>
          <p:cNvSpPr/>
          <p:nvPr/>
        </p:nvSpPr>
        <p:spPr>
          <a:xfrm>
            <a:off x="502920" y="4507992"/>
            <a:ext cx="11155680" cy="256032"/>
          </a:xfrm>
          <a:prstGeom prst="rect">
            <a:avLst/>
          </a:prstGeom>
          <a:noFill/>
          <a:ln/>
        </p:spPr>
        <p:txBody>
          <a:bodyPr wrap="square" lIns="0" tIns="0" rIns="0" bIns="0" rtlCol="0" anchor="ctr"/>
          <a:lstStyle/>
          <a:p>
            <a:pPr marL="0" indent="0">
              <a:buNone/>
            </a:pPr>
            <a:r>
              <a:rPr lang="en-US" sz="1000" b="1" kern="0" spc="100" dirty="0">
                <a:solidFill>
                  <a:srgbClr val="5B6B57"/>
                </a:solidFill>
                <a:latin typeface="Calibri" pitchFamily="34" charset="0"/>
                <a:ea typeface="Calibri" pitchFamily="34" charset="-122"/>
                <a:cs typeface="Calibri" pitchFamily="34" charset="-120"/>
              </a:rPr>
              <a:t>COMPONENTS IN THIS AREA</a:t>
            </a:r>
            <a:endParaRPr lang="en-US" sz="1000" dirty="0"/>
          </a:p>
        </p:txBody>
      </p:sp>
      <p:sp>
        <p:nvSpPr>
          <p:cNvPr id="9" name="Shape 7"/>
          <p:cNvSpPr/>
          <p:nvPr/>
        </p:nvSpPr>
        <p:spPr>
          <a:xfrm>
            <a:off x="502920" y="4846320"/>
            <a:ext cx="3218688" cy="402336"/>
          </a:xfrm>
          <a:prstGeom prst="roundRect">
            <a:avLst>
              <a:gd name="adj" fmla="val 50000"/>
            </a:avLst>
          </a:prstGeom>
          <a:solidFill>
            <a:srgbClr val="E4ECDE"/>
          </a:solidFill>
          <a:ln w="9525">
            <a:solidFill>
              <a:srgbClr val="D6E0D1"/>
            </a:solidFill>
            <a:prstDash val="solid"/>
          </a:ln>
        </p:spPr>
      </p:sp>
      <p:sp>
        <p:nvSpPr>
          <p:cNvPr id="10" name="Text 8"/>
          <p:cNvSpPr/>
          <p:nvPr/>
        </p:nvSpPr>
        <p:spPr>
          <a:xfrm>
            <a:off x="502920" y="4846320"/>
            <a:ext cx="3218688"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Synthetic Difference-in-Differences</a:t>
            </a:r>
            <a:endParaRPr lang="en-US" sz="1100" dirty="0"/>
          </a:p>
        </p:txBody>
      </p:sp>
      <p:sp>
        <p:nvSpPr>
          <p:cNvPr id="11" name="Shape 9"/>
          <p:cNvSpPr/>
          <p:nvPr/>
        </p:nvSpPr>
        <p:spPr>
          <a:xfrm>
            <a:off x="3922776" y="4846320"/>
            <a:ext cx="1609344" cy="402336"/>
          </a:xfrm>
          <a:prstGeom prst="roundRect">
            <a:avLst>
              <a:gd name="adj" fmla="val 50000"/>
            </a:avLst>
          </a:prstGeom>
          <a:solidFill>
            <a:srgbClr val="E4ECDE"/>
          </a:solidFill>
          <a:ln w="9525">
            <a:solidFill>
              <a:srgbClr val="D6E0D1"/>
            </a:solidFill>
            <a:prstDash val="solid"/>
          </a:ln>
        </p:spPr>
      </p:sp>
      <p:sp>
        <p:nvSpPr>
          <p:cNvPr id="12" name="Text 10"/>
          <p:cNvSpPr/>
          <p:nvPr/>
        </p:nvSpPr>
        <p:spPr>
          <a:xfrm>
            <a:off x="3922776" y="4846320"/>
            <a:ext cx="1609344"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Placebo Testing</a:t>
            </a:r>
            <a:endParaRPr lang="en-US" sz="1100" dirty="0"/>
          </a:p>
        </p:txBody>
      </p:sp>
      <p:sp>
        <p:nvSpPr>
          <p:cNvPr id="13" name="Shape 11"/>
          <p:cNvSpPr/>
          <p:nvPr/>
        </p:nvSpPr>
        <p:spPr>
          <a:xfrm>
            <a:off x="5733288" y="4846320"/>
            <a:ext cx="2011680" cy="402336"/>
          </a:xfrm>
          <a:prstGeom prst="roundRect">
            <a:avLst>
              <a:gd name="adj" fmla="val 50000"/>
            </a:avLst>
          </a:prstGeom>
          <a:solidFill>
            <a:srgbClr val="E4ECDE"/>
          </a:solidFill>
          <a:ln w="9525">
            <a:solidFill>
              <a:srgbClr val="D6E0D1"/>
            </a:solidFill>
            <a:prstDash val="solid"/>
          </a:ln>
        </p:spPr>
      </p:sp>
      <p:sp>
        <p:nvSpPr>
          <p:cNvPr id="14" name="Text 12"/>
          <p:cNvSpPr/>
          <p:nvPr/>
        </p:nvSpPr>
        <p:spPr>
          <a:xfrm>
            <a:off x="5733288" y="4846320"/>
            <a:ext cx="2011680"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Jackknife Robustness</a:t>
            </a:r>
            <a:endParaRPr lang="en-US" sz="1100" dirty="0"/>
          </a:p>
        </p:txBody>
      </p:sp>
      <p:sp>
        <p:nvSpPr>
          <p:cNvPr id="15" name="Shape 13"/>
          <p:cNvSpPr/>
          <p:nvPr/>
        </p:nvSpPr>
        <p:spPr>
          <a:xfrm>
            <a:off x="7946136" y="4846320"/>
            <a:ext cx="2414016" cy="402336"/>
          </a:xfrm>
          <a:prstGeom prst="roundRect">
            <a:avLst>
              <a:gd name="adj" fmla="val 50000"/>
            </a:avLst>
          </a:prstGeom>
          <a:solidFill>
            <a:srgbClr val="E4ECDE"/>
          </a:solidFill>
          <a:ln w="9525">
            <a:solidFill>
              <a:srgbClr val="D6E0D1"/>
            </a:solidFill>
            <a:prstDash val="solid"/>
          </a:ln>
        </p:spPr>
      </p:sp>
      <p:sp>
        <p:nvSpPr>
          <p:cNvPr id="16" name="Text 14"/>
          <p:cNvSpPr/>
          <p:nvPr/>
        </p:nvSpPr>
        <p:spPr>
          <a:xfrm>
            <a:off x="7946136" y="4846320"/>
            <a:ext cx="2414016"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Price + Arrivals Outcomes</a:t>
            </a:r>
            <a:endParaRPr lang="en-US" sz="1100" dirty="0"/>
          </a:p>
        </p:txBody>
      </p:sp>
      <p:sp>
        <p:nvSpPr>
          <p:cNvPr id="18" name="Text 15"/>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9" name="Text 16"/>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STATUS CHECK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Market Network &amp; Scenario Testing</a:t>
            </a:r>
            <a:endParaRPr lang="en-US" sz="3000" dirty="0"/>
          </a:p>
        </p:txBody>
      </p:sp>
      <p:sp>
        <p:nvSpPr>
          <p:cNvPr id="4" name="Shape 2"/>
          <p:cNvSpPr/>
          <p:nvPr/>
        </p:nvSpPr>
        <p:spPr>
          <a:xfrm>
            <a:off x="9144000" y="457200"/>
            <a:ext cx="2286000" cy="384048"/>
          </a:xfrm>
          <a:prstGeom prst="roundRect">
            <a:avLst>
              <a:gd name="adj" fmla="val 50000"/>
            </a:avLst>
          </a:prstGeom>
          <a:solidFill>
            <a:srgbClr val="E4ECDE"/>
          </a:solidFill>
          <a:ln w="12700">
            <a:solidFill>
              <a:srgbClr val="2C5F2D"/>
            </a:solidFill>
            <a:prstDash val="solid"/>
          </a:ln>
        </p:spPr>
      </p:sp>
      <p:sp>
        <p:nvSpPr>
          <p:cNvPr id="5" name="Text 3"/>
          <p:cNvSpPr/>
          <p:nvPr/>
        </p:nvSpPr>
        <p:spPr>
          <a:xfrm>
            <a:off x="9144000" y="457200"/>
            <a:ext cx="2286000" cy="384048"/>
          </a:xfrm>
          <a:prstGeom prst="rect">
            <a:avLst/>
          </a:prstGeom>
          <a:noFill/>
          <a:ln/>
        </p:spPr>
        <p:txBody>
          <a:bodyPr wrap="square" lIns="0" tIns="0" rIns="0" bIns="0" rtlCol="0" anchor="ctr"/>
          <a:lstStyle/>
          <a:p>
            <a:pPr marL="0" indent="0" algn="ctr">
              <a:buNone/>
            </a:pPr>
            <a:r>
              <a:rPr lang="en-US" sz="1050" b="1" kern="0" spc="50" dirty="0">
                <a:solidFill>
                  <a:srgbClr val="2C5F2D"/>
                </a:solidFill>
                <a:latin typeface="Calibri" pitchFamily="34" charset="0"/>
                <a:ea typeface="Calibri" pitchFamily="34" charset="-122"/>
                <a:cs typeface="Calibri" pitchFamily="34" charset="-120"/>
              </a:rPr>
              <a:t>BUILT &amp; VALIDATED</a:t>
            </a:r>
            <a:endParaRPr lang="en-US" sz="1050" dirty="0"/>
          </a:p>
        </p:txBody>
      </p:sp>
      <p:sp>
        <p:nvSpPr>
          <p:cNvPr id="6" name="Text 4"/>
          <p:cNvSpPr/>
          <p:nvPr/>
        </p:nvSpPr>
        <p:spPr>
          <a:xfrm>
            <a:off x="502920" y="155448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market-leadership network has been mapped — which markets move first and which follow — using bidirectional causality testing, confound-checked to rule out reporting-coverage artifacts.</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reproducible what-if stress-testing battery is in place, covering scenarios like diesel-price shocks, climate extremes, and export-policy changes, runnable on demand against the live production models.</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real sign-error was found and fixed in an earlier version of the policy-scenario logic, now structurally prevented from recurring.</a:t>
            </a:r>
            <a:endParaRPr lang="en-US" sz="1500" dirty="0"/>
          </a:p>
        </p:txBody>
      </p:sp>
      <p:sp>
        <p:nvSpPr>
          <p:cNvPr id="7" name="Shape 5"/>
          <p:cNvSpPr/>
          <p:nvPr/>
        </p:nvSpPr>
        <p:spPr>
          <a:xfrm>
            <a:off x="502920" y="3383280"/>
            <a:ext cx="11155680" cy="0"/>
          </a:xfrm>
          <a:prstGeom prst="line">
            <a:avLst/>
          </a:prstGeom>
          <a:noFill/>
          <a:ln w="12700">
            <a:solidFill>
              <a:srgbClr val="D6E0D1"/>
            </a:solidFill>
            <a:prstDash val="solid"/>
          </a:ln>
        </p:spPr>
      </p:sp>
      <p:sp>
        <p:nvSpPr>
          <p:cNvPr id="8" name="Text 6"/>
          <p:cNvSpPr/>
          <p:nvPr/>
        </p:nvSpPr>
        <p:spPr>
          <a:xfrm>
            <a:off x="502920" y="3547872"/>
            <a:ext cx="11155680" cy="256032"/>
          </a:xfrm>
          <a:prstGeom prst="rect">
            <a:avLst/>
          </a:prstGeom>
          <a:noFill/>
          <a:ln/>
        </p:spPr>
        <p:txBody>
          <a:bodyPr wrap="square" lIns="0" tIns="0" rIns="0" bIns="0" rtlCol="0" anchor="ctr"/>
          <a:lstStyle/>
          <a:p>
            <a:pPr marL="0" indent="0">
              <a:buNone/>
            </a:pPr>
            <a:r>
              <a:rPr lang="en-US" sz="1000" b="1" kern="0" spc="100" dirty="0">
                <a:solidFill>
                  <a:srgbClr val="5B6B57"/>
                </a:solidFill>
                <a:latin typeface="Calibri" pitchFamily="34" charset="0"/>
                <a:ea typeface="Calibri" pitchFamily="34" charset="-122"/>
                <a:cs typeface="Calibri" pitchFamily="34" charset="-120"/>
              </a:rPr>
              <a:t>COMPONENTS IN THIS AREA</a:t>
            </a:r>
            <a:endParaRPr lang="en-US" sz="1000" dirty="0"/>
          </a:p>
        </p:txBody>
      </p:sp>
      <p:sp>
        <p:nvSpPr>
          <p:cNvPr id="9" name="Shape 7"/>
          <p:cNvSpPr/>
          <p:nvPr/>
        </p:nvSpPr>
        <p:spPr>
          <a:xfrm>
            <a:off x="502920" y="3886200"/>
            <a:ext cx="2414016" cy="402336"/>
          </a:xfrm>
          <a:prstGeom prst="roundRect">
            <a:avLst>
              <a:gd name="adj" fmla="val 50000"/>
            </a:avLst>
          </a:prstGeom>
          <a:solidFill>
            <a:srgbClr val="E4ECDE"/>
          </a:solidFill>
          <a:ln w="9525">
            <a:solidFill>
              <a:srgbClr val="D6E0D1"/>
            </a:solidFill>
            <a:prstDash val="solid"/>
          </a:ln>
        </p:spPr>
      </p:sp>
      <p:sp>
        <p:nvSpPr>
          <p:cNvPr id="10" name="Text 8"/>
          <p:cNvSpPr/>
          <p:nvPr/>
        </p:nvSpPr>
        <p:spPr>
          <a:xfrm>
            <a:off x="502920" y="3886200"/>
            <a:ext cx="2414016"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Market-Leadership Network</a:t>
            </a:r>
            <a:endParaRPr lang="en-US" sz="1100" dirty="0"/>
          </a:p>
        </p:txBody>
      </p:sp>
      <p:sp>
        <p:nvSpPr>
          <p:cNvPr id="11" name="Shape 9"/>
          <p:cNvSpPr/>
          <p:nvPr/>
        </p:nvSpPr>
        <p:spPr>
          <a:xfrm>
            <a:off x="3118104" y="3886200"/>
            <a:ext cx="1770278" cy="402336"/>
          </a:xfrm>
          <a:prstGeom prst="roundRect">
            <a:avLst>
              <a:gd name="adj" fmla="val 50000"/>
            </a:avLst>
          </a:prstGeom>
          <a:solidFill>
            <a:srgbClr val="E4ECDE"/>
          </a:solidFill>
          <a:ln w="9525">
            <a:solidFill>
              <a:srgbClr val="D6E0D1"/>
            </a:solidFill>
            <a:prstDash val="solid"/>
          </a:ln>
        </p:spPr>
      </p:sp>
      <p:sp>
        <p:nvSpPr>
          <p:cNvPr id="12" name="Text 10"/>
          <p:cNvSpPr/>
          <p:nvPr/>
        </p:nvSpPr>
        <p:spPr>
          <a:xfrm>
            <a:off x="3118104" y="3886200"/>
            <a:ext cx="1770278"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Confound Checking</a:t>
            </a:r>
            <a:endParaRPr lang="en-US" sz="1100" dirty="0"/>
          </a:p>
        </p:txBody>
      </p:sp>
      <p:sp>
        <p:nvSpPr>
          <p:cNvPr id="13" name="Shape 11"/>
          <p:cNvSpPr/>
          <p:nvPr/>
        </p:nvSpPr>
        <p:spPr>
          <a:xfrm>
            <a:off x="5089550" y="3886200"/>
            <a:ext cx="2655418" cy="402336"/>
          </a:xfrm>
          <a:prstGeom prst="roundRect">
            <a:avLst>
              <a:gd name="adj" fmla="val 50000"/>
            </a:avLst>
          </a:prstGeom>
          <a:solidFill>
            <a:srgbClr val="E4ECDE"/>
          </a:solidFill>
          <a:ln w="9525">
            <a:solidFill>
              <a:srgbClr val="D6E0D1"/>
            </a:solidFill>
            <a:prstDash val="solid"/>
          </a:ln>
        </p:spPr>
      </p:sp>
      <p:sp>
        <p:nvSpPr>
          <p:cNvPr id="14" name="Text 12"/>
          <p:cNvSpPr/>
          <p:nvPr/>
        </p:nvSpPr>
        <p:spPr>
          <a:xfrm>
            <a:off x="5089550" y="3886200"/>
            <a:ext cx="2655418"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Scenario Stress-Test Battery</a:t>
            </a:r>
            <a:endParaRPr lang="en-US" sz="1100" dirty="0"/>
          </a:p>
        </p:txBody>
      </p:sp>
      <p:sp>
        <p:nvSpPr>
          <p:cNvPr id="15" name="Shape 13"/>
          <p:cNvSpPr/>
          <p:nvPr/>
        </p:nvSpPr>
        <p:spPr>
          <a:xfrm>
            <a:off x="7946136" y="3886200"/>
            <a:ext cx="2011680" cy="402336"/>
          </a:xfrm>
          <a:prstGeom prst="roundRect">
            <a:avLst>
              <a:gd name="adj" fmla="val 50000"/>
            </a:avLst>
          </a:prstGeom>
          <a:solidFill>
            <a:srgbClr val="E4ECDE"/>
          </a:solidFill>
          <a:ln w="9525">
            <a:solidFill>
              <a:srgbClr val="D6E0D1"/>
            </a:solidFill>
            <a:prstDash val="solid"/>
          </a:ln>
        </p:spPr>
      </p:sp>
      <p:sp>
        <p:nvSpPr>
          <p:cNvPr id="16" name="Text 14"/>
          <p:cNvSpPr/>
          <p:nvPr/>
        </p:nvSpPr>
        <p:spPr>
          <a:xfrm>
            <a:off x="7946136" y="3886200"/>
            <a:ext cx="2011680" cy="402336"/>
          </a:xfrm>
          <a:prstGeom prst="rect">
            <a:avLst/>
          </a:prstGeom>
          <a:noFill/>
          <a:ln/>
        </p:spPr>
        <p:txBody>
          <a:bodyPr wrap="square" lIns="0" tIns="0" rIns="0" bIns="0" rtlCol="0" anchor="ctr"/>
          <a:lstStyle/>
          <a:p>
            <a:pPr marL="0" indent="0" algn="ctr">
              <a:buNone/>
            </a:pPr>
            <a:r>
              <a:rPr lang="en-US" sz="1100" b="1" dirty="0">
                <a:solidFill>
                  <a:srgbClr val="2C5F2D"/>
                </a:solidFill>
                <a:latin typeface="Calibri" pitchFamily="34" charset="0"/>
                <a:ea typeface="Calibri" pitchFamily="34" charset="-122"/>
                <a:cs typeface="Calibri" pitchFamily="34" charset="-120"/>
              </a:rPr>
              <a:t>On-Demand Simulation</a:t>
            </a:r>
            <a:endParaRPr lang="en-US" sz="1100" dirty="0"/>
          </a:p>
        </p:txBody>
      </p:sp>
      <p:sp>
        <p:nvSpPr>
          <p:cNvPr id="18" name="Text 15"/>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9" name="Text 16"/>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STATUS CHECK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Production System</a:t>
            </a:r>
            <a:endParaRPr lang="en-US" sz="3000" dirty="0"/>
          </a:p>
        </p:txBody>
      </p:sp>
      <p:sp>
        <p:nvSpPr>
          <p:cNvPr id="4" name="Shape 2"/>
          <p:cNvSpPr/>
          <p:nvPr/>
        </p:nvSpPr>
        <p:spPr>
          <a:xfrm>
            <a:off x="9144000" y="457200"/>
            <a:ext cx="2286000" cy="384048"/>
          </a:xfrm>
          <a:prstGeom prst="roundRect">
            <a:avLst>
              <a:gd name="adj" fmla="val 50000"/>
            </a:avLst>
          </a:prstGeom>
          <a:solidFill>
            <a:srgbClr val="E4ECDE"/>
          </a:solidFill>
          <a:ln w="12700">
            <a:solidFill>
              <a:srgbClr val="2C5F2D"/>
            </a:solidFill>
            <a:prstDash val="solid"/>
          </a:ln>
        </p:spPr>
      </p:sp>
      <p:sp>
        <p:nvSpPr>
          <p:cNvPr id="5" name="Text 3"/>
          <p:cNvSpPr/>
          <p:nvPr/>
        </p:nvSpPr>
        <p:spPr>
          <a:xfrm>
            <a:off x="9144000" y="457200"/>
            <a:ext cx="2286000" cy="384048"/>
          </a:xfrm>
          <a:prstGeom prst="rect">
            <a:avLst/>
          </a:prstGeom>
          <a:noFill/>
          <a:ln/>
        </p:spPr>
        <p:txBody>
          <a:bodyPr wrap="square" lIns="0" tIns="0" rIns="0" bIns="0" rtlCol="0" anchor="ctr"/>
          <a:lstStyle/>
          <a:p>
            <a:pPr marL="0" indent="0" algn="ctr">
              <a:buNone/>
            </a:pPr>
            <a:r>
              <a:rPr lang="en-US" sz="1050" b="1" kern="0" spc="50" dirty="0">
                <a:solidFill>
                  <a:srgbClr val="2C5F2D"/>
                </a:solidFill>
                <a:latin typeface="Calibri" pitchFamily="34" charset="0"/>
                <a:ea typeface="Calibri" pitchFamily="34" charset="-122"/>
                <a:cs typeface="Calibri" pitchFamily="34" charset="-120"/>
              </a:rPr>
              <a:t>LIVE</a:t>
            </a:r>
            <a:endParaRPr lang="en-US" sz="1050" dirty="0"/>
          </a:p>
        </p:txBody>
      </p:sp>
      <p:sp>
        <p:nvSpPr>
          <p:cNvPr id="6" name="Shape 4"/>
          <p:cNvSpPr/>
          <p:nvPr/>
        </p:nvSpPr>
        <p:spPr>
          <a:xfrm>
            <a:off x="502920" y="1554480"/>
            <a:ext cx="3566160" cy="1280160"/>
          </a:xfrm>
          <a:prstGeom prst="roundRect">
            <a:avLst>
              <a:gd name="adj" fmla="val 5714"/>
            </a:avLst>
          </a:prstGeom>
          <a:solidFill>
            <a:srgbClr val="E4ECDE"/>
          </a:solidFill>
          <a:ln w="12700">
            <a:solidFill>
              <a:srgbClr val="D6E0D1"/>
            </a:solidFill>
            <a:prstDash val="solid"/>
          </a:ln>
        </p:spPr>
      </p:sp>
      <p:sp>
        <p:nvSpPr>
          <p:cNvPr id="7" name="Text 5"/>
          <p:cNvSpPr/>
          <p:nvPr/>
        </p:nvSpPr>
        <p:spPr>
          <a:xfrm>
            <a:off x="502920" y="1691640"/>
            <a:ext cx="3566160" cy="502920"/>
          </a:xfrm>
          <a:prstGeom prst="rect">
            <a:avLst/>
          </a:prstGeom>
          <a:noFill/>
          <a:ln/>
        </p:spPr>
        <p:txBody>
          <a:bodyPr wrap="square" lIns="0" tIns="0" rIns="0" bIns="0" rtlCol="0" anchor="ctr"/>
          <a:lstStyle/>
          <a:p>
            <a:pPr marL="0" indent="0" algn="ctr">
              <a:buNone/>
            </a:pPr>
            <a:r>
              <a:rPr lang="en-US" sz="2600" b="1" dirty="0">
                <a:solidFill>
                  <a:srgbClr val="2C5F2D"/>
                </a:solidFill>
                <a:latin typeface="Cambria" pitchFamily="34" charset="0"/>
                <a:ea typeface="Cambria" pitchFamily="34" charset="-122"/>
                <a:cs typeface="Cambria" pitchFamily="34" charset="-120"/>
              </a:rPr>
              <a:t>12</a:t>
            </a:r>
            <a:endParaRPr lang="en-US" sz="2600" dirty="0"/>
          </a:p>
        </p:txBody>
      </p:sp>
      <p:sp>
        <p:nvSpPr>
          <p:cNvPr id="8" name="Text 6"/>
          <p:cNvSpPr/>
          <p:nvPr/>
        </p:nvSpPr>
        <p:spPr>
          <a:xfrm>
            <a:off x="502920" y="2194560"/>
            <a:ext cx="3566160" cy="457200"/>
          </a:xfrm>
          <a:prstGeom prst="rect">
            <a:avLst/>
          </a:prstGeom>
          <a:noFill/>
          <a:ln/>
        </p:spPr>
        <p:txBody>
          <a:bodyPr wrap="square" lIns="0" tIns="0" rIns="0" bIns="0" rtlCol="0" anchor="t"/>
          <a:lstStyle/>
          <a:p>
            <a:pPr marL="0" indent="0" algn="ctr">
              <a:buNone/>
            </a:pPr>
            <a:r>
              <a:rPr lang="en-US" sz="1100" dirty="0">
                <a:solidFill>
                  <a:srgbClr val="5B6B57"/>
                </a:solidFill>
                <a:latin typeface="Calibri" pitchFamily="34" charset="0"/>
                <a:ea typeface="Calibri" pitchFamily="34" charset="-122"/>
                <a:cs typeface="Calibri" pitchFamily="34" charset="-120"/>
              </a:rPr>
              <a:t>saved production models</a:t>
            </a:r>
            <a:endParaRPr lang="en-US" sz="1100" dirty="0"/>
          </a:p>
        </p:txBody>
      </p:sp>
      <p:sp>
        <p:nvSpPr>
          <p:cNvPr id="9" name="Shape 7"/>
          <p:cNvSpPr/>
          <p:nvPr/>
        </p:nvSpPr>
        <p:spPr>
          <a:xfrm>
            <a:off x="4251960" y="1554480"/>
            <a:ext cx="3566160" cy="1280160"/>
          </a:xfrm>
          <a:prstGeom prst="roundRect">
            <a:avLst>
              <a:gd name="adj" fmla="val 5714"/>
            </a:avLst>
          </a:prstGeom>
          <a:solidFill>
            <a:srgbClr val="E4ECDE"/>
          </a:solidFill>
          <a:ln w="12700">
            <a:solidFill>
              <a:srgbClr val="D6E0D1"/>
            </a:solidFill>
            <a:prstDash val="solid"/>
          </a:ln>
        </p:spPr>
      </p:sp>
      <p:sp>
        <p:nvSpPr>
          <p:cNvPr id="10" name="Text 8"/>
          <p:cNvSpPr/>
          <p:nvPr/>
        </p:nvSpPr>
        <p:spPr>
          <a:xfrm>
            <a:off x="4251960" y="1691640"/>
            <a:ext cx="3566160" cy="502920"/>
          </a:xfrm>
          <a:prstGeom prst="rect">
            <a:avLst/>
          </a:prstGeom>
          <a:noFill/>
          <a:ln/>
        </p:spPr>
        <p:txBody>
          <a:bodyPr wrap="square" lIns="0" tIns="0" rIns="0" bIns="0" rtlCol="0" anchor="ctr"/>
          <a:lstStyle/>
          <a:p>
            <a:pPr marL="0" indent="0" algn="ctr">
              <a:buNone/>
            </a:pPr>
            <a:r>
              <a:rPr lang="en-US" sz="2600" b="1" dirty="0">
                <a:solidFill>
                  <a:srgbClr val="2C5F2D"/>
                </a:solidFill>
                <a:latin typeface="Cambria" pitchFamily="34" charset="0"/>
                <a:ea typeface="Cambria" pitchFamily="34" charset="-122"/>
                <a:cs typeface="Cambria" pitchFamily="34" charset="-120"/>
              </a:rPr>
              <a:t>3 × 4</a:t>
            </a:r>
            <a:endParaRPr lang="en-US" sz="2600" dirty="0"/>
          </a:p>
        </p:txBody>
      </p:sp>
      <p:sp>
        <p:nvSpPr>
          <p:cNvPr id="11" name="Text 9"/>
          <p:cNvSpPr/>
          <p:nvPr/>
        </p:nvSpPr>
        <p:spPr>
          <a:xfrm>
            <a:off x="4251960" y="2194560"/>
            <a:ext cx="3566160" cy="457200"/>
          </a:xfrm>
          <a:prstGeom prst="rect">
            <a:avLst/>
          </a:prstGeom>
          <a:noFill/>
          <a:ln/>
        </p:spPr>
        <p:txBody>
          <a:bodyPr wrap="square" lIns="0" tIns="0" rIns="0" bIns="0" rtlCol="0" anchor="t"/>
          <a:lstStyle/>
          <a:p>
            <a:pPr marL="0" indent="0" algn="ctr">
              <a:buNone/>
            </a:pPr>
            <a:r>
              <a:rPr lang="en-US" sz="1100" dirty="0">
                <a:solidFill>
                  <a:srgbClr val="5B6B57"/>
                </a:solidFill>
                <a:latin typeface="Calibri" pitchFamily="34" charset="0"/>
                <a:ea typeface="Calibri" pitchFamily="34" charset="-122"/>
                <a:cs typeface="Calibri" pitchFamily="34" charset="-120"/>
              </a:rPr>
              <a:t>crops × forecast horizons</a:t>
            </a:r>
            <a:endParaRPr lang="en-US" sz="1100" dirty="0"/>
          </a:p>
        </p:txBody>
      </p:sp>
      <p:sp>
        <p:nvSpPr>
          <p:cNvPr id="12" name="Shape 10"/>
          <p:cNvSpPr/>
          <p:nvPr/>
        </p:nvSpPr>
        <p:spPr>
          <a:xfrm>
            <a:off x="8001000" y="1554480"/>
            <a:ext cx="3566160" cy="1280160"/>
          </a:xfrm>
          <a:prstGeom prst="roundRect">
            <a:avLst>
              <a:gd name="adj" fmla="val 5714"/>
            </a:avLst>
          </a:prstGeom>
          <a:solidFill>
            <a:srgbClr val="E4ECDE"/>
          </a:solidFill>
          <a:ln w="12700">
            <a:solidFill>
              <a:srgbClr val="D6E0D1"/>
            </a:solidFill>
            <a:prstDash val="solid"/>
          </a:ln>
        </p:spPr>
      </p:sp>
      <p:sp>
        <p:nvSpPr>
          <p:cNvPr id="13" name="Text 11"/>
          <p:cNvSpPr/>
          <p:nvPr/>
        </p:nvSpPr>
        <p:spPr>
          <a:xfrm>
            <a:off x="8001000" y="1691640"/>
            <a:ext cx="3566160" cy="502920"/>
          </a:xfrm>
          <a:prstGeom prst="rect">
            <a:avLst/>
          </a:prstGeom>
          <a:noFill/>
          <a:ln/>
        </p:spPr>
        <p:txBody>
          <a:bodyPr wrap="square" lIns="0" tIns="0" rIns="0" bIns="0" rtlCol="0" anchor="ctr"/>
          <a:lstStyle/>
          <a:p>
            <a:pPr marL="0" indent="0" algn="ctr">
              <a:buNone/>
            </a:pPr>
            <a:r>
              <a:rPr lang="en-US" sz="2600" b="1" dirty="0">
                <a:solidFill>
                  <a:srgbClr val="2C5F2D"/>
                </a:solidFill>
                <a:latin typeface="Cambria" pitchFamily="34" charset="0"/>
                <a:ea typeface="Cambria" pitchFamily="34" charset="-122"/>
                <a:cs typeface="Cambria" pitchFamily="34" charset="-120"/>
              </a:rPr>
              <a:t>Public</a:t>
            </a:r>
            <a:endParaRPr lang="en-US" sz="2600" dirty="0"/>
          </a:p>
        </p:txBody>
      </p:sp>
      <p:sp>
        <p:nvSpPr>
          <p:cNvPr id="14" name="Text 12"/>
          <p:cNvSpPr/>
          <p:nvPr/>
        </p:nvSpPr>
        <p:spPr>
          <a:xfrm>
            <a:off x="8001000" y="2194560"/>
            <a:ext cx="3566160" cy="457200"/>
          </a:xfrm>
          <a:prstGeom prst="rect">
            <a:avLst/>
          </a:prstGeom>
          <a:noFill/>
          <a:ln/>
        </p:spPr>
        <p:txBody>
          <a:bodyPr wrap="square" lIns="0" tIns="0" rIns="0" bIns="0" rtlCol="0" anchor="t"/>
          <a:lstStyle/>
          <a:p>
            <a:pPr marL="0" indent="0" algn="ctr">
              <a:buNone/>
            </a:pPr>
            <a:r>
              <a:rPr lang="en-US" sz="1100" dirty="0">
                <a:solidFill>
                  <a:srgbClr val="5B6B57"/>
                </a:solidFill>
                <a:latin typeface="Calibri" pitchFamily="34" charset="0"/>
                <a:ea typeface="Calibri" pitchFamily="34" charset="-122"/>
                <a:cs typeface="Calibri" pitchFamily="34" charset="-120"/>
              </a:rPr>
              <a:t>GitHub repo + dashboard</a:t>
            </a:r>
            <a:endParaRPr lang="en-US" sz="1100" dirty="0"/>
          </a:p>
        </p:txBody>
      </p:sp>
      <p:sp>
        <p:nvSpPr>
          <p:cNvPr id="15" name="Text 13"/>
          <p:cNvSpPr/>
          <p:nvPr/>
        </p:nvSpPr>
        <p:spPr>
          <a:xfrm>
            <a:off x="502920" y="370332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A public, live Streamlit dashboard is deployed and auto-redeploys whenever the underlying models are updated.</a:t>
            </a:r>
            <a:endParaRPr lang="en-US" sz="1400" dirty="0"/>
          </a:p>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Gives per-market forecasts, what-if scenario sliders, a data-quality flag per market, and a validated uncertainty band on every forecast — not just a bare number.</a:t>
            </a:r>
            <a:endParaRPr lang="en-US" sz="1400" dirty="0"/>
          </a:p>
          <a:p>
            <a:pPr marL="342900" indent="-342900">
              <a:lnSpc>
                <a:spcPct val="112000"/>
              </a:lnSpc>
              <a:spcAft>
                <a:spcPts val="1200"/>
              </a:spcAft>
              <a:buSzPct val="100000"/>
              <a:buChar char="▪"/>
            </a:pPr>
            <a:r>
              <a:rPr lang="en-US" sz="1400" dirty="0">
                <a:solidFill>
                  <a:srgbClr val="20291F"/>
                </a:solidFill>
                <a:latin typeface="Calibri" pitchFamily="34" charset="0"/>
                <a:ea typeface="Calibri" pitchFamily="34" charset="-122"/>
                <a:cs typeface="Calibri" pitchFamily="34" charset="-120"/>
              </a:rPr>
              <a:t>All underlying code and data are public (all source data is public government data) — a deliberate decision to enable free, open access and free-tier hosting.</a:t>
            </a:r>
            <a:endParaRPr lang="en-US" sz="1400" dirty="0"/>
          </a:p>
        </p:txBody>
      </p:sp>
      <p:sp>
        <p:nvSpPr>
          <p:cNvPr id="17" name="Text 14"/>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8" name="Text 15"/>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11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11A"/>
          </a:solidFill>
          <a:ln/>
        </p:spPr>
      </p:sp>
      <p:sp>
        <p:nvSpPr>
          <p:cNvPr id="3" name="Text 1"/>
          <p:cNvSpPr/>
          <p:nvPr/>
        </p:nvSpPr>
        <p:spPr>
          <a:xfrm>
            <a:off x="640080" y="502920"/>
            <a:ext cx="10515600" cy="320040"/>
          </a:xfrm>
          <a:prstGeom prst="rect">
            <a:avLst/>
          </a:prstGeom>
          <a:noFill/>
          <a:ln/>
        </p:spPr>
        <p:txBody>
          <a:bodyPr wrap="square" lIns="0" tIns="0" rIns="0" bIns="0" rtlCol="0" anchor="ctr"/>
          <a:lstStyle/>
          <a:p>
            <a:pPr marL="0" indent="0">
              <a:buNone/>
            </a:pPr>
            <a:r>
              <a:rPr lang="en-US" sz="1200" b="1" kern="0" spc="150" dirty="0">
                <a:solidFill>
                  <a:srgbClr val="7FA671"/>
                </a:solidFill>
                <a:latin typeface="Calibri" pitchFamily="34" charset="0"/>
                <a:ea typeface="Calibri" pitchFamily="34" charset="-122"/>
                <a:cs typeface="Calibri" pitchFamily="34" charset="-120"/>
              </a:rPr>
              <a:t>PROCESS, NOT JUST OUTPUT</a:t>
            </a:r>
            <a:endParaRPr lang="en-US" sz="1200" dirty="0"/>
          </a:p>
        </p:txBody>
      </p:sp>
      <p:sp>
        <p:nvSpPr>
          <p:cNvPr id="4" name="Text 2"/>
          <p:cNvSpPr/>
          <p:nvPr/>
        </p:nvSpPr>
        <p:spPr>
          <a:xfrm>
            <a:off x="640080" y="82296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We Handle Our Own Mistakes</a:t>
            </a:r>
            <a:endParaRPr lang="en-US" sz="2800" dirty="0"/>
          </a:p>
        </p:txBody>
      </p:sp>
      <p:sp>
        <p:nvSpPr>
          <p:cNvPr id="5" name="Text 3"/>
          <p:cNvSpPr/>
          <p:nvPr/>
        </p:nvSpPr>
        <p:spPr>
          <a:xfrm>
            <a:off x="502920" y="1828800"/>
            <a:ext cx="10881360" cy="4754880"/>
          </a:xfrm>
          <a:prstGeom prst="rect">
            <a:avLst/>
          </a:prstGeom>
          <a:noFill/>
          <a:ln/>
        </p:spPr>
        <p:txBody>
          <a:bodyPr wrap="square" rtlCol="0" anchor="t"/>
          <a:lstStyle/>
          <a:p>
            <a:pPr marL="342900" indent="-342900">
              <a:lnSpc>
                <a:spcPct val="112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real data-integrity bug was found this quarter (two market names colliding across different states) and fixed across every affected script — confirmed, not just assumed, to have zero effect on any published finding.</a:t>
            </a:r>
            <a:endParaRPr lang="en-US" sz="1450" dirty="0"/>
          </a:p>
          <a:p>
            <a:pPr marL="342900" indent="-342900">
              <a:lnSpc>
                <a:spcPct val="112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Two full architectural approaches were explored in depth and deliberately rejected once formal testing didn't support them, rather than being force-fit into the pipeline.</a:t>
            </a:r>
            <a:endParaRPr lang="en-US" sz="1450" dirty="0"/>
          </a:p>
          <a:p>
            <a:pPr marL="342900" indent="-342900">
              <a:lnSpc>
                <a:spcPct val="112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permanent automated sanity checker now runs after every pipeline update, encoding the failure signature of every bug found so far so it can't silently recur.</a:t>
            </a:r>
            <a:endParaRPr lang="en-US" sz="1450" dirty="0"/>
          </a:p>
          <a:p>
            <a:pPr marL="342900" indent="-342900">
              <a:lnSpc>
                <a:spcPct val="112000"/>
              </a:lnSpc>
              <a:spcAft>
                <a:spcPts val="1200"/>
              </a:spcAft>
              <a:buSzPct val="100000"/>
              <a:buChar char="▪"/>
            </a:pPr>
            <a:r>
              <a:rPr lang="en-US" sz="1450" b="1" dirty="0">
                <a:solidFill>
                  <a:srgbClr val="7FA671"/>
                </a:solidFill>
                <a:latin typeface="Calibri" pitchFamily="34" charset="0"/>
                <a:ea typeface="Calibri" pitchFamily="34" charset="-122"/>
                <a:cs typeface="Calibri" pitchFamily="34" charset="-120"/>
              </a:rPr>
              <a:t>This habit of actively looking for and disclosing our own errors — not just reporting what worked — is treated as a core part of the project's credibility.</a:t>
            </a:r>
            <a:endParaRPr lang="en-US" sz="1450" dirty="0"/>
          </a:p>
        </p:txBody>
      </p:sp>
      <p:sp>
        <p:nvSpPr>
          <p:cNvPr id="6" name="Shape 4"/>
          <p:cNvSpPr/>
          <p:nvPr/>
        </p:nvSpPr>
        <p:spPr>
          <a:xfrm>
            <a:off x="640080" y="5166360"/>
            <a:ext cx="3474720" cy="1143000"/>
          </a:xfrm>
          <a:prstGeom prst="roundRect">
            <a:avLst>
              <a:gd name="adj" fmla="val 6400"/>
            </a:avLst>
          </a:prstGeom>
          <a:solidFill>
            <a:srgbClr val="1F4322"/>
          </a:solidFill>
          <a:ln w="12700">
            <a:solidFill>
              <a:srgbClr val="7FA671"/>
            </a:solidFill>
            <a:prstDash val="solid"/>
          </a:ln>
        </p:spPr>
      </p:sp>
      <p:sp>
        <p:nvSpPr>
          <p:cNvPr id="7" name="Text 5"/>
          <p:cNvSpPr/>
          <p:nvPr/>
        </p:nvSpPr>
        <p:spPr>
          <a:xfrm>
            <a:off x="640080" y="5303520"/>
            <a:ext cx="347472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11</a:t>
            </a:r>
            <a:endParaRPr lang="en-US" sz="2400" dirty="0"/>
          </a:p>
        </p:txBody>
      </p:sp>
      <p:sp>
        <p:nvSpPr>
          <p:cNvPr id="8" name="Text 6"/>
          <p:cNvSpPr/>
          <p:nvPr/>
        </p:nvSpPr>
        <p:spPr>
          <a:xfrm>
            <a:off x="777240" y="5760720"/>
            <a:ext cx="3200400" cy="457200"/>
          </a:xfrm>
          <a:prstGeom prst="rect">
            <a:avLst/>
          </a:prstGeom>
          <a:noFill/>
          <a:ln/>
        </p:spPr>
        <p:txBody>
          <a:bodyPr wrap="square" lIns="0" tIns="0" rIns="0" bIns="0" rtlCol="0" anchor="ctr"/>
          <a:lstStyle/>
          <a:p>
            <a:pPr marL="0" indent="0" algn="ctr">
              <a:buNone/>
            </a:pPr>
            <a:r>
              <a:rPr lang="en-US" sz="1050" dirty="0">
                <a:solidFill>
                  <a:srgbClr val="7FA671"/>
                </a:solidFill>
                <a:latin typeface="Calibri" pitchFamily="34" charset="0"/>
                <a:ea typeface="Calibri" pitchFamily="34" charset="-122"/>
                <a:cs typeface="Calibri" pitchFamily="34" charset="-120"/>
              </a:rPr>
              <a:t>scripts corrected</a:t>
            </a:r>
            <a:endParaRPr lang="en-US" sz="1050" dirty="0"/>
          </a:p>
        </p:txBody>
      </p:sp>
      <p:sp>
        <p:nvSpPr>
          <p:cNvPr id="9" name="Shape 7"/>
          <p:cNvSpPr/>
          <p:nvPr/>
        </p:nvSpPr>
        <p:spPr>
          <a:xfrm>
            <a:off x="4297680" y="5166360"/>
            <a:ext cx="3474720" cy="1143000"/>
          </a:xfrm>
          <a:prstGeom prst="roundRect">
            <a:avLst>
              <a:gd name="adj" fmla="val 6400"/>
            </a:avLst>
          </a:prstGeom>
          <a:solidFill>
            <a:srgbClr val="1F4322"/>
          </a:solidFill>
          <a:ln w="12700">
            <a:solidFill>
              <a:srgbClr val="7FA671"/>
            </a:solidFill>
            <a:prstDash val="solid"/>
          </a:ln>
        </p:spPr>
      </p:sp>
      <p:sp>
        <p:nvSpPr>
          <p:cNvPr id="10" name="Text 8"/>
          <p:cNvSpPr/>
          <p:nvPr/>
        </p:nvSpPr>
        <p:spPr>
          <a:xfrm>
            <a:off x="4297680" y="5303520"/>
            <a:ext cx="347472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1" name="Text 9"/>
          <p:cNvSpPr/>
          <p:nvPr/>
        </p:nvSpPr>
        <p:spPr>
          <a:xfrm>
            <a:off x="4434840" y="5760720"/>
            <a:ext cx="3200400" cy="457200"/>
          </a:xfrm>
          <a:prstGeom prst="rect">
            <a:avLst/>
          </a:prstGeom>
          <a:noFill/>
          <a:ln/>
        </p:spPr>
        <p:txBody>
          <a:bodyPr wrap="square" lIns="0" tIns="0" rIns="0" bIns="0" rtlCol="0" anchor="ctr"/>
          <a:lstStyle/>
          <a:p>
            <a:pPr marL="0" indent="0" algn="ctr">
              <a:buNone/>
            </a:pPr>
            <a:r>
              <a:rPr lang="en-US" sz="1050" dirty="0">
                <a:solidFill>
                  <a:srgbClr val="7FA671"/>
                </a:solidFill>
                <a:latin typeface="Calibri" pitchFamily="34" charset="0"/>
                <a:ea typeface="Calibri" pitchFamily="34" charset="-122"/>
                <a:cs typeface="Calibri" pitchFamily="34" charset="-120"/>
              </a:rPr>
              <a:t>architectures rejected</a:t>
            </a:r>
            <a:endParaRPr lang="en-US" sz="1050" dirty="0"/>
          </a:p>
        </p:txBody>
      </p:sp>
      <p:sp>
        <p:nvSpPr>
          <p:cNvPr id="12" name="Shape 10"/>
          <p:cNvSpPr/>
          <p:nvPr/>
        </p:nvSpPr>
        <p:spPr>
          <a:xfrm>
            <a:off x="7955280" y="5166360"/>
            <a:ext cx="3474720" cy="1143000"/>
          </a:xfrm>
          <a:prstGeom prst="roundRect">
            <a:avLst>
              <a:gd name="adj" fmla="val 6400"/>
            </a:avLst>
          </a:prstGeom>
          <a:solidFill>
            <a:srgbClr val="1F4322"/>
          </a:solidFill>
          <a:ln w="12700">
            <a:solidFill>
              <a:srgbClr val="7FA671"/>
            </a:solidFill>
            <a:prstDash val="solid"/>
          </a:ln>
        </p:spPr>
      </p:sp>
      <p:sp>
        <p:nvSpPr>
          <p:cNvPr id="13" name="Text 11"/>
          <p:cNvSpPr/>
          <p:nvPr/>
        </p:nvSpPr>
        <p:spPr>
          <a:xfrm>
            <a:off x="7955280" y="5303520"/>
            <a:ext cx="347472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Text 12"/>
          <p:cNvSpPr/>
          <p:nvPr/>
        </p:nvSpPr>
        <p:spPr>
          <a:xfrm>
            <a:off x="8092440" y="5760720"/>
            <a:ext cx="3200400" cy="457200"/>
          </a:xfrm>
          <a:prstGeom prst="rect">
            <a:avLst/>
          </a:prstGeom>
          <a:noFill/>
          <a:ln/>
        </p:spPr>
        <p:txBody>
          <a:bodyPr wrap="square" lIns="0" tIns="0" rIns="0" bIns="0" rtlCol="0" anchor="ctr"/>
          <a:lstStyle/>
          <a:p>
            <a:pPr marL="0" indent="0" algn="ctr">
              <a:buNone/>
            </a:pPr>
            <a:r>
              <a:rPr lang="en-US" sz="1050" dirty="0">
                <a:solidFill>
                  <a:srgbClr val="7FA671"/>
                </a:solidFill>
                <a:latin typeface="Calibri" pitchFamily="34" charset="0"/>
                <a:ea typeface="Calibri" pitchFamily="34" charset="-122"/>
                <a:cs typeface="Calibri" pitchFamily="34" charset="-120"/>
              </a:rPr>
              <a:t>standing regression suite</a:t>
            </a:r>
            <a:endParaRPr lang="en-US" sz="1050" dirty="0"/>
          </a:p>
        </p:txBody>
      </p:sp>
      <p:sp>
        <p:nvSpPr>
          <p:cNvPr id="16" name="Text 13"/>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9DB89A"/>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7" name="Text 14"/>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9DB89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THIS WEEK</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What Happened Most Recently</a:t>
            </a:r>
            <a:endParaRPr lang="en-US" sz="3000" dirty="0"/>
          </a:p>
        </p:txBody>
      </p:sp>
      <p:sp>
        <p:nvSpPr>
          <p:cNvPr id="4" name="Shape 2"/>
          <p:cNvSpPr/>
          <p:nvPr/>
        </p:nvSpPr>
        <p:spPr>
          <a:xfrm>
            <a:off x="9144000" y="457200"/>
            <a:ext cx="2286000" cy="384048"/>
          </a:xfrm>
          <a:prstGeom prst="roundRect">
            <a:avLst>
              <a:gd name="adj" fmla="val 50000"/>
            </a:avLst>
          </a:prstGeom>
          <a:solidFill>
            <a:srgbClr val="FBEAE5"/>
          </a:solidFill>
          <a:ln w="12700">
            <a:solidFill>
              <a:srgbClr val="C1502E"/>
            </a:solidFill>
            <a:prstDash val="solid"/>
          </a:ln>
        </p:spPr>
      </p:sp>
      <p:sp>
        <p:nvSpPr>
          <p:cNvPr id="5" name="Text 3"/>
          <p:cNvSpPr/>
          <p:nvPr/>
        </p:nvSpPr>
        <p:spPr>
          <a:xfrm>
            <a:off x="9144000" y="457200"/>
            <a:ext cx="2286000" cy="384048"/>
          </a:xfrm>
          <a:prstGeom prst="rect">
            <a:avLst/>
          </a:prstGeom>
          <a:noFill/>
          <a:ln/>
        </p:spPr>
        <p:txBody>
          <a:bodyPr wrap="square" lIns="0" tIns="0" rIns="0" bIns="0" rtlCol="0" anchor="ctr"/>
          <a:lstStyle/>
          <a:p>
            <a:pPr marL="0" indent="0" algn="ctr">
              <a:buNone/>
            </a:pPr>
            <a:r>
              <a:rPr lang="en-US" sz="1050" b="1" kern="0" spc="50" dirty="0">
                <a:solidFill>
                  <a:srgbClr val="C1502E"/>
                </a:solidFill>
                <a:latin typeface="Calibri" pitchFamily="34" charset="0"/>
                <a:ea typeface="Calibri" pitchFamily="34" charset="-122"/>
                <a:cs typeface="Calibri" pitchFamily="34" charset="-120"/>
              </a:rPr>
              <a:t>IN PROGRESS</a:t>
            </a:r>
            <a:endParaRPr lang="en-US" sz="1050" dirty="0"/>
          </a:p>
        </p:txBody>
      </p:sp>
      <p:sp>
        <p:nvSpPr>
          <p:cNvPr id="6" name="Text 4"/>
          <p:cNvSpPr/>
          <p:nvPr/>
        </p:nvSpPr>
        <p:spPr>
          <a:xfrm>
            <a:off x="502920" y="1554480"/>
            <a:ext cx="11155680" cy="4754880"/>
          </a:xfrm>
          <a:prstGeom prst="rect">
            <a:avLst/>
          </a:prstGeom>
          <a:noFill/>
          <a:ln/>
        </p:spPr>
        <p:txBody>
          <a:bodyPr wrap="square" rtlCol="0" anchor="t"/>
          <a:lstStyle/>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data-completeness bug was found and fixed: a narrow gap in how the pipeline handled markets that were simply a week or two behind on reporting, previously left unfilled instead of receiving a sensible estimate.</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Confirmed the fix touches no published result — every downstream model already excluded the affected rows; the fix only makes the underlying data itself honest.</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A fresher raw-data pull for potato and onion has been received and independently validated as legitimate before touching anything.</a:t>
            </a:r>
            <a:endParaRPr lang="en-US" sz="1500" dirty="0"/>
          </a:p>
          <a:p>
            <a:pPr marL="342900" indent="-342900">
              <a:lnSpc>
                <a:spcPct val="112000"/>
              </a:lnSpc>
              <a:spcAft>
                <a:spcPts val="1200"/>
              </a:spcAft>
              <a:buSzPct val="100000"/>
              <a:buChar char="▪"/>
            </a:pPr>
            <a:r>
              <a:rPr lang="en-US" sz="1500" dirty="0">
                <a:solidFill>
                  <a:srgbClr val="20291F"/>
                </a:solidFill>
                <a:latin typeface="Calibri" pitchFamily="34" charset="0"/>
                <a:ea typeface="Calibri" pitchFamily="34" charset="-122"/>
                <a:cs typeface="Calibri" pitchFamily="34" charset="-120"/>
              </a:rPr>
              <a:t>The equivalent tomato file is still expected — merging and re-running the pipeline is deliberately on hold until all three crops' files are in hand.</a:t>
            </a:r>
            <a:endParaRPr lang="en-US" sz="1500" dirty="0"/>
          </a:p>
        </p:txBody>
      </p:sp>
      <p:sp>
        <p:nvSpPr>
          <p:cNvPr id="7" name="Shape 5"/>
          <p:cNvSpPr/>
          <p:nvPr/>
        </p:nvSpPr>
        <p:spPr>
          <a:xfrm>
            <a:off x="502920" y="3977640"/>
            <a:ext cx="2606040" cy="1463040"/>
          </a:xfrm>
          <a:prstGeom prst="roundRect">
            <a:avLst>
              <a:gd name="adj" fmla="val 5000"/>
            </a:avLst>
          </a:prstGeom>
          <a:solidFill>
            <a:srgbClr val="E4ECDE"/>
          </a:solidFill>
          <a:ln w="12700">
            <a:solidFill>
              <a:srgbClr val="D6E0D1"/>
            </a:solidFill>
            <a:prstDash val="solid"/>
          </a:ln>
        </p:spPr>
      </p:sp>
      <p:sp>
        <p:nvSpPr>
          <p:cNvPr id="8" name="Text 6"/>
          <p:cNvSpPr/>
          <p:nvPr/>
        </p:nvSpPr>
        <p:spPr>
          <a:xfrm>
            <a:off x="685800" y="4160520"/>
            <a:ext cx="2286000" cy="548640"/>
          </a:xfrm>
          <a:prstGeom prst="rect">
            <a:avLst/>
          </a:prstGeom>
          <a:noFill/>
          <a:ln/>
        </p:spPr>
        <p:txBody>
          <a:bodyPr wrap="square" lIns="0" tIns="0" rIns="0" bIns="0" rtlCol="0" anchor="ctr"/>
          <a:lstStyle/>
          <a:p>
            <a:pPr marL="0" indent="0">
              <a:buNone/>
            </a:pPr>
            <a:r>
              <a:rPr lang="en-US" sz="1300" b="1" dirty="0">
                <a:solidFill>
                  <a:srgbClr val="20291F"/>
                </a:solidFill>
                <a:latin typeface="Calibri" pitchFamily="34" charset="0"/>
                <a:ea typeface="Calibri" pitchFamily="34" charset="-122"/>
                <a:cs typeface="Calibri" pitchFamily="34" charset="-120"/>
              </a:rPr>
              <a:t>Data-completeness bug</a:t>
            </a:r>
            <a:endParaRPr lang="en-US" sz="1300" dirty="0"/>
          </a:p>
        </p:txBody>
      </p:sp>
      <p:sp>
        <p:nvSpPr>
          <p:cNvPr id="9" name="Text 7"/>
          <p:cNvSpPr/>
          <p:nvPr/>
        </p:nvSpPr>
        <p:spPr>
          <a:xfrm>
            <a:off x="685800" y="4754880"/>
            <a:ext cx="2286000" cy="45720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Found → fixed → re-verified</a:t>
            </a:r>
            <a:endParaRPr lang="en-US" sz="1150" dirty="0"/>
          </a:p>
        </p:txBody>
      </p:sp>
      <p:sp>
        <p:nvSpPr>
          <p:cNvPr id="10" name="Shape 8"/>
          <p:cNvSpPr/>
          <p:nvPr/>
        </p:nvSpPr>
        <p:spPr>
          <a:xfrm>
            <a:off x="3291840" y="3977640"/>
            <a:ext cx="2606040" cy="1463040"/>
          </a:xfrm>
          <a:prstGeom prst="roundRect">
            <a:avLst>
              <a:gd name="adj" fmla="val 5000"/>
            </a:avLst>
          </a:prstGeom>
          <a:solidFill>
            <a:srgbClr val="E4ECDE"/>
          </a:solidFill>
          <a:ln w="12700">
            <a:solidFill>
              <a:srgbClr val="D6E0D1"/>
            </a:solidFill>
            <a:prstDash val="solid"/>
          </a:ln>
        </p:spPr>
      </p:sp>
      <p:sp>
        <p:nvSpPr>
          <p:cNvPr id="11" name="Text 9"/>
          <p:cNvSpPr/>
          <p:nvPr/>
        </p:nvSpPr>
        <p:spPr>
          <a:xfrm>
            <a:off x="3474720" y="4160520"/>
            <a:ext cx="2286000" cy="548640"/>
          </a:xfrm>
          <a:prstGeom prst="rect">
            <a:avLst/>
          </a:prstGeom>
          <a:noFill/>
          <a:ln/>
        </p:spPr>
        <p:txBody>
          <a:bodyPr wrap="square" lIns="0" tIns="0" rIns="0" bIns="0" rtlCol="0" anchor="ctr"/>
          <a:lstStyle/>
          <a:p>
            <a:pPr marL="0" indent="0">
              <a:buNone/>
            </a:pPr>
            <a:r>
              <a:rPr lang="en-US" sz="1300" b="1" dirty="0">
                <a:solidFill>
                  <a:srgbClr val="20291F"/>
                </a:solidFill>
                <a:latin typeface="Calibri" pitchFamily="34" charset="0"/>
                <a:ea typeface="Calibri" pitchFamily="34" charset="-122"/>
                <a:cs typeface="Calibri" pitchFamily="34" charset="-120"/>
              </a:rPr>
              <a:t>Potato raw-data refresh</a:t>
            </a:r>
            <a:endParaRPr lang="en-US" sz="1300" dirty="0"/>
          </a:p>
        </p:txBody>
      </p:sp>
      <p:sp>
        <p:nvSpPr>
          <p:cNvPr id="12" name="Text 10"/>
          <p:cNvSpPr/>
          <p:nvPr/>
        </p:nvSpPr>
        <p:spPr>
          <a:xfrm>
            <a:off x="3474720" y="4754880"/>
            <a:ext cx="2286000" cy="45720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Received → validated</a:t>
            </a:r>
            <a:endParaRPr lang="en-US" sz="1150" dirty="0"/>
          </a:p>
        </p:txBody>
      </p:sp>
      <p:sp>
        <p:nvSpPr>
          <p:cNvPr id="13" name="Shape 11"/>
          <p:cNvSpPr/>
          <p:nvPr/>
        </p:nvSpPr>
        <p:spPr>
          <a:xfrm>
            <a:off x="6080760" y="3977640"/>
            <a:ext cx="2606040" cy="1463040"/>
          </a:xfrm>
          <a:prstGeom prst="roundRect">
            <a:avLst>
              <a:gd name="adj" fmla="val 5000"/>
            </a:avLst>
          </a:prstGeom>
          <a:solidFill>
            <a:srgbClr val="E4ECDE"/>
          </a:solidFill>
          <a:ln w="12700">
            <a:solidFill>
              <a:srgbClr val="D6E0D1"/>
            </a:solidFill>
            <a:prstDash val="solid"/>
          </a:ln>
        </p:spPr>
      </p:sp>
      <p:sp>
        <p:nvSpPr>
          <p:cNvPr id="14" name="Text 12"/>
          <p:cNvSpPr/>
          <p:nvPr/>
        </p:nvSpPr>
        <p:spPr>
          <a:xfrm>
            <a:off x="6263640" y="4160520"/>
            <a:ext cx="2286000" cy="548640"/>
          </a:xfrm>
          <a:prstGeom prst="rect">
            <a:avLst/>
          </a:prstGeom>
          <a:noFill/>
          <a:ln/>
        </p:spPr>
        <p:txBody>
          <a:bodyPr wrap="square" lIns="0" tIns="0" rIns="0" bIns="0" rtlCol="0" anchor="ctr"/>
          <a:lstStyle/>
          <a:p>
            <a:pPr marL="0" indent="0">
              <a:buNone/>
            </a:pPr>
            <a:r>
              <a:rPr lang="en-US" sz="1300" b="1" dirty="0">
                <a:solidFill>
                  <a:srgbClr val="20291F"/>
                </a:solidFill>
                <a:latin typeface="Calibri" pitchFamily="34" charset="0"/>
                <a:ea typeface="Calibri" pitchFamily="34" charset="-122"/>
                <a:cs typeface="Calibri" pitchFamily="34" charset="-120"/>
              </a:rPr>
              <a:t>Onion raw-data refresh</a:t>
            </a:r>
            <a:endParaRPr lang="en-US" sz="1300" dirty="0"/>
          </a:p>
        </p:txBody>
      </p:sp>
      <p:sp>
        <p:nvSpPr>
          <p:cNvPr id="15" name="Text 13"/>
          <p:cNvSpPr/>
          <p:nvPr/>
        </p:nvSpPr>
        <p:spPr>
          <a:xfrm>
            <a:off x="6263640" y="4754880"/>
            <a:ext cx="2286000" cy="457200"/>
          </a:xfrm>
          <a:prstGeom prst="rect">
            <a:avLst/>
          </a:prstGeom>
          <a:noFill/>
          <a:ln/>
        </p:spPr>
        <p:txBody>
          <a:bodyPr wrap="square" lIns="0" tIns="0" rIns="0" bIns="0" rtlCol="0" anchor="ctr"/>
          <a:lstStyle/>
          <a:p>
            <a:pPr marL="0" indent="0">
              <a:buNone/>
            </a:pPr>
            <a:r>
              <a:rPr lang="en-US" sz="1150" b="1" dirty="0">
                <a:solidFill>
                  <a:srgbClr val="2C5F2D"/>
                </a:solidFill>
                <a:latin typeface="Calibri" pitchFamily="34" charset="0"/>
                <a:ea typeface="Calibri" pitchFamily="34" charset="-122"/>
                <a:cs typeface="Calibri" pitchFamily="34" charset="-120"/>
              </a:rPr>
              <a:t>Received → validated</a:t>
            </a:r>
            <a:endParaRPr lang="en-US" sz="1150" dirty="0"/>
          </a:p>
        </p:txBody>
      </p:sp>
      <p:sp>
        <p:nvSpPr>
          <p:cNvPr id="16" name="Shape 14"/>
          <p:cNvSpPr/>
          <p:nvPr/>
        </p:nvSpPr>
        <p:spPr>
          <a:xfrm>
            <a:off x="8869680" y="3977640"/>
            <a:ext cx="2606040" cy="1463040"/>
          </a:xfrm>
          <a:prstGeom prst="roundRect">
            <a:avLst>
              <a:gd name="adj" fmla="val 5000"/>
            </a:avLst>
          </a:prstGeom>
          <a:solidFill>
            <a:srgbClr val="FBEAE5"/>
          </a:solidFill>
          <a:ln w="12700">
            <a:solidFill>
              <a:srgbClr val="C1502E"/>
            </a:solidFill>
            <a:prstDash val="solid"/>
          </a:ln>
        </p:spPr>
      </p:sp>
      <p:sp>
        <p:nvSpPr>
          <p:cNvPr id="17" name="Text 15"/>
          <p:cNvSpPr/>
          <p:nvPr/>
        </p:nvSpPr>
        <p:spPr>
          <a:xfrm>
            <a:off x="9052560" y="4160520"/>
            <a:ext cx="2286000" cy="548640"/>
          </a:xfrm>
          <a:prstGeom prst="rect">
            <a:avLst/>
          </a:prstGeom>
          <a:noFill/>
          <a:ln/>
        </p:spPr>
        <p:txBody>
          <a:bodyPr wrap="square" lIns="0" tIns="0" rIns="0" bIns="0" rtlCol="0" anchor="ctr"/>
          <a:lstStyle/>
          <a:p>
            <a:pPr marL="0" indent="0">
              <a:buNone/>
            </a:pPr>
            <a:r>
              <a:rPr lang="en-US" sz="1300" b="1" dirty="0">
                <a:solidFill>
                  <a:srgbClr val="20291F"/>
                </a:solidFill>
                <a:latin typeface="Calibri" pitchFamily="34" charset="0"/>
                <a:ea typeface="Calibri" pitchFamily="34" charset="-122"/>
                <a:cs typeface="Calibri" pitchFamily="34" charset="-120"/>
              </a:rPr>
              <a:t>Tomato raw-data refresh</a:t>
            </a:r>
            <a:endParaRPr lang="en-US" sz="1300" dirty="0"/>
          </a:p>
        </p:txBody>
      </p:sp>
      <p:sp>
        <p:nvSpPr>
          <p:cNvPr id="18" name="Text 16"/>
          <p:cNvSpPr/>
          <p:nvPr/>
        </p:nvSpPr>
        <p:spPr>
          <a:xfrm>
            <a:off x="9052560" y="4754880"/>
            <a:ext cx="2286000" cy="457200"/>
          </a:xfrm>
          <a:prstGeom prst="rect">
            <a:avLst/>
          </a:prstGeom>
          <a:noFill/>
          <a:ln/>
        </p:spPr>
        <p:txBody>
          <a:bodyPr wrap="square" lIns="0" tIns="0" rIns="0" bIns="0" rtlCol="0" anchor="ctr"/>
          <a:lstStyle/>
          <a:p>
            <a:pPr marL="0" indent="0">
              <a:buNone/>
            </a:pPr>
            <a:r>
              <a:rPr lang="en-US" sz="1150" b="1" dirty="0">
                <a:solidFill>
                  <a:srgbClr val="C1502E"/>
                </a:solidFill>
                <a:latin typeface="Calibri" pitchFamily="34" charset="0"/>
                <a:ea typeface="Calibri" pitchFamily="34" charset="-122"/>
                <a:cs typeface="Calibri" pitchFamily="34" charset="-120"/>
              </a:rPr>
              <a:t>Awaiting file</a:t>
            </a:r>
            <a:endParaRPr lang="en-US" sz="1150" dirty="0"/>
          </a:p>
        </p:txBody>
      </p:sp>
      <p:sp>
        <p:nvSpPr>
          <p:cNvPr id="20" name="Text 17"/>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21" name="Text 18"/>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TRAJECTORY</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Milestones So Far</a:t>
            </a:r>
            <a:endParaRPr lang="en-US" sz="3000" dirty="0"/>
          </a:p>
        </p:txBody>
      </p:sp>
      <p:sp>
        <p:nvSpPr>
          <p:cNvPr id="4" name="Shape 2"/>
          <p:cNvSpPr/>
          <p:nvPr/>
        </p:nvSpPr>
        <p:spPr>
          <a:xfrm>
            <a:off x="1371600" y="1536192"/>
            <a:ext cx="146304" cy="146304"/>
          </a:xfrm>
          <a:prstGeom prst="ellipse">
            <a:avLst/>
          </a:prstGeom>
          <a:solidFill>
            <a:srgbClr val="2C5F2D"/>
          </a:solidFill>
          <a:ln/>
        </p:spPr>
      </p:sp>
      <p:sp>
        <p:nvSpPr>
          <p:cNvPr id="5" name="Shape 3"/>
          <p:cNvSpPr/>
          <p:nvPr/>
        </p:nvSpPr>
        <p:spPr>
          <a:xfrm>
            <a:off x="1444752" y="1682496"/>
            <a:ext cx="0" cy="594360"/>
          </a:xfrm>
          <a:prstGeom prst="line">
            <a:avLst/>
          </a:prstGeom>
          <a:noFill/>
          <a:ln w="19050">
            <a:solidFill>
              <a:srgbClr val="7FA671"/>
            </a:solidFill>
            <a:prstDash val="solid"/>
          </a:ln>
        </p:spPr>
      </p:sp>
      <p:sp>
        <p:nvSpPr>
          <p:cNvPr id="6" name="Text 4"/>
          <p:cNvSpPr/>
          <p:nvPr/>
        </p:nvSpPr>
        <p:spPr>
          <a:xfrm>
            <a:off x="502920" y="1463040"/>
            <a:ext cx="777240" cy="457200"/>
          </a:xfrm>
          <a:prstGeom prst="rect">
            <a:avLst/>
          </a:prstGeom>
          <a:noFill/>
          <a:ln/>
        </p:spPr>
        <p:txBody>
          <a:bodyPr wrap="square" lIns="0" tIns="0" rIns="0" bIns="0" rtlCol="0" anchor="t"/>
          <a:lstStyle/>
          <a:p>
            <a:pPr marL="0" indent="0" algn="r">
              <a:buNone/>
            </a:pPr>
            <a:r>
              <a:rPr lang="en-US" sz="1300" b="1" dirty="0">
                <a:solidFill>
                  <a:srgbClr val="2C5F2D"/>
                </a:solidFill>
                <a:latin typeface="Cambria" pitchFamily="34" charset="0"/>
                <a:ea typeface="Cambria" pitchFamily="34" charset="-122"/>
                <a:cs typeface="Cambria" pitchFamily="34" charset="-120"/>
              </a:rPr>
              <a:t>Jul</a:t>
            </a:r>
            <a:endParaRPr lang="en-US" sz="1300" dirty="0"/>
          </a:p>
        </p:txBody>
      </p:sp>
      <p:sp>
        <p:nvSpPr>
          <p:cNvPr id="7" name="Text 5"/>
          <p:cNvSpPr/>
          <p:nvPr/>
        </p:nvSpPr>
        <p:spPr>
          <a:xfrm>
            <a:off x="1737360" y="1417320"/>
            <a:ext cx="9875520" cy="548640"/>
          </a:xfrm>
          <a:prstGeom prst="rect">
            <a:avLst/>
          </a:prstGeom>
          <a:noFill/>
          <a:ln/>
        </p:spPr>
        <p:txBody>
          <a:bodyPr wrap="square" lIns="0" tIns="0" rIns="0" bIns="0" rtlCol="0" anchor="t"/>
          <a:lstStyle/>
          <a:p>
            <a:pPr marL="0" indent="0">
              <a:buNone/>
            </a:pPr>
            <a:r>
              <a:rPr lang="en-US" sz="1250" dirty="0">
                <a:solidFill>
                  <a:srgbClr val="20291F"/>
                </a:solidFill>
                <a:latin typeface="Calibri" pitchFamily="34" charset="0"/>
                <a:ea typeface="Calibri" pitchFamily="34" charset="-122"/>
                <a:cs typeface="Calibri" pitchFamily="34" charset="-120"/>
              </a:rPr>
              <a:t>GitHub repo made public; live dashboard deployed</a:t>
            </a:r>
            <a:endParaRPr lang="en-US" sz="1250" dirty="0"/>
          </a:p>
        </p:txBody>
      </p:sp>
      <p:sp>
        <p:nvSpPr>
          <p:cNvPr id="8" name="Shape 6"/>
          <p:cNvSpPr/>
          <p:nvPr/>
        </p:nvSpPr>
        <p:spPr>
          <a:xfrm>
            <a:off x="1371600" y="2130552"/>
            <a:ext cx="146304" cy="146304"/>
          </a:xfrm>
          <a:prstGeom prst="ellipse">
            <a:avLst/>
          </a:prstGeom>
          <a:solidFill>
            <a:srgbClr val="2C5F2D"/>
          </a:solidFill>
          <a:ln/>
        </p:spPr>
      </p:sp>
      <p:sp>
        <p:nvSpPr>
          <p:cNvPr id="9" name="Shape 7"/>
          <p:cNvSpPr/>
          <p:nvPr/>
        </p:nvSpPr>
        <p:spPr>
          <a:xfrm>
            <a:off x="1444752" y="2276856"/>
            <a:ext cx="0" cy="594360"/>
          </a:xfrm>
          <a:prstGeom prst="line">
            <a:avLst/>
          </a:prstGeom>
          <a:noFill/>
          <a:ln w="19050">
            <a:solidFill>
              <a:srgbClr val="7FA671"/>
            </a:solidFill>
            <a:prstDash val="solid"/>
          </a:ln>
        </p:spPr>
      </p:sp>
      <p:sp>
        <p:nvSpPr>
          <p:cNvPr id="10" name="Text 8"/>
          <p:cNvSpPr/>
          <p:nvPr/>
        </p:nvSpPr>
        <p:spPr>
          <a:xfrm>
            <a:off x="502920" y="2057400"/>
            <a:ext cx="777240" cy="457200"/>
          </a:xfrm>
          <a:prstGeom prst="rect">
            <a:avLst/>
          </a:prstGeom>
          <a:noFill/>
          <a:ln/>
        </p:spPr>
        <p:txBody>
          <a:bodyPr wrap="square" lIns="0" tIns="0" rIns="0" bIns="0" rtlCol="0" anchor="t"/>
          <a:lstStyle/>
          <a:p>
            <a:pPr marL="0" indent="0" algn="r">
              <a:buNone/>
            </a:pPr>
            <a:r>
              <a:rPr lang="en-US" sz="1300" b="1" dirty="0">
                <a:solidFill>
                  <a:srgbClr val="2C5F2D"/>
                </a:solidFill>
                <a:latin typeface="Cambria" pitchFamily="34" charset="0"/>
                <a:ea typeface="Cambria" pitchFamily="34" charset="-122"/>
                <a:cs typeface="Cambria" pitchFamily="34" charset="-120"/>
              </a:rPr>
              <a:t>Jul</a:t>
            </a:r>
            <a:endParaRPr lang="en-US" sz="1300" dirty="0"/>
          </a:p>
        </p:txBody>
      </p:sp>
      <p:sp>
        <p:nvSpPr>
          <p:cNvPr id="11" name="Text 9"/>
          <p:cNvSpPr/>
          <p:nvPr/>
        </p:nvSpPr>
        <p:spPr>
          <a:xfrm>
            <a:off x="1737360" y="2011680"/>
            <a:ext cx="9875520" cy="548640"/>
          </a:xfrm>
          <a:prstGeom prst="rect">
            <a:avLst/>
          </a:prstGeom>
          <a:noFill/>
          <a:ln/>
        </p:spPr>
        <p:txBody>
          <a:bodyPr wrap="square" lIns="0" tIns="0" rIns="0" bIns="0" rtlCol="0" anchor="t"/>
          <a:lstStyle/>
          <a:p>
            <a:pPr marL="0" indent="0">
              <a:buNone/>
            </a:pPr>
            <a:r>
              <a:rPr lang="en-US" sz="1250" dirty="0">
                <a:solidFill>
                  <a:srgbClr val="20291F"/>
                </a:solidFill>
                <a:latin typeface="Calibri" pitchFamily="34" charset="0"/>
                <a:ea typeface="Calibri" pitchFamily="34" charset="-122"/>
                <a:cs typeface="Calibri" pitchFamily="34" charset="-120"/>
              </a:rPr>
              <a:t>Full data refresh across all 6 layers</a:t>
            </a:r>
            <a:endParaRPr lang="en-US" sz="1250" dirty="0"/>
          </a:p>
        </p:txBody>
      </p:sp>
      <p:sp>
        <p:nvSpPr>
          <p:cNvPr id="12" name="Shape 10"/>
          <p:cNvSpPr/>
          <p:nvPr/>
        </p:nvSpPr>
        <p:spPr>
          <a:xfrm>
            <a:off x="1371600" y="2724912"/>
            <a:ext cx="146304" cy="146304"/>
          </a:xfrm>
          <a:prstGeom prst="ellipse">
            <a:avLst/>
          </a:prstGeom>
          <a:solidFill>
            <a:srgbClr val="2C5F2D"/>
          </a:solidFill>
          <a:ln/>
        </p:spPr>
      </p:sp>
      <p:sp>
        <p:nvSpPr>
          <p:cNvPr id="13" name="Shape 11"/>
          <p:cNvSpPr/>
          <p:nvPr/>
        </p:nvSpPr>
        <p:spPr>
          <a:xfrm>
            <a:off x="1444752" y="2871216"/>
            <a:ext cx="0" cy="594360"/>
          </a:xfrm>
          <a:prstGeom prst="line">
            <a:avLst/>
          </a:prstGeom>
          <a:noFill/>
          <a:ln w="19050">
            <a:solidFill>
              <a:srgbClr val="7FA671"/>
            </a:solidFill>
            <a:prstDash val="solid"/>
          </a:ln>
        </p:spPr>
      </p:sp>
      <p:sp>
        <p:nvSpPr>
          <p:cNvPr id="14" name="Text 12"/>
          <p:cNvSpPr/>
          <p:nvPr/>
        </p:nvSpPr>
        <p:spPr>
          <a:xfrm>
            <a:off x="502920" y="2651760"/>
            <a:ext cx="777240" cy="457200"/>
          </a:xfrm>
          <a:prstGeom prst="rect">
            <a:avLst/>
          </a:prstGeom>
          <a:noFill/>
          <a:ln/>
        </p:spPr>
        <p:txBody>
          <a:bodyPr wrap="square" lIns="0" tIns="0" rIns="0" bIns="0" rtlCol="0" anchor="t"/>
          <a:lstStyle/>
          <a:p>
            <a:pPr marL="0" indent="0" algn="r">
              <a:buNone/>
            </a:pPr>
            <a:r>
              <a:rPr lang="en-US" sz="1300" b="1" dirty="0">
                <a:solidFill>
                  <a:srgbClr val="2C5F2D"/>
                </a:solidFill>
                <a:latin typeface="Cambria" pitchFamily="34" charset="0"/>
                <a:ea typeface="Cambria" pitchFamily="34" charset="-122"/>
                <a:cs typeface="Cambria" pitchFamily="34" charset="-120"/>
              </a:rPr>
              <a:t>Aug</a:t>
            </a:r>
            <a:endParaRPr lang="en-US" sz="1300" dirty="0"/>
          </a:p>
        </p:txBody>
      </p:sp>
      <p:sp>
        <p:nvSpPr>
          <p:cNvPr id="15" name="Text 13"/>
          <p:cNvSpPr/>
          <p:nvPr/>
        </p:nvSpPr>
        <p:spPr>
          <a:xfrm>
            <a:off x="1737360" y="2606040"/>
            <a:ext cx="9875520" cy="548640"/>
          </a:xfrm>
          <a:prstGeom prst="rect">
            <a:avLst/>
          </a:prstGeom>
          <a:noFill/>
          <a:ln/>
        </p:spPr>
        <p:txBody>
          <a:bodyPr wrap="square" lIns="0" tIns="0" rIns="0" bIns="0" rtlCol="0" anchor="t"/>
          <a:lstStyle/>
          <a:p>
            <a:pPr marL="0" indent="0">
              <a:buNone/>
            </a:pPr>
            <a:r>
              <a:rPr lang="en-US" sz="1250" dirty="0">
                <a:solidFill>
                  <a:srgbClr val="20291F"/>
                </a:solidFill>
                <a:latin typeface="Calibri" pitchFamily="34" charset="0"/>
                <a:ea typeface="Calibri" pitchFamily="34" charset="-122"/>
                <a:cs typeface="Calibri" pitchFamily="34" charset="-120"/>
              </a:rPr>
              <a:t>A major data-panel bug found and fixed, substantially growing usable market coverage</a:t>
            </a:r>
            <a:endParaRPr lang="en-US" sz="1250" dirty="0"/>
          </a:p>
        </p:txBody>
      </p:sp>
      <p:sp>
        <p:nvSpPr>
          <p:cNvPr id="16" name="Shape 14"/>
          <p:cNvSpPr/>
          <p:nvPr/>
        </p:nvSpPr>
        <p:spPr>
          <a:xfrm>
            <a:off x="1371600" y="3319272"/>
            <a:ext cx="146304" cy="146304"/>
          </a:xfrm>
          <a:prstGeom prst="ellipse">
            <a:avLst/>
          </a:prstGeom>
          <a:solidFill>
            <a:srgbClr val="2C5F2D"/>
          </a:solidFill>
          <a:ln/>
        </p:spPr>
      </p:sp>
      <p:sp>
        <p:nvSpPr>
          <p:cNvPr id="17" name="Shape 15"/>
          <p:cNvSpPr/>
          <p:nvPr/>
        </p:nvSpPr>
        <p:spPr>
          <a:xfrm>
            <a:off x="1444752" y="3465576"/>
            <a:ext cx="0" cy="594360"/>
          </a:xfrm>
          <a:prstGeom prst="line">
            <a:avLst/>
          </a:prstGeom>
          <a:noFill/>
          <a:ln w="19050">
            <a:solidFill>
              <a:srgbClr val="7FA671"/>
            </a:solidFill>
            <a:prstDash val="solid"/>
          </a:ln>
        </p:spPr>
      </p:sp>
      <p:sp>
        <p:nvSpPr>
          <p:cNvPr id="18" name="Text 16"/>
          <p:cNvSpPr/>
          <p:nvPr/>
        </p:nvSpPr>
        <p:spPr>
          <a:xfrm>
            <a:off x="502920" y="3246120"/>
            <a:ext cx="777240" cy="457200"/>
          </a:xfrm>
          <a:prstGeom prst="rect">
            <a:avLst/>
          </a:prstGeom>
          <a:noFill/>
          <a:ln/>
        </p:spPr>
        <p:txBody>
          <a:bodyPr wrap="square" lIns="0" tIns="0" rIns="0" bIns="0" rtlCol="0" anchor="t"/>
          <a:lstStyle/>
          <a:p>
            <a:pPr marL="0" indent="0" algn="r">
              <a:buNone/>
            </a:pPr>
            <a:r>
              <a:rPr lang="en-US" sz="1300" b="1" dirty="0">
                <a:solidFill>
                  <a:srgbClr val="2C5F2D"/>
                </a:solidFill>
                <a:latin typeface="Cambria" pitchFamily="34" charset="0"/>
                <a:ea typeface="Cambria" pitchFamily="34" charset="-122"/>
                <a:cs typeface="Cambria" pitchFamily="34" charset="-120"/>
              </a:rPr>
              <a:t>Aug</a:t>
            </a:r>
            <a:endParaRPr lang="en-US" sz="1300" dirty="0"/>
          </a:p>
        </p:txBody>
      </p:sp>
      <p:sp>
        <p:nvSpPr>
          <p:cNvPr id="19" name="Text 17"/>
          <p:cNvSpPr/>
          <p:nvPr/>
        </p:nvSpPr>
        <p:spPr>
          <a:xfrm>
            <a:off x="1737360" y="3200400"/>
            <a:ext cx="9875520" cy="548640"/>
          </a:xfrm>
          <a:prstGeom prst="rect">
            <a:avLst/>
          </a:prstGeom>
          <a:noFill/>
          <a:ln/>
        </p:spPr>
        <p:txBody>
          <a:bodyPr wrap="square" lIns="0" tIns="0" rIns="0" bIns="0" rtlCol="0" anchor="t"/>
          <a:lstStyle/>
          <a:p>
            <a:pPr marL="0" indent="0">
              <a:buNone/>
            </a:pPr>
            <a:r>
              <a:rPr lang="en-US" sz="1250" dirty="0">
                <a:solidFill>
                  <a:srgbClr val="20291F"/>
                </a:solidFill>
                <a:latin typeface="Calibri" pitchFamily="34" charset="0"/>
                <a:ea typeface="Calibri" pitchFamily="34" charset="-122"/>
                <a:cs typeface="Calibri" pitchFamily="34" charset="-120"/>
              </a:rPr>
              <a:t>Two exploratory architectures formally tested and, honestly, rejected</a:t>
            </a:r>
            <a:endParaRPr lang="en-US" sz="1250" dirty="0"/>
          </a:p>
        </p:txBody>
      </p:sp>
      <p:sp>
        <p:nvSpPr>
          <p:cNvPr id="20" name="Shape 18"/>
          <p:cNvSpPr/>
          <p:nvPr/>
        </p:nvSpPr>
        <p:spPr>
          <a:xfrm>
            <a:off x="1371600" y="3913632"/>
            <a:ext cx="146304" cy="146304"/>
          </a:xfrm>
          <a:prstGeom prst="ellipse">
            <a:avLst/>
          </a:prstGeom>
          <a:solidFill>
            <a:srgbClr val="2C5F2D"/>
          </a:solidFill>
          <a:ln/>
        </p:spPr>
      </p:sp>
      <p:sp>
        <p:nvSpPr>
          <p:cNvPr id="21" name="Shape 19"/>
          <p:cNvSpPr/>
          <p:nvPr/>
        </p:nvSpPr>
        <p:spPr>
          <a:xfrm>
            <a:off x="1444752" y="4059936"/>
            <a:ext cx="0" cy="594360"/>
          </a:xfrm>
          <a:prstGeom prst="line">
            <a:avLst/>
          </a:prstGeom>
          <a:noFill/>
          <a:ln w="19050">
            <a:solidFill>
              <a:srgbClr val="7FA671"/>
            </a:solidFill>
            <a:prstDash val="solid"/>
          </a:ln>
        </p:spPr>
      </p:sp>
      <p:sp>
        <p:nvSpPr>
          <p:cNvPr id="22" name="Text 20"/>
          <p:cNvSpPr/>
          <p:nvPr/>
        </p:nvSpPr>
        <p:spPr>
          <a:xfrm>
            <a:off x="502920" y="3840480"/>
            <a:ext cx="777240" cy="457200"/>
          </a:xfrm>
          <a:prstGeom prst="rect">
            <a:avLst/>
          </a:prstGeom>
          <a:noFill/>
          <a:ln/>
        </p:spPr>
        <p:txBody>
          <a:bodyPr wrap="square" lIns="0" tIns="0" rIns="0" bIns="0" rtlCol="0" anchor="t"/>
          <a:lstStyle/>
          <a:p>
            <a:pPr marL="0" indent="0" algn="r">
              <a:buNone/>
            </a:pPr>
            <a:r>
              <a:rPr lang="en-US" sz="1300" b="1" dirty="0">
                <a:solidFill>
                  <a:srgbClr val="2C5F2D"/>
                </a:solidFill>
                <a:latin typeface="Cambria" pitchFamily="34" charset="0"/>
                <a:ea typeface="Cambria" pitchFamily="34" charset="-122"/>
                <a:cs typeface="Cambria" pitchFamily="34" charset="-120"/>
              </a:rPr>
              <a:t>Aug</a:t>
            </a:r>
            <a:endParaRPr lang="en-US" sz="1300" dirty="0"/>
          </a:p>
        </p:txBody>
      </p:sp>
      <p:sp>
        <p:nvSpPr>
          <p:cNvPr id="23" name="Text 21"/>
          <p:cNvSpPr/>
          <p:nvPr/>
        </p:nvSpPr>
        <p:spPr>
          <a:xfrm>
            <a:off x="1737360" y="3794760"/>
            <a:ext cx="9875520" cy="548640"/>
          </a:xfrm>
          <a:prstGeom prst="rect">
            <a:avLst/>
          </a:prstGeom>
          <a:noFill/>
          <a:ln/>
        </p:spPr>
        <p:txBody>
          <a:bodyPr wrap="square" lIns="0" tIns="0" rIns="0" bIns="0" rtlCol="0" anchor="t"/>
          <a:lstStyle/>
          <a:p>
            <a:pPr marL="0" indent="0">
              <a:buNone/>
            </a:pPr>
            <a:r>
              <a:rPr lang="en-US" sz="1250" dirty="0">
                <a:solidFill>
                  <a:srgbClr val="20291F"/>
                </a:solidFill>
                <a:latin typeface="Calibri" pitchFamily="34" charset="0"/>
                <a:ea typeface="Calibri" pitchFamily="34" charset="-122"/>
                <a:cs typeface="Calibri" pitchFamily="34" charset="-120"/>
              </a:rPr>
              <a:t>Causal policy-analysis pipeline closed out as a rigorous, fully placebo-tested result</a:t>
            </a:r>
            <a:endParaRPr lang="en-US" sz="1250" dirty="0"/>
          </a:p>
        </p:txBody>
      </p:sp>
      <p:sp>
        <p:nvSpPr>
          <p:cNvPr id="24" name="Shape 22"/>
          <p:cNvSpPr/>
          <p:nvPr/>
        </p:nvSpPr>
        <p:spPr>
          <a:xfrm>
            <a:off x="1371600" y="4507992"/>
            <a:ext cx="146304" cy="146304"/>
          </a:xfrm>
          <a:prstGeom prst="ellipse">
            <a:avLst/>
          </a:prstGeom>
          <a:solidFill>
            <a:srgbClr val="2C5F2D"/>
          </a:solidFill>
          <a:ln/>
        </p:spPr>
      </p:sp>
      <p:sp>
        <p:nvSpPr>
          <p:cNvPr id="25" name="Shape 23"/>
          <p:cNvSpPr/>
          <p:nvPr/>
        </p:nvSpPr>
        <p:spPr>
          <a:xfrm>
            <a:off x="1444752" y="4654296"/>
            <a:ext cx="0" cy="594360"/>
          </a:xfrm>
          <a:prstGeom prst="line">
            <a:avLst/>
          </a:prstGeom>
          <a:noFill/>
          <a:ln w="19050">
            <a:solidFill>
              <a:srgbClr val="7FA671"/>
            </a:solidFill>
            <a:prstDash val="solid"/>
          </a:ln>
        </p:spPr>
      </p:sp>
      <p:sp>
        <p:nvSpPr>
          <p:cNvPr id="26" name="Text 24"/>
          <p:cNvSpPr/>
          <p:nvPr/>
        </p:nvSpPr>
        <p:spPr>
          <a:xfrm>
            <a:off x="502920" y="4434840"/>
            <a:ext cx="777240" cy="457200"/>
          </a:xfrm>
          <a:prstGeom prst="rect">
            <a:avLst/>
          </a:prstGeom>
          <a:noFill/>
          <a:ln/>
        </p:spPr>
        <p:txBody>
          <a:bodyPr wrap="square" lIns="0" tIns="0" rIns="0" bIns="0" rtlCol="0" anchor="t"/>
          <a:lstStyle/>
          <a:p>
            <a:pPr marL="0" indent="0" algn="r">
              <a:buNone/>
            </a:pPr>
            <a:r>
              <a:rPr lang="en-US" sz="1300" b="1" dirty="0">
                <a:solidFill>
                  <a:srgbClr val="2C5F2D"/>
                </a:solidFill>
                <a:latin typeface="Cambria" pitchFamily="34" charset="0"/>
                <a:ea typeface="Cambria" pitchFamily="34" charset="-122"/>
                <a:cs typeface="Cambria" pitchFamily="34" charset="-120"/>
              </a:rPr>
              <a:t>Aug</a:t>
            </a:r>
            <a:endParaRPr lang="en-US" sz="1300" dirty="0"/>
          </a:p>
        </p:txBody>
      </p:sp>
      <p:sp>
        <p:nvSpPr>
          <p:cNvPr id="27" name="Text 25"/>
          <p:cNvSpPr/>
          <p:nvPr/>
        </p:nvSpPr>
        <p:spPr>
          <a:xfrm>
            <a:off x="1737360" y="4389120"/>
            <a:ext cx="9875520" cy="548640"/>
          </a:xfrm>
          <a:prstGeom prst="rect">
            <a:avLst/>
          </a:prstGeom>
          <a:noFill/>
          <a:ln/>
        </p:spPr>
        <p:txBody>
          <a:bodyPr wrap="square" lIns="0" tIns="0" rIns="0" bIns="0" rtlCol="0" anchor="t"/>
          <a:lstStyle/>
          <a:p>
            <a:pPr marL="0" indent="0">
              <a:buNone/>
            </a:pPr>
            <a:r>
              <a:rPr lang="en-US" sz="1250" dirty="0">
                <a:solidFill>
                  <a:srgbClr val="20291F"/>
                </a:solidFill>
                <a:latin typeface="Calibri" pitchFamily="34" charset="0"/>
                <a:ea typeface="Calibri" pitchFamily="34" charset="-122"/>
                <a:cs typeface="Calibri" pitchFamily="34" charset="-120"/>
              </a:rPr>
              <a:t>Project-wide data-integrity bug found and fixed across 11 scripts</a:t>
            </a:r>
            <a:endParaRPr lang="en-US" sz="1250" dirty="0"/>
          </a:p>
        </p:txBody>
      </p:sp>
      <p:sp>
        <p:nvSpPr>
          <p:cNvPr id="28" name="Shape 26"/>
          <p:cNvSpPr/>
          <p:nvPr/>
        </p:nvSpPr>
        <p:spPr>
          <a:xfrm>
            <a:off x="1371600" y="5102352"/>
            <a:ext cx="146304" cy="146304"/>
          </a:xfrm>
          <a:prstGeom prst="ellipse">
            <a:avLst/>
          </a:prstGeom>
          <a:solidFill>
            <a:srgbClr val="2C5F2D"/>
          </a:solidFill>
          <a:ln/>
        </p:spPr>
      </p:sp>
      <p:sp>
        <p:nvSpPr>
          <p:cNvPr id="29" name="Shape 27"/>
          <p:cNvSpPr/>
          <p:nvPr/>
        </p:nvSpPr>
        <p:spPr>
          <a:xfrm>
            <a:off x="1444752" y="5248656"/>
            <a:ext cx="0" cy="594360"/>
          </a:xfrm>
          <a:prstGeom prst="line">
            <a:avLst/>
          </a:prstGeom>
          <a:noFill/>
          <a:ln w="19050">
            <a:solidFill>
              <a:srgbClr val="7FA671"/>
            </a:solidFill>
            <a:prstDash val="solid"/>
          </a:ln>
        </p:spPr>
      </p:sp>
      <p:sp>
        <p:nvSpPr>
          <p:cNvPr id="30" name="Text 28"/>
          <p:cNvSpPr/>
          <p:nvPr/>
        </p:nvSpPr>
        <p:spPr>
          <a:xfrm>
            <a:off x="502920" y="5029200"/>
            <a:ext cx="777240" cy="457200"/>
          </a:xfrm>
          <a:prstGeom prst="rect">
            <a:avLst/>
          </a:prstGeom>
          <a:noFill/>
          <a:ln/>
        </p:spPr>
        <p:txBody>
          <a:bodyPr wrap="square" lIns="0" tIns="0" rIns="0" bIns="0" rtlCol="0" anchor="t"/>
          <a:lstStyle/>
          <a:p>
            <a:pPr marL="0" indent="0" algn="r">
              <a:buNone/>
            </a:pPr>
            <a:r>
              <a:rPr lang="en-US" sz="1300" b="1" dirty="0">
                <a:solidFill>
                  <a:srgbClr val="2C5F2D"/>
                </a:solidFill>
                <a:latin typeface="Cambria" pitchFamily="34" charset="0"/>
                <a:ea typeface="Cambria" pitchFamily="34" charset="-122"/>
                <a:cs typeface="Cambria" pitchFamily="34" charset="-120"/>
              </a:rPr>
              <a:t>Aug</a:t>
            </a:r>
            <a:endParaRPr lang="en-US" sz="1300" dirty="0"/>
          </a:p>
        </p:txBody>
      </p:sp>
      <p:sp>
        <p:nvSpPr>
          <p:cNvPr id="31" name="Text 29"/>
          <p:cNvSpPr/>
          <p:nvPr/>
        </p:nvSpPr>
        <p:spPr>
          <a:xfrm>
            <a:off x="1737360" y="4983480"/>
            <a:ext cx="9875520" cy="548640"/>
          </a:xfrm>
          <a:prstGeom prst="rect">
            <a:avLst/>
          </a:prstGeom>
          <a:noFill/>
          <a:ln/>
        </p:spPr>
        <p:txBody>
          <a:bodyPr wrap="square" lIns="0" tIns="0" rIns="0" bIns="0" rtlCol="0" anchor="t"/>
          <a:lstStyle/>
          <a:p>
            <a:pPr marL="0" indent="0">
              <a:buNone/>
            </a:pPr>
            <a:r>
              <a:rPr lang="en-US" sz="1250" dirty="0">
                <a:solidFill>
                  <a:srgbClr val="20291F"/>
                </a:solidFill>
                <a:latin typeface="Calibri" pitchFamily="34" charset="0"/>
                <a:ea typeface="Calibri" pitchFamily="34" charset="-122"/>
                <a:cs typeface="Calibri" pitchFamily="34" charset="-120"/>
              </a:rPr>
              <a:t>Early-warning detector expanded to a complete, fully validated design across all crops</a:t>
            </a:r>
            <a:endParaRPr lang="en-US" sz="1250" dirty="0"/>
          </a:p>
        </p:txBody>
      </p:sp>
      <p:sp>
        <p:nvSpPr>
          <p:cNvPr id="32" name="Shape 30"/>
          <p:cNvSpPr/>
          <p:nvPr/>
        </p:nvSpPr>
        <p:spPr>
          <a:xfrm>
            <a:off x="1371600" y="5696712"/>
            <a:ext cx="146304" cy="146304"/>
          </a:xfrm>
          <a:prstGeom prst="ellipse">
            <a:avLst/>
          </a:prstGeom>
          <a:solidFill>
            <a:srgbClr val="C1502E"/>
          </a:solidFill>
          <a:ln/>
        </p:spPr>
      </p:sp>
      <p:sp>
        <p:nvSpPr>
          <p:cNvPr id="33" name="Text 31"/>
          <p:cNvSpPr/>
          <p:nvPr/>
        </p:nvSpPr>
        <p:spPr>
          <a:xfrm>
            <a:off x="502920" y="5623560"/>
            <a:ext cx="777240" cy="457200"/>
          </a:xfrm>
          <a:prstGeom prst="rect">
            <a:avLst/>
          </a:prstGeom>
          <a:noFill/>
          <a:ln/>
        </p:spPr>
        <p:txBody>
          <a:bodyPr wrap="square" lIns="0" tIns="0" rIns="0" bIns="0" rtlCol="0" anchor="t"/>
          <a:lstStyle/>
          <a:p>
            <a:pPr marL="0" indent="0" algn="r">
              <a:buNone/>
            </a:pPr>
            <a:r>
              <a:rPr lang="en-US" sz="1300" b="1" dirty="0">
                <a:solidFill>
                  <a:srgbClr val="2C5F2D"/>
                </a:solidFill>
                <a:latin typeface="Cambria" pitchFamily="34" charset="0"/>
                <a:ea typeface="Cambria" pitchFamily="34" charset="-122"/>
                <a:cs typeface="Cambria" pitchFamily="34" charset="-120"/>
              </a:rPr>
              <a:t>Aug</a:t>
            </a:r>
            <a:endParaRPr lang="en-US" sz="1300" dirty="0"/>
          </a:p>
        </p:txBody>
      </p:sp>
      <p:sp>
        <p:nvSpPr>
          <p:cNvPr id="34" name="Text 32"/>
          <p:cNvSpPr/>
          <p:nvPr/>
        </p:nvSpPr>
        <p:spPr>
          <a:xfrm>
            <a:off x="1737360" y="5577840"/>
            <a:ext cx="9875520" cy="548640"/>
          </a:xfrm>
          <a:prstGeom prst="rect">
            <a:avLst/>
          </a:prstGeom>
          <a:noFill/>
          <a:ln/>
        </p:spPr>
        <p:txBody>
          <a:bodyPr wrap="square" lIns="0" tIns="0" rIns="0" bIns="0" rtlCol="0" anchor="t"/>
          <a:lstStyle/>
          <a:p>
            <a:pPr marL="0" indent="0">
              <a:buNone/>
            </a:pPr>
            <a:r>
              <a:rPr lang="en-US" sz="1250" dirty="0">
                <a:solidFill>
                  <a:srgbClr val="20291F"/>
                </a:solidFill>
                <a:latin typeface="Calibri" pitchFamily="34" charset="0"/>
                <a:ea typeface="Calibri" pitchFamily="34" charset="-122"/>
                <a:cs typeface="Calibri" pitchFamily="34" charset="-120"/>
              </a:rPr>
              <a:t>Second causal outcome variable added; a data-completeness bug fixed; fresher raw data in validation</a:t>
            </a:r>
            <a:endParaRPr lang="en-US" sz="1250" dirty="0"/>
          </a:p>
        </p:txBody>
      </p:sp>
      <p:sp>
        <p:nvSpPr>
          <p:cNvPr id="36" name="Text 33"/>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37" name="Text 34"/>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HONEST ACCOUNTING</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What's Still Open</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4846320"/>
        </p:xfrm>
        <a:graphic>
          <a:graphicData uri="http://schemas.openxmlformats.org/drawingml/2006/table">
            <a:tbl>
              <a:tblPr/>
              <a:tblGrid>
                <a:gridCol w="6675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60579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605790">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A full-capacity run of one deep-learning model comparison</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Attempted twice, not yet completed at full scale</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5790">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A handful of older comparison scripts</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Deliberately deferred re-runs against the current data panel</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extLst>
                  <a:ext uri="{0D108BD9-81ED-4DB2-BD59-A6C34878D82A}">
                    <a16:rowId xmlns:a16="http://schemas.microsoft.com/office/drawing/2014/main" val="10002"/>
                  </a:ext>
                </a:extLst>
              </a:tr>
              <a:tr h="605790">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One rejected exploratory architecture</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Never re-verified against the recent data-integrity fix — low priority, already rejected regardless</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5790">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A few macro data series</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Not yet extended to the latest vintage</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extLst>
                  <a:ext uri="{0D108BD9-81ED-4DB2-BD59-A6C34878D82A}">
                    <a16:rowId xmlns:a16="http://schemas.microsoft.com/office/drawing/2014/main" val="10004"/>
                  </a:ext>
                </a:extLst>
              </a:tr>
              <a:tr h="605790">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A tension between two specific findings</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A real, unresolved question worth investigating directly</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5790">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Live dashboard's AI-recommendation feature</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Whether a production credential is actually configured — unconfirmed</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E4ECDE"/>
                    </a:solidFill>
                  </a:tcPr>
                </a:tc>
                <a:extLst>
                  <a:ext uri="{0D108BD9-81ED-4DB2-BD59-A6C34878D82A}">
                    <a16:rowId xmlns:a16="http://schemas.microsoft.com/office/drawing/2014/main" val="10006"/>
                  </a:ext>
                </a:extLst>
              </a:tr>
              <a:tr h="605790">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Manuscript writing</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tc>
                  <a:txBody>
                    <a:bodyPr/>
                    <a:lstStyle/>
                    <a:p>
                      <a:pPr marL="0" indent="0">
                        <a:buNone/>
                      </a:pPr>
                      <a:r>
                        <a:rPr lang="en-US" sz="1150" dirty="0">
                          <a:solidFill>
                            <a:srgbClr val="20291F"/>
                          </a:solidFill>
                          <a:latin typeface="Calibri" pitchFamily="34" charset="0"/>
                          <a:ea typeface="Calibri" pitchFamily="34" charset="-122"/>
                          <a:cs typeface="Calibri" pitchFamily="34" charset="-120"/>
                        </a:rPr>
                        <a:t>Working drafts intentionally cleared to start a fresh, complete pass</a:t>
                      </a:r>
                      <a:endParaRPr lang="en-US" sz="1150" dirty="0">
                        <a:latin typeface="Calibri" charset="0"/>
                        <a:ea typeface="Calibri" charset="0"/>
                        <a:cs typeface="Calibri" charset="0"/>
                      </a:endParaRPr>
                    </a:p>
                  </a:txBody>
                  <a:tcPr anchor="ctr">
                    <a:lnL w="12700" cap="flat" cmpd="sng" algn="ctr">
                      <a:solidFill>
                        <a:srgbClr val="D6E0D1"/>
                      </a:solidFill>
                      <a:prstDash val="solid"/>
                      <a:round/>
                      <a:headEnd type="none" w="med" len="med"/>
                      <a:tailEnd type="none" w="med" len="med"/>
                    </a:lnL>
                    <a:lnR w="12700" cap="flat" cmpd="sng" algn="ctr">
                      <a:solidFill>
                        <a:srgbClr val="D6E0D1"/>
                      </a:solidFill>
                      <a:prstDash val="solid"/>
                      <a:round/>
                      <a:headEnd type="none" w="med" len="med"/>
                      <a:tailEnd type="none" w="med" len="med"/>
                    </a:lnR>
                    <a:lnT w="12700" cap="flat" cmpd="sng" algn="ctr">
                      <a:solidFill>
                        <a:srgbClr val="D6E0D1"/>
                      </a:solidFill>
                      <a:prstDash val="solid"/>
                      <a:round/>
                      <a:headEnd type="none" w="med" len="med"/>
                      <a:tailEnd type="none" w="med" len="med"/>
                    </a:lnT>
                    <a:lnB w="12700" cap="flat" cmpd="sng" algn="ctr">
                      <a:solidFill>
                        <a:srgbClr val="D6E0D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2"/>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7" name="Text 3"/>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lgn="l">
              <a:buNone/>
            </a:pPr>
            <a:r>
              <a:rPr lang="en-US" sz="1200" b="1" kern="0" spc="120" dirty="0">
                <a:solidFill>
                  <a:srgbClr val="C1502E"/>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02920" y="612648"/>
            <a:ext cx="11155680" cy="685800"/>
          </a:xfrm>
          <a:prstGeom prst="rect">
            <a:avLst/>
          </a:prstGeom>
          <a:noFill/>
          <a:ln/>
        </p:spPr>
        <p:txBody>
          <a:bodyPr wrap="square" lIns="0" tIns="0" rIns="0" bIns="0" rtlCol="0" anchor="ctr"/>
          <a:lstStyle/>
          <a:p>
            <a:pPr marL="0" indent="0" algn="l">
              <a:buNone/>
            </a:pPr>
            <a:r>
              <a:rPr lang="en-US" sz="3000" b="1" dirty="0">
                <a:solidFill>
                  <a:srgbClr val="20291F"/>
                </a:solidFill>
                <a:latin typeface="Cambria" pitchFamily="34" charset="0"/>
                <a:ea typeface="Cambria" pitchFamily="34" charset="-122"/>
                <a:cs typeface="Cambria" pitchFamily="34" charset="-120"/>
              </a:rPr>
              <a:t>Next Steps</a:t>
            </a:r>
            <a:endParaRPr lang="en-US" sz="3000" dirty="0"/>
          </a:p>
        </p:txBody>
      </p:sp>
      <p:sp>
        <p:nvSpPr>
          <p:cNvPr id="4" name="Shape 2"/>
          <p:cNvSpPr/>
          <p:nvPr/>
        </p:nvSpPr>
        <p:spPr>
          <a:xfrm>
            <a:off x="502920" y="1508760"/>
            <a:ext cx="11155680" cy="987552"/>
          </a:xfrm>
          <a:prstGeom prst="roundRect">
            <a:avLst>
              <a:gd name="adj" fmla="val 7407"/>
            </a:avLst>
          </a:prstGeom>
          <a:solidFill>
            <a:srgbClr val="E4ECDE"/>
          </a:solidFill>
          <a:ln w="12700">
            <a:solidFill>
              <a:srgbClr val="D6E0D1"/>
            </a:solidFill>
            <a:prstDash val="solid"/>
          </a:ln>
        </p:spPr>
      </p:sp>
      <p:sp>
        <p:nvSpPr>
          <p:cNvPr id="5" name="Text 3"/>
          <p:cNvSpPr/>
          <p:nvPr/>
        </p:nvSpPr>
        <p:spPr>
          <a:xfrm>
            <a:off x="777240" y="1508760"/>
            <a:ext cx="2103120" cy="987552"/>
          </a:xfrm>
          <a:prstGeom prst="rect">
            <a:avLst/>
          </a:prstGeom>
          <a:noFill/>
          <a:ln/>
        </p:spPr>
        <p:txBody>
          <a:bodyPr wrap="square" lIns="0" tIns="0" rIns="0" bIns="0" rtlCol="0" anchor="ctr"/>
          <a:lstStyle/>
          <a:p>
            <a:pPr marL="0" indent="0">
              <a:buNone/>
            </a:pPr>
            <a:r>
              <a:rPr lang="en-US" sz="1500" b="1" dirty="0">
                <a:solidFill>
                  <a:srgbClr val="C1502E"/>
                </a:solidFill>
                <a:latin typeface="Cambria" pitchFamily="34" charset="0"/>
                <a:ea typeface="Cambria" pitchFamily="34" charset="-122"/>
                <a:cs typeface="Cambria" pitchFamily="34" charset="-120"/>
              </a:rPr>
              <a:t>Immediate</a:t>
            </a:r>
            <a:endParaRPr lang="en-US" sz="1500" dirty="0"/>
          </a:p>
        </p:txBody>
      </p:sp>
      <p:sp>
        <p:nvSpPr>
          <p:cNvPr id="6" name="Text 4"/>
          <p:cNvSpPr/>
          <p:nvPr/>
        </p:nvSpPr>
        <p:spPr>
          <a:xfrm>
            <a:off x="3017520" y="1508760"/>
            <a:ext cx="8503920" cy="987552"/>
          </a:xfrm>
          <a:prstGeom prst="rect">
            <a:avLst/>
          </a:prstGeom>
          <a:noFill/>
          <a:ln/>
        </p:spPr>
        <p:txBody>
          <a:bodyPr wrap="square" lIns="0" tIns="0" rIns="0" bIns="0" rtlCol="0" anchor="ctr"/>
          <a:lstStyle/>
          <a:p>
            <a:pPr marL="0" indent="0">
              <a:buNone/>
            </a:pPr>
            <a:r>
              <a:rPr lang="en-US" sz="1350" dirty="0">
                <a:solidFill>
                  <a:srgbClr val="20291F"/>
                </a:solidFill>
                <a:latin typeface="Calibri" pitchFamily="34" charset="0"/>
                <a:ea typeface="Calibri" pitchFamily="34" charset="-122"/>
                <a:cs typeface="Calibri" pitchFamily="34" charset="-120"/>
              </a:rPr>
              <a:t>Receive and validate the tomato raw-data file; merge all 3 crops and re-run the pipeline.</a:t>
            </a:r>
            <a:endParaRPr lang="en-US" sz="1350" dirty="0"/>
          </a:p>
        </p:txBody>
      </p:sp>
      <p:sp>
        <p:nvSpPr>
          <p:cNvPr id="7" name="Shape 5"/>
          <p:cNvSpPr/>
          <p:nvPr/>
        </p:nvSpPr>
        <p:spPr>
          <a:xfrm>
            <a:off x="502920" y="2679192"/>
            <a:ext cx="11155680" cy="987552"/>
          </a:xfrm>
          <a:prstGeom prst="roundRect">
            <a:avLst>
              <a:gd name="adj" fmla="val 7407"/>
            </a:avLst>
          </a:prstGeom>
          <a:solidFill>
            <a:srgbClr val="E4ECDE"/>
          </a:solidFill>
          <a:ln w="12700">
            <a:solidFill>
              <a:srgbClr val="D6E0D1"/>
            </a:solidFill>
            <a:prstDash val="solid"/>
          </a:ln>
        </p:spPr>
      </p:sp>
      <p:sp>
        <p:nvSpPr>
          <p:cNvPr id="8" name="Text 6"/>
          <p:cNvSpPr/>
          <p:nvPr/>
        </p:nvSpPr>
        <p:spPr>
          <a:xfrm>
            <a:off x="777240" y="2679192"/>
            <a:ext cx="2103120" cy="987552"/>
          </a:xfrm>
          <a:prstGeom prst="rect">
            <a:avLst/>
          </a:prstGeom>
          <a:noFill/>
          <a:ln/>
        </p:spPr>
        <p:txBody>
          <a:bodyPr wrap="square" lIns="0" tIns="0" rIns="0" bIns="0" rtlCol="0" anchor="ctr"/>
          <a:lstStyle/>
          <a:p>
            <a:pPr marL="0" indent="0">
              <a:buNone/>
            </a:pPr>
            <a:r>
              <a:rPr lang="en-US" sz="1500" b="1" dirty="0">
                <a:solidFill>
                  <a:srgbClr val="C1502E"/>
                </a:solidFill>
                <a:latin typeface="Cambria" pitchFamily="34" charset="0"/>
                <a:ea typeface="Cambria" pitchFamily="34" charset="-122"/>
                <a:cs typeface="Cambria" pitchFamily="34" charset="-120"/>
              </a:rPr>
              <a:t>Short term</a:t>
            </a:r>
            <a:endParaRPr lang="en-US" sz="1500" dirty="0"/>
          </a:p>
        </p:txBody>
      </p:sp>
      <p:sp>
        <p:nvSpPr>
          <p:cNvPr id="9" name="Text 7"/>
          <p:cNvSpPr/>
          <p:nvPr/>
        </p:nvSpPr>
        <p:spPr>
          <a:xfrm>
            <a:off x="3017520" y="2679192"/>
            <a:ext cx="8503920" cy="987552"/>
          </a:xfrm>
          <a:prstGeom prst="rect">
            <a:avLst/>
          </a:prstGeom>
          <a:noFill/>
          <a:ln/>
        </p:spPr>
        <p:txBody>
          <a:bodyPr wrap="square" lIns="0" tIns="0" rIns="0" bIns="0" rtlCol="0" anchor="ctr"/>
          <a:lstStyle/>
          <a:p>
            <a:pPr marL="0" indent="0">
              <a:buNone/>
            </a:pPr>
            <a:r>
              <a:rPr lang="en-US" sz="1350" dirty="0">
                <a:solidFill>
                  <a:srgbClr val="20291F"/>
                </a:solidFill>
                <a:latin typeface="Calibri" pitchFamily="34" charset="0"/>
                <a:ea typeface="Calibri" pitchFamily="34" charset="-122"/>
                <a:cs typeface="Calibri" pitchFamily="34" charset="-120"/>
              </a:rPr>
              <a:t>Work through the deferred re-runs; resolve the one open tension between findings.</a:t>
            </a:r>
            <a:endParaRPr lang="en-US" sz="1350" dirty="0"/>
          </a:p>
        </p:txBody>
      </p:sp>
      <p:sp>
        <p:nvSpPr>
          <p:cNvPr id="10" name="Shape 8"/>
          <p:cNvSpPr/>
          <p:nvPr/>
        </p:nvSpPr>
        <p:spPr>
          <a:xfrm>
            <a:off x="502920" y="3849624"/>
            <a:ext cx="11155680" cy="987552"/>
          </a:xfrm>
          <a:prstGeom prst="roundRect">
            <a:avLst>
              <a:gd name="adj" fmla="val 7407"/>
            </a:avLst>
          </a:prstGeom>
          <a:solidFill>
            <a:srgbClr val="E4ECDE"/>
          </a:solidFill>
          <a:ln w="12700">
            <a:solidFill>
              <a:srgbClr val="D6E0D1"/>
            </a:solidFill>
            <a:prstDash val="solid"/>
          </a:ln>
        </p:spPr>
      </p:sp>
      <p:sp>
        <p:nvSpPr>
          <p:cNvPr id="11" name="Text 9"/>
          <p:cNvSpPr/>
          <p:nvPr/>
        </p:nvSpPr>
        <p:spPr>
          <a:xfrm>
            <a:off x="777240" y="3849624"/>
            <a:ext cx="2103120" cy="987552"/>
          </a:xfrm>
          <a:prstGeom prst="rect">
            <a:avLst/>
          </a:prstGeom>
          <a:noFill/>
          <a:ln/>
        </p:spPr>
        <p:txBody>
          <a:bodyPr wrap="square" lIns="0" tIns="0" rIns="0" bIns="0" rtlCol="0" anchor="ctr"/>
          <a:lstStyle/>
          <a:p>
            <a:pPr marL="0" indent="0">
              <a:buNone/>
            </a:pPr>
            <a:r>
              <a:rPr lang="en-US" sz="1500" b="1" dirty="0">
                <a:solidFill>
                  <a:srgbClr val="C1502E"/>
                </a:solidFill>
                <a:latin typeface="Cambria" pitchFamily="34" charset="0"/>
                <a:ea typeface="Cambria" pitchFamily="34" charset="-122"/>
                <a:cs typeface="Cambria" pitchFamily="34" charset="-120"/>
              </a:rPr>
              <a:t>Medium term</a:t>
            </a:r>
            <a:endParaRPr lang="en-US" sz="1500" dirty="0"/>
          </a:p>
        </p:txBody>
      </p:sp>
      <p:sp>
        <p:nvSpPr>
          <p:cNvPr id="12" name="Text 10"/>
          <p:cNvSpPr/>
          <p:nvPr/>
        </p:nvSpPr>
        <p:spPr>
          <a:xfrm>
            <a:off x="3017520" y="3849624"/>
            <a:ext cx="8503920" cy="987552"/>
          </a:xfrm>
          <a:prstGeom prst="rect">
            <a:avLst/>
          </a:prstGeom>
          <a:noFill/>
          <a:ln/>
        </p:spPr>
        <p:txBody>
          <a:bodyPr wrap="square" lIns="0" tIns="0" rIns="0" bIns="0" rtlCol="0" anchor="ctr"/>
          <a:lstStyle/>
          <a:p>
            <a:pPr marL="0" indent="0">
              <a:buNone/>
            </a:pPr>
            <a:r>
              <a:rPr lang="en-US" sz="1350" dirty="0">
                <a:solidFill>
                  <a:srgbClr val="20291F"/>
                </a:solidFill>
                <a:latin typeface="Calibri" pitchFamily="34" charset="0"/>
                <a:ea typeface="Calibri" pitchFamily="34" charset="-122"/>
                <a:cs typeface="Calibri" pitchFamily="34" charset="-120"/>
              </a:rPr>
              <a:t>Complete the full-capacity deep-learning comparison; confirm the dashboard's production credential.</a:t>
            </a:r>
            <a:endParaRPr lang="en-US" sz="1350" dirty="0"/>
          </a:p>
        </p:txBody>
      </p:sp>
      <p:sp>
        <p:nvSpPr>
          <p:cNvPr id="13" name="Shape 11"/>
          <p:cNvSpPr/>
          <p:nvPr/>
        </p:nvSpPr>
        <p:spPr>
          <a:xfrm>
            <a:off x="502920" y="5020056"/>
            <a:ext cx="11155680" cy="987552"/>
          </a:xfrm>
          <a:prstGeom prst="roundRect">
            <a:avLst>
              <a:gd name="adj" fmla="val 7407"/>
            </a:avLst>
          </a:prstGeom>
          <a:solidFill>
            <a:srgbClr val="E4ECDE"/>
          </a:solidFill>
          <a:ln w="12700">
            <a:solidFill>
              <a:srgbClr val="D6E0D1"/>
            </a:solidFill>
            <a:prstDash val="solid"/>
          </a:ln>
        </p:spPr>
      </p:sp>
      <p:sp>
        <p:nvSpPr>
          <p:cNvPr id="14" name="Text 12"/>
          <p:cNvSpPr/>
          <p:nvPr/>
        </p:nvSpPr>
        <p:spPr>
          <a:xfrm>
            <a:off x="777240" y="5020056"/>
            <a:ext cx="2103120" cy="987552"/>
          </a:xfrm>
          <a:prstGeom prst="rect">
            <a:avLst/>
          </a:prstGeom>
          <a:noFill/>
          <a:ln/>
        </p:spPr>
        <p:txBody>
          <a:bodyPr wrap="square" lIns="0" tIns="0" rIns="0" bIns="0" rtlCol="0" anchor="ctr"/>
          <a:lstStyle/>
          <a:p>
            <a:pPr marL="0" indent="0">
              <a:buNone/>
            </a:pPr>
            <a:r>
              <a:rPr lang="en-US" sz="1500" b="1" dirty="0">
                <a:solidFill>
                  <a:srgbClr val="C1502E"/>
                </a:solidFill>
                <a:latin typeface="Cambria" pitchFamily="34" charset="0"/>
                <a:ea typeface="Cambria" pitchFamily="34" charset="-122"/>
                <a:cs typeface="Cambria" pitchFamily="34" charset="-120"/>
              </a:rPr>
              <a:t>Ongoing</a:t>
            </a:r>
            <a:endParaRPr lang="en-US" sz="1500" dirty="0"/>
          </a:p>
        </p:txBody>
      </p:sp>
      <p:sp>
        <p:nvSpPr>
          <p:cNvPr id="15" name="Text 13"/>
          <p:cNvSpPr/>
          <p:nvPr/>
        </p:nvSpPr>
        <p:spPr>
          <a:xfrm>
            <a:off x="3017520" y="5020056"/>
            <a:ext cx="8503920" cy="987552"/>
          </a:xfrm>
          <a:prstGeom prst="rect">
            <a:avLst/>
          </a:prstGeom>
          <a:noFill/>
          <a:ln/>
        </p:spPr>
        <p:txBody>
          <a:bodyPr wrap="square" lIns="0" tIns="0" rIns="0" bIns="0" rtlCol="0" anchor="ctr"/>
          <a:lstStyle/>
          <a:p>
            <a:pPr marL="0" indent="0">
              <a:buNone/>
            </a:pPr>
            <a:r>
              <a:rPr lang="en-US" sz="1350" dirty="0">
                <a:solidFill>
                  <a:srgbClr val="20291F"/>
                </a:solidFill>
                <a:latin typeface="Calibri" pitchFamily="34" charset="0"/>
                <a:ea typeface="Calibri" pitchFamily="34" charset="-122"/>
                <a:cs typeface="Calibri" pitchFamily="34" charset="-120"/>
              </a:rPr>
              <a:t>Write the manuscript fresh, section by section, directly against the verified body of results.</a:t>
            </a:r>
            <a:endParaRPr lang="en-US" sz="1350" dirty="0"/>
          </a:p>
        </p:txBody>
      </p:sp>
      <p:sp>
        <p:nvSpPr>
          <p:cNvPr id="17" name="Text 14"/>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57"/>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18" name="Text 15"/>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5B6B5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311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11A"/>
          </a:solidFill>
          <a:ln/>
        </p:spPr>
      </p:sp>
      <p:sp>
        <p:nvSpPr>
          <p:cNvPr id="3" name="Text 1"/>
          <p:cNvSpPr/>
          <p:nvPr/>
        </p:nvSpPr>
        <p:spPr>
          <a:xfrm>
            <a:off x="731520" y="2468880"/>
            <a:ext cx="1069848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Shape 2"/>
          <p:cNvSpPr/>
          <p:nvPr/>
        </p:nvSpPr>
        <p:spPr>
          <a:xfrm>
            <a:off x="749808" y="3337560"/>
            <a:ext cx="2011680" cy="0"/>
          </a:xfrm>
          <a:prstGeom prst="line">
            <a:avLst/>
          </a:prstGeom>
          <a:noFill/>
          <a:ln w="38100">
            <a:solidFill>
              <a:srgbClr val="C1502E"/>
            </a:solidFill>
            <a:prstDash val="solid"/>
          </a:ln>
        </p:spPr>
      </p:sp>
      <p:sp>
        <p:nvSpPr>
          <p:cNvPr id="5" name="Text 3"/>
          <p:cNvSpPr/>
          <p:nvPr/>
        </p:nvSpPr>
        <p:spPr>
          <a:xfrm>
            <a:off x="731520" y="3520440"/>
            <a:ext cx="10698480" cy="548640"/>
          </a:xfrm>
          <a:prstGeom prst="rect">
            <a:avLst/>
          </a:prstGeom>
          <a:noFill/>
          <a:ln/>
        </p:spPr>
        <p:txBody>
          <a:bodyPr wrap="square" lIns="0" tIns="0" rIns="0" bIns="0" rtlCol="0" anchor="ctr"/>
          <a:lstStyle/>
          <a:p>
            <a:pPr marL="0" indent="0">
              <a:buNone/>
            </a:pPr>
            <a:r>
              <a:rPr lang="en-US" sz="1800" i="1" dirty="0">
                <a:solidFill>
                  <a:srgbClr val="7FA671"/>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731520" y="6126480"/>
            <a:ext cx="10698480" cy="365760"/>
          </a:xfrm>
          <a:prstGeom prst="rect">
            <a:avLst/>
          </a:prstGeom>
          <a:noFill/>
          <a:ln/>
        </p:spPr>
        <p:txBody>
          <a:bodyPr wrap="square" lIns="0" tIns="0" rIns="0" bIns="0" rtlCol="0" anchor="ctr"/>
          <a:lstStyle/>
          <a:p>
            <a:pPr marL="0" indent="0">
              <a:buNone/>
            </a:pPr>
            <a:r>
              <a:rPr lang="en-US" sz="1200" dirty="0">
                <a:solidFill>
                  <a:srgbClr val="7FA671"/>
                </a:solidFill>
                <a:latin typeface="Calibri" pitchFamily="34" charset="0"/>
                <a:ea typeface="Calibri" pitchFamily="34" charset="-122"/>
                <a:cs typeface="Calibri" pitchFamily="34" charset="-120"/>
              </a:rPr>
              <a:t>TOP Digital Twin  ·  Dr. Masroor  ·  SKUAST-Kashmir  ·  HADP-04 Digital Agriculture Initiative</a:t>
            </a:r>
            <a:endParaRPr lang="en-US" sz="1200" dirty="0"/>
          </a:p>
        </p:txBody>
      </p:sp>
      <p:sp>
        <p:nvSpPr>
          <p:cNvPr id="8" name="Text 5"/>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9DB89A"/>
                </a:solidFill>
                <a:latin typeface="Calibri" pitchFamily="34" charset="0"/>
                <a:ea typeface="Calibri" pitchFamily="34" charset="-122"/>
                <a:cs typeface="Calibri" pitchFamily="34" charset="-120"/>
              </a:rPr>
              <a:t>TOP Digital Twin  |  Tomato · Onion · Potato Price Forecasting &amp; Policy Analytics</a:t>
            </a:r>
            <a:endParaRPr lang="en-US" sz="900" dirty="0"/>
          </a:p>
        </p:txBody>
      </p:sp>
      <p:sp>
        <p:nvSpPr>
          <p:cNvPr id="9" name="Text 6"/>
          <p:cNvSpPr/>
          <p:nvPr/>
        </p:nvSpPr>
        <p:spPr>
          <a:xfrm>
            <a:off x="10789920" y="6547104"/>
            <a:ext cx="914400" cy="256032"/>
          </a:xfrm>
          <a:prstGeom prst="rect">
            <a:avLst/>
          </a:prstGeom>
          <a:noFill/>
          <a:ln/>
        </p:spPr>
        <p:txBody>
          <a:bodyPr wrap="square" rtlCol="0" anchor="ctr"/>
          <a:lstStyle/>
          <a:p>
            <a:pPr marL="0" indent="0" algn="r">
              <a:buNone/>
            </a:pPr>
            <a:r>
              <a:rPr lang="en-US" sz="900" dirty="0">
                <a:solidFill>
                  <a:srgbClr val="9DB89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3597</Words>
  <Application>Microsoft Office PowerPoint</Application>
  <PresentationFormat>Widescreen</PresentationFormat>
  <Paragraphs>273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SKUAST-K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Digital Twin — Progress Review</dc:title>
  <dc:subject>PptxGenJS Presentation</dc:subject>
  <dc:creator>Dr. Masroor</dc:creator>
  <cp:lastModifiedBy>Dar Masroor</cp:lastModifiedBy>
  <cp:revision>2</cp:revision>
  <dcterms:created xsi:type="dcterms:W3CDTF">2026-08-24T05:55:41Z</dcterms:created>
  <dcterms:modified xsi:type="dcterms:W3CDTF">2026-08-24T06:34:34Z</dcterms:modified>
</cp:coreProperties>
</file>