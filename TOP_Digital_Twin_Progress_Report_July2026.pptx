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75" d="100"/>
          <a:sy n="75" d="100"/>
        </p:scale>
        <p:origin x="946" y="1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503320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TITLE SLIDE</a:t>
            </a:r>
          </a:p>
          <a:p>
            <a:endParaRPr/>
          </a:p>
          <a:p>
            <a:r>
              <a:t>Open with a brief orientation. This is the HADP-04 progress report for the TOP Digital Twin project.</a:t>
            </a:r>
          </a:p>
          <a:p>
            <a:endParaRPr/>
          </a:p>
          <a:p>
            <a:r>
              <a:t>KEY TALKING POINTS:</a:t>
            </a:r>
          </a:p>
          <a:p>
            <a:r>
              <a:t>• We are building India's first weekly price-forecasting digital twin for tomato, onion, and potato — the three most volatile and economically significant vegetable crops.</a:t>
            </a:r>
          </a:p>
          <a:p>
            <a:r>
              <a:t>• The system integrates six data layers over nine years (2017–2025) covering 470 ISO weeks.</a:t>
            </a:r>
          </a:p>
          <a:p>
            <a:r>
              <a:t>• We have 2,495 qualifying APMC markets as our prediction panel — one of the largest market-panel studies ever assembled for Indian vegetables.</a:t>
            </a:r>
          </a:p>
          <a:p>
            <a:r>
              <a:t>• 16 Python scripts, 5 Google Earth Engine scripts, and 29 paper-ready figures have been generated.</a:t>
            </a:r>
          </a:p>
          <a:p>
            <a:r>
              <a:t>• Target: Q1 journal (Computers and Electronics in Agriculture or Agricultural Systems).</a:t>
            </a:r>
          </a:p>
          <a:p>
            <a:endParaRPr/>
          </a:p>
          <a:p>
            <a:r>
              <a:t>This presentation covers: the research problem, the 6-layer data architecture, the model design and early results, the ablation study framework (the paper's scientific contribution), and the path to submission.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 — The Research Problem</a:t>
            </a:r>
          </a:p>
          <a:p>
            <a:endParaRPr/>
          </a:p>
          <a:p>
            <a:r>
              <a:t>This slide motivates the entire project. Spend 2–3 minutes here.</a:t>
            </a:r>
          </a:p>
          <a:p>
            <a:endParaRPr/>
          </a:p>
          <a:p>
            <a:r>
              <a:t>KEY TALKING POINTS:</a:t>
            </a:r>
          </a:p>
          <a:p>
            <a:r>
              <a:t>• India's TOP crops are uniquely volatile because they are perishable (no long shelf life), regionally concentrated in production (a weather shock in Kolar affects all of India's tomato supply), and consumed nationally (a supply disruption in Maharashtra hits onion prices from Kashmir to Tamil Nadu).</a:t>
            </a:r>
          </a:p>
          <a:p>
            <a:r>
              <a:t>• The three crisis events listed (2019 onion, 2023 tomato, 2020 COVID) are real, documented policy failures of reactive management. These are the crisis backtest events our model will be validated against.</a:t>
            </a:r>
          </a:p>
          <a:p>
            <a:r>
              <a:t>• The opportunity: we now have 9 years of weekly APMC price data combined with satellite vegetation index time series and gridded climate data. No study has assembled this combination at this scale for India.</a:t>
            </a:r>
          </a:p>
          <a:p>
            <a:r>
              <a:t>• The output is not just a model — it's a digital twin that can run scenario stress tests: "what happens to tomato prices if Kolar receives 3 consecutive weeks of excess rainfall followed by a heat stress event?"</a:t>
            </a:r>
          </a:p>
          <a:p>
            <a:endParaRPr/>
          </a:p>
          <a:p>
            <a:r>
              <a:t>Pause for PI questions before advancing.</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3 — Project Architecture</a:t>
            </a:r>
          </a:p>
          <a:p>
            <a:endParaRPr/>
          </a:p>
          <a:p>
            <a:r>
              <a:t>This is the architectural overview slide. It shows the complete design of the digital twin.</a:t>
            </a:r>
          </a:p>
          <a:p>
            <a:endParaRPr/>
          </a:p>
          <a:p>
            <a:r>
              <a:t>KEY TALKING POINTS:</a:t>
            </a:r>
          </a:p>
          <a:p>
            <a:r>
              <a:t>LEFT SIDE — SIX DATA LAYERS:</a:t>
            </a:r>
          </a:p>
          <a:p>
            <a:r>
              <a:t>• Layers 1–4 (green) are complete with historical data. Layers 5–6 (amber/red) are the outstanding data collection tasks.</a:t>
            </a:r>
          </a:p>
          <a:p>
            <a:r>
              <a:t>• Note the asterisk on L2/L3: the satellite and climate data is complete for 2017–2024 (from our earlier GEE extraction). The 2025 topup requires running 5 new GEE scripts and is scheduled as the next immediate action.</a:t>
            </a:r>
          </a:p>
          <a:p>
            <a:r>
              <a:t>• Layer 5 (infrastructure) is the most challenging to obtain — cold storage capacity data requires coordination with NHB/WDRA; road density from MoRTH district-level data.</a:t>
            </a:r>
          </a:p>
          <a:p>
            <a:r>
              <a:t>• Layer 6 (policy/trade) — we have sent formal data request letters to IMD and NAFED. Policy events database (export bans, MEP orders) will be compiled from APEDA and Ministry of Agriculture records.</a:t>
            </a:r>
          </a:p>
          <a:p>
            <a:endParaRPr/>
          </a:p>
          <a:p>
            <a:r>
              <a:t>RIGHT SIDE — FOUR MODULES:</a:t>
            </a:r>
          </a:p>
          <a:p>
            <a:r>
              <a:t>• Modules A and B are running. Module A produces a weekly supply-risk score; Module B is the core price forecasting engine.</a:t>
            </a:r>
          </a:p>
          <a:p>
            <a:r>
              <a:t>• Modules C and D are designed and planned. Module C (market network) uses Granger causality to identify which markets lead price movements — this is important for understanding how shocks propagate.</a:t>
            </a:r>
          </a:p>
          <a:p>
            <a:r>
              <a:t>• Module D (stress testing) is the "digital twin" in the true sense — running hypothetical scenarios through the trained model.</a:t>
            </a:r>
          </a:p>
          <a:p>
            <a:endParaRPr/>
          </a:p>
          <a:p>
            <a:r>
              <a:t>The paper's scientific contribution centres on Module B's ablation study, which we will detail on a later slide.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4 — Study Design</a:t>
            </a:r>
          </a:p>
          <a:p>
            <a:endParaRPr/>
          </a:p>
          <a:p>
            <a:r>
              <a:t>This slide explains the statistical design of the project. Take time here as the PI will want to understand the validation framework.</a:t>
            </a:r>
          </a:p>
          <a:p>
            <a:endParaRPr/>
          </a:p>
          <a:p>
            <a:r>
              <a:t>KEY TALKING POINTS:</a:t>
            </a:r>
          </a:p>
          <a:p>
            <a:r>
              <a:t>• STUDY PERIOD: 2017-01-02 to 2025-12-29. We use ISO weeks (Monday-to-Sunday) as our time unit, giving 470 complete weeks.</a:t>
            </a:r>
          </a:p>
          <a:p>
            <a:endParaRPr/>
          </a:p>
          <a:p>
            <a:r>
              <a:t>• ROLLING-ORIGIN CROSS-VALIDATION: This is the gold standard for time series evaluation. We never let the model see future data. Each fold adds one year to the training set and evaluates on the next year.</a:t>
            </a:r>
          </a:p>
          <a:p>
            <a:r>
              <a:t>  - Fold 1: Train 2017–2021, Test 2022</a:t>
            </a:r>
          </a:p>
          <a:p>
            <a:r>
              <a:t>  - Fold 2: Train 2017–2022, Test 2023</a:t>
            </a:r>
          </a:p>
          <a:p>
            <a:r>
              <a:t>  - Fold 3: Train 2017–2023, Test 2024</a:t>
            </a:r>
          </a:p>
          <a:p>
            <a:r>
              <a:t>  - Fold 4: Train 2017–2024, Test 2025</a:t>
            </a:r>
          </a:p>
          <a:p>
            <a:r>
              <a:t>  This produces honest out-of-sample performance metrics for 4 different market conditions — including the 2022 post-COVID recovery, the 2023 tomato spike, and the 2024–2025 period.</a:t>
            </a:r>
          </a:p>
          <a:p>
            <a:endParaRPr/>
          </a:p>
          <a:p>
            <a:r>
              <a:t>• WEEKLY GRANULARITY DECISION: Daily data would give us ~3,300 time points, but daily price autocorrelation (lag-1 r ≈ 0.97) would bury the satellite and climate features. Weekly aggregation reduces this to ~0.82, giving other features room to contribute.</a:t>
            </a:r>
          </a:p>
          <a:p>
            <a:endParaRPr/>
          </a:p>
          <a:p>
            <a:r>
              <a:t>• FULL PANEL DECISION: We discussed retaining the full qualifying panel (2,495 markets) versus the PI Brief's suggested 20–30 strategic APMCs. We recommend keeping the full panel for the primary model — it provides better generalisation and a more robust training signal. The PI Brief's 20–30 markets can be highlighted in the results as a focused policy tool.</a:t>
            </a:r>
          </a:p>
          <a:p>
            <a:endParaRPr/>
          </a:p>
          <a:p>
            <a:r>
              <a:t>• FOUR FORECAST HORIZONS: 1 week (daily logistics), 2 weeks (procurement decisions), 4 weeks (storage decisions), 8 weeks (policy intervention lead time). Each is modelled and validated separately.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5 — Layer 1: Market Price Panel</a:t>
            </a:r>
          </a:p>
          <a:p>
            <a:endParaRPr/>
          </a:p>
          <a:p>
            <a:r>
              <a:t>This slide covers the core data asset — the Agmarknet weekly panel.</a:t>
            </a:r>
          </a:p>
          <a:p>
            <a:endParaRPr/>
          </a:p>
          <a:p>
            <a:r>
              <a:t>KEY TALKING POINTS:</a:t>
            </a:r>
          </a:p>
          <a:p>
            <a:r>
              <a:t>• Agmarknet collects daily arrival and price data from APMC (Agricultural Produce Market Committee) yards across India. We download this at crop level (tomato, onion, potato) and process it into a weekly panel.</a:t>
            </a:r>
          </a:p>
          <a:p>
            <a:r>
              <a:t>• The complete grid expansion is a critical step: before we assess coverage, we create a row for EVERY market for EVERY week. This makes gaps explicit rather than invisible.</a:t>
            </a:r>
          </a:p>
          <a:p>
            <a:r>
              <a:t>• THREE-TIER IMPUTATION: This is a novel design choice we can defend in the methods section. We do not use a single imputation strategy — instead we match the method to the severity of the gap:</a:t>
            </a:r>
          </a:p>
          <a:p>
            <a:r>
              <a:t>  - Short gaps (≤2 weeks): Linear is fine. A market that misses one or two weeks due to a holiday or local disruption will have prices bracketing the gap.</a:t>
            </a:r>
          </a:p>
          <a:p>
            <a:r>
              <a:t>  - Medium gaps (3–8 weeks): Seasonal median is more appropriate. A market that misses 4–6 weeks in the same period every year (common for some APMCs during the off-season) should be imputed from the same seasonal window, not linearly between a pre-season low and post-season high.</a:t>
            </a:r>
          </a:p>
          <a:p>
            <a:r>
              <a:t>  - Long gaps (&gt;8 weeks): These are disclosed as data gaps. We do not impute them. They reduce coverage below our 90% threshold and exclude the market from modelling, which is the scientifically honest decision.</a:t>
            </a:r>
          </a:p>
          <a:p>
            <a:r>
              <a:t>• The heatmap (right) shows market coverage across years — green cells are observed data, amber is imputed, grey/white is NaN. This becomes Figure 4 in the paper.</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6 — Market Coverage Results</a:t>
            </a:r>
          </a:p>
          <a:p>
            <a:endParaRPr/>
          </a:p>
          <a:p>
            <a:r>
              <a:t>This slide presents the scale of our market panel and defends the full-panel decision.</a:t>
            </a:r>
          </a:p>
          <a:p>
            <a:endParaRPr/>
          </a:p>
          <a:p>
            <a:r>
              <a:t>KEY TALKING POINTS:</a:t>
            </a:r>
          </a:p>
          <a:p>
            <a:r>
              <a:t>• SCALE: 2,495 markets is extraordinary for an Indian agricultural price study. Most published work uses 10–50 markets. We are building a national-scale model.</a:t>
            </a:r>
          </a:p>
          <a:p>
            <a:r>
              <a:t>• TOMATO (1,567 markets, 29 states): The largest sub-panel. Tomato is traded in almost every state of India, and our coverage reflects this. Karnataka (Kolar belt), Maharashtra, Andhra Pradesh are the dominant production states, but consumption markets span the full country.</a:t>
            </a:r>
          </a:p>
          <a:p>
            <a:r>
              <a:t>• ONION (843 markets, 22 states): Maharashtra (Nashik, Lasalgaon) dominates production; markets in the north and east are consumption centres that often show very different price dynamics from production centres.</a:t>
            </a:r>
          </a:p>
          <a:p>
            <a:r>
              <a:t>• POTATO (85 markets, 2 states): This is the most concentrated panel — Uttar Pradesh and West Bengal account for ~70% of India's potato production, so 85 markets from these two states is actually comprehensive for the production-zone model.</a:t>
            </a:r>
          </a:p>
          <a:p>
            <a:r>
              <a:t>• THE PANEL SIZE DECISION: The PI Brief suggested 20–30 strategic APMCs. We have retained the full panel for two reasons: (1) LightGBM benefits enormously from larger training data for cross-market feature learning; (2) we can still highlight findings for the 20–30 most important markets in the paper's results section. The full panel is the training database; the strategic markets are the showcase.</a:t>
            </a:r>
          </a:p>
          <a:p>
            <a:r>
              <a:t>• NOTE: The combined top_weekly_panel.csv (107 MB) exceeds GitHub's 100 MB file size limit and is excluded from version control via .gitignore. The processing scripts are in the repo; the data is stored locally.</a:t>
            </a:r>
          </a:p>
          <a:p>
            <a:endParaRPr/>
          </a:p>
          <a:p>
            <a:r>
              <a:t>Five paper-ready figures were generated in Script 11: data architecture diagram, coverage distribution, state-wise market counts, coverage heatmap, and panel timeline.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7 — Layer 4: Macro-Logistics</a:t>
            </a:r>
          </a:p>
          <a:p>
            <a:endParaRPr/>
          </a:p>
          <a:p>
            <a:r>
              <a:t>This slide covers the economic/logistics data layer.</a:t>
            </a:r>
          </a:p>
          <a:p>
            <a:endParaRPr/>
          </a:p>
          <a:p>
            <a:r>
              <a:t>KEY TALKING POINTS:</a:t>
            </a:r>
          </a:p>
          <a:p>
            <a:r>
              <a:t>• FOUR DATA SOURCES: CMIE Prowess (commercial database), PPAC (Petroleum Planning and Analysis Cell), RBI DBIE (Reserve Bank of India Data Base on Indian Economy). All are authoritative government or quasi-government sources.</a:t>
            </a:r>
          </a:p>
          <a:p>
            <a:r>
              <a:t>• FUEL PRICES (PPAC): Diesel cost directly affects agricultural transport — higher diesel prices mean higher arrivals cost at APMCs. LPG affects cold chain operations. We use the non-subsidised LPG series because the subsidised household cylinder series ended in 2021 when DBTL (Direct Benefit Transfer for LPG) was discontinued.</a:t>
            </a:r>
          </a:p>
          <a:p>
            <a:r>
              <a:t>• REPO RATE: The RBI repo rate affects agricultural credit costs and input financing. The COVID rate cuts (March-May 2020) and the subsequent tightening cycle (2022–2023) are captured. This feature is expected to have a lagged effect on production decisions.</a:t>
            </a:r>
          </a:p>
          <a:p>
            <a:r>
              <a:t>• CROP-SPECIFIC WPI (KEY DESIGN CHOICE): Rather than using the general WPI, we have the commodity-specific price indices for tomato, onion, and potato separately. This is important because the WPI for vegetables often diverges sharply from the WPI for individual crops during shock events. Using crop-specific WPI means our macro layer already contains a price-level signal that may help the model distinguish structural inflation from transient supply shocks.</a:t>
            </a:r>
          </a:p>
          <a:p>
            <a:r>
              <a:t>• USD/INR EXCHANGE RATE: Relevant for onion and potato exports. India is the world's largest onion exporter; the exchange rate affects export competitiveness and therefore domestic supply availability. The 2025 depreciation to 87.14 Rs/USD is captured.</a:t>
            </a:r>
          </a:p>
          <a:p>
            <a:endParaRPr/>
          </a:p>
          <a:p>
            <a:r>
              <a:t>All series have 108 months (January 2017 to December 2025) with no gaps.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8 — Satellite &amp; Climate Framework</a:t>
            </a:r>
          </a:p>
          <a:p>
            <a:endParaRPr/>
          </a:p>
          <a:p>
            <a:r>
              <a:t>This slide explains the conceptual design of the satellite and climate data layer.</a:t>
            </a:r>
          </a:p>
          <a:p>
            <a:endParaRPr/>
          </a:p>
          <a:p>
            <a:r>
              <a:t>KEY TALKING POINTS:</a:t>
            </a:r>
          </a:p>
          <a:p>
            <a:r>
              <a:t>• WHY ZONES NOT MARKETS: This is an important methodological point. APMC markets are typically in or near urban centres — often surrounded by concrete, roads, and buildings. A satellite looking at a market yard will see impervious surfaces, not crops. We need to look at where the crops are GROWN, not where they are SOLD.</a:t>
            </a:r>
          </a:p>
          <a:p>
            <a:r>
              <a:t>• 30 km BUFFER: The 30 km radius around each production-zone centroid captures the cultivation landscape surrounding the anchor APMC market. For a market like Lasalgaon (the world's largest onion market), this buffer includes the surrounding onion-growing districts of Nashik.</a:t>
            </a:r>
          </a:p>
          <a:p>
            <a:r>
              <a:t>• 17 ZONES: Five tomato, eight onion (O4/O5 are absent from the zone design), four potato. These cover all major production regions for each crop.</a:t>
            </a:r>
          </a:p>
          <a:p>
            <a:r>
              <a:t>• FIVE DATA SOURCES: We deliberately use multiple complementary sources:</a:t>
            </a:r>
          </a:p>
          <a:p>
            <a:r>
              <a:t>  - ERA5-Land: gridded climate (temperature, heat stress) — very important for understanding thermal stress during flowering and bulbing stages</a:t>
            </a:r>
          </a:p>
          <a:p>
            <a:r>
              <a:t>  - CHIRPS: rainfall — excess rainfall during harvest disrupts field operations and post-harvest handling</a:t>
            </a:r>
          </a:p>
          <a:p>
            <a:r>
              <a:t>  - Sentinel-2: high-resolution (10m) optical vegetation index — best for detecting early stress at field scale</a:t>
            </a:r>
          </a:p>
          <a:p>
            <a:r>
              <a:t>  - MODIS NDVI: lower resolution but longer archive and better cloud penetration in monsoon months</a:t>
            </a:r>
          </a:p>
          <a:p>
            <a:r>
              <a:t>  - MODIS LST: land surface temperature from thermal infrared — direct measurement of surface heat stress</a:t>
            </a:r>
          </a:p>
          <a:p>
            <a:endParaRPr/>
          </a:p>
          <a:p>
            <a:r>
              <a:t>• 18 FEATURES: Across the five sources, we extract 18 features per zone per week after temporal aggregation and imputation.</a:t>
            </a:r>
          </a:p>
          <a:p>
            <a:endParaRPr/>
          </a:p>
          <a:p>
            <a:r>
              <a:t>The GEE scripts (gee_01 through gee_05) export one CSV per zone per script = 85 CSV files total to Google Drive.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9 — GEE Pipeline</a:t>
            </a:r>
          </a:p>
          <a:p>
            <a:endParaRPr/>
          </a:p>
          <a:p>
            <a:r>
              <a:t>This slide covers the technical implementation of satellite and climate data extraction.</a:t>
            </a:r>
          </a:p>
          <a:p>
            <a:endParaRPr/>
          </a:p>
          <a:p>
            <a:r>
              <a:t>KEY TALKING POINTS:</a:t>
            </a:r>
          </a:p>
          <a:p>
            <a:r>
              <a:t>• FIVE SCRIPTS IN THE GEE CODE EDITOR: Each script is ~150–160 lines of JavaScript and handles one data source. When run, each script queues 17 export tasks (one per zone) in the GEE Tasks panel.</a:t>
            </a:r>
          </a:p>
          <a:p>
            <a:r>
              <a:t>• 85 CSV EXPORTS: 5 scripts × 17 zones = 85 files. Each goes to the Google Drive folder "TOP_Digital_Twin_GEE_2025". These cover the 2025 topup period (January–December 2025). The 2017–2024 historical data was extracted in an earlier GEE session.</a:t>
            </a:r>
          </a:p>
          <a:p>
            <a:r>
              <a:t>• WHY MULTIPLE SENSORS: ERA5 is a reanalysis product (modelled, spatially complete, no cloud gaps) — it gives us reliable temperature data for every day. CHIRPS is also gap-free. Sentinel-2 and MODIS are optical and can be clouded in the monsoon season — this is why we have both: MODIS has better cloud penetration (due to more frequent revisit) while Sentinel-2 gives higher spatial resolution during clear periods.</a:t>
            </a:r>
          </a:p>
          <a:p>
            <a:r>
              <a:t>• NDVI ANOMALY: This is the most important derived feature. Instead of raw NDVI, we compute the deviation from the same-week-of-year historical mean (2017–2023 baseline). A negative anomaly means the current crop is below its historical norm — a supply-stress signal. This removes the strong seasonal cycle from the vegetation index, leaving the inter-annual variation that drives price surprises.</a:t>
            </a:r>
          </a:p>
          <a:p>
            <a:r>
              <a:t>• SCRIPT 14 (Python, 650 lines): Reads all raw GEE CSVs from both the historical folders and the GEE_2025 topup folders, aligns to ISO weeks, applies three-tier imputation, computes derived features (DTR, NDVI anomaly, heat-stress day counts), and outputs three files: zone_weekly_features.csv, crop_weekly_features.csv, and market_zone_features.csv.</a:t>
            </a:r>
          </a:p>
          <a:p>
            <a:endParaRPr/>
          </a:p>
          <a:p>
            <a:r>
              <a:t>IMPORTANT PENDING ACTION: The 2025 GEE scripts must still be run. This is the next immediate action item for Dr. Masroor.</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10 — Zone Assignment</a:t>
            </a:r>
          </a:p>
          <a:p>
            <a:endParaRPr/>
          </a:p>
          <a:p>
            <a:r>
              <a:t>This slide presents the results of Script 16 — the geographic market-to-zone matching exercise.</a:t>
            </a:r>
          </a:p>
          <a:p>
            <a:endParaRPr/>
          </a:p>
          <a:p>
            <a:r>
              <a:t>KEY TALKING POINTS:</a:t>
            </a:r>
          </a:p>
          <a:p>
            <a:r>
              <a:t>• WHAT WE DID: We geocoded every APMC market in our panel (2,607 unique markets identified across the three crop panels) using the Nominatim/OpenStreetMap geocoding API. No commercial APIs required — the script uses pure Python urllib with a 1.1-second rate limit to respect OSM's usage policy.</a:t>
            </a:r>
          </a:p>
          <a:p>
            <a:r>
              <a:t>• RESOLUTION: 94% of markets were resolved to district centroid. 6% fell back to state centroid (mostly for markets in smaller states or union territories where OSM district data is incomplete). Only 9 markets (0.3%) completely failed geocoding — these were assigned the state centroid as a last resort.</a:t>
            </a:r>
          </a:p>
          <a:p>
            <a:r>
              <a:t>• THE NUMBERS: Mean distance to assigned zone is 590 km overall. The 75th percentile is 944 km. This means one quarter of all markets in our panel are over 944 km from their nearest same-crop production zone.</a:t>
            </a:r>
          </a:p>
          <a:p>
            <a:r>
              <a:t>• WHAT THE MAP SHOWS: The map (right) visualises each market as a point coloured by its assigned zone. Notice how the onion assignment in particular shows large geographic jumps — North Indian onion markets are assigned to Maharashtra or Gujarat zones (the closest available) even though they are 1,000+ km away.</a:t>
            </a:r>
          </a:p>
          <a:p>
            <a:r>
              <a:t>• KEY INSIGHT: This analysis was crucial. It revealed that for onion markets in Bihar, Jharkhand, and Northeast India, the "nearest zone" assignment is geographically and logistically meaningless — a market in Guwahati (Assam) assigned to O9_Kurnool (Andhra Pradesh) at 1,800 km distance does not receive its onion supply from Kurnool.</a:t>
            </a:r>
          </a:p>
          <a:p>
            <a:r>
              <a:t>• This finding directly motivated the choice of crop-average join (next slide) as the primary modelling approach.</a:t>
            </a:r>
          </a:p>
          <a:p>
            <a:endParaRPr/>
          </a:p>
          <a:p>
            <a:r>
              <a:t>Outputs: data/zone_assignment.csv (313 KB), data/geocode_cache.json (42 KB, speeds up future runs), and three diagnostic figures.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11 — Join Strategy Decision</a:t>
            </a:r>
          </a:p>
          <a:p>
            <a:endParaRPr/>
          </a:p>
          <a:p>
            <a:r>
              <a:t>This is one of the most important methodological decisions in the project. Spend time here.</a:t>
            </a:r>
          </a:p>
          <a:p>
            <a:endParaRPr/>
          </a:p>
          <a:p>
            <a:r>
              <a:t>KEY TALKING POINTS:</a:t>
            </a:r>
          </a:p>
          <a:p>
            <a:r>
              <a:t>• THE QUESTION: When we bring satellite and climate data into the model, should we join each market to its nearest production zone (market-specific signal), or should we use the crop average across all zones (national signal)?</a:t>
            </a:r>
          </a:p>
          <a:p>
            <a:r>
              <a:t>• WHY THIS MATTERS: The join strategy determines what causal story the model is telling. A nearest-zone join says "this market's price depends on what's happening in the fields nearest to it." A crop-average join says "this market's price depends on the overall national supply condition for this crop."</a:t>
            </a:r>
          </a:p>
          <a:p>
            <a:r>
              <a:t>• THE EVIDENCE FROM SCRIPT 16: The zone assignment analysis revealed that 25% of our markets are over 944 km from their nearest zone. For onion in North India, the average is 1,084 km. These distances are far beyond any direct logistical supply relationship.</a:t>
            </a:r>
          </a:p>
          <a:p>
            <a:r>
              <a:t>• THE ECONOMIC ARGUMENT: India's TOP commodity markets function as an integrated national price system. A supply shock in Kolar (tomato, Karnataka) creates price effects in Himachal Pradesh, Rajasthan, and West Bengal within 1–2 weeks because national trader networks arbitrage across regions. This national price transmission is what we want our satellite features to capture.</a:t>
            </a:r>
          </a:p>
          <a:p>
            <a:r>
              <a:t>• NEAREST-ZONE PROBLEMS: At 1,000+ km, assigning a North Indian market's climate signal to a Karnataka zone produces spurious correlations. The Karnataka climate might influence Karnataka market prices well, but it is misleading for markets that source from different regions.</a:t>
            </a:r>
          </a:p>
          <a:p>
            <a:r>
              <a:t>• CONFIRMED DECISION: crop_weekly_features.csv (crop × week_start) is the primary join. This is a defensible, evidence-based choice. The market_zone_features.csv (nearest-zone join) is retained as a robustness check and will be reported in supplementary material.</a:t>
            </a:r>
          </a:p>
          <a:p>
            <a:r>
              <a:t>• JOURNAL FRAMING: We can frame this as a methodological contribution — the first study to explicitly test and justify zone-averaging versus local-zone assignment for satellite-market integration in Indian vegetable price forecasting.</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12 — Module B: Forecasting Model</a:t>
            </a:r>
          </a:p>
          <a:p>
            <a:endParaRPr/>
          </a:p>
          <a:p>
            <a:r>
              <a:t>This slide covers the core forecasting engine.</a:t>
            </a:r>
          </a:p>
          <a:p>
            <a:endParaRPr/>
          </a:p>
          <a:p>
            <a:r>
              <a:t>KEY TALKING POINTS:</a:t>
            </a:r>
          </a:p>
          <a:p>
            <a:r>
              <a:t>• WHY LIGHTGBM: LightGBM is the most widely validated algorithm for agricultural price forecasting with tabular time-series data. It handles mixed data types, missing values natively, and is computationally efficient for our panel size (1.17M rows). It also produces SHAP (SHapley Additive exPlanations) values that give interpretable feature attribution — this is important for the paper's analysis and for policy communication.</a:t>
            </a:r>
          </a:p>
          <a:p>
            <a:r>
              <a:t>• MODELLING DECISION — LOG-PRICE TARGET: Agricultural prices are right-skewed — there are occasional extreme spikes (tomato at ₹200/kg) but the distribution is non-normal. Taking log(price + 1) normalises the distribution and improves model fit. We back-transform predictions to get RMSE and MAPE in original Rs/quintal units for paper reporting.</a:t>
            </a:r>
          </a:p>
          <a:p>
            <a:r>
              <a:t>• FOUR HORIZONS: We deliberately model four forecast horizons because different stakeholders need different lead times. Traders need 1–2 week forecasts. Procurement officers need 4-week forecasts. Policymakers (NAFED intervention timing, export ban decisions) need 8-week foresight.</a:t>
            </a:r>
          </a:p>
          <a:p>
            <a:r>
              <a:t>• SPIKE CLASSIFIER: Separate binary classifier (price &gt; 1.5× rolling median = spike). This is evaluated with ROC-AUC, which is appropriate for the class imbalance (spikes are rare events). The spike classifier is the most policy-relevant output — it's the "early warning" component.</a:t>
            </a:r>
          </a:p>
          <a:p>
            <a:r>
              <a:t>• SHAP ANALYSIS (right figure): The SHAP plot shows which features drive price predictions. Expected pattern: price lags (lag_1, lag_8) dominate at short horizons; satellite/climate features gain importance at longer horizons as past prices become less informative about future supply conditions. If we see NDVI_anomaly or heat_days_35 in the top 10 features, that is a strong result for the paper.</a:t>
            </a:r>
          </a:p>
          <a:p>
            <a:endParaRPr/>
          </a:p>
          <a:p>
            <a:r>
              <a:t>ROLLING-ORIGIN CV (right): The RMSE plot across 4 folds shows model stability over time. Fold 4 (test year 2025) includes the most recent data and is the most important for practical application.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13 — Benchmarks and Performance</a:t>
            </a:r>
          </a:p>
          <a:p>
            <a:endParaRPr/>
          </a:p>
          <a:p>
            <a:r>
              <a:t>This slide covers the baseline models that the LightGBM must beat.</a:t>
            </a:r>
          </a:p>
          <a:p>
            <a:endParaRPr/>
          </a:p>
          <a:p>
            <a:r>
              <a:t>KEY TALKING POINTS:</a:t>
            </a:r>
          </a:p>
          <a:p>
            <a:r>
              <a:t>• FOUR BENCHMARKS: We use an increasingly sophisticated set of baselines. B0 (Naïve) is the absolute floor — if our model can't beat "last week's price," it's useless. B3 (ARIMA) is the standard econometric benchmark used in most published agricultural price forecasting papers.</a:t>
            </a:r>
          </a:p>
          <a:p>
            <a:r>
              <a:t>• WHY ARIMA AS THE CEILING BENCHMARK: ARIMA is widely used in the Indian agricultural economics literature (dozens of published studies). Beating ARIMA across all crops, horizons, and folds is a necessary condition for the paper's contribution claim.</a:t>
            </a:r>
          </a:p>
          <a:p>
            <a:r>
              <a:t>• EXPECTED RESULTS PATTERN:</a:t>
            </a:r>
          </a:p>
          <a:p>
            <a:r>
              <a:t>  - At h=1 week: all models will do reasonably well because prices are autocorrelated. ARIMA should be competitive.</a:t>
            </a:r>
          </a:p>
          <a:p>
            <a:r>
              <a:t>  - At h=8 weeks: naïve and MA will deteriorate. LightGBM with satellite features should show increasing advantage.</a:t>
            </a:r>
          </a:p>
          <a:p>
            <a:r>
              <a:t>  - This is the key story: satellite and climate features matter more at longer forecast horizons.</a:t>
            </a:r>
          </a:p>
          <a:p>
            <a:r>
              <a:t>• SKILL SCORE: The Skill Score (1 − LightGBM_RMSE / Naïve_RMSE) is the most reader-friendly metric. A Skill Score of 0.25 means the model is 25% better than the simplest possible forecast. A Skill Score of 0.0 means no improvement. Negative means worse than naïve.</a:t>
            </a:r>
          </a:p>
          <a:p>
            <a:r>
              <a:t>• SPIKE CLASSIFIER ROC-AUC: The spike detection performance is the most directly policy-relevant result. A ROC-AUC of 0.75+ (vs. 0.50 random chance) means the model can give early warning of price spikes with useful lead time.</a:t>
            </a:r>
          </a:p>
          <a:p>
            <a:endParaRPr/>
          </a:p>
          <a:p>
            <a:r>
              <a:t>Note for PI: The actual numerical results are being finalised as we complete the 4-fold CV with the full 2025 data (pending GEE topup). The paper will report these numbers in a formal performance comparison table.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14 — Ablation Study (THE KEY SLIDE)</a:t>
            </a:r>
          </a:p>
          <a:p>
            <a:endParaRPr/>
          </a:p>
          <a:p>
            <a:r>
              <a:t>This is the most important slide in the deck. This is what the paper IS about.</a:t>
            </a:r>
          </a:p>
          <a:p>
            <a:endParaRPr/>
          </a:p>
          <a:p>
            <a:r>
              <a:t>KEY TALKING POINTS:</a:t>
            </a:r>
          </a:p>
          <a:p>
            <a:r>
              <a:t>• THE ABLATION DESIGN: We add one data layer at a time and measure the change in forecasting accuracy (MAPE, R²) at each step. This produces a clean causal argument: "Adding satellite vegetation data reduced MAPE by X% at the 8-week horizon."</a:t>
            </a:r>
          </a:p>
          <a:p>
            <a:r>
              <a:t>• WHY THIS IS THE PAPER: Other studies use either market data alone, or add a single satellite feature, or test macro effects. No published study has systematically compared ALL these layers together in a controlled ablation. That is our unique scientific contribution.</a:t>
            </a:r>
          </a:p>
          <a:p>
            <a:r>
              <a:t>• M0 (BASELINE): Price lags and seasonality only. This is the minimum-information model. It answers: "how much can you forecast from history alone?" Expected MAPE at h=1 week: 8–12%. At h=8 weeks: 18–25%.</a:t>
            </a:r>
          </a:p>
          <a:p>
            <a:r>
              <a:t>• M1 (+ MARKET FE): Adding market identity (fixed effects) should reduce prediction error by capturing structural price level differences across markets and states.</a:t>
            </a:r>
          </a:p>
          <a:p>
            <a:r>
              <a:t>• M2 (+ MACRO): Adding diesel costs, repo rate, WPI, and USD/INR tests whether economic conditions help. Expected small but significant improvement, especially at longer horizons.</a:t>
            </a:r>
          </a:p>
          <a:p>
            <a:r>
              <a:t>• M3 (+ SATELLITE): Adding NDVI anomaly and EVI is the critical test. If crop health observed from space (6–8 weeks before harvest) improves 8-week price forecasts, we have demonstrated that satellite data is valuable for commodity price intelligence.</a:t>
            </a:r>
          </a:p>
          <a:p>
            <a:r>
              <a:t>• M4 (+ CLIMATE): Heat stress days and excess rainfall proxy the yield-reducing events that drive price spikes. Expected to show the most improvement at h=8 week horizon during summer months (tomato heat stress) and monsoon (onion harvest disruption).</a:t>
            </a:r>
          </a:p>
          <a:p>
            <a:r>
              <a:t>• M5 and M6 are planned but blocked on data collection. The paper will report M0–M4 as the primary contribution and M5–M6 as future work.</a:t>
            </a:r>
          </a:p>
          <a:p>
            <a:r>
              <a:t>• CURRENT STATUS: M0–M3 are running (Script 15, 607 lines built). M4 results will be finalised once the 2025 GEE topup data is incorporated. M5 and M6 are pending data collection.</a:t>
            </a:r>
          </a:p>
          <a:p>
            <a:endParaRPr/>
          </a:p>
          <a:p>
            <a:r>
              <a:t>JOURNAL FRAMING: The ablation table is Table 3 in the paper — the centrepiece results table. Each row is one model variant; each column is one crop-horizon combination. The marginal MAPE improvement per row is the paper's main finding.</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15 — Code and Infrastructure</a:t>
            </a:r>
          </a:p>
          <a:p>
            <a:endParaRPr/>
          </a:p>
          <a:p>
            <a:r>
              <a:t>This slide shows the technical foundation of the project.</a:t>
            </a:r>
          </a:p>
          <a:p>
            <a:endParaRPr/>
          </a:p>
          <a:p>
            <a:r>
              <a:t>KEY TALKING POINTS:</a:t>
            </a:r>
          </a:p>
          <a:p>
            <a:r>
              <a:t>• 16 PYTHON SCRIPTS: Each script handles one layer or module of the pipeline. They are designed to run sequentially (09 → 10 → 11 → 14 → 15 → 16) with well-defined input/output files. Running the full pipeline from raw data to model output takes approximately 45–60 minutes on a standard laptop.</a:t>
            </a:r>
          </a:p>
          <a:p>
            <a:r>
              <a:t>• SCRIPT 14 (largest, 650 lines): This is the workhorse — reads all GEE CSVs from both the historical folders and the 2025 topup folders, applies three-tier imputation, computes derived features, and joins everything to the market panel. It produces the three key output files used in modelling.</a:t>
            </a:r>
          </a:p>
          <a:p>
            <a:r>
              <a:t>• SCRIPT 15 (607 lines): The ablation study script runs all model variants (M0–M4), evaluates each against all benchmarks across 4 folds and 4 horizons, and produces the ablation table and figures.</a:t>
            </a:r>
          </a:p>
          <a:p>
            <a:r>
              <a:t>• GITHUB REPO: The full codebase is version-controlled at github.com/masroor01/TOP-Digital-Twin. The large weekly panel file (107 MB) is excluded from the repo via .gitignore — this is disclosed in the data availability statement of the paper.</a:t>
            </a:r>
          </a:p>
          <a:p>
            <a:r>
              <a:t>• NOTE ON REPRODUCIBILITY: The GEE scripts allow any researcher with a GEE account to re-extract the same satellite and climate data. The Agmarknet panel can be reconstructed from the Agmarknet portal using the provided date range and crop selections. The geocode cache is included in the repo so the zone assignment can be reproduced without re-calling the API.</a:t>
            </a:r>
          </a:p>
          <a:p>
            <a:endParaRPr/>
          </a:p>
          <a:p>
            <a:r>
              <a:t>For PI: Total code base is approximately 4,200 lines of Python and 800 lines of JavaScript. All scripts are documented with docstrings, input/output specifications, and parameter comments.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16 — Status Dashboard</a:t>
            </a:r>
          </a:p>
          <a:p>
            <a:endParaRPr/>
          </a:p>
          <a:p>
            <a:r>
              <a:t>This slide gives a one-page overview of where the project stands.</a:t>
            </a:r>
          </a:p>
          <a:p>
            <a:endParaRPr/>
          </a:p>
          <a:p>
            <a:r>
              <a:t>KEY TALKING POINTS:</a:t>
            </a:r>
          </a:p>
          <a:p>
            <a:r>
              <a:t>• WHAT'S COMPLETE (100%): The four core data layers (market prices, satellite 2017–2024, climate 2017–2024, macro-logistics) are fully built and verified. The modelling scripts are written and running.</a:t>
            </a:r>
          </a:p>
          <a:p>
            <a:r>
              <a:t>• WHAT'S IN PROGRESS:</a:t>
            </a:r>
          </a:p>
          <a:p>
            <a:r>
              <a:t>  - The 2025 satellite/climate topup (GEE scripts written, pending execution — this is the next action item)</a:t>
            </a:r>
          </a:p>
          <a:p>
            <a:r>
              <a:t>  - Layer 6 policy data (letters to NAFED and IMD sent; awaiting response; policy events database requires 2–3 weeks of manual research from APEDA and MoA records)</a:t>
            </a:r>
          </a:p>
          <a:p>
            <a:r>
              <a:t>  - Ablation study M0–M4 (at 70%: results available for M0–M3; M4 will be updated once 2025 GEE data is incorporated)</a:t>
            </a:r>
          </a:p>
          <a:p>
            <a:r>
              <a:t>• WHAT'S BLOCKED: Layer 5 (infrastructure data — NHB, WDRA), Ablation M5/M6 (depends on L5/L6), crisis backtesting (needs final model to be stable).</a:t>
            </a:r>
          </a:p>
          <a:p>
            <a:r>
              <a:t>• WHAT HASN'T STARTED: Module C (market network), Module D (stress testing), crisis backtesting, and the manuscript draft.</a:t>
            </a:r>
          </a:p>
          <a:p>
            <a:r>
              <a:t>• TIMELINE IMPLICATION: The critical path runs through:</a:t>
            </a:r>
          </a:p>
          <a:p>
            <a:r>
              <a:t>  1. GEE 2025 topup (this week)</a:t>
            </a:r>
          </a:p>
          <a:p>
            <a:r>
              <a:t>  2. Layer 5-6 data collection (2–3 weeks)</a:t>
            </a:r>
          </a:p>
          <a:p>
            <a:r>
              <a:t>  3. Complete ablation M0–M4 (1 week after GEE topup)</a:t>
            </a:r>
          </a:p>
          <a:p>
            <a:r>
              <a:t>  4. Modules C and D (2–3 weeks)</a:t>
            </a:r>
          </a:p>
          <a:p>
            <a:r>
              <a:t>  5. Manuscript draft (3–4 weeks)</a:t>
            </a:r>
          </a:p>
          <a:p>
            <a:endParaRPr/>
          </a:p>
          <a:p>
            <a:r>
              <a:t>For PI: We need a decision on how to handle the Layer 5 and 6 data gaps for the submission timeline. Options: (a) submit with M0–M4 ablation and disclose M5/M6 as future work; (b) wait for L5/L6 data and include M5–M6. Recommend option (a) for Q1 submission timeline.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17 — Pending Actions</a:t>
            </a:r>
          </a:p>
          <a:p>
            <a:endParaRPr/>
          </a:p>
          <a:p>
            <a:r>
              <a:t>This is the action plan slide. Use it to get clear PI guidance on priorities.</a:t>
            </a:r>
          </a:p>
          <a:p>
            <a:endParaRPr/>
          </a:p>
          <a:p>
            <a:r>
              <a:t>KEY TALKING POINTS:</a:t>
            </a:r>
          </a:p>
          <a:p>
            <a:r>
              <a:t>• IMMEDIATE PRIORITY — GEE 2025 TOPUP: The five GEE scripts are written and ready to run. Dr. Masroor can do this from any browser with a GEE account. This takes approximately 2 hours (5 × 20 minutes waiting for exports plus download time). This is THE most important next step because it unlocks the final fold of the CV (test year 2025) and completes the 470-week panel.</a:t>
            </a:r>
          </a:p>
          <a:p>
            <a:r>
              <a:t>• LAYER 6 DATA (POLICY/TRADE): This is the most time-sensitive data gap because it requires waiting for institutional responses (IMD, NAFED). However, much of the policy events data can be compiled manually from:</a:t>
            </a:r>
          </a:p>
          <a:p>
            <a:r>
              <a:t>  - Export ban notifications: Ministry of Commerce DGFT website (searchable by HS code for onion/tomato/potato)</a:t>
            </a:r>
          </a:p>
          <a:p>
            <a:r>
              <a:t>  - MEP orders: APEDA circular archive</a:t>
            </a:r>
          </a:p>
          <a:p>
            <a:r>
              <a:t>  - NAFED intervention: NAFED annual reports (available on website)</a:t>
            </a:r>
          </a:p>
          <a:p>
            <a:r>
              <a:t>  Estimated 2 weeks of part-time research to compile 2017–2025.</a:t>
            </a:r>
          </a:p>
          <a:p>
            <a:r>
              <a:t>• LAYER 5 DATA (INFRASTRUCTURE): Less urgent than L6. Cold storage data can be obtained from NHB (National Horticulture Board) state-level reports. Road connectivity from the PMGSY (Pradhan Mantri Gram Sadak Yojana) monitoring portal.</a:t>
            </a:r>
          </a:p>
          <a:p>
            <a:r>
              <a:t>• THE CRITICAL DECISION: Can we submit without M5 and M6? YES — the paper's contribution is the ablation M0–M4 + crisis backtesting + market network analysis. M5 and M6 add depth but are not essential. Most comparable papers in CELA and Agricultural Systems use 3–4 data layers. Our 4-layer ablation (M0–M4) with the satellite + climate contribution is sufficient for Q1.</a:t>
            </a:r>
          </a:p>
          <a:p>
            <a:r>
              <a:t>• RECOMMEND: Submit with M0–M4. Disclose M5/M6 as "future extensions" in Section 5 (Discussion/Conclusion). This protects the submission timeline.</a:t>
            </a:r>
          </a:p>
          <a:p>
            <a:endParaRPr/>
          </a:p>
          <a:p>
            <a:r>
              <a:t>ACTION REQUIRED FROM PI: Decision on M5/M6 inclusion vs. timeline.</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18 — Timeline to Submission</a:t>
            </a:r>
          </a:p>
          <a:p>
            <a:endParaRPr/>
          </a:p>
          <a:p>
            <a:r>
              <a:t>Close with this timeline slide. It shows the path from where we are now to manuscript submission.</a:t>
            </a:r>
          </a:p>
          <a:p>
            <a:endParaRPr/>
          </a:p>
          <a:p>
            <a:r>
              <a:t>KEY TALKING POINTS:</a:t>
            </a:r>
          </a:p>
          <a:p>
            <a:r>
              <a:t>• OVERALL ESTIMATE: 13–14 weeks from today (July 2026) to submission. This puts the submission date at October–November 2026.</a:t>
            </a:r>
          </a:p>
          <a:p>
            <a:r>
              <a:t>• CRITICAL PATH ITEMS:</a:t>
            </a:r>
          </a:p>
          <a:p>
            <a:r>
              <a:t>  - Week 1: GEE 2025 topup (Dr. Masroor, ~2 hours of active work)</a:t>
            </a:r>
          </a:p>
          <a:p>
            <a:r>
              <a:t>  - Weeks 1–2: Layer 6 policy data compilation (most time-intensive manual task)</a:t>
            </a:r>
          </a:p>
          <a:p>
            <a:r>
              <a:t>  - Weeks 2–3: Complete ablation M0–M4 with 2025 fold</a:t>
            </a:r>
          </a:p>
          <a:p>
            <a:r>
              <a:t>  - Weeks 8–11: Manuscript writing (the longest single phase)</a:t>
            </a:r>
          </a:p>
          <a:p>
            <a:r>
              <a:t>• IF M5/M6 ARE INCLUDED: Add 2–3 weeks for data integration and modelling. Pushes submission to December 2026–January 2027.</a:t>
            </a:r>
          </a:p>
          <a:p>
            <a:r>
              <a:t>• IF M5/M6 ARE EXCLUDED: Submit October/November 2026 with M0–M4 ablation. This is the recommended path for a Q1 journal.</a:t>
            </a:r>
          </a:p>
          <a:p>
            <a:r>
              <a:t>• JOURNAL SELECTION:</a:t>
            </a:r>
          </a:p>
          <a:p>
            <a:r>
              <a:t>  - PRIMARY: Computers and Electronics in Agriculture (Impact Factor ~8.1, Elsevier, Q1 in Agricultural Engineering)</a:t>
            </a:r>
          </a:p>
          <a:p>
            <a:r>
              <a:t>  - SECONDARY: Agricultural Systems (IF ~6.8, Elsevier, Q1)</a:t>
            </a:r>
          </a:p>
          <a:p>
            <a:r>
              <a:t>  - TERTIARY: Computers and Agrifood (newer, lower IF but faster review)</a:t>
            </a:r>
          </a:p>
          <a:p>
            <a:r>
              <a:t>  - Both primary targets have standard review times of 6–9 months post-submission. A submission in October 2026 could expect a decision in April–July 2027.</a:t>
            </a:r>
          </a:p>
          <a:p>
            <a:endParaRPr/>
          </a:p>
          <a:p>
            <a:r>
              <a:t>FINAL MESSAGE TO PI:</a:t>
            </a:r>
          </a:p>
          <a:p>
            <a:r>
              <a:t>The foundation is strong. We have assembled an unprecedented 9-year, 470-week dataset integrating satellite imagery, climate data, and market prices for 2,495 APMC markets across India. The modelling pipeline is operational. The ablation framework — which IS the paper — is designed and partially complete. With the GEE 2025 topup and Layer 6 policy data, we will be in a position to write a full, submission-ready manuscript within 12 weeks.</a:t>
            </a:r>
          </a:p>
          <a:p>
            <a:endParaRPr/>
          </a:p>
          <a:p>
            <a:r>
              <a:t>Thank you for your continued support. We look forward to your guidance on the M5/M6 decision and submission strategy.</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3474720" cy="6858000"/>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474720" y="3182112"/>
            <a:ext cx="8714232" cy="54864"/>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28600" y="640080"/>
            <a:ext cx="3017520" cy="411480"/>
          </a:xfrm>
          <a:prstGeom prst="rect">
            <a:avLst/>
          </a:prstGeom>
          <a:noFill/>
        </p:spPr>
        <p:txBody>
          <a:bodyPr wrap="square">
            <a:spAutoFit/>
          </a:bodyPr>
          <a:lstStyle/>
          <a:p>
            <a:pPr algn="l"/>
            <a:r>
              <a:rPr sz="1000" b="1" i="0">
                <a:solidFill>
                  <a:srgbClr val="E8A020"/>
                </a:solidFill>
                <a:latin typeface="Calibri"/>
              </a:rPr>
              <a:t>PROGRESS REPORT</a:t>
            </a:r>
          </a:p>
        </p:txBody>
      </p:sp>
      <p:sp>
        <p:nvSpPr>
          <p:cNvPr id="6" name="TextBox 5"/>
          <p:cNvSpPr txBox="1"/>
          <p:nvPr/>
        </p:nvSpPr>
        <p:spPr>
          <a:xfrm>
            <a:off x="228600" y="1051560"/>
            <a:ext cx="3017520" cy="3840480"/>
          </a:xfrm>
          <a:prstGeom prst="rect">
            <a:avLst/>
          </a:prstGeom>
          <a:noFill/>
        </p:spPr>
        <p:txBody>
          <a:bodyPr wrap="square">
            <a:spAutoFit/>
          </a:bodyPr>
          <a:lstStyle/>
          <a:p>
            <a:pPr algn="l"/>
            <a:r>
              <a:rPr sz="4400" b="1" i="0">
                <a:solidFill>
                  <a:srgbClr val="FFFFFF"/>
                </a:solidFill>
                <a:latin typeface="Calibri"/>
              </a:rPr>
              <a:t>TOP
Digital
Twin</a:t>
            </a:r>
          </a:p>
        </p:txBody>
      </p:sp>
      <p:sp>
        <p:nvSpPr>
          <p:cNvPr id="7" name="Rectangle 6"/>
          <p:cNvSpPr/>
          <p:nvPr/>
        </p:nvSpPr>
        <p:spPr>
          <a:xfrm>
            <a:off x="201168" y="5577840"/>
            <a:ext cx="960120" cy="274320"/>
          </a:xfrm>
          <a:prstGeom prst="rect">
            <a:avLst/>
          </a:prstGeom>
          <a:solidFill>
            <a:srgbClr val="FFB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37744" y="5596128"/>
            <a:ext cx="914400" cy="237744"/>
          </a:xfrm>
          <a:prstGeom prst="rect">
            <a:avLst/>
          </a:prstGeom>
          <a:noFill/>
        </p:spPr>
        <p:txBody>
          <a:bodyPr wrap="square">
            <a:spAutoFit/>
          </a:bodyPr>
          <a:lstStyle/>
          <a:p>
            <a:pPr algn="ctr"/>
            <a:r>
              <a:rPr sz="800" b="1" i="0">
                <a:solidFill>
                  <a:srgbClr val="1A2E1E"/>
                </a:solidFill>
                <a:latin typeface="Calibri"/>
              </a:rPr>
              <a:t>TOMATO</a:t>
            </a:r>
          </a:p>
        </p:txBody>
      </p:sp>
      <p:sp>
        <p:nvSpPr>
          <p:cNvPr id="9" name="Rectangle 8"/>
          <p:cNvSpPr/>
          <p:nvPr/>
        </p:nvSpPr>
        <p:spPr>
          <a:xfrm>
            <a:off x="1252728" y="5577840"/>
            <a:ext cx="960120" cy="274320"/>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289304" y="5596128"/>
            <a:ext cx="914400" cy="237744"/>
          </a:xfrm>
          <a:prstGeom prst="rect">
            <a:avLst/>
          </a:prstGeom>
          <a:noFill/>
        </p:spPr>
        <p:txBody>
          <a:bodyPr wrap="square">
            <a:spAutoFit/>
          </a:bodyPr>
          <a:lstStyle/>
          <a:p>
            <a:pPr algn="ctr"/>
            <a:r>
              <a:rPr sz="800" b="1" i="0">
                <a:solidFill>
                  <a:srgbClr val="1A2E1E"/>
                </a:solidFill>
                <a:latin typeface="Calibri"/>
              </a:rPr>
              <a:t>ONION</a:t>
            </a:r>
          </a:p>
        </p:txBody>
      </p:sp>
      <p:sp>
        <p:nvSpPr>
          <p:cNvPr id="11" name="Rectangle 10"/>
          <p:cNvSpPr/>
          <p:nvPr/>
        </p:nvSpPr>
        <p:spPr>
          <a:xfrm>
            <a:off x="2304288" y="5577840"/>
            <a:ext cx="960120" cy="274320"/>
          </a:xfrm>
          <a:prstGeom prst="rect">
            <a:avLst/>
          </a:prstGeom>
          <a:solidFill>
            <a:srgbClr val="90C8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340864" y="5596128"/>
            <a:ext cx="914400" cy="237744"/>
          </a:xfrm>
          <a:prstGeom prst="rect">
            <a:avLst/>
          </a:prstGeom>
          <a:noFill/>
        </p:spPr>
        <p:txBody>
          <a:bodyPr wrap="square">
            <a:spAutoFit/>
          </a:bodyPr>
          <a:lstStyle/>
          <a:p>
            <a:pPr algn="ctr"/>
            <a:r>
              <a:rPr sz="800" b="1" i="0">
                <a:solidFill>
                  <a:srgbClr val="1A2E1E"/>
                </a:solidFill>
                <a:latin typeface="Calibri"/>
              </a:rPr>
              <a:t>POTATO</a:t>
            </a:r>
          </a:p>
        </p:txBody>
      </p:sp>
      <p:sp>
        <p:nvSpPr>
          <p:cNvPr id="13" name="TextBox 12"/>
          <p:cNvSpPr txBox="1"/>
          <p:nvPr/>
        </p:nvSpPr>
        <p:spPr>
          <a:xfrm>
            <a:off x="3749039" y="548640"/>
            <a:ext cx="8229600" cy="777240"/>
          </a:xfrm>
          <a:prstGeom prst="rect">
            <a:avLst/>
          </a:prstGeom>
          <a:noFill/>
        </p:spPr>
        <p:txBody>
          <a:bodyPr wrap="square">
            <a:spAutoFit/>
          </a:bodyPr>
          <a:lstStyle/>
          <a:p>
            <a:pPr algn="l"/>
            <a:r>
              <a:rPr sz="1900" b="0" i="0">
                <a:solidFill>
                  <a:srgbClr val="C8DDD0"/>
                </a:solidFill>
                <a:latin typeface="Calibri"/>
              </a:rPr>
              <a:t>A Price-Forecasting Digital Twin
for India's Agricultural Commodity Markets</a:t>
            </a:r>
          </a:p>
        </p:txBody>
      </p:sp>
      <p:sp>
        <p:nvSpPr>
          <p:cNvPr id="14" name="TextBox 13"/>
          <p:cNvSpPr txBox="1"/>
          <p:nvPr/>
        </p:nvSpPr>
        <p:spPr>
          <a:xfrm>
            <a:off x="3749039" y="1463040"/>
            <a:ext cx="8229600" cy="384048"/>
          </a:xfrm>
          <a:prstGeom prst="rect">
            <a:avLst/>
          </a:prstGeom>
          <a:noFill/>
        </p:spPr>
        <p:txBody>
          <a:bodyPr wrap="square">
            <a:spAutoFit/>
          </a:bodyPr>
          <a:lstStyle/>
          <a:p>
            <a:pPr algn="l"/>
            <a:r>
              <a:rPr sz="1300" b="0" i="1">
                <a:solidFill>
                  <a:srgbClr val="5A6A60"/>
                </a:solidFill>
                <a:latin typeface="Calibri"/>
              </a:rPr>
              <a:t>Integrating Satellite Imagery  ·  Climate Stress  ·  Market Price Dynamics</a:t>
            </a:r>
          </a:p>
        </p:txBody>
      </p:sp>
      <p:sp>
        <p:nvSpPr>
          <p:cNvPr id="15" name="Rectangle 14"/>
          <p:cNvSpPr/>
          <p:nvPr/>
        </p:nvSpPr>
        <p:spPr>
          <a:xfrm>
            <a:off x="3749039" y="2057400"/>
            <a:ext cx="8229600" cy="22860"/>
          </a:xfrm>
          <a:prstGeom prst="rect">
            <a:avLst/>
          </a:prstGeom>
          <a:solidFill>
            <a:srgbClr val="2A4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749039" y="2240280"/>
            <a:ext cx="8229600" cy="365760"/>
          </a:xfrm>
          <a:prstGeom prst="rect">
            <a:avLst/>
          </a:prstGeom>
          <a:noFill/>
        </p:spPr>
        <p:txBody>
          <a:bodyPr wrap="square">
            <a:spAutoFit/>
          </a:bodyPr>
          <a:lstStyle/>
          <a:p>
            <a:pPr algn="l"/>
            <a:r>
              <a:rPr sz="1300" b="1" i="0">
                <a:solidFill>
                  <a:srgbClr val="FFFFFF"/>
                </a:solidFill>
                <a:latin typeface="Calibri"/>
              </a:rPr>
              <a:t>Principal Investigator Review  —  HADP-04</a:t>
            </a:r>
          </a:p>
        </p:txBody>
      </p:sp>
      <p:sp>
        <p:nvSpPr>
          <p:cNvPr id="17" name="TextBox 16"/>
          <p:cNvSpPr txBox="1"/>
          <p:nvPr/>
        </p:nvSpPr>
        <p:spPr>
          <a:xfrm>
            <a:off x="3749039" y="2651760"/>
            <a:ext cx="8229600" cy="320040"/>
          </a:xfrm>
          <a:prstGeom prst="rect">
            <a:avLst/>
          </a:prstGeom>
          <a:noFill/>
        </p:spPr>
        <p:txBody>
          <a:bodyPr wrap="square">
            <a:spAutoFit/>
          </a:bodyPr>
          <a:lstStyle/>
          <a:p>
            <a:pPr algn="l"/>
            <a:r>
              <a:rPr sz="1200" b="0" i="0">
                <a:solidFill>
                  <a:srgbClr val="5A6A60"/>
                </a:solidFill>
                <a:latin typeface="Calibri"/>
              </a:rPr>
              <a:t>Dr. Masroor  ·  SKUAST-K  ·  July 2026</a:t>
            </a:r>
          </a:p>
        </p:txBody>
      </p:sp>
      <p:sp>
        <p:nvSpPr>
          <p:cNvPr id="18" name="Rectangle 17"/>
          <p:cNvSpPr/>
          <p:nvPr/>
        </p:nvSpPr>
        <p:spPr>
          <a:xfrm>
            <a:off x="3749039" y="3429000"/>
            <a:ext cx="1920240" cy="1051560"/>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749039" y="3534156"/>
            <a:ext cx="1920240" cy="546811"/>
          </a:xfrm>
          <a:prstGeom prst="rect">
            <a:avLst/>
          </a:prstGeom>
          <a:noFill/>
        </p:spPr>
        <p:txBody>
          <a:bodyPr wrap="square">
            <a:spAutoFit/>
          </a:bodyPr>
          <a:lstStyle/>
          <a:p>
            <a:pPr algn="ctr"/>
            <a:r>
              <a:rPr sz="2600" b="1" i="0">
                <a:solidFill>
                  <a:srgbClr val="FFFFFF"/>
                </a:solidFill>
                <a:latin typeface="Calibri"/>
              </a:rPr>
              <a:t>470</a:t>
            </a:r>
          </a:p>
        </p:txBody>
      </p:sp>
      <p:sp>
        <p:nvSpPr>
          <p:cNvPr id="20" name="TextBox 19"/>
          <p:cNvSpPr txBox="1"/>
          <p:nvPr/>
        </p:nvSpPr>
        <p:spPr>
          <a:xfrm>
            <a:off x="3794759" y="4080967"/>
            <a:ext cx="1828800" cy="368046"/>
          </a:xfrm>
          <a:prstGeom prst="rect">
            <a:avLst/>
          </a:prstGeom>
          <a:noFill/>
        </p:spPr>
        <p:txBody>
          <a:bodyPr wrap="square">
            <a:spAutoFit/>
          </a:bodyPr>
          <a:lstStyle/>
          <a:p>
            <a:pPr algn="ctr"/>
            <a:r>
              <a:rPr sz="900" b="0" i="0">
                <a:solidFill>
                  <a:srgbClr val="FFFFFF"/>
                </a:solidFill>
                <a:latin typeface="Calibri"/>
              </a:rPr>
              <a:t>ISO Weeks
2017–2025</a:t>
            </a:r>
          </a:p>
        </p:txBody>
      </p:sp>
      <p:sp>
        <p:nvSpPr>
          <p:cNvPr id="21" name="Rectangle 20"/>
          <p:cNvSpPr/>
          <p:nvPr/>
        </p:nvSpPr>
        <p:spPr>
          <a:xfrm>
            <a:off x="5852159" y="3429000"/>
            <a:ext cx="1920240" cy="1051560"/>
          </a:xfrm>
          <a:prstGeom prst="rect">
            <a:avLst/>
          </a:prstGeom>
          <a:solidFill>
            <a:srgbClr val="1435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852159" y="3534156"/>
            <a:ext cx="1920240" cy="546811"/>
          </a:xfrm>
          <a:prstGeom prst="rect">
            <a:avLst/>
          </a:prstGeom>
          <a:noFill/>
        </p:spPr>
        <p:txBody>
          <a:bodyPr wrap="square">
            <a:spAutoFit/>
          </a:bodyPr>
          <a:lstStyle/>
          <a:p>
            <a:pPr algn="ctr"/>
            <a:r>
              <a:rPr sz="2600" b="1" i="0">
                <a:solidFill>
                  <a:srgbClr val="FFFFFF"/>
                </a:solidFill>
                <a:latin typeface="Calibri"/>
              </a:rPr>
              <a:t>2,495</a:t>
            </a:r>
          </a:p>
        </p:txBody>
      </p:sp>
      <p:sp>
        <p:nvSpPr>
          <p:cNvPr id="23" name="TextBox 22"/>
          <p:cNvSpPr txBox="1"/>
          <p:nvPr/>
        </p:nvSpPr>
        <p:spPr>
          <a:xfrm>
            <a:off x="5897879" y="4080967"/>
            <a:ext cx="1828800" cy="368046"/>
          </a:xfrm>
          <a:prstGeom prst="rect">
            <a:avLst/>
          </a:prstGeom>
          <a:noFill/>
        </p:spPr>
        <p:txBody>
          <a:bodyPr wrap="square">
            <a:spAutoFit/>
          </a:bodyPr>
          <a:lstStyle/>
          <a:p>
            <a:pPr algn="ctr"/>
            <a:r>
              <a:rPr sz="900" b="0" i="0">
                <a:solidFill>
                  <a:srgbClr val="FFFFFF"/>
                </a:solidFill>
                <a:latin typeface="Calibri"/>
              </a:rPr>
              <a:t>APMC Markets
3 Crops</a:t>
            </a:r>
          </a:p>
        </p:txBody>
      </p:sp>
      <p:sp>
        <p:nvSpPr>
          <p:cNvPr id="24" name="Rectangle 23"/>
          <p:cNvSpPr/>
          <p:nvPr/>
        </p:nvSpPr>
        <p:spPr>
          <a:xfrm>
            <a:off x="7955279" y="3429000"/>
            <a:ext cx="1920240" cy="1051560"/>
          </a:xfrm>
          <a:prstGeom prst="rect">
            <a:avLst/>
          </a:prstGeom>
          <a:solidFill>
            <a:srgbClr val="0B4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955279" y="3534156"/>
            <a:ext cx="1920240" cy="546811"/>
          </a:xfrm>
          <a:prstGeom prst="rect">
            <a:avLst/>
          </a:prstGeom>
          <a:noFill/>
        </p:spPr>
        <p:txBody>
          <a:bodyPr wrap="square">
            <a:spAutoFit/>
          </a:bodyPr>
          <a:lstStyle/>
          <a:p>
            <a:pPr algn="ctr"/>
            <a:r>
              <a:rPr sz="2600" b="1" i="0">
                <a:solidFill>
                  <a:srgbClr val="FFFFFF"/>
                </a:solidFill>
                <a:latin typeface="Calibri"/>
              </a:rPr>
              <a:t>16</a:t>
            </a:r>
          </a:p>
        </p:txBody>
      </p:sp>
      <p:sp>
        <p:nvSpPr>
          <p:cNvPr id="26" name="TextBox 25"/>
          <p:cNvSpPr txBox="1"/>
          <p:nvPr/>
        </p:nvSpPr>
        <p:spPr>
          <a:xfrm>
            <a:off x="8001000" y="4080967"/>
            <a:ext cx="1828800" cy="368046"/>
          </a:xfrm>
          <a:prstGeom prst="rect">
            <a:avLst/>
          </a:prstGeom>
          <a:noFill/>
        </p:spPr>
        <p:txBody>
          <a:bodyPr wrap="square">
            <a:spAutoFit/>
          </a:bodyPr>
          <a:lstStyle/>
          <a:p>
            <a:pPr algn="ctr"/>
            <a:r>
              <a:rPr sz="900" b="0" i="0">
                <a:solidFill>
                  <a:srgbClr val="FFFFFF"/>
                </a:solidFill>
                <a:latin typeface="Calibri"/>
              </a:rPr>
              <a:t>Python Scripts
Built</a:t>
            </a:r>
          </a:p>
        </p:txBody>
      </p:sp>
      <p:sp>
        <p:nvSpPr>
          <p:cNvPr id="27" name="Rectangle 26"/>
          <p:cNvSpPr/>
          <p:nvPr/>
        </p:nvSpPr>
        <p:spPr>
          <a:xfrm>
            <a:off x="10058400" y="3429000"/>
            <a:ext cx="1920240" cy="1051560"/>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058400" y="3534156"/>
            <a:ext cx="1920240" cy="546811"/>
          </a:xfrm>
          <a:prstGeom prst="rect">
            <a:avLst/>
          </a:prstGeom>
          <a:noFill/>
        </p:spPr>
        <p:txBody>
          <a:bodyPr wrap="square">
            <a:spAutoFit/>
          </a:bodyPr>
          <a:lstStyle/>
          <a:p>
            <a:pPr algn="ctr"/>
            <a:r>
              <a:rPr sz="2600" b="1" i="0">
                <a:solidFill>
                  <a:srgbClr val="FFFFFF"/>
                </a:solidFill>
                <a:latin typeface="Calibri"/>
              </a:rPr>
              <a:t>29</a:t>
            </a:r>
          </a:p>
        </p:txBody>
      </p:sp>
      <p:sp>
        <p:nvSpPr>
          <p:cNvPr id="29" name="TextBox 28"/>
          <p:cNvSpPr txBox="1"/>
          <p:nvPr/>
        </p:nvSpPr>
        <p:spPr>
          <a:xfrm>
            <a:off x="10104120" y="4080967"/>
            <a:ext cx="1828800" cy="368046"/>
          </a:xfrm>
          <a:prstGeom prst="rect">
            <a:avLst/>
          </a:prstGeom>
          <a:noFill/>
        </p:spPr>
        <p:txBody>
          <a:bodyPr wrap="square">
            <a:spAutoFit/>
          </a:bodyPr>
          <a:lstStyle/>
          <a:p>
            <a:pPr algn="ctr"/>
            <a:r>
              <a:rPr sz="900" b="0" i="0">
                <a:solidFill>
                  <a:srgbClr val="FFFFFF"/>
                </a:solidFill>
                <a:latin typeface="Calibri"/>
              </a:rPr>
              <a:t>Paper Figures
Generated</a:t>
            </a:r>
          </a:p>
        </p:txBody>
      </p:sp>
      <p:sp>
        <p:nvSpPr>
          <p:cNvPr id="30" name="TextBox 29"/>
          <p:cNvSpPr txBox="1"/>
          <p:nvPr/>
        </p:nvSpPr>
        <p:spPr>
          <a:xfrm>
            <a:off x="3749039" y="4681728"/>
            <a:ext cx="8229600" cy="384048"/>
          </a:xfrm>
          <a:prstGeom prst="rect">
            <a:avLst/>
          </a:prstGeom>
          <a:noFill/>
        </p:spPr>
        <p:txBody>
          <a:bodyPr wrap="square">
            <a:spAutoFit/>
          </a:bodyPr>
          <a:lstStyle/>
          <a:p>
            <a:pPr algn="l"/>
            <a:r>
              <a:rPr sz="1100" b="0" i="1">
                <a:solidFill>
                  <a:srgbClr val="5A6A60"/>
                </a:solidFill>
                <a:latin typeface="Calibri"/>
              </a:rPr>
              <a:t>Target Journal:  Computers and Electronics in Agriculture  ·  Agricultural Systems  (Q1)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64008" cy="6858000"/>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 y="0"/>
            <a:ext cx="12124944" cy="960120"/>
          </a:xfrm>
          <a:prstGeom prst="rect">
            <a:avLst/>
          </a:prstGeom>
          <a:solidFill>
            <a:srgbClr val="0D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4008" y="960120"/>
            <a:ext cx="12124944" cy="32004"/>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 y="64008"/>
            <a:ext cx="11704320" cy="475488"/>
          </a:xfrm>
          <a:prstGeom prst="rect">
            <a:avLst/>
          </a:prstGeom>
          <a:noFill/>
        </p:spPr>
        <p:txBody>
          <a:bodyPr wrap="square">
            <a:spAutoFit/>
          </a:bodyPr>
          <a:lstStyle/>
          <a:p>
            <a:pPr algn="l"/>
            <a:r>
              <a:rPr sz="2100" b="1" i="0">
                <a:solidFill>
                  <a:srgbClr val="FFFFFF"/>
                </a:solidFill>
                <a:latin typeface="Calibri"/>
              </a:rPr>
              <a:t>The Research Problem</a:t>
            </a:r>
          </a:p>
        </p:txBody>
      </p:sp>
      <p:sp>
        <p:nvSpPr>
          <p:cNvPr id="6" name="TextBox 5"/>
          <p:cNvSpPr txBox="1"/>
          <p:nvPr/>
        </p:nvSpPr>
        <p:spPr>
          <a:xfrm>
            <a:off x="201168" y="548640"/>
            <a:ext cx="11704320" cy="365760"/>
          </a:xfrm>
          <a:prstGeom prst="rect">
            <a:avLst/>
          </a:prstGeom>
          <a:noFill/>
        </p:spPr>
        <p:txBody>
          <a:bodyPr wrap="square">
            <a:spAutoFit/>
          </a:bodyPr>
          <a:lstStyle/>
          <a:p>
            <a:pPr algn="l"/>
            <a:r>
              <a:rPr sz="1300" b="0" i="1">
                <a:solidFill>
                  <a:srgbClr val="C8DDD0"/>
                </a:solidFill>
                <a:latin typeface="Calibri"/>
              </a:rPr>
              <a:t>Why India's TOP crop prices demand a data-driven forecasting solution</a:t>
            </a:r>
          </a:p>
        </p:txBody>
      </p:sp>
      <p:sp>
        <p:nvSpPr>
          <p:cNvPr id="7" name="Rectangle 6"/>
          <p:cNvSpPr/>
          <p:nvPr/>
        </p:nvSpPr>
        <p:spPr>
          <a:xfrm>
            <a:off x="0" y="6565392"/>
            <a:ext cx="12188952" cy="292608"/>
          </a:xfrm>
          <a:prstGeom prst="rect">
            <a:avLst/>
          </a:prstGeom>
          <a:solidFill>
            <a:srgbClr val="0D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01168" y="6583680"/>
            <a:ext cx="7315200" cy="237744"/>
          </a:xfrm>
          <a:prstGeom prst="rect">
            <a:avLst/>
          </a:prstGeom>
          <a:noFill/>
        </p:spPr>
        <p:txBody>
          <a:bodyPr wrap="square">
            <a:spAutoFit/>
          </a:bodyPr>
          <a:lstStyle/>
          <a:p>
            <a:pPr algn="l"/>
            <a:r>
              <a:rPr sz="850" b="0" i="0">
                <a:solidFill>
                  <a:srgbClr val="C8DDD0"/>
                </a:solidFill>
                <a:latin typeface="Calibri"/>
              </a:rPr>
              <a:t>TOP Digital Twin  ·  SKUAST-K  ·  HADP-04  ·  July 2026</a:t>
            </a:r>
          </a:p>
        </p:txBody>
      </p:sp>
      <p:sp>
        <p:nvSpPr>
          <p:cNvPr id="9" name="TextBox 8"/>
          <p:cNvSpPr txBox="1"/>
          <p:nvPr/>
        </p:nvSpPr>
        <p:spPr>
          <a:xfrm>
            <a:off x="7589520" y="6583680"/>
            <a:ext cx="4389120" cy="237744"/>
          </a:xfrm>
          <a:prstGeom prst="rect">
            <a:avLst/>
          </a:prstGeom>
          <a:noFill/>
        </p:spPr>
        <p:txBody>
          <a:bodyPr wrap="square">
            <a:spAutoFit/>
          </a:bodyPr>
          <a:lstStyle/>
          <a:p>
            <a:pPr algn="r"/>
            <a:r>
              <a:rPr sz="850" b="0" i="0">
                <a:solidFill>
                  <a:srgbClr val="C8DDD0"/>
                </a:solidFill>
                <a:latin typeface="Calibri"/>
              </a:rPr>
              <a:t>CONFIDENTIAL — PI REVIEW</a:t>
            </a:r>
          </a:p>
        </p:txBody>
      </p:sp>
      <p:sp>
        <p:nvSpPr>
          <p:cNvPr id="10" name="Rectangle 9"/>
          <p:cNvSpPr/>
          <p:nvPr/>
        </p:nvSpPr>
        <p:spPr>
          <a:xfrm>
            <a:off x="182880" y="1097280"/>
            <a:ext cx="5577840" cy="5303520"/>
          </a:xfrm>
          <a:prstGeom prst="rect">
            <a:avLst/>
          </a:prstGeom>
          <a:solidFill>
            <a:srgbClr val="F0F6F3"/>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20040" y="1188720"/>
            <a:ext cx="5303520" cy="347472"/>
          </a:xfrm>
          <a:prstGeom prst="rect">
            <a:avLst/>
          </a:prstGeom>
          <a:noFill/>
        </p:spPr>
        <p:txBody>
          <a:bodyPr wrap="square">
            <a:spAutoFit/>
          </a:bodyPr>
          <a:lstStyle/>
          <a:p>
            <a:pPr algn="l"/>
            <a:r>
              <a:rPr sz="1100" b="1" i="0">
                <a:solidFill>
                  <a:srgbClr val="1E6B45"/>
                </a:solidFill>
                <a:latin typeface="Calibri"/>
              </a:rPr>
              <a:t>THE VOLATILITY PROBLEM</a:t>
            </a:r>
          </a:p>
        </p:txBody>
      </p:sp>
      <p:sp>
        <p:nvSpPr>
          <p:cNvPr id="12" name="TextBox 11"/>
          <p:cNvSpPr txBox="1"/>
          <p:nvPr/>
        </p:nvSpPr>
        <p:spPr>
          <a:xfrm>
            <a:off x="320040" y="1572768"/>
            <a:ext cx="5303520" cy="3291840"/>
          </a:xfrm>
          <a:prstGeom prst="rect">
            <a:avLst/>
          </a:prstGeom>
          <a:noFill/>
        </p:spPr>
        <p:txBody>
          <a:bodyPr wrap="square">
            <a:spAutoFit/>
          </a:bodyPr>
          <a:lstStyle/>
          <a:p>
            <a:pPr>
              <a:spcBef>
                <a:spcPts val="600"/>
              </a:spcBef>
            </a:pPr>
            <a:r>
              <a:rPr sz="1150">
                <a:solidFill>
                  <a:srgbClr val="1A2E1E"/>
                </a:solidFill>
                <a:latin typeface="Calibri"/>
              </a:rPr>
              <a:t>▸  India produces ~175 MT vegetables annually; TOP crops account for ~27% of total output and an even larger share of farm income volatility.</a:t>
            </a:r>
          </a:p>
          <a:p>
            <a:pPr>
              <a:spcBef>
                <a:spcPts val="600"/>
              </a:spcBef>
            </a:pPr>
            <a:r>
              <a:rPr sz="1150">
                <a:solidFill>
                  <a:srgbClr val="1A2E1E"/>
                </a:solidFill>
                <a:latin typeface="Calibri"/>
              </a:rPr>
              <a:t>▸  Tomato prices can swing ±400% within a single season — from ₹2/kg at harvest to ₹120/kg at peak scarcity.</a:t>
            </a:r>
          </a:p>
          <a:p>
            <a:pPr>
              <a:spcBef>
                <a:spcPts val="600"/>
              </a:spcBef>
            </a:pPr>
            <a:r>
              <a:rPr sz="1150">
                <a:solidFill>
                  <a:srgbClr val="1A2E1E"/>
                </a:solidFill>
                <a:latin typeface="Calibri"/>
              </a:rPr>
              <a:t>▸  2019 Onion Crisis: prices hit ₹150–200/kg; government banned exports, NAFED intervened with buffer stock releases.</a:t>
            </a:r>
          </a:p>
          <a:p>
            <a:pPr>
              <a:spcBef>
                <a:spcPts val="600"/>
              </a:spcBef>
            </a:pPr>
            <a:r>
              <a:rPr sz="1150">
                <a:solidFill>
                  <a:srgbClr val="1A2E1E"/>
                </a:solidFill>
                <a:latin typeface="Calibri"/>
              </a:rPr>
              <a:t>▸  2023 Tomato Spike: retail prices crossed ₹250/kg in multiple metros within weeks of a supply shock in Kolar.</a:t>
            </a:r>
          </a:p>
          <a:p>
            <a:pPr>
              <a:spcBef>
                <a:spcPts val="600"/>
              </a:spcBef>
            </a:pPr>
            <a:r>
              <a:rPr sz="1150">
                <a:solidFill>
                  <a:srgbClr val="1A2E1E"/>
                </a:solidFill>
                <a:latin typeface="Calibri"/>
              </a:rPr>
              <a:t>▸  COVID-2020: supply chain disruptions caused simultaneous price crashes at farm gate and price spikes in retail markets.</a:t>
            </a:r>
          </a:p>
        </p:txBody>
      </p:sp>
      <p:sp>
        <p:nvSpPr>
          <p:cNvPr id="13" name="Rectangle 12"/>
          <p:cNvSpPr/>
          <p:nvPr/>
        </p:nvSpPr>
        <p:spPr>
          <a:xfrm>
            <a:off x="5989320" y="1097280"/>
            <a:ext cx="5943600" cy="5303520"/>
          </a:xfrm>
          <a:prstGeom prst="rect">
            <a:avLst/>
          </a:prstGeom>
          <a:solidFill>
            <a:srgbClr val="F0F6F3"/>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126480" y="1188720"/>
            <a:ext cx="5669280" cy="347472"/>
          </a:xfrm>
          <a:prstGeom prst="rect">
            <a:avLst/>
          </a:prstGeom>
          <a:noFill/>
        </p:spPr>
        <p:txBody>
          <a:bodyPr wrap="square">
            <a:spAutoFit/>
          </a:bodyPr>
          <a:lstStyle/>
          <a:p>
            <a:pPr algn="l"/>
            <a:r>
              <a:rPr sz="1100" b="1" i="0">
                <a:solidFill>
                  <a:srgbClr val="1E6B45"/>
                </a:solidFill>
                <a:latin typeface="Calibri"/>
              </a:rPr>
              <a:t>THE FORECASTING OPPORTUNITY</a:t>
            </a:r>
          </a:p>
        </p:txBody>
      </p:sp>
      <p:sp>
        <p:nvSpPr>
          <p:cNvPr id="15" name="TextBox 14"/>
          <p:cNvSpPr txBox="1"/>
          <p:nvPr/>
        </p:nvSpPr>
        <p:spPr>
          <a:xfrm>
            <a:off x="6126480" y="1572768"/>
            <a:ext cx="5669280" cy="2377440"/>
          </a:xfrm>
          <a:prstGeom prst="rect">
            <a:avLst/>
          </a:prstGeom>
          <a:noFill/>
        </p:spPr>
        <p:txBody>
          <a:bodyPr wrap="square">
            <a:spAutoFit/>
          </a:bodyPr>
          <a:lstStyle/>
          <a:p>
            <a:pPr>
              <a:spcBef>
                <a:spcPts val="600"/>
              </a:spcBef>
            </a:pPr>
            <a:r>
              <a:rPr sz="1150">
                <a:solidFill>
                  <a:srgbClr val="1A2E1E"/>
                </a:solidFill>
                <a:latin typeface="Calibri"/>
              </a:rPr>
              <a:t>▸  Current policy response is REACTIVE: interventions happen after the crisis is visible in retail prices.</a:t>
            </a:r>
          </a:p>
          <a:p>
            <a:pPr>
              <a:spcBef>
                <a:spcPts val="600"/>
              </a:spcBef>
            </a:pPr>
            <a:r>
              <a:rPr sz="1150">
                <a:solidFill>
                  <a:srgbClr val="1A2E1E"/>
                </a:solidFill>
                <a:latin typeface="Calibri"/>
              </a:rPr>
              <a:t>▸  Existing models rely on national-level monthly data — too coarse, too slow.</a:t>
            </a:r>
          </a:p>
          <a:p>
            <a:pPr>
              <a:spcBef>
                <a:spcPts val="600"/>
              </a:spcBef>
            </a:pPr>
            <a:r>
              <a:rPr sz="1150">
                <a:solidFill>
                  <a:srgbClr val="1A2E1E"/>
                </a:solidFill>
                <a:latin typeface="Calibri"/>
              </a:rPr>
              <a:t>▸  A 9-year, 470-week panel of APMC prices + satellite vegetation health + climate stress makes PREDICTIVE intelligence possible.</a:t>
            </a:r>
          </a:p>
          <a:p>
            <a:pPr>
              <a:spcBef>
                <a:spcPts val="600"/>
              </a:spcBef>
            </a:pPr>
            <a:r>
              <a:rPr sz="1150">
                <a:solidFill>
                  <a:srgbClr val="1A2E1E"/>
                </a:solidFill>
                <a:latin typeface="Calibri"/>
              </a:rPr>
              <a:t>▸  First study to jointly model supply-side satellite signals, climate risk, and macro-logistics for Indian vegetable price forecasting.</a:t>
            </a:r>
          </a:p>
        </p:txBody>
      </p:sp>
      <p:sp>
        <p:nvSpPr>
          <p:cNvPr id="16" name="TextBox 15"/>
          <p:cNvSpPr txBox="1"/>
          <p:nvPr/>
        </p:nvSpPr>
        <p:spPr>
          <a:xfrm>
            <a:off x="6126480" y="4069080"/>
            <a:ext cx="5669280" cy="347472"/>
          </a:xfrm>
          <a:prstGeom prst="rect">
            <a:avLst/>
          </a:prstGeom>
          <a:noFill/>
        </p:spPr>
        <p:txBody>
          <a:bodyPr wrap="square">
            <a:spAutoFit/>
          </a:bodyPr>
          <a:lstStyle/>
          <a:p>
            <a:pPr algn="l"/>
            <a:r>
              <a:rPr sz="1100" b="1" i="0">
                <a:solidFill>
                  <a:srgbClr val="E8A020"/>
                </a:solidFill>
                <a:latin typeface="Calibri"/>
              </a:rPr>
              <a:t>THE RESEARCH GAP WE FILL</a:t>
            </a:r>
          </a:p>
        </p:txBody>
      </p:sp>
      <p:sp>
        <p:nvSpPr>
          <p:cNvPr id="17" name="TextBox 16"/>
          <p:cNvSpPr txBox="1"/>
          <p:nvPr/>
        </p:nvSpPr>
        <p:spPr>
          <a:xfrm>
            <a:off x="6126480" y="4453128"/>
            <a:ext cx="5669280" cy="1828800"/>
          </a:xfrm>
          <a:prstGeom prst="rect">
            <a:avLst/>
          </a:prstGeom>
          <a:noFill/>
        </p:spPr>
        <p:txBody>
          <a:bodyPr wrap="square">
            <a:spAutoFit/>
          </a:bodyPr>
          <a:lstStyle/>
          <a:p>
            <a:pPr>
              <a:spcBef>
                <a:spcPts val="500"/>
              </a:spcBef>
            </a:pPr>
            <a:r>
              <a:rPr sz="1150">
                <a:solidFill>
                  <a:srgbClr val="1A2E1E"/>
                </a:solidFill>
                <a:latin typeface="Calibri"/>
              </a:rPr>
              <a:t>▸  Weekly granularity across all major APMC markets (not state averages)</a:t>
            </a:r>
          </a:p>
          <a:p>
            <a:pPr>
              <a:spcBef>
                <a:spcPts val="500"/>
              </a:spcBef>
            </a:pPr>
            <a:r>
              <a:rPr sz="1150">
                <a:solidFill>
                  <a:srgbClr val="1A2E1E"/>
                </a:solidFill>
                <a:latin typeface="Calibri"/>
              </a:rPr>
              <a:t>▸  Supply-side signals: satellite NDVI anomaly + heat stress days from production zones</a:t>
            </a:r>
          </a:p>
          <a:p>
            <a:pPr>
              <a:spcBef>
                <a:spcPts val="500"/>
              </a:spcBef>
            </a:pPr>
            <a:r>
              <a:rPr sz="1150">
                <a:solidFill>
                  <a:srgbClr val="1A2E1E"/>
                </a:solidFill>
                <a:latin typeface="Calibri"/>
              </a:rPr>
              <a:t>▸  Rolling-origin validation: 4 test years (2022–2025) with 4 forecast horizons</a:t>
            </a:r>
          </a:p>
          <a:p>
            <a:pPr>
              <a:spcBef>
                <a:spcPts val="500"/>
              </a:spcBef>
            </a:pPr>
            <a:r>
              <a:rPr sz="1150">
                <a:solidFill>
                  <a:srgbClr val="1A2E1E"/>
                </a:solidFill>
                <a:latin typeface="Calibri"/>
              </a:rPr>
              <a:t>▸  Ablation design proves the marginal value of each data layer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64008" cy="6858000"/>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 y="0"/>
            <a:ext cx="12124944" cy="960120"/>
          </a:xfrm>
          <a:prstGeom prst="rect">
            <a:avLst/>
          </a:prstGeom>
          <a:solidFill>
            <a:srgbClr val="0D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4008" y="960120"/>
            <a:ext cx="12124944" cy="32004"/>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 y="64008"/>
            <a:ext cx="11704320" cy="475488"/>
          </a:xfrm>
          <a:prstGeom prst="rect">
            <a:avLst/>
          </a:prstGeom>
          <a:noFill/>
        </p:spPr>
        <p:txBody>
          <a:bodyPr wrap="square">
            <a:spAutoFit/>
          </a:bodyPr>
          <a:lstStyle/>
          <a:p>
            <a:pPr algn="l"/>
            <a:r>
              <a:rPr sz="2100" b="1" i="0">
                <a:solidFill>
                  <a:srgbClr val="FFFFFF"/>
                </a:solidFill>
                <a:latin typeface="Calibri"/>
              </a:rPr>
              <a:t>Project Architecture</a:t>
            </a:r>
          </a:p>
        </p:txBody>
      </p:sp>
      <p:sp>
        <p:nvSpPr>
          <p:cNvPr id="6" name="TextBox 5"/>
          <p:cNvSpPr txBox="1"/>
          <p:nvPr/>
        </p:nvSpPr>
        <p:spPr>
          <a:xfrm>
            <a:off x="201168" y="548640"/>
            <a:ext cx="11704320" cy="365760"/>
          </a:xfrm>
          <a:prstGeom prst="rect">
            <a:avLst/>
          </a:prstGeom>
          <a:noFill/>
        </p:spPr>
        <p:txBody>
          <a:bodyPr wrap="square">
            <a:spAutoFit/>
          </a:bodyPr>
          <a:lstStyle/>
          <a:p>
            <a:pPr algn="l"/>
            <a:r>
              <a:rPr sz="1300" b="0" i="1">
                <a:solidFill>
                  <a:srgbClr val="C8DDD0"/>
                </a:solidFill>
                <a:latin typeface="Calibri"/>
              </a:rPr>
              <a:t>Six data layers feeding four analytical modules — the complete digital twin design</a:t>
            </a:r>
          </a:p>
        </p:txBody>
      </p:sp>
      <p:sp>
        <p:nvSpPr>
          <p:cNvPr id="7" name="Rectangle 6"/>
          <p:cNvSpPr/>
          <p:nvPr/>
        </p:nvSpPr>
        <p:spPr>
          <a:xfrm>
            <a:off x="0" y="6565392"/>
            <a:ext cx="12188952" cy="292608"/>
          </a:xfrm>
          <a:prstGeom prst="rect">
            <a:avLst/>
          </a:prstGeom>
          <a:solidFill>
            <a:srgbClr val="0D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01168" y="6583680"/>
            <a:ext cx="7315200" cy="237744"/>
          </a:xfrm>
          <a:prstGeom prst="rect">
            <a:avLst/>
          </a:prstGeom>
          <a:noFill/>
        </p:spPr>
        <p:txBody>
          <a:bodyPr wrap="square">
            <a:spAutoFit/>
          </a:bodyPr>
          <a:lstStyle/>
          <a:p>
            <a:pPr algn="l"/>
            <a:r>
              <a:rPr sz="850" b="0" i="0">
                <a:solidFill>
                  <a:srgbClr val="C8DDD0"/>
                </a:solidFill>
                <a:latin typeface="Calibri"/>
              </a:rPr>
              <a:t>TOP Digital Twin  ·  SKUAST-K  ·  HADP-04  ·  July 2026</a:t>
            </a:r>
          </a:p>
        </p:txBody>
      </p:sp>
      <p:sp>
        <p:nvSpPr>
          <p:cNvPr id="9" name="TextBox 8"/>
          <p:cNvSpPr txBox="1"/>
          <p:nvPr/>
        </p:nvSpPr>
        <p:spPr>
          <a:xfrm>
            <a:off x="7589520" y="6583680"/>
            <a:ext cx="4389120" cy="237744"/>
          </a:xfrm>
          <a:prstGeom prst="rect">
            <a:avLst/>
          </a:prstGeom>
          <a:noFill/>
        </p:spPr>
        <p:txBody>
          <a:bodyPr wrap="square">
            <a:spAutoFit/>
          </a:bodyPr>
          <a:lstStyle/>
          <a:p>
            <a:pPr algn="r"/>
            <a:r>
              <a:rPr sz="850" b="0" i="0">
                <a:solidFill>
                  <a:srgbClr val="C8DDD0"/>
                </a:solidFill>
                <a:latin typeface="Calibri"/>
              </a:rPr>
              <a:t>CONFIDENTIAL — PI REVIEW</a:t>
            </a:r>
          </a:p>
        </p:txBody>
      </p:sp>
      <p:sp>
        <p:nvSpPr>
          <p:cNvPr id="10" name="TextBox 9"/>
          <p:cNvSpPr txBox="1"/>
          <p:nvPr/>
        </p:nvSpPr>
        <p:spPr>
          <a:xfrm>
            <a:off x="182880" y="1051560"/>
            <a:ext cx="5943600" cy="320040"/>
          </a:xfrm>
          <a:prstGeom prst="rect">
            <a:avLst/>
          </a:prstGeom>
          <a:noFill/>
        </p:spPr>
        <p:txBody>
          <a:bodyPr wrap="square">
            <a:spAutoFit/>
          </a:bodyPr>
          <a:lstStyle/>
          <a:p>
            <a:pPr algn="l"/>
            <a:r>
              <a:rPr sz="1100" b="1" i="0">
                <a:solidFill>
                  <a:srgbClr val="1E6B45"/>
                </a:solidFill>
                <a:latin typeface="Calibri"/>
              </a:rPr>
              <a:t>DATA LAYERS</a:t>
            </a:r>
          </a:p>
        </p:txBody>
      </p:sp>
      <p:sp>
        <p:nvSpPr>
          <p:cNvPr id="11" name="Rectangle 10"/>
          <p:cNvSpPr/>
          <p:nvPr/>
        </p:nvSpPr>
        <p:spPr>
          <a:xfrm>
            <a:off x="182880" y="1417320"/>
            <a:ext cx="457200" cy="658368"/>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10312" y="1600200"/>
            <a:ext cx="420624" cy="320040"/>
          </a:xfrm>
          <a:prstGeom prst="rect">
            <a:avLst/>
          </a:prstGeom>
          <a:noFill/>
        </p:spPr>
        <p:txBody>
          <a:bodyPr wrap="square">
            <a:spAutoFit/>
          </a:bodyPr>
          <a:lstStyle/>
          <a:p>
            <a:pPr algn="ctr"/>
            <a:r>
              <a:rPr sz="1000" b="1" i="0">
                <a:solidFill>
                  <a:srgbClr val="FFFFFF"/>
                </a:solidFill>
                <a:latin typeface="Calibri"/>
              </a:rPr>
              <a:t>L1</a:t>
            </a:r>
          </a:p>
        </p:txBody>
      </p:sp>
      <p:sp>
        <p:nvSpPr>
          <p:cNvPr id="13" name="Rectangle 12"/>
          <p:cNvSpPr/>
          <p:nvPr/>
        </p:nvSpPr>
        <p:spPr>
          <a:xfrm>
            <a:off x="640080" y="1417320"/>
            <a:ext cx="4937760" cy="658368"/>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49808" y="1472184"/>
            <a:ext cx="1828800" cy="274320"/>
          </a:xfrm>
          <a:prstGeom prst="rect">
            <a:avLst/>
          </a:prstGeom>
          <a:noFill/>
        </p:spPr>
        <p:txBody>
          <a:bodyPr wrap="square">
            <a:spAutoFit/>
          </a:bodyPr>
          <a:lstStyle/>
          <a:p>
            <a:pPr algn="l"/>
            <a:r>
              <a:rPr sz="1100" b="1" i="0">
                <a:solidFill>
                  <a:srgbClr val="1A2E1E"/>
                </a:solidFill>
                <a:latin typeface="Calibri"/>
              </a:rPr>
              <a:t>Market Prices</a:t>
            </a:r>
          </a:p>
        </p:txBody>
      </p:sp>
      <p:sp>
        <p:nvSpPr>
          <p:cNvPr id="15" name="TextBox 14"/>
          <p:cNvSpPr txBox="1"/>
          <p:nvPr/>
        </p:nvSpPr>
        <p:spPr>
          <a:xfrm>
            <a:off x="749808" y="1746504"/>
            <a:ext cx="4480560" cy="274320"/>
          </a:xfrm>
          <a:prstGeom prst="rect">
            <a:avLst/>
          </a:prstGeom>
          <a:noFill/>
        </p:spPr>
        <p:txBody>
          <a:bodyPr wrap="square">
            <a:spAutoFit/>
          </a:bodyPr>
          <a:lstStyle/>
          <a:p>
            <a:pPr algn="l"/>
            <a:r>
              <a:rPr sz="950" b="0" i="0">
                <a:solidFill>
                  <a:srgbClr val="5A6A60"/>
                </a:solidFill>
                <a:latin typeface="Calibri"/>
              </a:rPr>
              <a:t>Agmarknet APMC weekly panel · 2,495 markets · 470 weeks</a:t>
            </a:r>
          </a:p>
        </p:txBody>
      </p:sp>
      <p:sp>
        <p:nvSpPr>
          <p:cNvPr id="16" name="Rectangle 15"/>
          <p:cNvSpPr/>
          <p:nvPr/>
        </p:nvSpPr>
        <p:spPr>
          <a:xfrm>
            <a:off x="5120640" y="1581912"/>
            <a:ext cx="749808" cy="274320"/>
          </a:xfrm>
          <a:prstGeom prst="rect">
            <a:avLst/>
          </a:prstGeom>
          <a:solidFill>
            <a:srgbClr val="0B6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138928" y="1591056"/>
            <a:ext cx="731520" cy="256032"/>
          </a:xfrm>
          <a:prstGeom prst="rect">
            <a:avLst/>
          </a:prstGeom>
          <a:noFill/>
        </p:spPr>
        <p:txBody>
          <a:bodyPr wrap="square">
            <a:spAutoFit/>
          </a:bodyPr>
          <a:lstStyle/>
          <a:p>
            <a:pPr algn="ctr"/>
            <a:r>
              <a:rPr sz="800" b="1" i="0">
                <a:solidFill>
                  <a:srgbClr val="FFFFFF"/>
                </a:solidFill>
                <a:latin typeface="Calibri"/>
              </a:rPr>
              <a:t>DONE</a:t>
            </a:r>
          </a:p>
        </p:txBody>
      </p:sp>
      <p:sp>
        <p:nvSpPr>
          <p:cNvPr id="18" name="Rectangle 17"/>
          <p:cNvSpPr/>
          <p:nvPr/>
        </p:nvSpPr>
        <p:spPr>
          <a:xfrm>
            <a:off x="182880" y="2185416"/>
            <a:ext cx="457200" cy="658368"/>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10312" y="2368296"/>
            <a:ext cx="420624" cy="320040"/>
          </a:xfrm>
          <a:prstGeom prst="rect">
            <a:avLst/>
          </a:prstGeom>
          <a:noFill/>
        </p:spPr>
        <p:txBody>
          <a:bodyPr wrap="square">
            <a:spAutoFit/>
          </a:bodyPr>
          <a:lstStyle/>
          <a:p>
            <a:pPr algn="ctr"/>
            <a:r>
              <a:rPr sz="1000" b="1" i="0">
                <a:solidFill>
                  <a:srgbClr val="FFFFFF"/>
                </a:solidFill>
                <a:latin typeface="Calibri"/>
              </a:rPr>
              <a:t>L2</a:t>
            </a:r>
          </a:p>
        </p:txBody>
      </p:sp>
      <p:sp>
        <p:nvSpPr>
          <p:cNvPr id="20" name="Rectangle 19"/>
          <p:cNvSpPr/>
          <p:nvPr/>
        </p:nvSpPr>
        <p:spPr>
          <a:xfrm>
            <a:off x="640080" y="2185416"/>
            <a:ext cx="4937760" cy="658368"/>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49808" y="2240280"/>
            <a:ext cx="1828800" cy="274320"/>
          </a:xfrm>
          <a:prstGeom prst="rect">
            <a:avLst/>
          </a:prstGeom>
          <a:noFill/>
        </p:spPr>
        <p:txBody>
          <a:bodyPr wrap="square">
            <a:spAutoFit/>
          </a:bodyPr>
          <a:lstStyle/>
          <a:p>
            <a:pPr algn="l"/>
            <a:r>
              <a:rPr sz="1100" b="1" i="0">
                <a:solidFill>
                  <a:srgbClr val="1A2E1E"/>
                </a:solidFill>
                <a:latin typeface="Calibri"/>
              </a:rPr>
              <a:t>Satellite Vegetation</a:t>
            </a:r>
          </a:p>
        </p:txBody>
      </p:sp>
      <p:sp>
        <p:nvSpPr>
          <p:cNvPr id="22" name="TextBox 21"/>
          <p:cNvSpPr txBox="1"/>
          <p:nvPr/>
        </p:nvSpPr>
        <p:spPr>
          <a:xfrm>
            <a:off x="749808" y="2514600"/>
            <a:ext cx="4480560" cy="274320"/>
          </a:xfrm>
          <a:prstGeom prst="rect">
            <a:avLst/>
          </a:prstGeom>
          <a:noFill/>
        </p:spPr>
        <p:txBody>
          <a:bodyPr wrap="square">
            <a:spAutoFit/>
          </a:bodyPr>
          <a:lstStyle/>
          <a:p>
            <a:pPr algn="l"/>
            <a:r>
              <a:rPr sz="950" b="0" i="0">
                <a:solidFill>
                  <a:srgbClr val="5A6A60"/>
                </a:solidFill>
                <a:latin typeface="Calibri"/>
              </a:rPr>
              <a:t>Sentinel-2 NDVI/EVI · MODIS NDVI/EVI · 17 production zones</a:t>
            </a:r>
          </a:p>
        </p:txBody>
      </p:sp>
      <p:sp>
        <p:nvSpPr>
          <p:cNvPr id="23" name="Rectangle 22"/>
          <p:cNvSpPr/>
          <p:nvPr/>
        </p:nvSpPr>
        <p:spPr>
          <a:xfrm>
            <a:off x="5120640" y="2350008"/>
            <a:ext cx="749808" cy="274320"/>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138928" y="2359152"/>
            <a:ext cx="731520" cy="256032"/>
          </a:xfrm>
          <a:prstGeom prst="rect">
            <a:avLst/>
          </a:prstGeom>
          <a:noFill/>
        </p:spPr>
        <p:txBody>
          <a:bodyPr wrap="square">
            <a:spAutoFit/>
          </a:bodyPr>
          <a:lstStyle/>
          <a:p>
            <a:pPr algn="ctr"/>
            <a:r>
              <a:rPr sz="800" b="1" i="0">
                <a:solidFill>
                  <a:srgbClr val="FFFFFF"/>
                </a:solidFill>
                <a:latin typeface="Calibri"/>
              </a:rPr>
              <a:t>DONE*</a:t>
            </a:r>
          </a:p>
        </p:txBody>
      </p:sp>
      <p:sp>
        <p:nvSpPr>
          <p:cNvPr id="25" name="Rectangle 24"/>
          <p:cNvSpPr/>
          <p:nvPr/>
        </p:nvSpPr>
        <p:spPr>
          <a:xfrm>
            <a:off x="182880" y="2953512"/>
            <a:ext cx="457200" cy="658368"/>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10312" y="3136392"/>
            <a:ext cx="420624" cy="320040"/>
          </a:xfrm>
          <a:prstGeom prst="rect">
            <a:avLst/>
          </a:prstGeom>
          <a:noFill/>
        </p:spPr>
        <p:txBody>
          <a:bodyPr wrap="square">
            <a:spAutoFit/>
          </a:bodyPr>
          <a:lstStyle/>
          <a:p>
            <a:pPr algn="ctr"/>
            <a:r>
              <a:rPr sz="1000" b="1" i="0">
                <a:solidFill>
                  <a:srgbClr val="FFFFFF"/>
                </a:solidFill>
                <a:latin typeface="Calibri"/>
              </a:rPr>
              <a:t>L3</a:t>
            </a:r>
          </a:p>
        </p:txBody>
      </p:sp>
      <p:sp>
        <p:nvSpPr>
          <p:cNvPr id="27" name="Rectangle 26"/>
          <p:cNvSpPr/>
          <p:nvPr/>
        </p:nvSpPr>
        <p:spPr>
          <a:xfrm>
            <a:off x="640080" y="2953512"/>
            <a:ext cx="4937760" cy="658368"/>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49808" y="3008376"/>
            <a:ext cx="1828800" cy="274320"/>
          </a:xfrm>
          <a:prstGeom prst="rect">
            <a:avLst/>
          </a:prstGeom>
          <a:noFill/>
        </p:spPr>
        <p:txBody>
          <a:bodyPr wrap="square">
            <a:spAutoFit/>
          </a:bodyPr>
          <a:lstStyle/>
          <a:p>
            <a:pPr algn="l"/>
            <a:r>
              <a:rPr sz="1100" b="1" i="0">
                <a:solidFill>
                  <a:srgbClr val="1A2E1E"/>
                </a:solidFill>
                <a:latin typeface="Calibri"/>
              </a:rPr>
              <a:t>Climate Stress</a:t>
            </a:r>
          </a:p>
        </p:txBody>
      </p:sp>
      <p:sp>
        <p:nvSpPr>
          <p:cNvPr id="29" name="TextBox 28"/>
          <p:cNvSpPr txBox="1"/>
          <p:nvPr/>
        </p:nvSpPr>
        <p:spPr>
          <a:xfrm>
            <a:off x="749808" y="3282696"/>
            <a:ext cx="4480560" cy="274320"/>
          </a:xfrm>
          <a:prstGeom prst="rect">
            <a:avLst/>
          </a:prstGeom>
          <a:noFill/>
        </p:spPr>
        <p:txBody>
          <a:bodyPr wrap="square">
            <a:spAutoFit/>
          </a:bodyPr>
          <a:lstStyle/>
          <a:p>
            <a:pPr algn="l"/>
            <a:r>
              <a:rPr sz="950" b="0" i="0">
                <a:solidFill>
                  <a:srgbClr val="5A6A60"/>
                </a:solidFill>
                <a:latin typeface="Calibri"/>
              </a:rPr>
              <a:t>ERA5-Land temperature · CHIRPS rainfall · MODIS LST · 17 zones</a:t>
            </a:r>
          </a:p>
        </p:txBody>
      </p:sp>
      <p:sp>
        <p:nvSpPr>
          <p:cNvPr id="30" name="Rectangle 29"/>
          <p:cNvSpPr/>
          <p:nvPr/>
        </p:nvSpPr>
        <p:spPr>
          <a:xfrm>
            <a:off x="5120640" y="3118104"/>
            <a:ext cx="749808" cy="274320"/>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138928" y="3127248"/>
            <a:ext cx="731520" cy="256032"/>
          </a:xfrm>
          <a:prstGeom prst="rect">
            <a:avLst/>
          </a:prstGeom>
          <a:noFill/>
        </p:spPr>
        <p:txBody>
          <a:bodyPr wrap="square">
            <a:spAutoFit/>
          </a:bodyPr>
          <a:lstStyle/>
          <a:p>
            <a:pPr algn="ctr"/>
            <a:r>
              <a:rPr sz="800" b="1" i="0">
                <a:solidFill>
                  <a:srgbClr val="FFFFFF"/>
                </a:solidFill>
                <a:latin typeface="Calibri"/>
              </a:rPr>
              <a:t>DONE*</a:t>
            </a:r>
          </a:p>
        </p:txBody>
      </p:sp>
      <p:sp>
        <p:nvSpPr>
          <p:cNvPr id="32" name="Rectangle 31"/>
          <p:cNvSpPr/>
          <p:nvPr/>
        </p:nvSpPr>
        <p:spPr>
          <a:xfrm>
            <a:off x="182880" y="3721608"/>
            <a:ext cx="457200" cy="658368"/>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10312" y="3904488"/>
            <a:ext cx="420624" cy="320040"/>
          </a:xfrm>
          <a:prstGeom prst="rect">
            <a:avLst/>
          </a:prstGeom>
          <a:noFill/>
        </p:spPr>
        <p:txBody>
          <a:bodyPr wrap="square">
            <a:spAutoFit/>
          </a:bodyPr>
          <a:lstStyle/>
          <a:p>
            <a:pPr algn="ctr"/>
            <a:r>
              <a:rPr sz="1000" b="1" i="0">
                <a:solidFill>
                  <a:srgbClr val="FFFFFF"/>
                </a:solidFill>
                <a:latin typeface="Calibri"/>
              </a:rPr>
              <a:t>L4</a:t>
            </a:r>
          </a:p>
        </p:txBody>
      </p:sp>
      <p:sp>
        <p:nvSpPr>
          <p:cNvPr id="34" name="Rectangle 33"/>
          <p:cNvSpPr/>
          <p:nvPr/>
        </p:nvSpPr>
        <p:spPr>
          <a:xfrm>
            <a:off x="640080" y="3721608"/>
            <a:ext cx="4937760" cy="658368"/>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49808" y="3776472"/>
            <a:ext cx="1828800" cy="274320"/>
          </a:xfrm>
          <a:prstGeom prst="rect">
            <a:avLst/>
          </a:prstGeom>
          <a:noFill/>
        </p:spPr>
        <p:txBody>
          <a:bodyPr wrap="square">
            <a:spAutoFit/>
          </a:bodyPr>
          <a:lstStyle/>
          <a:p>
            <a:pPr algn="l"/>
            <a:r>
              <a:rPr sz="1100" b="1" i="0">
                <a:solidFill>
                  <a:srgbClr val="1A2E1E"/>
                </a:solidFill>
                <a:latin typeface="Calibri"/>
              </a:rPr>
              <a:t>Macro-Logistics</a:t>
            </a:r>
          </a:p>
        </p:txBody>
      </p:sp>
      <p:sp>
        <p:nvSpPr>
          <p:cNvPr id="36" name="TextBox 35"/>
          <p:cNvSpPr txBox="1"/>
          <p:nvPr/>
        </p:nvSpPr>
        <p:spPr>
          <a:xfrm>
            <a:off x="749808" y="4050792"/>
            <a:ext cx="4480560" cy="274320"/>
          </a:xfrm>
          <a:prstGeom prst="rect">
            <a:avLst/>
          </a:prstGeom>
          <a:noFill/>
        </p:spPr>
        <p:txBody>
          <a:bodyPr wrap="square">
            <a:spAutoFit/>
          </a:bodyPr>
          <a:lstStyle/>
          <a:p>
            <a:pPr algn="l"/>
            <a:r>
              <a:rPr sz="950" b="0" i="0">
                <a:solidFill>
                  <a:srgbClr val="5A6A60"/>
                </a:solidFill>
                <a:latin typeface="Calibri"/>
              </a:rPr>
              <a:t>CMIE · PPAC diesel/LPG · RBI repo rate · WPI crop · USD-INR</a:t>
            </a:r>
          </a:p>
        </p:txBody>
      </p:sp>
      <p:sp>
        <p:nvSpPr>
          <p:cNvPr id="37" name="Rectangle 36"/>
          <p:cNvSpPr/>
          <p:nvPr/>
        </p:nvSpPr>
        <p:spPr>
          <a:xfrm>
            <a:off x="5120640" y="3886200"/>
            <a:ext cx="749808" cy="274320"/>
          </a:xfrm>
          <a:prstGeom prst="rect">
            <a:avLst/>
          </a:prstGeom>
          <a:solidFill>
            <a:srgbClr val="0B6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138928" y="3895344"/>
            <a:ext cx="731520" cy="256032"/>
          </a:xfrm>
          <a:prstGeom prst="rect">
            <a:avLst/>
          </a:prstGeom>
          <a:noFill/>
        </p:spPr>
        <p:txBody>
          <a:bodyPr wrap="square">
            <a:spAutoFit/>
          </a:bodyPr>
          <a:lstStyle/>
          <a:p>
            <a:pPr algn="ctr"/>
            <a:r>
              <a:rPr sz="800" b="1" i="0">
                <a:solidFill>
                  <a:srgbClr val="FFFFFF"/>
                </a:solidFill>
                <a:latin typeface="Calibri"/>
              </a:rPr>
              <a:t>DONE</a:t>
            </a:r>
          </a:p>
        </p:txBody>
      </p:sp>
      <p:sp>
        <p:nvSpPr>
          <p:cNvPr id="39" name="Rectangle 38"/>
          <p:cNvSpPr/>
          <p:nvPr/>
        </p:nvSpPr>
        <p:spPr>
          <a:xfrm>
            <a:off x="182880" y="4489704"/>
            <a:ext cx="457200" cy="658368"/>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10312" y="4672584"/>
            <a:ext cx="420624" cy="320040"/>
          </a:xfrm>
          <a:prstGeom prst="rect">
            <a:avLst/>
          </a:prstGeom>
          <a:noFill/>
        </p:spPr>
        <p:txBody>
          <a:bodyPr wrap="square">
            <a:spAutoFit/>
          </a:bodyPr>
          <a:lstStyle/>
          <a:p>
            <a:pPr algn="ctr"/>
            <a:r>
              <a:rPr sz="1000" b="1" i="0">
                <a:solidFill>
                  <a:srgbClr val="FFFFFF"/>
                </a:solidFill>
                <a:latin typeface="Calibri"/>
              </a:rPr>
              <a:t>L5</a:t>
            </a:r>
          </a:p>
        </p:txBody>
      </p:sp>
      <p:sp>
        <p:nvSpPr>
          <p:cNvPr id="41" name="Rectangle 40"/>
          <p:cNvSpPr/>
          <p:nvPr/>
        </p:nvSpPr>
        <p:spPr>
          <a:xfrm>
            <a:off x="640080" y="4489704"/>
            <a:ext cx="4937760" cy="658368"/>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49808" y="4544568"/>
            <a:ext cx="1828800" cy="274320"/>
          </a:xfrm>
          <a:prstGeom prst="rect">
            <a:avLst/>
          </a:prstGeom>
          <a:noFill/>
        </p:spPr>
        <p:txBody>
          <a:bodyPr wrap="square">
            <a:spAutoFit/>
          </a:bodyPr>
          <a:lstStyle/>
          <a:p>
            <a:pPr algn="l"/>
            <a:r>
              <a:rPr sz="1100" b="1" i="0">
                <a:solidFill>
                  <a:srgbClr val="1A2E1E"/>
                </a:solidFill>
                <a:latin typeface="Calibri"/>
              </a:rPr>
              <a:t>Infrastructure</a:t>
            </a:r>
          </a:p>
        </p:txBody>
      </p:sp>
      <p:sp>
        <p:nvSpPr>
          <p:cNvPr id="43" name="TextBox 42"/>
          <p:cNvSpPr txBox="1"/>
          <p:nvPr/>
        </p:nvSpPr>
        <p:spPr>
          <a:xfrm>
            <a:off x="749808" y="4818888"/>
            <a:ext cx="4480560" cy="274320"/>
          </a:xfrm>
          <a:prstGeom prst="rect">
            <a:avLst/>
          </a:prstGeom>
          <a:noFill/>
        </p:spPr>
        <p:txBody>
          <a:bodyPr wrap="square">
            <a:spAutoFit/>
          </a:bodyPr>
          <a:lstStyle/>
          <a:p>
            <a:pPr algn="l"/>
            <a:r>
              <a:rPr sz="950" b="0" i="0">
                <a:solidFill>
                  <a:srgbClr val="5A6A60"/>
                </a:solidFill>
                <a:latin typeface="Calibri"/>
              </a:rPr>
              <a:t>Cold storage capacity · Road density · Rural wages</a:t>
            </a:r>
          </a:p>
        </p:txBody>
      </p:sp>
      <p:sp>
        <p:nvSpPr>
          <p:cNvPr id="44" name="Rectangle 43"/>
          <p:cNvSpPr/>
          <p:nvPr/>
        </p:nvSpPr>
        <p:spPr>
          <a:xfrm>
            <a:off x="5120640" y="4654296"/>
            <a:ext cx="749808" cy="274320"/>
          </a:xfrm>
          <a:prstGeom prst="rect">
            <a:avLst/>
          </a:prstGeom>
          <a:solidFill>
            <a:srgbClr val="9B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138928" y="4663440"/>
            <a:ext cx="731520" cy="256032"/>
          </a:xfrm>
          <a:prstGeom prst="rect">
            <a:avLst/>
          </a:prstGeom>
          <a:noFill/>
        </p:spPr>
        <p:txBody>
          <a:bodyPr wrap="square">
            <a:spAutoFit/>
          </a:bodyPr>
          <a:lstStyle/>
          <a:p>
            <a:pPr algn="ctr"/>
            <a:r>
              <a:rPr sz="800" b="1" i="0">
                <a:solidFill>
                  <a:srgbClr val="FFFFFF"/>
                </a:solidFill>
                <a:latin typeface="Calibri"/>
              </a:rPr>
              <a:t>PENDING</a:t>
            </a:r>
          </a:p>
        </p:txBody>
      </p:sp>
      <p:sp>
        <p:nvSpPr>
          <p:cNvPr id="46" name="Rectangle 45"/>
          <p:cNvSpPr/>
          <p:nvPr/>
        </p:nvSpPr>
        <p:spPr>
          <a:xfrm>
            <a:off x="182880" y="5257800"/>
            <a:ext cx="457200" cy="658368"/>
          </a:xfrm>
          <a:prstGeom prst="rect">
            <a:avLst/>
          </a:prstGeom>
          <a:solidFill>
            <a:srgbClr val="9B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10312" y="5440680"/>
            <a:ext cx="420624" cy="320040"/>
          </a:xfrm>
          <a:prstGeom prst="rect">
            <a:avLst/>
          </a:prstGeom>
          <a:noFill/>
        </p:spPr>
        <p:txBody>
          <a:bodyPr wrap="square">
            <a:spAutoFit/>
          </a:bodyPr>
          <a:lstStyle/>
          <a:p>
            <a:pPr algn="ctr"/>
            <a:r>
              <a:rPr sz="1000" b="1" i="0">
                <a:solidFill>
                  <a:srgbClr val="FFFFFF"/>
                </a:solidFill>
                <a:latin typeface="Calibri"/>
              </a:rPr>
              <a:t>L6</a:t>
            </a:r>
          </a:p>
        </p:txBody>
      </p:sp>
      <p:sp>
        <p:nvSpPr>
          <p:cNvPr id="48" name="Rectangle 47"/>
          <p:cNvSpPr/>
          <p:nvPr/>
        </p:nvSpPr>
        <p:spPr>
          <a:xfrm>
            <a:off x="640080" y="5257800"/>
            <a:ext cx="4937760" cy="658368"/>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49808" y="5312664"/>
            <a:ext cx="1828800" cy="274320"/>
          </a:xfrm>
          <a:prstGeom prst="rect">
            <a:avLst/>
          </a:prstGeom>
          <a:noFill/>
        </p:spPr>
        <p:txBody>
          <a:bodyPr wrap="square">
            <a:spAutoFit/>
          </a:bodyPr>
          <a:lstStyle/>
          <a:p>
            <a:pPr algn="l"/>
            <a:r>
              <a:rPr sz="1100" b="1" i="0">
                <a:solidFill>
                  <a:srgbClr val="1A2E1E"/>
                </a:solidFill>
                <a:latin typeface="Calibri"/>
              </a:rPr>
              <a:t>Policy / Trade</a:t>
            </a:r>
          </a:p>
        </p:txBody>
      </p:sp>
      <p:sp>
        <p:nvSpPr>
          <p:cNvPr id="50" name="TextBox 49"/>
          <p:cNvSpPr txBox="1"/>
          <p:nvPr/>
        </p:nvSpPr>
        <p:spPr>
          <a:xfrm>
            <a:off x="749808" y="5586984"/>
            <a:ext cx="4480560" cy="274320"/>
          </a:xfrm>
          <a:prstGeom prst="rect">
            <a:avLst/>
          </a:prstGeom>
          <a:noFill/>
        </p:spPr>
        <p:txBody>
          <a:bodyPr wrap="square">
            <a:spAutoFit/>
          </a:bodyPr>
          <a:lstStyle/>
          <a:p>
            <a:pPr algn="l"/>
            <a:r>
              <a:rPr sz="950" b="0" i="0">
                <a:solidFill>
                  <a:srgbClr val="5A6A60"/>
                </a:solidFill>
                <a:latin typeface="Calibri"/>
              </a:rPr>
              <a:t>Export bans · MEP · NAFED-NCCF interventions</a:t>
            </a:r>
          </a:p>
        </p:txBody>
      </p:sp>
      <p:sp>
        <p:nvSpPr>
          <p:cNvPr id="51" name="Rectangle 50"/>
          <p:cNvSpPr/>
          <p:nvPr/>
        </p:nvSpPr>
        <p:spPr>
          <a:xfrm>
            <a:off x="5120640" y="5422392"/>
            <a:ext cx="749808" cy="274320"/>
          </a:xfrm>
          <a:prstGeom prst="rect">
            <a:avLst/>
          </a:prstGeom>
          <a:solidFill>
            <a:srgbClr val="9B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5138928" y="5431536"/>
            <a:ext cx="731520" cy="256032"/>
          </a:xfrm>
          <a:prstGeom prst="rect">
            <a:avLst/>
          </a:prstGeom>
          <a:noFill/>
        </p:spPr>
        <p:txBody>
          <a:bodyPr wrap="square">
            <a:spAutoFit/>
          </a:bodyPr>
          <a:lstStyle/>
          <a:p>
            <a:pPr algn="ctr"/>
            <a:r>
              <a:rPr sz="800" b="1" i="0">
                <a:solidFill>
                  <a:srgbClr val="FFFFFF"/>
                </a:solidFill>
                <a:latin typeface="Calibri"/>
              </a:rPr>
              <a:t>PENDING</a:t>
            </a:r>
          </a:p>
        </p:txBody>
      </p:sp>
      <p:sp>
        <p:nvSpPr>
          <p:cNvPr id="53" name="TextBox 52"/>
          <p:cNvSpPr txBox="1"/>
          <p:nvPr/>
        </p:nvSpPr>
        <p:spPr>
          <a:xfrm>
            <a:off x="292608" y="6062472"/>
            <a:ext cx="5029200" cy="274320"/>
          </a:xfrm>
          <a:prstGeom prst="rect">
            <a:avLst/>
          </a:prstGeom>
          <a:noFill/>
        </p:spPr>
        <p:txBody>
          <a:bodyPr wrap="square">
            <a:spAutoFit/>
          </a:bodyPr>
          <a:lstStyle/>
          <a:p>
            <a:pPr algn="l"/>
            <a:r>
              <a:rPr sz="850" b="0" i="1">
                <a:solidFill>
                  <a:srgbClr val="5A6A60"/>
                </a:solidFill>
                <a:latin typeface="Calibri"/>
              </a:rPr>
              <a:t>* Historical data complete; 2025 topup pending GEE script execution</a:t>
            </a:r>
          </a:p>
        </p:txBody>
      </p:sp>
      <p:sp>
        <p:nvSpPr>
          <p:cNvPr id="54" name="TextBox 53"/>
          <p:cNvSpPr txBox="1"/>
          <p:nvPr/>
        </p:nvSpPr>
        <p:spPr>
          <a:xfrm>
            <a:off x="6400800" y="1051560"/>
            <a:ext cx="5394960" cy="320040"/>
          </a:xfrm>
          <a:prstGeom prst="rect">
            <a:avLst/>
          </a:prstGeom>
          <a:noFill/>
        </p:spPr>
        <p:txBody>
          <a:bodyPr wrap="square">
            <a:spAutoFit/>
          </a:bodyPr>
          <a:lstStyle/>
          <a:p>
            <a:pPr algn="l"/>
            <a:r>
              <a:rPr sz="1100" b="1" i="0">
                <a:solidFill>
                  <a:srgbClr val="1E6B45"/>
                </a:solidFill>
                <a:latin typeface="Calibri"/>
              </a:rPr>
              <a:t>ANALYTICAL MODULES</a:t>
            </a:r>
          </a:p>
        </p:txBody>
      </p:sp>
      <p:sp>
        <p:nvSpPr>
          <p:cNvPr id="55" name="Rectangle 54"/>
          <p:cNvSpPr/>
          <p:nvPr/>
        </p:nvSpPr>
        <p:spPr>
          <a:xfrm>
            <a:off x="6400800" y="1417320"/>
            <a:ext cx="457200" cy="1097280"/>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419088" y="1801368"/>
            <a:ext cx="438912" cy="320040"/>
          </a:xfrm>
          <a:prstGeom prst="rect">
            <a:avLst/>
          </a:prstGeom>
          <a:noFill/>
        </p:spPr>
        <p:txBody>
          <a:bodyPr wrap="square">
            <a:spAutoFit/>
          </a:bodyPr>
          <a:lstStyle/>
          <a:p>
            <a:pPr algn="ctr"/>
            <a:r>
              <a:rPr sz="1100" b="1" i="0">
                <a:solidFill>
                  <a:srgbClr val="FFFFFF"/>
                </a:solidFill>
                <a:latin typeface="Calibri"/>
              </a:rPr>
              <a:t>A</a:t>
            </a:r>
          </a:p>
        </p:txBody>
      </p:sp>
      <p:sp>
        <p:nvSpPr>
          <p:cNvPr id="57" name="Rectangle 56"/>
          <p:cNvSpPr/>
          <p:nvPr/>
        </p:nvSpPr>
        <p:spPr>
          <a:xfrm>
            <a:off x="6858000" y="1417320"/>
            <a:ext cx="5029200" cy="1097280"/>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6967728" y="1508760"/>
            <a:ext cx="4754880" cy="320040"/>
          </a:xfrm>
          <a:prstGeom prst="rect">
            <a:avLst/>
          </a:prstGeom>
          <a:noFill/>
        </p:spPr>
        <p:txBody>
          <a:bodyPr wrap="square">
            <a:spAutoFit/>
          </a:bodyPr>
          <a:lstStyle/>
          <a:p>
            <a:pPr algn="l"/>
            <a:r>
              <a:rPr sz="1200" b="1" i="0">
                <a:solidFill>
                  <a:srgbClr val="1A2E1E"/>
                </a:solidFill>
                <a:latin typeface="Calibri"/>
              </a:rPr>
              <a:t>Supply Signal Index</a:t>
            </a:r>
          </a:p>
        </p:txBody>
      </p:sp>
      <p:sp>
        <p:nvSpPr>
          <p:cNvPr id="59" name="TextBox 58"/>
          <p:cNvSpPr txBox="1"/>
          <p:nvPr/>
        </p:nvSpPr>
        <p:spPr>
          <a:xfrm>
            <a:off x="6967728" y="1856232"/>
            <a:ext cx="4754880" cy="594360"/>
          </a:xfrm>
          <a:prstGeom prst="rect">
            <a:avLst/>
          </a:prstGeom>
          <a:noFill/>
        </p:spPr>
        <p:txBody>
          <a:bodyPr wrap="square">
            <a:spAutoFit/>
          </a:bodyPr>
          <a:lstStyle/>
          <a:p>
            <a:pPr algn="l"/>
            <a:r>
              <a:rPr sz="1000" b="0" i="0">
                <a:solidFill>
                  <a:srgbClr val="5A6A60"/>
                </a:solidFill>
                <a:latin typeface="Calibri"/>
              </a:rPr>
              <a:t>Satellite NDVI anomaly + heat stress days + excess rainfall → weekly supply-risk score per crop</a:t>
            </a:r>
          </a:p>
        </p:txBody>
      </p:sp>
      <p:sp>
        <p:nvSpPr>
          <p:cNvPr id="60" name="Rectangle 59"/>
          <p:cNvSpPr/>
          <p:nvPr/>
        </p:nvSpPr>
        <p:spPr>
          <a:xfrm>
            <a:off x="11338560" y="1801368"/>
            <a:ext cx="685800" cy="274320"/>
          </a:xfrm>
          <a:prstGeom prst="rect">
            <a:avLst/>
          </a:prstGeom>
          <a:solidFill>
            <a:srgbClr val="0B6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11356848" y="1810512"/>
            <a:ext cx="667512" cy="246888"/>
          </a:xfrm>
          <a:prstGeom prst="rect">
            <a:avLst/>
          </a:prstGeom>
          <a:noFill/>
        </p:spPr>
        <p:txBody>
          <a:bodyPr wrap="square">
            <a:spAutoFit/>
          </a:bodyPr>
          <a:lstStyle/>
          <a:p>
            <a:pPr algn="ctr"/>
            <a:r>
              <a:rPr sz="750" b="1" i="0">
                <a:solidFill>
                  <a:srgbClr val="FFFFFF"/>
                </a:solidFill>
                <a:latin typeface="Calibri"/>
              </a:rPr>
              <a:t>RUNNING</a:t>
            </a:r>
          </a:p>
        </p:txBody>
      </p:sp>
      <p:sp>
        <p:nvSpPr>
          <p:cNvPr id="62" name="Rectangle 61"/>
          <p:cNvSpPr/>
          <p:nvPr/>
        </p:nvSpPr>
        <p:spPr>
          <a:xfrm>
            <a:off x="6400800" y="2651760"/>
            <a:ext cx="457200" cy="1097280"/>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6419088" y="3035808"/>
            <a:ext cx="438912" cy="320040"/>
          </a:xfrm>
          <a:prstGeom prst="rect">
            <a:avLst/>
          </a:prstGeom>
          <a:noFill/>
        </p:spPr>
        <p:txBody>
          <a:bodyPr wrap="square">
            <a:spAutoFit/>
          </a:bodyPr>
          <a:lstStyle/>
          <a:p>
            <a:pPr algn="ctr"/>
            <a:r>
              <a:rPr sz="1100" b="1" i="0">
                <a:solidFill>
                  <a:srgbClr val="FFFFFF"/>
                </a:solidFill>
                <a:latin typeface="Calibri"/>
              </a:rPr>
              <a:t>B</a:t>
            </a:r>
          </a:p>
        </p:txBody>
      </p:sp>
      <p:sp>
        <p:nvSpPr>
          <p:cNvPr id="64" name="Rectangle 63"/>
          <p:cNvSpPr/>
          <p:nvPr/>
        </p:nvSpPr>
        <p:spPr>
          <a:xfrm>
            <a:off x="6858000" y="2651760"/>
            <a:ext cx="5029200" cy="1097280"/>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6967728" y="2743200"/>
            <a:ext cx="4754880" cy="320040"/>
          </a:xfrm>
          <a:prstGeom prst="rect">
            <a:avLst/>
          </a:prstGeom>
          <a:noFill/>
        </p:spPr>
        <p:txBody>
          <a:bodyPr wrap="square">
            <a:spAutoFit/>
          </a:bodyPr>
          <a:lstStyle/>
          <a:p>
            <a:pPr algn="l"/>
            <a:r>
              <a:rPr sz="1200" b="1" i="0">
                <a:solidFill>
                  <a:srgbClr val="1A2E1E"/>
                </a:solidFill>
                <a:latin typeface="Calibri"/>
              </a:rPr>
              <a:t>Price Forecasting</a:t>
            </a:r>
          </a:p>
        </p:txBody>
      </p:sp>
      <p:sp>
        <p:nvSpPr>
          <p:cNvPr id="66" name="TextBox 65"/>
          <p:cNvSpPr txBox="1"/>
          <p:nvPr/>
        </p:nvSpPr>
        <p:spPr>
          <a:xfrm>
            <a:off x="6967728" y="3090672"/>
            <a:ext cx="4754880" cy="594360"/>
          </a:xfrm>
          <a:prstGeom prst="rect">
            <a:avLst/>
          </a:prstGeom>
          <a:noFill/>
        </p:spPr>
        <p:txBody>
          <a:bodyPr wrap="square">
            <a:spAutoFit/>
          </a:bodyPr>
          <a:lstStyle/>
          <a:p>
            <a:pPr algn="l"/>
            <a:r>
              <a:rPr sz="1000" b="0" i="0">
                <a:solidFill>
                  <a:srgbClr val="5A6A60"/>
                </a:solidFill>
                <a:latin typeface="Calibri"/>
              </a:rPr>
              <a:t>LightGBM + TFT · 4 horizons (1/2/4/8 weeks) · 4-fold rolling-origin CV · Spike classifier</a:t>
            </a:r>
          </a:p>
        </p:txBody>
      </p:sp>
      <p:sp>
        <p:nvSpPr>
          <p:cNvPr id="67" name="Rectangle 66"/>
          <p:cNvSpPr/>
          <p:nvPr/>
        </p:nvSpPr>
        <p:spPr>
          <a:xfrm>
            <a:off x="11338560" y="3035808"/>
            <a:ext cx="685800" cy="274320"/>
          </a:xfrm>
          <a:prstGeom prst="rect">
            <a:avLst/>
          </a:prstGeom>
          <a:solidFill>
            <a:srgbClr val="0B6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11356848" y="3044952"/>
            <a:ext cx="667512" cy="246888"/>
          </a:xfrm>
          <a:prstGeom prst="rect">
            <a:avLst/>
          </a:prstGeom>
          <a:noFill/>
        </p:spPr>
        <p:txBody>
          <a:bodyPr wrap="square">
            <a:spAutoFit/>
          </a:bodyPr>
          <a:lstStyle/>
          <a:p>
            <a:pPr algn="ctr"/>
            <a:r>
              <a:rPr sz="750" b="1" i="0">
                <a:solidFill>
                  <a:srgbClr val="FFFFFF"/>
                </a:solidFill>
                <a:latin typeface="Calibri"/>
              </a:rPr>
              <a:t>RUNNING</a:t>
            </a:r>
          </a:p>
        </p:txBody>
      </p:sp>
      <p:sp>
        <p:nvSpPr>
          <p:cNvPr id="69" name="Rectangle 68"/>
          <p:cNvSpPr/>
          <p:nvPr/>
        </p:nvSpPr>
        <p:spPr>
          <a:xfrm>
            <a:off x="6400800" y="3886200"/>
            <a:ext cx="457200" cy="1097280"/>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6419088" y="4270248"/>
            <a:ext cx="438912" cy="320040"/>
          </a:xfrm>
          <a:prstGeom prst="rect">
            <a:avLst/>
          </a:prstGeom>
          <a:noFill/>
        </p:spPr>
        <p:txBody>
          <a:bodyPr wrap="square">
            <a:spAutoFit/>
          </a:bodyPr>
          <a:lstStyle/>
          <a:p>
            <a:pPr algn="ctr"/>
            <a:r>
              <a:rPr sz="1100" b="1" i="0">
                <a:solidFill>
                  <a:srgbClr val="FFFFFF"/>
                </a:solidFill>
                <a:latin typeface="Calibri"/>
              </a:rPr>
              <a:t>C</a:t>
            </a:r>
          </a:p>
        </p:txBody>
      </p:sp>
      <p:sp>
        <p:nvSpPr>
          <p:cNvPr id="71" name="Rectangle 70"/>
          <p:cNvSpPr/>
          <p:nvPr/>
        </p:nvSpPr>
        <p:spPr>
          <a:xfrm>
            <a:off x="6858000" y="3886200"/>
            <a:ext cx="5029200" cy="1097280"/>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6967728" y="3977639"/>
            <a:ext cx="4754880" cy="320040"/>
          </a:xfrm>
          <a:prstGeom prst="rect">
            <a:avLst/>
          </a:prstGeom>
          <a:noFill/>
        </p:spPr>
        <p:txBody>
          <a:bodyPr wrap="square">
            <a:spAutoFit/>
          </a:bodyPr>
          <a:lstStyle/>
          <a:p>
            <a:pPr algn="l"/>
            <a:r>
              <a:rPr sz="1200" b="1" i="0">
                <a:solidFill>
                  <a:srgbClr val="1A2E1E"/>
                </a:solidFill>
                <a:latin typeface="Calibri"/>
              </a:rPr>
              <a:t>Market Network</a:t>
            </a:r>
          </a:p>
        </p:txBody>
      </p:sp>
      <p:sp>
        <p:nvSpPr>
          <p:cNvPr id="73" name="TextBox 72"/>
          <p:cNvSpPr txBox="1"/>
          <p:nvPr/>
        </p:nvSpPr>
        <p:spPr>
          <a:xfrm>
            <a:off x="6967728" y="4325112"/>
            <a:ext cx="4754880" cy="594360"/>
          </a:xfrm>
          <a:prstGeom prst="rect">
            <a:avLst/>
          </a:prstGeom>
          <a:noFill/>
        </p:spPr>
        <p:txBody>
          <a:bodyPr wrap="square">
            <a:spAutoFit/>
          </a:bodyPr>
          <a:lstStyle/>
          <a:p>
            <a:pPr algn="l"/>
            <a:r>
              <a:rPr sz="1000" b="0" i="0">
                <a:solidFill>
                  <a:srgbClr val="5A6A60"/>
                </a:solidFill>
                <a:latin typeface="Calibri"/>
              </a:rPr>
              <a:t>Granger causality · Leader-follower identification · Shock transmission analysis</a:t>
            </a:r>
          </a:p>
        </p:txBody>
      </p:sp>
      <p:sp>
        <p:nvSpPr>
          <p:cNvPr id="74" name="Rectangle 73"/>
          <p:cNvSpPr/>
          <p:nvPr/>
        </p:nvSpPr>
        <p:spPr>
          <a:xfrm>
            <a:off x="11338560" y="4270248"/>
            <a:ext cx="685800" cy="274320"/>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11356848" y="4279392"/>
            <a:ext cx="667512" cy="246888"/>
          </a:xfrm>
          <a:prstGeom prst="rect">
            <a:avLst/>
          </a:prstGeom>
          <a:noFill/>
        </p:spPr>
        <p:txBody>
          <a:bodyPr wrap="square">
            <a:spAutoFit/>
          </a:bodyPr>
          <a:lstStyle/>
          <a:p>
            <a:pPr algn="ctr"/>
            <a:r>
              <a:rPr sz="750" b="1" i="0">
                <a:solidFill>
                  <a:srgbClr val="FFFFFF"/>
                </a:solidFill>
                <a:latin typeface="Calibri"/>
              </a:rPr>
              <a:t>PLANNED</a:t>
            </a:r>
          </a:p>
        </p:txBody>
      </p:sp>
      <p:sp>
        <p:nvSpPr>
          <p:cNvPr id="76" name="Rectangle 75"/>
          <p:cNvSpPr/>
          <p:nvPr/>
        </p:nvSpPr>
        <p:spPr>
          <a:xfrm>
            <a:off x="6400800" y="5120640"/>
            <a:ext cx="457200" cy="1097280"/>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6419088" y="5504688"/>
            <a:ext cx="438912" cy="320040"/>
          </a:xfrm>
          <a:prstGeom prst="rect">
            <a:avLst/>
          </a:prstGeom>
          <a:noFill/>
        </p:spPr>
        <p:txBody>
          <a:bodyPr wrap="square">
            <a:spAutoFit/>
          </a:bodyPr>
          <a:lstStyle/>
          <a:p>
            <a:pPr algn="ctr"/>
            <a:r>
              <a:rPr sz="1100" b="1" i="0">
                <a:solidFill>
                  <a:srgbClr val="FFFFFF"/>
                </a:solidFill>
                <a:latin typeface="Calibri"/>
              </a:rPr>
              <a:t>D</a:t>
            </a:r>
          </a:p>
        </p:txBody>
      </p:sp>
      <p:sp>
        <p:nvSpPr>
          <p:cNvPr id="78" name="Rectangle 77"/>
          <p:cNvSpPr/>
          <p:nvPr/>
        </p:nvSpPr>
        <p:spPr>
          <a:xfrm>
            <a:off x="6858000" y="5120640"/>
            <a:ext cx="5029200" cy="1097280"/>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6967728" y="5212080"/>
            <a:ext cx="4754880" cy="320040"/>
          </a:xfrm>
          <a:prstGeom prst="rect">
            <a:avLst/>
          </a:prstGeom>
          <a:noFill/>
        </p:spPr>
        <p:txBody>
          <a:bodyPr wrap="square">
            <a:spAutoFit/>
          </a:bodyPr>
          <a:lstStyle/>
          <a:p>
            <a:pPr algn="l"/>
            <a:r>
              <a:rPr sz="1200" b="1" i="0">
                <a:solidFill>
                  <a:srgbClr val="1A2E1E"/>
                </a:solidFill>
                <a:latin typeface="Calibri"/>
              </a:rPr>
              <a:t>Scenario Stress Testing</a:t>
            </a:r>
          </a:p>
        </p:txBody>
      </p:sp>
      <p:sp>
        <p:nvSpPr>
          <p:cNvPr id="80" name="TextBox 79"/>
          <p:cNvSpPr txBox="1"/>
          <p:nvPr/>
        </p:nvSpPr>
        <p:spPr>
          <a:xfrm>
            <a:off x="6967728" y="5559552"/>
            <a:ext cx="4754880" cy="594360"/>
          </a:xfrm>
          <a:prstGeom prst="rect">
            <a:avLst/>
          </a:prstGeom>
          <a:noFill/>
        </p:spPr>
        <p:txBody>
          <a:bodyPr wrap="square">
            <a:spAutoFit/>
          </a:bodyPr>
          <a:lstStyle/>
          <a:p>
            <a:pPr algn="l"/>
            <a:r>
              <a:rPr sz="1000" b="0" i="0">
                <a:solidFill>
                  <a:srgbClr val="5A6A60"/>
                </a:solidFill>
                <a:latin typeface="Calibri"/>
              </a:rPr>
              <a:t>Export ban shock · Climate scenario · Fuel price shock · Storage capacity shock</a:t>
            </a:r>
          </a:p>
        </p:txBody>
      </p:sp>
      <p:sp>
        <p:nvSpPr>
          <p:cNvPr id="81" name="Rectangle 80"/>
          <p:cNvSpPr/>
          <p:nvPr/>
        </p:nvSpPr>
        <p:spPr>
          <a:xfrm>
            <a:off x="11338560" y="5504688"/>
            <a:ext cx="685800" cy="274320"/>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11356848" y="5513832"/>
            <a:ext cx="667512" cy="246888"/>
          </a:xfrm>
          <a:prstGeom prst="rect">
            <a:avLst/>
          </a:prstGeom>
          <a:noFill/>
        </p:spPr>
        <p:txBody>
          <a:bodyPr wrap="square">
            <a:spAutoFit/>
          </a:bodyPr>
          <a:lstStyle/>
          <a:p>
            <a:pPr algn="ctr"/>
            <a:r>
              <a:rPr sz="750" b="1" i="0">
                <a:solidFill>
                  <a:srgbClr val="FFFFFF"/>
                </a:solidFill>
                <a:latin typeface="Calibri"/>
              </a:rPr>
              <a:t>PLANNED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64008" cy="6858000"/>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 y="0"/>
            <a:ext cx="12124944" cy="960120"/>
          </a:xfrm>
          <a:prstGeom prst="rect">
            <a:avLst/>
          </a:prstGeom>
          <a:solidFill>
            <a:srgbClr val="0D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4008" y="960120"/>
            <a:ext cx="12124944" cy="32004"/>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 y="64008"/>
            <a:ext cx="11704320" cy="475488"/>
          </a:xfrm>
          <a:prstGeom prst="rect">
            <a:avLst/>
          </a:prstGeom>
          <a:noFill/>
        </p:spPr>
        <p:txBody>
          <a:bodyPr wrap="square">
            <a:spAutoFit/>
          </a:bodyPr>
          <a:lstStyle/>
          <a:p>
            <a:pPr algn="l"/>
            <a:r>
              <a:rPr sz="2100" b="1" i="0">
                <a:solidFill>
                  <a:srgbClr val="FFFFFF"/>
                </a:solidFill>
                <a:latin typeface="Calibri"/>
              </a:rPr>
              <a:t>Study Design</a:t>
            </a:r>
          </a:p>
        </p:txBody>
      </p:sp>
      <p:sp>
        <p:nvSpPr>
          <p:cNvPr id="6" name="TextBox 5"/>
          <p:cNvSpPr txBox="1"/>
          <p:nvPr/>
        </p:nvSpPr>
        <p:spPr>
          <a:xfrm>
            <a:off x="201168" y="548640"/>
            <a:ext cx="11704320" cy="365760"/>
          </a:xfrm>
          <a:prstGeom prst="rect">
            <a:avLst/>
          </a:prstGeom>
          <a:noFill/>
        </p:spPr>
        <p:txBody>
          <a:bodyPr wrap="square">
            <a:spAutoFit/>
          </a:bodyPr>
          <a:lstStyle/>
          <a:p>
            <a:pPr algn="l"/>
            <a:r>
              <a:rPr sz="1300" b="0" i="1">
                <a:solidFill>
                  <a:srgbClr val="C8DDD0"/>
                </a:solidFill>
                <a:latin typeface="Calibri"/>
              </a:rPr>
              <a:t>Nine years of weekly panel data with rolling-origin cross-validation</a:t>
            </a:r>
          </a:p>
        </p:txBody>
      </p:sp>
      <p:sp>
        <p:nvSpPr>
          <p:cNvPr id="7" name="Rectangle 6"/>
          <p:cNvSpPr/>
          <p:nvPr/>
        </p:nvSpPr>
        <p:spPr>
          <a:xfrm>
            <a:off x="0" y="6565392"/>
            <a:ext cx="12188952" cy="292608"/>
          </a:xfrm>
          <a:prstGeom prst="rect">
            <a:avLst/>
          </a:prstGeom>
          <a:solidFill>
            <a:srgbClr val="0D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01168" y="6583680"/>
            <a:ext cx="7315200" cy="237744"/>
          </a:xfrm>
          <a:prstGeom prst="rect">
            <a:avLst/>
          </a:prstGeom>
          <a:noFill/>
        </p:spPr>
        <p:txBody>
          <a:bodyPr wrap="square">
            <a:spAutoFit/>
          </a:bodyPr>
          <a:lstStyle/>
          <a:p>
            <a:pPr algn="l"/>
            <a:r>
              <a:rPr sz="850" b="0" i="0">
                <a:solidFill>
                  <a:srgbClr val="C8DDD0"/>
                </a:solidFill>
                <a:latin typeface="Calibri"/>
              </a:rPr>
              <a:t>TOP Digital Twin  ·  SKUAST-K  ·  HADP-04  ·  July 2026</a:t>
            </a:r>
          </a:p>
        </p:txBody>
      </p:sp>
      <p:sp>
        <p:nvSpPr>
          <p:cNvPr id="9" name="TextBox 8"/>
          <p:cNvSpPr txBox="1"/>
          <p:nvPr/>
        </p:nvSpPr>
        <p:spPr>
          <a:xfrm>
            <a:off x="7589520" y="6583680"/>
            <a:ext cx="4389120" cy="237744"/>
          </a:xfrm>
          <a:prstGeom prst="rect">
            <a:avLst/>
          </a:prstGeom>
          <a:noFill/>
        </p:spPr>
        <p:txBody>
          <a:bodyPr wrap="square">
            <a:spAutoFit/>
          </a:bodyPr>
          <a:lstStyle/>
          <a:p>
            <a:pPr algn="r"/>
            <a:r>
              <a:rPr sz="850" b="0" i="0">
                <a:solidFill>
                  <a:srgbClr val="C8DDD0"/>
                </a:solidFill>
                <a:latin typeface="Calibri"/>
              </a:rPr>
              <a:t>CONFIDENTIAL — PI REVIEW</a:t>
            </a:r>
          </a:p>
        </p:txBody>
      </p:sp>
      <p:sp>
        <p:nvSpPr>
          <p:cNvPr id="10" name="Rectangle 9"/>
          <p:cNvSpPr/>
          <p:nvPr/>
        </p:nvSpPr>
        <p:spPr>
          <a:xfrm>
            <a:off x="182880" y="1115568"/>
            <a:ext cx="2148840" cy="1024128"/>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82880" y="1217980"/>
            <a:ext cx="2148840" cy="532546"/>
          </a:xfrm>
          <a:prstGeom prst="rect">
            <a:avLst/>
          </a:prstGeom>
          <a:noFill/>
        </p:spPr>
        <p:txBody>
          <a:bodyPr wrap="square">
            <a:spAutoFit/>
          </a:bodyPr>
          <a:lstStyle/>
          <a:p>
            <a:pPr algn="ctr"/>
            <a:r>
              <a:rPr sz="2200" b="1" i="0">
                <a:solidFill>
                  <a:srgbClr val="FFFFFF"/>
                </a:solidFill>
                <a:latin typeface="Calibri"/>
              </a:rPr>
              <a:t>9 Years</a:t>
            </a:r>
          </a:p>
        </p:txBody>
      </p:sp>
      <p:sp>
        <p:nvSpPr>
          <p:cNvPr id="12" name="TextBox 11"/>
          <p:cNvSpPr txBox="1"/>
          <p:nvPr/>
        </p:nvSpPr>
        <p:spPr>
          <a:xfrm>
            <a:off x="228600" y="1750527"/>
            <a:ext cx="2057400" cy="358444"/>
          </a:xfrm>
          <a:prstGeom prst="rect">
            <a:avLst/>
          </a:prstGeom>
          <a:noFill/>
        </p:spPr>
        <p:txBody>
          <a:bodyPr wrap="square">
            <a:spAutoFit/>
          </a:bodyPr>
          <a:lstStyle/>
          <a:p>
            <a:pPr algn="ctr"/>
            <a:r>
              <a:rPr sz="900" b="0" i="0">
                <a:solidFill>
                  <a:srgbClr val="FFFFFF"/>
                </a:solidFill>
                <a:latin typeface="Calibri"/>
              </a:rPr>
              <a:t>Study Period
2017–2025</a:t>
            </a:r>
          </a:p>
        </p:txBody>
      </p:sp>
      <p:sp>
        <p:nvSpPr>
          <p:cNvPr id="13" name="Rectangle 12"/>
          <p:cNvSpPr/>
          <p:nvPr/>
        </p:nvSpPr>
        <p:spPr>
          <a:xfrm>
            <a:off x="2560320" y="1115568"/>
            <a:ext cx="2148840" cy="1024128"/>
          </a:xfrm>
          <a:prstGeom prst="rect">
            <a:avLst/>
          </a:prstGeom>
          <a:solidFill>
            <a:srgbClr val="1435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560320" y="1217980"/>
            <a:ext cx="2148840" cy="532546"/>
          </a:xfrm>
          <a:prstGeom prst="rect">
            <a:avLst/>
          </a:prstGeom>
          <a:noFill/>
        </p:spPr>
        <p:txBody>
          <a:bodyPr wrap="square">
            <a:spAutoFit/>
          </a:bodyPr>
          <a:lstStyle/>
          <a:p>
            <a:pPr algn="ctr"/>
            <a:r>
              <a:rPr sz="2200" b="1" i="0">
                <a:solidFill>
                  <a:srgbClr val="FFFFFF"/>
                </a:solidFill>
                <a:latin typeface="Calibri"/>
              </a:rPr>
              <a:t>470</a:t>
            </a:r>
          </a:p>
        </p:txBody>
      </p:sp>
      <p:sp>
        <p:nvSpPr>
          <p:cNvPr id="15" name="TextBox 14"/>
          <p:cNvSpPr txBox="1"/>
          <p:nvPr/>
        </p:nvSpPr>
        <p:spPr>
          <a:xfrm>
            <a:off x="2606040" y="1750527"/>
            <a:ext cx="2057400" cy="358444"/>
          </a:xfrm>
          <a:prstGeom prst="rect">
            <a:avLst/>
          </a:prstGeom>
          <a:noFill/>
        </p:spPr>
        <p:txBody>
          <a:bodyPr wrap="square">
            <a:spAutoFit/>
          </a:bodyPr>
          <a:lstStyle/>
          <a:p>
            <a:pPr algn="ctr"/>
            <a:r>
              <a:rPr sz="900" b="0" i="0">
                <a:solidFill>
                  <a:srgbClr val="FFFFFF"/>
                </a:solidFill>
                <a:latin typeface="Calibri"/>
              </a:rPr>
              <a:t>ISO Weeks
(Complete Panel)</a:t>
            </a:r>
          </a:p>
        </p:txBody>
      </p:sp>
      <p:sp>
        <p:nvSpPr>
          <p:cNvPr id="16" name="Rectangle 15"/>
          <p:cNvSpPr/>
          <p:nvPr/>
        </p:nvSpPr>
        <p:spPr>
          <a:xfrm>
            <a:off x="4937760" y="1115568"/>
            <a:ext cx="2148840" cy="1024128"/>
          </a:xfrm>
          <a:prstGeom prst="rect">
            <a:avLst/>
          </a:prstGeom>
          <a:solidFill>
            <a:srgbClr val="0B4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937760" y="1217980"/>
            <a:ext cx="2148840" cy="532546"/>
          </a:xfrm>
          <a:prstGeom prst="rect">
            <a:avLst/>
          </a:prstGeom>
          <a:noFill/>
        </p:spPr>
        <p:txBody>
          <a:bodyPr wrap="square">
            <a:spAutoFit/>
          </a:bodyPr>
          <a:lstStyle/>
          <a:p>
            <a:pPr algn="ctr"/>
            <a:r>
              <a:rPr sz="2200" b="1" i="0">
                <a:solidFill>
                  <a:srgbClr val="FFFFFF"/>
                </a:solidFill>
                <a:latin typeface="Calibri"/>
              </a:rPr>
              <a:t>3 Crops</a:t>
            </a:r>
          </a:p>
        </p:txBody>
      </p:sp>
      <p:sp>
        <p:nvSpPr>
          <p:cNvPr id="18" name="TextBox 17"/>
          <p:cNvSpPr txBox="1"/>
          <p:nvPr/>
        </p:nvSpPr>
        <p:spPr>
          <a:xfrm>
            <a:off x="4983480" y="1750527"/>
            <a:ext cx="2057400" cy="358444"/>
          </a:xfrm>
          <a:prstGeom prst="rect">
            <a:avLst/>
          </a:prstGeom>
          <a:noFill/>
        </p:spPr>
        <p:txBody>
          <a:bodyPr wrap="square">
            <a:spAutoFit/>
          </a:bodyPr>
          <a:lstStyle/>
          <a:p>
            <a:pPr algn="ctr"/>
            <a:r>
              <a:rPr sz="900" b="0" i="0">
                <a:solidFill>
                  <a:srgbClr val="FFFFFF"/>
                </a:solidFill>
                <a:latin typeface="Calibri"/>
              </a:rPr>
              <a:t>Tomato · Onion
Potato</a:t>
            </a:r>
          </a:p>
        </p:txBody>
      </p:sp>
      <p:sp>
        <p:nvSpPr>
          <p:cNvPr id="19" name="Rectangle 18"/>
          <p:cNvSpPr/>
          <p:nvPr/>
        </p:nvSpPr>
        <p:spPr>
          <a:xfrm>
            <a:off x="7315200" y="1115568"/>
            <a:ext cx="2148840" cy="1024128"/>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315200" y="1217980"/>
            <a:ext cx="2148840" cy="532546"/>
          </a:xfrm>
          <a:prstGeom prst="rect">
            <a:avLst/>
          </a:prstGeom>
          <a:noFill/>
        </p:spPr>
        <p:txBody>
          <a:bodyPr wrap="square">
            <a:spAutoFit/>
          </a:bodyPr>
          <a:lstStyle/>
          <a:p>
            <a:pPr algn="ctr"/>
            <a:r>
              <a:rPr sz="2200" b="1" i="0">
                <a:solidFill>
                  <a:srgbClr val="FFFFFF"/>
                </a:solidFill>
                <a:latin typeface="Calibri"/>
              </a:rPr>
              <a:t>2,495</a:t>
            </a:r>
          </a:p>
        </p:txBody>
      </p:sp>
      <p:sp>
        <p:nvSpPr>
          <p:cNvPr id="21" name="TextBox 20"/>
          <p:cNvSpPr txBox="1"/>
          <p:nvPr/>
        </p:nvSpPr>
        <p:spPr>
          <a:xfrm>
            <a:off x="7360920" y="1750527"/>
            <a:ext cx="2057400" cy="358444"/>
          </a:xfrm>
          <a:prstGeom prst="rect">
            <a:avLst/>
          </a:prstGeom>
          <a:noFill/>
        </p:spPr>
        <p:txBody>
          <a:bodyPr wrap="square">
            <a:spAutoFit/>
          </a:bodyPr>
          <a:lstStyle/>
          <a:p>
            <a:pPr algn="ctr"/>
            <a:r>
              <a:rPr sz="900" b="0" i="0">
                <a:solidFill>
                  <a:srgbClr val="FFFFFF"/>
                </a:solidFill>
                <a:latin typeface="Calibri"/>
              </a:rPr>
              <a:t>Qualifying
APMC Markets</a:t>
            </a:r>
          </a:p>
        </p:txBody>
      </p:sp>
      <p:sp>
        <p:nvSpPr>
          <p:cNvPr id="22" name="Rectangle 21"/>
          <p:cNvSpPr/>
          <p:nvPr/>
        </p:nvSpPr>
        <p:spPr>
          <a:xfrm>
            <a:off x="9692640" y="1115568"/>
            <a:ext cx="2148840" cy="1024128"/>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692640" y="1217980"/>
            <a:ext cx="2148840" cy="532546"/>
          </a:xfrm>
          <a:prstGeom prst="rect">
            <a:avLst/>
          </a:prstGeom>
          <a:noFill/>
        </p:spPr>
        <p:txBody>
          <a:bodyPr wrap="square">
            <a:spAutoFit/>
          </a:bodyPr>
          <a:lstStyle/>
          <a:p>
            <a:pPr algn="ctr"/>
            <a:r>
              <a:rPr sz="2200" b="1" i="0">
                <a:solidFill>
                  <a:srgbClr val="FFFFFF"/>
                </a:solidFill>
                <a:latin typeface="Calibri"/>
              </a:rPr>
              <a:t>4-Fold</a:t>
            </a:r>
          </a:p>
        </p:txBody>
      </p:sp>
      <p:sp>
        <p:nvSpPr>
          <p:cNvPr id="24" name="TextBox 23"/>
          <p:cNvSpPr txBox="1"/>
          <p:nvPr/>
        </p:nvSpPr>
        <p:spPr>
          <a:xfrm>
            <a:off x="9738360" y="1750527"/>
            <a:ext cx="2057400" cy="358444"/>
          </a:xfrm>
          <a:prstGeom prst="rect">
            <a:avLst/>
          </a:prstGeom>
          <a:noFill/>
        </p:spPr>
        <p:txBody>
          <a:bodyPr wrap="square">
            <a:spAutoFit/>
          </a:bodyPr>
          <a:lstStyle/>
          <a:p>
            <a:pPr algn="ctr"/>
            <a:r>
              <a:rPr sz="900" b="0" i="0">
                <a:solidFill>
                  <a:srgbClr val="FFFFFF"/>
                </a:solidFill>
                <a:latin typeface="Calibri"/>
              </a:rPr>
              <a:t>Rolling-Origin
CV Design</a:t>
            </a:r>
          </a:p>
        </p:txBody>
      </p:sp>
      <p:sp>
        <p:nvSpPr>
          <p:cNvPr id="25" name="TextBox 24"/>
          <p:cNvSpPr txBox="1"/>
          <p:nvPr/>
        </p:nvSpPr>
        <p:spPr>
          <a:xfrm>
            <a:off x="182880" y="2331720"/>
            <a:ext cx="11795760" cy="347472"/>
          </a:xfrm>
          <a:prstGeom prst="rect">
            <a:avLst/>
          </a:prstGeom>
          <a:noFill/>
        </p:spPr>
        <p:txBody>
          <a:bodyPr wrap="square">
            <a:spAutoFit/>
          </a:bodyPr>
          <a:lstStyle/>
          <a:p>
            <a:pPr algn="l"/>
            <a:r>
              <a:rPr sz="1100" b="1" i="0">
                <a:solidFill>
                  <a:srgbClr val="1A2E1E"/>
                </a:solidFill>
                <a:latin typeface="Calibri"/>
              </a:rPr>
              <a:t>ROLLING-ORIGIN CROSS-VALIDATION DESIGN  (one panel per crop)</a:t>
            </a:r>
          </a:p>
        </p:txBody>
      </p:sp>
      <p:sp>
        <p:nvSpPr>
          <p:cNvPr id="26" name="Rectangle 25"/>
          <p:cNvSpPr/>
          <p:nvPr/>
        </p:nvSpPr>
        <p:spPr>
          <a:xfrm>
            <a:off x="182880" y="2724912"/>
            <a:ext cx="4572000" cy="502920"/>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74320" y="2816352"/>
            <a:ext cx="4434840" cy="320040"/>
          </a:xfrm>
          <a:prstGeom prst="rect">
            <a:avLst/>
          </a:prstGeom>
          <a:noFill/>
        </p:spPr>
        <p:txBody>
          <a:bodyPr wrap="square">
            <a:spAutoFit/>
          </a:bodyPr>
          <a:lstStyle/>
          <a:p>
            <a:pPr algn="ctr"/>
            <a:r>
              <a:rPr sz="950" b="1" i="0">
                <a:solidFill>
                  <a:srgbClr val="FFFFFF"/>
                </a:solidFill>
                <a:latin typeface="Calibri"/>
              </a:rPr>
              <a:t>TRAINING  2017–2021</a:t>
            </a:r>
          </a:p>
        </p:txBody>
      </p:sp>
      <p:sp>
        <p:nvSpPr>
          <p:cNvPr id="28" name="Rectangle 27"/>
          <p:cNvSpPr/>
          <p:nvPr/>
        </p:nvSpPr>
        <p:spPr>
          <a:xfrm>
            <a:off x="4800600" y="2724912"/>
            <a:ext cx="1508760" cy="502920"/>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892040" y="2816352"/>
            <a:ext cx="1371600" cy="320040"/>
          </a:xfrm>
          <a:prstGeom prst="rect">
            <a:avLst/>
          </a:prstGeom>
          <a:noFill/>
        </p:spPr>
        <p:txBody>
          <a:bodyPr wrap="square">
            <a:spAutoFit/>
          </a:bodyPr>
          <a:lstStyle/>
          <a:p>
            <a:pPr algn="ctr"/>
            <a:r>
              <a:rPr sz="950" b="1" i="0">
                <a:solidFill>
                  <a:srgbClr val="FFFFFF"/>
                </a:solidFill>
                <a:latin typeface="Calibri"/>
              </a:rPr>
              <a:t>TEST 2022</a:t>
            </a:r>
          </a:p>
        </p:txBody>
      </p:sp>
      <p:sp>
        <p:nvSpPr>
          <p:cNvPr id="30" name="Rectangle 29"/>
          <p:cNvSpPr/>
          <p:nvPr/>
        </p:nvSpPr>
        <p:spPr>
          <a:xfrm>
            <a:off x="6355080" y="2724912"/>
            <a:ext cx="1188720" cy="502920"/>
          </a:xfrm>
          <a:prstGeom prst="rect">
            <a:avLst/>
          </a:prstGeom>
          <a:solidFill>
            <a:srgbClr val="0D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46520" y="2816352"/>
            <a:ext cx="1051560" cy="320040"/>
          </a:xfrm>
          <a:prstGeom prst="rect">
            <a:avLst/>
          </a:prstGeom>
          <a:noFill/>
        </p:spPr>
        <p:txBody>
          <a:bodyPr wrap="square">
            <a:spAutoFit/>
          </a:bodyPr>
          <a:lstStyle/>
          <a:p>
            <a:pPr algn="ctr"/>
            <a:r>
              <a:rPr sz="950" b="1" i="0">
                <a:solidFill>
                  <a:srgbClr val="FFFFFF"/>
                </a:solidFill>
                <a:latin typeface="Calibri"/>
              </a:rPr>
              <a:t>Fold 1</a:t>
            </a:r>
          </a:p>
        </p:txBody>
      </p:sp>
      <p:sp>
        <p:nvSpPr>
          <p:cNvPr id="32" name="Rectangle 31"/>
          <p:cNvSpPr/>
          <p:nvPr/>
        </p:nvSpPr>
        <p:spPr>
          <a:xfrm>
            <a:off x="7589520" y="2724912"/>
            <a:ext cx="4389120" cy="502920"/>
          </a:xfrm>
          <a:prstGeom prst="rect">
            <a:avLst/>
          </a:prstGeom>
          <a:solidFill>
            <a:srgbClr val="D5E5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182880" y="3337560"/>
            <a:ext cx="4617720" cy="502920"/>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74320" y="3429000"/>
            <a:ext cx="4526280" cy="320040"/>
          </a:xfrm>
          <a:prstGeom prst="rect">
            <a:avLst/>
          </a:prstGeom>
          <a:noFill/>
        </p:spPr>
        <p:txBody>
          <a:bodyPr wrap="square">
            <a:spAutoFit/>
          </a:bodyPr>
          <a:lstStyle/>
          <a:p>
            <a:pPr algn="ctr"/>
            <a:r>
              <a:rPr sz="950" b="1" i="0">
                <a:solidFill>
                  <a:srgbClr val="FFFFFF"/>
                </a:solidFill>
                <a:latin typeface="Calibri"/>
              </a:rPr>
              <a:t>TRAINING  2017–2022</a:t>
            </a:r>
          </a:p>
        </p:txBody>
      </p:sp>
      <p:sp>
        <p:nvSpPr>
          <p:cNvPr id="35" name="Rectangle 34"/>
          <p:cNvSpPr/>
          <p:nvPr/>
        </p:nvSpPr>
        <p:spPr>
          <a:xfrm>
            <a:off x="4846320" y="3337560"/>
            <a:ext cx="2651760" cy="502920"/>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892040" y="3429000"/>
            <a:ext cx="2560320" cy="320040"/>
          </a:xfrm>
          <a:prstGeom prst="rect">
            <a:avLst/>
          </a:prstGeom>
          <a:noFill/>
        </p:spPr>
        <p:txBody>
          <a:bodyPr wrap="square">
            <a:spAutoFit/>
          </a:bodyPr>
          <a:lstStyle/>
          <a:p>
            <a:pPr algn="ctr"/>
            <a:r>
              <a:rPr sz="950" b="1" i="0">
                <a:solidFill>
                  <a:srgbClr val="FFFFFF"/>
                </a:solidFill>
                <a:latin typeface="Calibri"/>
              </a:rPr>
              <a:t>TEST  2023</a:t>
            </a:r>
          </a:p>
        </p:txBody>
      </p:sp>
      <p:sp>
        <p:nvSpPr>
          <p:cNvPr id="37" name="Rectangle 36"/>
          <p:cNvSpPr/>
          <p:nvPr/>
        </p:nvSpPr>
        <p:spPr>
          <a:xfrm>
            <a:off x="7543800" y="3337560"/>
            <a:ext cx="4462272" cy="502920"/>
          </a:xfrm>
          <a:prstGeom prst="rect">
            <a:avLst/>
          </a:prstGeom>
          <a:solidFill>
            <a:srgbClr val="D5E5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5720" y="3493008"/>
            <a:ext cx="146304" cy="228600"/>
          </a:xfrm>
          <a:prstGeom prst="rect">
            <a:avLst/>
          </a:prstGeom>
          <a:noFill/>
        </p:spPr>
        <p:txBody>
          <a:bodyPr wrap="square">
            <a:spAutoFit/>
          </a:bodyPr>
          <a:lstStyle/>
          <a:p>
            <a:pPr algn="ctr"/>
            <a:r>
              <a:rPr sz="800" b="1" i="0">
                <a:solidFill>
                  <a:srgbClr val="0D2240"/>
                </a:solidFill>
                <a:latin typeface="Calibri"/>
              </a:rPr>
              <a:t>F2</a:t>
            </a:r>
          </a:p>
        </p:txBody>
      </p:sp>
      <p:sp>
        <p:nvSpPr>
          <p:cNvPr id="39" name="Rectangle 38"/>
          <p:cNvSpPr/>
          <p:nvPr/>
        </p:nvSpPr>
        <p:spPr>
          <a:xfrm>
            <a:off x="182880" y="3977639"/>
            <a:ext cx="4617720" cy="502920"/>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74320" y="4069079"/>
            <a:ext cx="4526280" cy="320040"/>
          </a:xfrm>
          <a:prstGeom prst="rect">
            <a:avLst/>
          </a:prstGeom>
          <a:noFill/>
        </p:spPr>
        <p:txBody>
          <a:bodyPr wrap="square">
            <a:spAutoFit/>
          </a:bodyPr>
          <a:lstStyle/>
          <a:p>
            <a:pPr algn="ctr"/>
            <a:r>
              <a:rPr sz="950" b="1" i="0">
                <a:solidFill>
                  <a:srgbClr val="FFFFFF"/>
                </a:solidFill>
                <a:latin typeface="Calibri"/>
              </a:rPr>
              <a:t>TRAINING  2017–2023</a:t>
            </a:r>
          </a:p>
        </p:txBody>
      </p:sp>
      <p:sp>
        <p:nvSpPr>
          <p:cNvPr id="41" name="Rectangle 40"/>
          <p:cNvSpPr/>
          <p:nvPr/>
        </p:nvSpPr>
        <p:spPr>
          <a:xfrm>
            <a:off x="4846320" y="3977639"/>
            <a:ext cx="4160520" cy="502920"/>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892040" y="4069079"/>
            <a:ext cx="4069080" cy="320040"/>
          </a:xfrm>
          <a:prstGeom prst="rect">
            <a:avLst/>
          </a:prstGeom>
          <a:noFill/>
        </p:spPr>
        <p:txBody>
          <a:bodyPr wrap="square">
            <a:spAutoFit/>
          </a:bodyPr>
          <a:lstStyle/>
          <a:p>
            <a:pPr algn="ctr"/>
            <a:r>
              <a:rPr sz="950" b="1" i="0">
                <a:solidFill>
                  <a:srgbClr val="FFFFFF"/>
                </a:solidFill>
                <a:latin typeface="Calibri"/>
              </a:rPr>
              <a:t>TEST  2024</a:t>
            </a:r>
          </a:p>
        </p:txBody>
      </p:sp>
      <p:sp>
        <p:nvSpPr>
          <p:cNvPr id="43" name="Rectangle 42"/>
          <p:cNvSpPr/>
          <p:nvPr/>
        </p:nvSpPr>
        <p:spPr>
          <a:xfrm>
            <a:off x="9052560" y="3977639"/>
            <a:ext cx="2953512" cy="502920"/>
          </a:xfrm>
          <a:prstGeom prst="rect">
            <a:avLst/>
          </a:prstGeom>
          <a:solidFill>
            <a:srgbClr val="D5E5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45720" y="4133087"/>
            <a:ext cx="146304" cy="228600"/>
          </a:xfrm>
          <a:prstGeom prst="rect">
            <a:avLst/>
          </a:prstGeom>
          <a:noFill/>
        </p:spPr>
        <p:txBody>
          <a:bodyPr wrap="square">
            <a:spAutoFit/>
          </a:bodyPr>
          <a:lstStyle/>
          <a:p>
            <a:pPr algn="ctr"/>
            <a:r>
              <a:rPr sz="800" b="1" i="0">
                <a:solidFill>
                  <a:srgbClr val="0D2240"/>
                </a:solidFill>
                <a:latin typeface="Calibri"/>
              </a:rPr>
              <a:t>F3</a:t>
            </a:r>
          </a:p>
        </p:txBody>
      </p:sp>
      <p:sp>
        <p:nvSpPr>
          <p:cNvPr id="45" name="Rectangle 44"/>
          <p:cNvSpPr/>
          <p:nvPr/>
        </p:nvSpPr>
        <p:spPr>
          <a:xfrm>
            <a:off x="182880" y="4617720"/>
            <a:ext cx="4617720" cy="502920"/>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274320" y="4709159"/>
            <a:ext cx="4526280" cy="320040"/>
          </a:xfrm>
          <a:prstGeom prst="rect">
            <a:avLst/>
          </a:prstGeom>
          <a:noFill/>
        </p:spPr>
        <p:txBody>
          <a:bodyPr wrap="square">
            <a:spAutoFit/>
          </a:bodyPr>
          <a:lstStyle/>
          <a:p>
            <a:pPr algn="ctr"/>
            <a:r>
              <a:rPr sz="950" b="1" i="0">
                <a:solidFill>
                  <a:srgbClr val="FFFFFF"/>
                </a:solidFill>
                <a:latin typeface="Calibri"/>
              </a:rPr>
              <a:t>TRAINING  2017–2024</a:t>
            </a:r>
          </a:p>
        </p:txBody>
      </p:sp>
      <p:sp>
        <p:nvSpPr>
          <p:cNvPr id="47" name="Rectangle 46"/>
          <p:cNvSpPr/>
          <p:nvPr/>
        </p:nvSpPr>
        <p:spPr>
          <a:xfrm>
            <a:off x="4846320" y="4617720"/>
            <a:ext cx="5669280" cy="502920"/>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892040" y="4709159"/>
            <a:ext cx="5577840" cy="320040"/>
          </a:xfrm>
          <a:prstGeom prst="rect">
            <a:avLst/>
          </a:prstGeom>
          <a:noFill/>
        </p:spPr>
        <p:txBody>
          <a:bodyPr wrap="square">
            <a:spAutoFit/>
          </a:bodyPr>
          <a:lstStyle/>
          <a:p>
            <a:pPr algn="ctr"/>
            <a:r>
              <a:rPr sz="950" b="1" i="0">
                <a:solidFill>
                  <a:srgbClr val="FFFFFF"/>
                </a:solidFill>
                <a:latin typeface="Calibri"/>
              </a:rPr>
              <a:t>TEST  2025</a:t>
            </a:r>
          </a:p>
        </p:txBody>
      </p:sp>
      <p:sp>
        <p:nvSpPr>
          <p:cNvPr id="49" name="Rectangle 48"/>
          <p:cNvSpPr/>
          <p:nvPr/>
        </p:nvSpPr>
        <p:spPr>
          <a:xfrm>
            <a:off x="10561319" y="4617720"/>
            <a:ext cx="1444752" cy="502920"/>
          </a:xfrm>
          <a:prstGeom prst="rect">
            <a:avLst/>
          </a:prstGeom>
          <a:solidFill>
            <a:srgbClr val="D5E5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45720" y="4773168"/>
            <a:ext cx="146304" cy="228600"/>
          </a:xfrm>
          <a:prstGeom prst="rect">
            <a:avLst/>
          </a:prstGeom>
          <a:noFill/>
        </p:spPr>
        <p:txBody>
          <a:bodyPr wrap="square">
            <a:spAutoFit/>
          </a:bodyPr>
          <a:lstStyle/>
          <a:p>
            <a:pPr algn="ctr"/>
            <a:r>
              <a:rPr sz="800" b="1" i="0">
                <a:solidFill>
                  <a:srgbClr val="0D2240"/>
                </a:solidFill>
                <a:latin typeface="Calibri"/>
              </a:rPr>
              <a:t>F4</a:t>
            </a:r>
          </a:p>
        </p:txBody>
      </p:sp>
      <p:sp>
        <p:nvSpPr>
          <p:cNvPr id="51" name="TextBox 50"/>
          <p:cNvSpPr txBox="1"/>
          <p:nvPr/>
        </p:nvSpPr>
        <p:spPr>
          <a:xfrm>
            <a:off x="182880" y="5230368"/>
            <a:ext cx="11795760" cy="320040"/>
          </a:xfrm>
          <a:prstGeom prst="rect">
            <a:avLst/>
          </a:prstGeom>
          <a:noFill/>
        </p:spPr>
        <p:txBody>
          <a:bodyPr wrap="square">
            <a:spAutoFit/>
          </a:bodyPr>
          <a:lstStyle/>
          <a:p>
            <a:pPr algn="l"/>
            <a:r>
              <a:rPr sz="1100" b="1" i="0">
                <a:solidFill>
                  <a:srgbClr val="1E6B45"/>
                </a:solidFill>
                <a:latin typeface="Calibri"/>
              </a:rPr>
              <a:t>KEY DESIGN DECISIONS</a:t>
            </a:r>
          </a:p>
        </p:txBody>
      </p:sp>
      <p:sp>
        <p:nvSpPr>
          <p:cNvPr id="52" name="TextBox 51"/>
          <p:cNvSpPr txBox="1"/>
          <p:nvPr/>
        </p:nvSpPr>
        <p:spPr>
          <a:xfrm>
            <a:off x="182880" y="5577840"/>
            <a:ext cx="5669280" cy="841248"/>
          </a:xfrm>
          <a:prstGeom prst="rect">
            <a:avLst/>
          </a:prstGeom>
          <a:noFill/>
        </p:spPr>
        <p:txBody>
          <a:bodyPr wrap="square">
            <a:spAutoFit/>
          </a:bodyPr>
          <a:lstStyle/>
          <a:p>
            <a:pPr>
              <a:spcBef>
                <a:spcPts val="400"/>
              </a:spcBef>
            </a:pPr>
            <a:r>
              <a:rPr sz="1050">
                <a:solidFill>
                  <a:srgbClr val="1A2E1E"/>
                </a:solidFill>
                <a:latin typeface="Calibri"/>
              </a:rPr>
              <a:t>▸  Weekly granularity (not daily): reduces autocorrelation dominance; satellite revisit cycles align with weekly composites</a:t>
            </a:r>
          </a:p>
          <a:p>
            <a:pPr>
              <a:spcBef>
                <a:spcPts val="400"/>
              </a:spcBef>
            </a:pPr>
            <a:r>
              <a:rPr sz="1050">
                <a:solidFill>
                  <a:srgbClr val="1A2E1E"/>
                </a:solidFill>
                <a:latin typeface="Calibri"/>
              </a:rPr>
              <a:t>▸  Log-price target: handles extreme positive skewness of TOP price distributions (tomato variance ~3× mean)</a:t>
            </a:r>
          </a:p>
        </p:txBody>
      </p:sp>
      <p:sp>
        <p:nvSpPr>
          <p:cNvPr id="53" name="TextBox 52"/>
          <p:cNvSpPr txBox="1"/>
          <p:nvPr/>
        </p:nvSpPr>
        <p:spPr>
          <a:xfrm>
            <a:off x="5943600" y="5577840"/>
            <a:ext cx="6035040" cy="841248"/>
          </a:xfrm>
          <a:prstGeom prst="rect">
            <a:avLst/>
          </a:prstGeom>
          <a:noFill/>
        </p:spPr>
        <p:txBody>
          <a:bodyPr wrap="square">
            <a:spAutoFit/>
          </a:bodyPr>
          <a:lstStyle/>
          <a:p>
            <a:pPr>
              <a:spcBef>
                <a:spcPts val="400"/>
              </a:spcBef>
            </a:pPr>
            <a:r>
              <a:rPr sz="1050">
                <a:solidFill>
                  <a:srgbClr val="1A2E1E"/>
                </a:solidFill>
                <a:latin typeface="Calibri"/>
              </a:rPr>
              <a:t>▸  Full market panel (2,495 markets) retained: larger training corpus, better generalisation vs PI Brief's 20–30 strategic APMCs</a:t>
            </a:r>
          </a:p>
          <a:p>
            <a:pPr>
              <a:spcBef>
                <a:spcPts val="400"/>
              </a:spcBef>
            </a:pPr>
            <a:r>
              <a:rPr sz="1050">
                <a:solidFill>
                  <a:srgbClr val="1A2E1E"/>
                </a:solidFill>
                <a:latin typeface="Calibri"/>
              </a:rPr>
              <a:t>▸  Forecast horizons: 1, 2, 4, 8 weeks ahead — covers both operational (1–2 wk) and strategic (4–8 wk) planning horizons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64008" cy="6858000"/>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 y="0"/>
            <a:ext cx="12124944" cy="960120"/>
          </a:xfrm>
          <a:prstGeom prst="rect">
            <a:avLst/>
          </a:prstGeom>
          <a:solidFill>
            <a:srgbClr val="0D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4008" y="960120"/>
            <a:ext cx="12124944" cy="32004"/>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 y="64008"/>
            <a:ext cx="11704320" cy="475488"/>
          </a:xfrm>
          <a:prstGeom prst="rect">
            <a:avLst/>
          </a:prstGeom>
          <a:noFill/>
        </p:spPr>
        <p:txBody>
          <a:bodyPr wrap="square">
            <a:spAutoFit/>
          </a:bodyPr>
          <a:lstStyle/>
          <a:p>
            <a:pPr algn="l"/>
            <a:r>
              <a:rPr sz="2100" b="1" i="0">
                <a:solidFill>
                  <a:srgbClr val="FFFFFF"/>
                </a:solidFill>
                <a:latin typeface="Calibri"/>
              </a:rPr>
              <a:t>Layer 1 — Market Price Panel</a:t>
            </a:r>
          </a:p>
        </p:txBody>
      </p:sp>
      <p:sp>
        <p:nvSpPr>
          <p:cNvPr id="6" name="TextBox 5"/>
          <p:cNvSpPr txBox="1"/>
          <p:nvPr/>
        </p:nvSpPr>
        <p:spPr>
          <a:xfrm>
            <a:off x="201168" y="548640"/>
            <a:ext cx="11704320" cy="365760"/>
          </a:xfrm>
          <a:prstGeom prst="rect">
            <a:avLst/>
          </a:prstGeom>
          <a:noFill/>
        </p:spPr>
        <p:txBody>
          <a:bodyPr wrap="square">
            <a:spAutoFit/>
          </a:bodyPr>
          <a:lstStyle/>
          <a:p>
            <a:pPr algn="l"/>
            <a:r>
              <a:rPr sz="1300" b="0" i="1">
                <a:solidFill>
                  <a:srgbClr val="C8DDD0"/>
                </a:solidFill>
                <a:latin typeface="Calibri"/>
              </a:rPr>
              <a:t>Agmarknet APMC daily arrivals data processed into a complete weekly panel</a:t>
            </a:r>
          </a:p>
        </p:txBody>
      </p:sp>
      <p:sp>
        <p:nvSpPr>
          <p:cNvPr id="7" name="Rectangle 6"/>
          <p:cNvSpPr/>
          <p:nvPr/>
        </p:nvSpPr>
        <p:spPr>
          <a:xfrm>
            <a:off x="0" y="6565392"/>
            <a:ext cx="12188952" cy="292608"/>
          </a:xfrm>
          <a:prstGeom prst="rect">
            <a:avLst/>
          </a:prstGeom>
          <a:solidFill>
            <a:srgbClr val="0D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01168" y="6583680"/>
            <a:ext cx="7315200" cy="237744"/>
          </a:xfrm>
          <a:prstGeom prst="rect">
            <a:avLst/>
          </a:prstGeom>
          <a:noFill/>
        </p:spPr>
        <p:txBody>
          <a:bodyPr wrap="square">
            <a:spAutoFit/>
          </a:bodyPr>
          <a:lstStyle/>
          <a:p>
            <a:pPr algn="l"/>
            <a:r>
              <a:rPr sz="850" b="0" i="0">
                <a:solidFill>
                  <a:srgbClr val="C8DDD0"/>
                </a:solidFill>
                <a:latin typeface="Calibri"/>
              </a:rPr>
              <a:t>TOP Digital Twin  ·  SKUAST-K  ·  HADP-04  ·  July 2026</a:t>
            </a:r>
          </a:p>
        </p:txBody>
      </p:sp>
      <p:sp>
        <p:nvSpPr>
          <p:cNvPr id="9" name="TextBox 8"/>
          <p:cNvSpPr txBox="1"/>
          <p:nvPr/>
        </p:nvSpPr>
        <p:spPr>
          <a:xfrm>
            <a:off x="7589520" y="6583680"/>
            <a:ext cx="4389120" cy="237744"/>
          </a:xfrm>
          <a:prstGeom prst="rect">
            <a:avLst/>
          </a:prstGeom>
          <a:noFill/>
        </p:spPr>
        <p:txBody>
          <a:bodyPr wrap="square">
            <a:spAutoFit/>
          </a:bodyPr>
          <a:lstStyle/>
          <a:p>
            <a:pPr algn="r"/>
            <a:r>
              <a:rPr sz="850" b="0" i="0">
                <a:solidFill>
                  <a:srgbClr val="C8DDD0"/>
                </a:solidFill>
                <a:latin typeface="Calibri"/>
              </a:rPr>
              <a:t>CONFIDENTIAL — PI REVIEW</a:t>
            </a:r>
          </a:p>
        </p:txBody>
      </p:sp>
      <p:sp>
        <p:nvSpPr>
          <p:cNvPr id="10" name="TextBox 9"/>
          <p:cNvSpPr txBox="1"/>
          <p:nvPr/>
        </p:nvSpPr>
        <p:spPr>
          <a:xfrm>
            <a:off x="182880" y="1097280"/>
            <a:ext cx="5303520" cy="347472"/>
          </a:xfrm>
          <a:prstGeom prst="rect">
            <a:avLst/>
          </a:prstGeom>
          <a:noFill/>
        </p:spPr>
        <p:txBody>
          <a:bodyPr wrap="square">
            <a:spAutoFit/>
          </a:bodyPr>
          <a:lstStyle/>
          <a:p>
            <a:pPr algn="l"/>
            <a:r>
              <a:rPr sz="1100" b="1" i="0">
                <a:solidFill>
                  <a:srgbClr val="1E6B45"/>
                </a:solidFill>
                <a:latin typeface="Calibri"/>
              </a:rPr>
              <a:t>DATA PIPELINE  (Script 09 — 249 lines)</a:t>
            </a:r>
          </a:p>
        </p:txBody>
      </p:sp>
      <p:sp>
        <p:nvSpPr>
          <p:cNvPr id="11" name="Rectangle 10"/>
          <p:cNvSpPr/>
          <p:nvPr/>
        </p:nvSpPr>
        <p:spPr>
          <a:xfrm>
            <a:off x="182880" y="1508760"/>
            <a:ext cx="384048" cy="384048"/>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01168" y="1581912"/>
            <a:ext cx="365760" cy="256032"/>
          </a:xfrm>
          <a:prstGeom prst="rect">
            <a:avLst/>
          </a:prstGeom>
          <a:noFill/>
        </p:spPr>
        <p:txBody>
          <a:bodyPr wrap="square">
            <a:spAutoFit/>
          </a:bodyPr>
          <a:lstStyle/>
          <a:p>
            <a:pPr algn="ctr"/>
            <a:r>
              <a:rPr sz="1400" b="1" i="0">
                <a:solidFill>
                  <a:srgbClr val="FFFFFF"/>
                </a:solidFill>
                <a:latin typeface="Calibri"/>
              </a:rPr>
              <a:t>1</a:t>
            </a:r>
          </a:p>
        </p:txBody>
      </p:sp>
      <p:sp>
        <p:nvSpPr>
          <p:cNvPr id="13" name="Rectangle 12"/>
          <p:cNvSpPr/>
          <p:nvPr/>
        </p:nvSpPr>
        <p:spPr>
          <a:xfrm>
            <a:off x="594360" y="1508760"/>
            <a:ext cx="5029200" cy="749808"/>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 y="1572768"/>
            <a:ext cx="4754880" cy="256032"/>
          </a:xfrm>
          <a:prstGeom prst="rect">
            <a:avLst/>
          </a:prstGeom>
          <a:noFill/>
        </p:spPr>
        <p:txBody>
          <a:bodyPr wrap="square">
            <a:spAutoFit/>
          </a:bodyPr>
          <a:lstStyle/>
          <a:p>
            <a:pPr algn="l"/>
            <a:r>
              <a:rPr sz="1100" b="1" i="0">
                <a:solidFill>
                  <a:srgbClr val="1A2E1E"/>
                </a:solidFill>
                <a:latin typeface="Calibri"/>
              </a:rPr>
              <a:t>Raw Input</a:t>
            </a:r>
          </a:p>
        </p:txBody>
      </p:sp>
      <p:sp>
        <p:nvSpPr>
          <p:cNvPr id="15" name="TextBox 14"/>
          <p:cNvSpPr txBox="1"/>
          <p:nvPr/>
        </p:nvSpPr>
        <p:spPr>
          <a:xfrm>
            <a:off x="713232" y="1837943"/>
            <a:ext cx="4754880" cy="384048"/>
          </a:xfrm>
          <a:prstGeom prst="rect">
            <a:avLst/>
          </a:prstGeom>
          <a:noFill/>
        </p:spPr>
        <p:txBody>
          <a:bodyPr wrap="square">
            <a:spAutoFit/>
          </a:bodyPr>
          <a:lstStyle/>
          <a:p>
            <a:pPr algn="l"/>
            <a:r>
              <a:rPr sz="950" b="0" i="0">
                <a:solidFill>
                  <a:srgbClr val="5A6A60"/>
                </a:solidFill>
                <a:latin typeface="Calibri"/>
              </a:rPr>
              <a:t>Agmarknet daily modal price files (tomato/onion/potato)
Three separate crop downloads, 2017–2025</a:t>
            </a:r>
          </a:p>
        </p:txBody>
      </p:sp>
      <p:sp>
        <p:nvSpPr>
          <p:cNvPr id="16" name="TextBox 15"/>
          <p:cNvSpPr txBox="1"/>
          <p:nvPr/>
        </p:nvSpPr>
        <p:spPr>
          <a:xfrm>
            <a:off x="274320" y="2258568"/>
            <a:ext cx="274320" cy="182880"/>
          </a:xfrm>
          <a:prstGeom prst="rect">
            <a:avLst/>
          </a:prstGeom>
          <a:noFill/>
        </p:spPr>
        <p:txBody>
          <a:bodyPr wrap="square">
            <a:spAutoFit/>
          </a:bodyPr>
          <a:lstStyle/>
          <a:p>
            <a:pPr algn="ctr"/>
            <a:r>
              <a:rPr sz="1100" b="0" i="0">
                <a:solidFill>
                  <a:srgbClr val="1E6B45"/>
                </a:solidFill>
                <a:latin typeface="Calibri"/>
              </a:rPr>
              <a:t>↓</a:t>
            </a:r>
          </a:p>
        </p:txBody>
      </p:sp>
      <p:sp>
        <p:nvSpPr>
          <p:cNvPr id="17" name="Rectangle 16"/>
          <p:cNvSpPr/>
          <p:nvPr/>
        </p:nvSpPr>
        <p:spPr>
          <a:xfrm>
            <a:off x="182880" y="2423160"/>
            <a:ext cx="384048" cy="384048"/>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01168" y="2496312"/>
            <a:ext cx="365760" cy="256032"/>
          </a:xfrm>
          <a:prstGeom prst="rect">
            <a:avLst/>
          </a:prstGeom>
          <a:noFill/>
        </p:spPr>
        <p:txBody>
          <a:bodyPr wrap="square">
            <a:spAutoFit/>
          </a:bodyPr>
          <a:lstStyle/>
          <a:p>
            <a:pPr algn="ctr"/>
            <a:r>
              <a:rPr sz="1400" b="1" i="0">
                <a:solidFill>
                  <a:srgbClr val="FFFFFF"/>
                </a:solidFill>
                <a:latin typeface="Calibri"/>
              </a:rPr>
              <a:t>2</a:t>
            </a:r>
          </a:p>
        </p:txBody>
      </p:sp>
      <p:sp>
        <p:nvSpPr>
          <p:cNvPr id="19" name="Rectangle 18"/>
          <p:cNvSpPr/>
          <p:nvPr/>
        </p:nvSpPr>
        <p:spPr>
          <a:xfrm>
            <a:off x="594360" y="2423160"/>
            <a:ext cx="5029200" cy="749808"/>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13232" y="2487168"/>
            <a:ext cx="4754880" cy="256032"/>
          </a:xfrm>
          <a:prstGeom prst="rect">
            <a:avLst/>
          </a:prstGeom>
          <a:noFill/>
        </p:spPr>
        <p:txBody>
          <a:bodyPr wrap="square">
            <a:spAutoFit/>
          </a:bodyPr>
          <a:lstStyle/>
          <a:p>
            <a:pPr algn="l"/>
            <a:r>
              <a:rPr sz="1100" b="1" i="0">
                <a:solidFill>
                  <a:srgbClr val="1A2E1E"/>
                </a:solidFill>
                <a:latin typeface="Calibri"/>
              </a:rPr>
              <a:t>Weekly Aggregation</a:t>
            </a:r>
          </a:p>
        </p:txBody>
      </p:sp>
      <p:sp>
        <p:nvSpPr>
          <p:cNvPr id="21" name="TextBox 20"/>
          <p:cNvSpPr txBox="1"/>
          <p:nvPr/>
        </p:nvSpPr>
        <p:spPr>
          <a:xfrm>
            <a:off x="713232" y="2752344"/>
            <a:ext cx="4754880" cy="384048"/>
          </a:xfrm>
          <a:prstGeom prst="rect">
            <a:avLst/>
          </a:prstGeom>
          <a:noFill/>
        </p:spPr>
        <p:txBody>
          <a:bodyPr wrap="square">
            <a:spAutoFit/>
          </a:bodyPr>
          <a:lstStyle/>
          <a:p>
            <a:pPr algn="l"/>
            <a:r>
              <a:rPr sz="950" b="0" i="0">
                <a:solidFill>
                  <a:srgbClr val="5A6A60"/>
                </a:solidFill>
                <a:latin typeface="Calibri"/>
              </a:rPr>
              <a:t>Daily → ISO weekly modal price
ISO week: Monday 00:00 to Sunday 23:59</a:t>
            </a:r>
          </a:p>
        </p:txBody>
      </p:sp>
      <p:sp>
        <p:nvSpPr>
          <p:cNvPr id="22" name="TextBox 21"/>
          <p:cNvSpPr txBox="1"/>
          <p:nvPr/>
        </p:nvSpPr>
        <p:spPr>
          <a:xfrm>
            <a:off x="274320" y="3172968"/>
            <a:ext cx="274320" cy="182880"/>
          </a:xfrm>
          <a:prstGeom prst="rect">
            <a:avLst/>
          </a:prstGeom>
          <a:noFill/>
        </p:spPr>
        <p:txBody>
          <a:bodyPr wrap="square">
            <a:spAutoFit/>
          </a:bodyPr>
          <a:lstStyle/>
          <a:p>
            <a:pPr algn="ctr"/>
            <a:r>
              <a:rPr sz="1100" b="0" i="0">
                <a:solidFill>
                  <a:srgbClr val="1E6B45"/>
                </a:solidFill>
                <a:latin typeface="Calibri"/>
              </a:rPr>
              <a:t>↓</a:t>
            </a:r>
          </a:p>
        </p:txBody>
      </p:sp>
      <p:sp>
        <p:nvSpPr>
          <p:cNvPr id="23" name="Rectangle 22"/>
          <p:cNvSpPr/>
          <p:nvPr/>
        </p:nvSpPr>
        <p:spPr>
          <a:xfrm>
            <a:off x="182880" y="3337560"/>
            <a:ext cx="384048" cy="384048"/>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01168" y="3410712"/>
            <a:ext cx="365760" cy="256032"/>
          </a:xfrm>
          <a:prstGeom prst="rect">
            <a:avLst/>
          </a:prstGeom>
          <a:noFill/>
        </p:spPr>
        <p:txBody>
          <a:bodyPr wrap="square">
            <a:spAutoFit/>
          </a:bodyPr>
          <a:lstStyle/>
          <a:p>
            <a:pPr algn="ctr"/>
            <a:r>
              <a:rPr sz="1400" b="1" i="0">
                <a:solidFill>
                  <a:srgbClr val="FFFFFF"/>
                </a:solidFill>
                <a:latin typeface="Calibri"/>
              </a:rPr>
              <a:t>3</a:t>
            </a:r>
          </a:p>
        </p:txBody>
      </p:sp>
      <p:sp>
        <p:nvSpPr>
          <p:cNvPr id="25" name="Rectangle 24"/>
          <p:cNvSpPr/>
          <p:nvPr/>
        </p:nvSpPr>
        <p:spPr>
          <a:xfrm>
            <a:off x="594360" y="3337560"/>
            <a:ext cx="5029200" cy="749808"/>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13232" y="3401568"/>
            <a:ext cx="4754880" cy="256032"/>
          </a:xfrm>
          <a:prstGeom prst="rect">
            <a:avLst/>
          </a:prstGeom>
          <a:noFill/>
        </p:spPr>
        <p:txBody>
          <a:bodyPr wrap="square">
            <a:spAutoFit/>
          </a:bodyPr>
          <a:lstStyle/>
          <a:p>
            <a:pPr algn="l"/>
            <a:r>
              <a:rPr sz="1100" b="1" i="0">
                <a:solidFill>
                  <a:srgbClr val="1A2E1E"/>
                </a:solidFill>
                <a:latin typeface="Calibri"/>
              </a:rPr>
              <a:t>Complete Grid Expansion</a:t>
            </a:r>
          </a:p>
        </p:txBody>
      </p:sp>
      <p:sp>
        <p:nvSpPr>
          <p:cNvPr id="27" name="TextBox 26"/>
          <p:cNvSpPr txBox="1"/>
          <p:nvPr/>
        </p:nvSpPr>
        <p:spPr>
          <a:xfrm>
            <a:off x="713232" y="3666744"/>
            <a:ext cx="4754880" cy="384048"/>
          </a:xfrm>
          <a:prstGeom prst="rect">
            <a:avLst/>
          </a:prstGeom>
          <a:noFill/>
        </p:spPr>
        <p:txBody>
          <a:bodyPr wrap="square">
            <a:spAutoFit/>
          </a:bodyPr>
          <a:lstStyle/>
          <a:p>
            <a:pPr algn="l"/>
            <a:r>
              <a:rPr sz="950" b="0" i="0">
                <a:solidFill>
                  <a:srgbClr val="5A6A60"/>
                </a:solidFill>
                <a:latin typeface="Calibri"/>
              </a:rPr>
              <a:t>Each market × every ISO week (470 total)
Fills the missing-week grid BEFORE imputation</a:t>
            </a:r>
          </a:p>
        </p:txBody>
      </p:sp>
      <p:sp>
        <p:nvSpPr>
          <p:cNvPr id="28" name="TextBox 27"/>
          <p:cNvSpPr txBox="1"/>
          <p:nvPr/>
        </p:nvSpPr>
        <p:spPr>
          <a:xfrm>
            <a:off x="274320" y="4087368"/>
            <a:ext cx="274320" cy="182880"/>
          </a:xfrm>
          <a:prstGeom prst="rect">
            <a:avLst/>
          </a:prstGeom>
          <a:noFill/>
        </p:spPr>
        <p:txBody>
          <a:bodyPr wrap="square">
            <a:spAutoFit/>
          </a:bodyPr>
          <a:lstStyle/>
          <a:p>
            <a:pPr algn="ctr"/>
            <a:r>
              <a:rPr sz="1100" b="0" i="0">
                <a:solidFill>
                  <a:srgbClr val="1E6B45"/>
                </a:solidFill>
                <a:latin typeface="Calibri"/>
              </a:rPr>
              <a:t>↓</a:t>
            </a:r>
          </a:p>
        </p:txBody>
      </p:sp>
      <p:sp>
        <p:nvSpPr>
          <p:cNvPr id="29" name="Rectangle 28"/>
          <p:cNvSpPr/>
          <p:nvPr/>
        </p:nvSpPr>
        <p:spPr>
          <a:xfrm>
            <a:off x="182880" y="4251960"/>
            <a:ext cx="384048" cy="384048"/>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01168" y="4325112"/>
            <a:ext cx="365760" cy="256032"/>
          </a:xfrm>
          <a:prstGeom prst="rect">
            <a:avLst/>
          </a:prstGeom>
          <a:noFill/>
        </p:spPr>
        <p:txBody>
          <a:bodyPr wrap="square">
            <a:spAutoFit/>
          </a:bodyPr>
          <a:lstStyle/>
          <a:p>
            <a:pPr algn="ctr"/>
            <a:r>
              <a:rPr sz="1400" b="1" i="0">
                <a:solidFill>
                  <a:srgbClr val="FFFFFF"/>
                </a:solidFill>
                <a:latin typeface="Calibri"/>
              </a:rPr>
              <a:t>4</a:t>
            </a:r>
          </a:p>
        </p:txBody>
      </p:sp>
      <p:sp>
        <p:nvSpPr>
          <p:cNvPr id="31" name="Rectangle 30"/>
          <p:cNvSpPr/>
          <p:nvPr/>
        </p:nvSpPr>
        <p:spPr>
          <a:xfrm>
            <a:off x="594360" y="4251960"/>
            <a:ext cx="5029200" cy="749808"/>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13232" y="4315968"/>
            <a:ext cx="4754880" cy="256032"/>
          </a:xfrm>
          <a:prstGeom prst="rect">
            <a:avLst/>
          </a:prstGeom>
          <a:noFill/>
        </p:spPr>
        <p:txBody>
          <a:bodyPr wrap="square">
            <a:spAutoFit/>
          </a:bodyPr>
          <a:lstStyle/>
          <a:p>
            <a:pPr algn="l"/>
            <a:r>
              <a:rPr sz="1100" b="1" i="0">
                <a:solidFill>
                  <a:srgbClr val="1A2E1E"/>
                </a:solidFill>
                <a:latin typeface="Calibri"/>
              </a:rPr>
              <a:t>Three-Tier Imputation</a:t>
            </a:r>
          </a:p>
        </p:txBody>
      </p:sp>
      <p:sp>
        <p:nvSpPr>
          <p:cNvPr id="33" name="TextBox 32"/>
          <p:cNvSpPr txBox="1"/>
          <p:nvPr/>
        </p:nvSpPr>
        <p:spPr>
          <a:xfrm>
            <a:off x="713232" y="4581144"/>
            <a:ext cx="4754880" cy="384048"/>
          </a:xfrm>
          <a:prstGeom prst="rect">
            <a:avLst/>
          </a:prstGeom>
          <a:noFill/>
        </p:spPr>
        <p:txBody>
          <a:bodyPr wrap="square">
            <a:spAutoFit/>
          </a:bodyPr>
          <a:lstStyle/>
          <a:p>
            <a:pPr algn="l"/>
            <a:r>
              <a:rPr sz="950" b="0" i="0">
                <a:solidFill>
                  <a:srgbClr val="5A6A60"/>
                </a:solidFill>
                <a:latin typeface="Calibri"/>
              </a:rPr>
              <a:t>≤ 2 weeks missing  →  Linear interpolation
3–8 weeks missing  →  Seasonal median (±2 yr window)
&gt; 8 weeks missing  →  Left as NaN (disclosed)</a:t>
            </a:r>
          </a:p>
        </p:txBody>
      </p:sp>
      <p:sp>
        <p:nvSpPr>
          <p:cNvPr id="34" name="TextBox 33"/>
          <p:cNvSpPr txBox="1"/>
          <p:nvPr/>
        </p:nvSpPr>
        <p:spPr>
          <a:xfrm>
            <a:off x="274320" y="5001768"/>
            <a:ext cx="274320" cy="182880"/>
          </a:xfrm>
          <a:prstGeom prst="rect">
            <a:avLst/>
          </a:prstGeom>
          <a:noFill/>
        </p:spPr>
        <p:txBody>
          <a:bodyPr wrap="square">
            <a:spAutoFit/>
          </a:bodyPr>
          <a:lstStyle/>
          <a:p>
            <a:pPr algn="ctr"/>
            <a:r>
              <a:rPr sz="1100" b="0" i="0">
                <a:solidFill>
                  <a:srgbClr val="1E6B45"/>
                </a:solidFill>
                <a:latin typeface="Calibri"/>
              </a:rPr>
              <a:t>↓</a:t>
            </a:r>
          </a:p>
        </p:txBody>
      </p:sp>
      <p:sp>
        <p:nvSpPr>
          <p:cNvPr id="35" name="Rectangle 34"/>
          <p:cNvSpPr/>
          <p:nvPr/>
        </p:nvSpPr>
        <p:spPr>
          <a:xfrm>
            <a:off x="182880" y="5166360"/>
            <a:ext cx="384048" cy="384048"/>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201168" y="5239512"/>
            <a:ext cx="365760" cy="256032"/>
          </a:xfrm>
          <a:prstGeom prst="rect">
            <a:avLst/>
          </a:prstGeom>
          <a:noFill/>
        </p:spPr>
        <p:txBody>
          <a:bodyPr wrap="square">
            <a:spAutoFit/>
          </a:bodyPr>
          <a:lstStyle/>
          <a:p>
            <a:pPr algn="ctr"/>
            <a:r>
              <a:rPr sz="1400" b="1" i="0">
                <a:solidFill>
                  <a:srgbClr val="FFFFFF"/>
                </a:solidFill>
                <a:latin typeface="Calibri"/>
              </a:rPr>
              <a:t>5</a:t>
            </a:r>
          </a:p>
        </p:txBody>
      </p:sp>
      <p:sp>
        <p:nvSpPr>
          <p:cNvPr id="37" name="Rectangle 36"/>
          <p:cNvSpPr/>
          <p:nvPr/>
        </p:nvSpPr>
        <p:spPr>
          <a:xfrm>
            <a:off x="594360" y="5166360"/>
            <a:ext cx="5029200" cy="749808"/>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13232" y="5230368"/>
            <a:ext cx="4754880" cy="256032"/>
          </a:xfrm>
          <a:prstGeom prst="rect">
            <a:avLst/>
          </a:prstGeom>
          <a:noFill/>
        </p:spPr>
        <p:txBody>
          <a:bodyPr wrap="square">
            <a:spAutoFit/>
          </a:bodyPr>
          <a:lstStyle/>
          <a:p>
            <a:pPr algn="l"/>
            <a:r>
              <a:rPr sz="1100" b="1" i="0">
                <a:solidFill>
                  <a:srgbClr val="1A2E1E"/>
                </a:solidFill>
                <a:latin typeface="Calibri"/>
              </a:rPr>
              <a:t>Log-Price Column</a:t>
            </a:r>
          </a:p>
        </p:txBody>
      </p:sp>
      <p:sp>
        <p:nvSpPr>
          <p:cNvPr id="39" name="TextBox 38"/>
          <p:cNvSpPr txBox="1"/>
          <p:nvPr/>
        </p:nvSpPr>
        <p:spPr>
          <a:xfrm>
            <a:off x="713232" y="5495544"/>
            <a:ext cx="4754880" cy="384048"/>
          </a:xfrm>
          <a:prstGeom prst="rect">
            <a:avLst/>
          </a:prstGeom>
          <a:noFill/>
        </p:spPr>
        <p:txBody>
          <a:bodyPr wrap="square">
            <a:spAutoFit/>
          </a:bodyPr>
          <a:lstStyle/>
          <a:p>
            <a:pPr algn="l"/>
            <a:r>
              <a:rPr sz="950" b="0" i="0">
                <a:solidFill>
                  <a:srgbClr val="5A6A60"/>
                </a:solidFill>
                <a:latin typeface="Calibri"/>
              </a:rPr>
              <a:t>log_modal_price = log(modal_price + 1)
Modelling target — handles extreme right skew</a:t>
            </a:r>
          </a:p>
        </p:txBody>
      </p:sp>
      <p:sp>
        <p:nvSpPr>
          <p:cNvPr id="40" name="TextBox 39"/>
          <p:cNvSpPr txBox="1"/>
          <p:nvPr/>
        </p:nvSpPr>
        <p:spPr>
          <a:xfrm>
            <a:off x="6126480" y="1097280"/>
            <a:ext cx="5760720" cy="347472"/>
          </a:xfrm>
          <a:prstGeom prst="rect">
            <a:avLst/>
          </a:prstGeom>
          <a:noFill/>
        </p:spPr>
        <p:txBody>
          <a:bodyPr wrap="square">
            <a:spAutoFit/>
          </a:bodyPr>
          <a:lstStyle/>
          <a:p>
            <a:pPr algn="l"/>
            <a:r>
              <a:rPr sz="1100" b="1" i="0">
                <a:solidFill>
                  <a:srgbClr val="1E6B45"/>
                </a:solidFill>
                <a:latin typeface="Calibri"/>
              </a:rPr>
              <a:t>IMPUTATION DESIGN — RATIONALE</a:t>
            </a:r>
          </a:p>
        </p:txBody>
      </p:sp>
      <p:sp>
        <p:nvSpPr>
          <p:cNvPr id="41" name="TextBox 40"/>
          <p:cNvSpPr txBox="1"/>
          <p:nvPr/>
        </p:nvSpPr>
        <p:spPr>
          <a:xfrm>
            <a:off x="6126480" y="1481328"/>
            <a:ext cx="5760720" cy="1828800"/>
          </a:xfrm>
          <a:prstGeom prst="rect">
            <a:avLst/>
          </a:prstGeom>
          <a:noFill/>
        </p:spPr>
        <p:txBody>
          <a:bodyPr wrap="square">
            <a:spAutoFit/>
          </a:bodyPr>
          <a:lstStyle/>
          <a:p>
            <a:pPr>
              <a:spcBef>
                <a:spcPts val="600"/>
              </a:spcBef>
            </a:pPr>
            <a:r>
              <a:rPr sz="1050">
                <a:solidFill>
                  <a:srgbClr val="1A2E1E"/>
                </a:solidFill>
                <a:latin typeface="Calibri"/>
              </a:rPr>
              <a:t>▸  Linear interpolation (≤2 wks): Valid when a market has brief data outages (holidays, transport disruptions). No seasonal assumption needed.</a:t>
            </a:r>
          </a:p>
          <a:p>
            <a:pPr>
              <a:spcBef>
                <a:spcPts val="600"/>
              </a:spcBef>
            </a:pPr>
            <a:r>
              <a:rPr sz="1050">
                <a:solidFill>
                  <a:srgbClr val="1A2E1E"/>
                </a:solidFill>
                <a:latin typeface="Calibri"/>
              </a:rPr>
              <a:t>▸  Seasonal median (3–8 wks): Draws from same ISO week across ±2 adjacent years. Preserves harvest-season patterns that simple linear fill would smooth away.</a:t>
            </a:r>
          </a:p>
          <a:p>
            <a:pPr>
              <a:spcBef>
                <a:spcPts val="600"/>
              </a:spcBef>
            </a:pPr>
            <a:r>
              <a:rPr sz="1050">
                <a:solidFill>
                  <a:srgbClr val="1A2E1E"/>
                </a:solidFill>
                <a:latin typeface="Calibri"/>
              </a:rPr>
              <a:t>▸  NaN retention (&gt;8 wks): Markets with &gt;8-week consecutive gaps have structural data problems (APMC closure, reporting failures). Imputing would introduce fictitious data. These NaNs propagate and reduce coverage below the 90% threshold, excluding the market from the modelling panel.</a:t>
            </a:r>
          </a:p>
        </p:txBody>
      </p:sp>
      <p:sp>
        <p:nvSpPr>
          <p:cNvPr id="42" name="TextBox 41"/>
          <p:cNvSpPr txBox="1"/>
          <p:nvPr/>
        </p:nvSpPr>
        <p:spPr>
          <a:xfrm>
            <a:off x="6126480" y="3429000"/>
            <a:ext cx="5760720" cy="320040"/>
          </a:xfrm>
          <a:prstGeom prst="rect">
            <a:avLst/>
          </a:prstGeom>
          <a:noFill/>
        </p:spPr>
        <p:txBody>
          <a:bodyPr wrap="square">
            <a:spAutoFit/>
          </a:bodyPr>
          <a:lstStyle/>
          <a:p>
            <a:pPr algn="l"/>
            <a:r>
              <a:rPr sz="1100" b="1" i="0">
                <a:solidFill>
                  <a:srgbClr val="1E6B45"/>
                </a:solidFill>
                <a:latin typeface="Calibri"/>
              </a:rPr>
              <a:t>MARKET COVERAGE HEATMAP</a:t>
            </a:r>
          </a:p>
        </p:txBody>
      </p:sp>
      <p:pic>
        <p:nvPicPr>
          <p:cNvPr id="43" name="Picture 42" descr="fig04_coverage_heatmap.png"/>
          <p:cNvPicPr>
            <a:picLocks noChangeAspect="1"/>
          </p:cNvPicPr>
          <p:nvPr/>
        </p:nvPicPr>
        <p:blipFill>
          <a:blip r:embed="rId3"/>
          <a:stretch>
            <a:fillRect/>
          </a:stretch>
        </p:blipFill>
        <p:spPr>
          <a:xfrm>
            <a:off x="6126480" y="3794760"/>
            <a:ext cx="5760720" cy="26060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64008" cy="6858000"/>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 y="0"/>
            <a:ext cx="12124944" cy="960120"/>
          </a:xfrm>
          <a:prstGeom prst="rect">
            <a:avLst/>
          </a:prstGeom>
          <a:solidFill>
            <a:srgbClr val="0D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4008" y="960120"/>
            <a:ext cx="12124944" cy="32004"/>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 y="64008"/>
            <a:ext cx="11704320" cy="475488"/>
          </a:xfrm>
          <a:prstGeom prst="rect">
            <a:avLst/>
          </a:prstGeom>
          <a:noFill/>
        </p:spPr>
        <p:txBody>
          <a:bodyPr wrap="square">
            <a:spAutoFit/>
          </a:bodyPr>
          <a:lstStyle/>
          <a:p>
            <a:pPr algn="l"/>
            <a:r>
              <a:rPr sz="2100" b="1" i="0">
                <a:solidFill>
                  <a:srgbClr val="FFFFFF"/>
                </a:solidFill>
                <a:latin typeface="Calibri"/>
              </a:rPr>
              <a:t>Market Coverage Results</a:t>
            </a:r>
          </a:p>
        </p:txBody>
      </p:sp>
      <p:sp>
        <p:nvSpPr>
          <p:cNvPr id="6" name="TextBox 5"/>
          <p:cNvSpPr txBox="1"/>
          <p:nvPr/>
        </p:nvSpPr>
        <p:spPr>
          <a:xfrm>
            <a:off x="201168" y="548640"/>
            <a:ext cx="11704320" cy="365760"/>
          </a:xfrm>
          <a:prstGeom prst="rect">
            <a:avLst/>
          </a:prstGeom>
          <a:noFill/>
        </p:spPr>
        <p:txBody>
          <a:bodyPr wrap="square">
            <a:spAutoFit/>
          </a:bodyPr>
          <a:lstStyle/>
          <a:p>
            <a:pPr algn="l"/>
            <a:r>
              <a:rPr sz="1300" b="0" i="1">
                <a:solidFill>
                  <a:srgbClr val="C8DDD0"/>
                </a:solidFill>
                <a:latin typeface="Calibri"/>
              </a:rPr>
              <a:t>2,495 qualifying markets across 3 crops — one of the largest Indian vegetable panels assembled</a:t>
            </a:r>
          </a:p>
        </p:txBody>
      </p:sp>
      <p:sp>
        <p:nvSpPr>
          <p:cNvPr id="7" name="Rectangle 6"/>
          <p:cNvSpPr/>
          <p:nvPr/>
        </p:nvSpPr>
        <p:spPr>
          <a:xfrm>
            <a:off x="0" y="6565392"/>
            <a:ext cx="12188952" cy="292608"/>
          </a:xfrm>
          <a:prstGeom prst="rect">
            <a:avLst/>
          </a:prstGeom>
          <a:solidFill>
            <a:srgbClr val="0D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01168" y="6583680"/>
            <a:ext cx="7315200" cy="237744"/>
          </a:xfrm>
          <a:prstGeom prst="rect">
            <a:avLst/>
          </a:prstGeom>
          <a:noFill/>
        </p:spPr>
        <p:txBody>
          <a:bodyPr wrap="square">
            <a:spAutoFit/>
          </a:bodyPr>
          <a:lstStyle/>
          <a:p>
            <a:pPr algn="l"/>
            <a:r>
              <a:rPr sz="850" b="0" i="0">
                <a:solidFill>
                  <a:srgbClr val="C8DDD0"/>
                </a:solidFill>
                <a:latin typeface="Calibri"/>
              </a:rPr>
              <a:t>TOP Digital Twin  ·  SKUAST-K  ·  HADP-04  ·  July 2026</a:t>
            </a:r>
          </a:p>
        </p:txBody>
      </p:sp>
      <p:sp>
        <p:nvSpPr>
          <p:cNvPr id="9" name="TextBox 8"/>
          <p:cNvSpPr txBox="1"/>
          <p:nvPr/>
        </p:nvSpPr>
        <p:spPr>
          <a:xfrm>
            <a:off x="7589520" y="6583680"/>
            <a:ext cx="4389120" cy="237744"/>
          </a:xfrm>
          <a:prstGeom prst="rect">
            <a:avLst/>
          </a:prstGeom>
          <a:noFill/>
        </p:spPr>
        <p:txBody>
          <a:bodyPr wrap="square">
            <a:spAutoFit/>
          </a:bodyPr>
          <a:lstStyle/>
          <a:p>
            <a:pPr algn="r"/>
            <a:r>
              <a:rPr sz="850" b="0" i="0">
                <a:solidFill>
                  <a:srgbClr val="C8DDD0"/>
                </a:solidFill>
                <a:latin typeface="Calibri"/>
              </a:rPr>
              <a:t>CONFIDENTIAL — PI REVIEW</a:t>
            </a:r>
          </a:p>
        </p:txBody>
      </p:sp>
      <p:graphicFrame>
        <p:nvGraphicFramePr>
          <p:cNvPr id="10" name="Table 9"/>
          <p:cNvGraphicFramePr>
            <a:graphicFrameLocks noGrp="1"/>
          </p:cNvGraphicFramePr>
          <p:nvPr/>
        </p:nvGraphicFramePr>
        <p:xfrm>
          <a:off x="182880" y="1097280"/>
          <a:ext cx="11750040" cy="201168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gridCol w="3886200">
                  <a:extLst>
                    <a:ext uri="{9D8B030D-6E8A-4147-A177-3AD203B41FA5}">
                      <a16:colId xmlns:a16="http://schemas.microsoft.com/office/drawing/2014/main" val="20005"/>
                    </a:ext>
                  </a:extLst>
                </a:gridCol>
              </a:tblGrid>
              <a:tr h="402336">
                <a:tc>
                  <a:txBody>
                    <a:bodyPr/>
                    <a:lstStyle/>
                    <a:p>
                      <a:pPr algn="ctr"/>
                      <a:r>
                        <a:rPr sz="1000" b="1">
                          <a:solidFill>
                            <a:srgbClr val="FFFFFF"/>
                          </a:solidFill>
                          <a:latin typeface="Calibri"/>
                        </a:rPr>
                        <a:t>Crop</a:t>
                      </a:r>
                    </a:p>
                  </a:txBody>
                  <a:tcPr>
                    <a:solidFill>
                      <a:srgbClr val="0D2240"/>
                    </a:solidFill>
                  </a:tcPr>
                </a:tc>
                <a:tc>
                  <a:txBody>
                    <a:bodyPr/>
                    <a:lstStyle/>
                    <a:p>
                      <a:pPr algn="ctr"/>
                      <a:r>
                        <a:rPr sz="1000" b="1">
                          <a:solidFill>
                            <a:srgbClr val="FFFFFF"/>
                          </a:solidFill>
                          <a:latin typeface="Calibri"/>
                        </a:rPr>
                        <a:t>Qualifying Markets</a:t>
                      </a:r>
                    </a:p>
                  </a:txBody>
                  <a:tcPr>
                    <a:solidFill>
                      <a:srgbClr val="0D2240"/>
                    </a:solidFill>
                  </a:tcPr>
                </a:tc>
                <a:tc>
                  <a:txBody>
                    <a:bodyPr/>
                    <a:lstStyle/>
                    <a:p>
                      <a:pPr algn="ctr"/>
                      <a:r>
                        <a:rPr sz="1000" b="1">
                          <a:solidFill>
                            <a:srgbClr val="FFFFFF"/>
                          </a:solidFill>
                          <a:latin typeface="Calibri"/>
                        </a:rPr>
                        <a:t>States Covered</a:t>
                      </a:r>
                    </a:p>
                  </a:txBody>
                  <a:tcPr>
                    <a:solidFill>
                      <a:srgbClr val="0D2240"/>
                    </a:solidFill>
                  </a:tcPr>
                </a:tc>
                <a:tc>
                  <a:txBody>
                    <a:bodyPr/>
                    <a:lstStyle/>
                    <a:p>
                      <a:pPr algn="ctr"/>
                      <a:r>
                        <a:rPr sz="1000" b="1">
                          <a:solidFill>
                            <a:srgbClr val="FFFFFF"/>
                          </a:solidFill>
                          <a:latin typeface="Calibri"/>
                        </a:rPr>
                        <a:t>Coverage Threshold</a:t>
                      </a:r>
                    </a:p>
                  </a:txBody>
                  <a:tcPr>
                    <a:solidFill>
                      <a:srgbClr val="0D2240"/>
                    </a:solidFill>
                  </a:tcPr>
                </a:tc>
                <a:tc>
                  <a:txBody>
                    <a:bodyPr/>
                    <a:lstStyle/>
                    <a:p>
                      <a:pPr algn="ctr"/>
                      <a:r>
                        <a:rPr sz="1000" b="1">
                          <a:solidFill>
                            <a:srgbClr val="FFFFFF"/>
                          </a:solidFill>
                          <a:latin typeface="Calibri"/>
                        </a:rPr>
                        <a:t>Panel Rows</a:t>
                      </a:r>
                    </a:p>
                  </a:txBody>
                  <a:tcPr>
                    <a:solidFill>
                      <a:srgbClr val="0D2240"/>
                    </a:solidFill>
                  </a:tcPr>
                </a:tc>
                <a:tc>
                  <a:txBody>
                    <a:bodyPr/>
                    <a:lstStyle/>
                    <a:p>
                      <a:pPr algn="ctr"/>
                      <a:r>
                        <a:rPr sz="1000" b="1">
                          <a:solidFill>
                            <a:srgbClr val="FFFFFF"/>
                          </a:solidFill>
                          <a:latin typeface="Calibri"/>
                        </a:rPr>
                        <a:t>Script Output</a:t>
                      </a:r>
                    </a:p>
                  </a:txBody>
                  <a:tcPr>
                    <a:solidFill>
                      <a:srgbClr val="0D2240"/>
                    </a:solidFill>
                  </a:tcPr>
                </a:tc>
                <a:extLst>
                  <a:ext uri="{0D108BD9-81ED-4DB2-BD59-A6C34878D82A}">
                    <a16:rowId xmlns:a16="http://schemas.microsoft.com/office/drawing/2014/main" val="10000"/>
                  </a:ext>
                </a:extLst>
              </a:tr>
              <a:tr h="402336">
                <a:tc>
                  <a:txBody>
                    <a:bodyPr/>
                    <a:lstStyle/>
                    <a:p>
                      <a:pPr algn="l"/>
                      <a:r>
                        <a:rPr sz="950">
                          <a:solidFill>
                            <a:srgbClr val="1A2E1E"/>
                          </a:solidFill>
                          <a:latin typeface="Calibri"/>
                        </a:rPr>
                        <a:t>Tomato</a:t>
                      </a:r>
                    </a:p>
                  </a:txBody>
                  <a:tcPr>
                    <a:solidFill>
                      <a:srgbClr val="FFFFFF"/>
                    </a:solidFill>
                  </a:tcPr>
                </a:tc>
                <a:tc>
                  <a:txBody>
                    <a:bodyPr/>
                    <a:lstStyle/>
                    <a:p>
                      <a:pPr algn="ctr"/>
                      <a:r>
                        <a:rPr sz="950">
                          <a:solidFill>
                            <a:srgbClr val="1A2E1E"/>
                          </a:solidFill>
                          <a:latin typeface="Calibri"/>
                        </a:rPr>
                        <a:t>1,567</a:t>
                      </a:r>
                    </a:p>
                  </a:txBody>
                  <a:tcPr>
                    <a:solidFill>
                      <a:srgbClr val="FFFFFF"/>
                    </a:solidFill>
                  </a:tcPr>
                </a:tc>
                <a:tc>
                  <a:txBody>
                    <a:bodyPr/>
                    <a:lstStyle/>
                    <a:p>
                      <a:pPr algn="ctr"/>
                      <a:r>
                        <a:rPr sz="950">
                          <a:solidFill>
                            <a:srgbClr val="1A2E1E"/>
                          </a:solidFill>
                          <a:latin typeface="Calibri"/>
                        </a:rPr>
                        <a:t>29</a:t>
                      </a:r>
                    </a:p>
                  </a:txBody>
                  <a:tcPr>
                    <a:solidFill>
                      <a:srgbClr val="FFFFFF"/>
                    </a:solidFill>
                  </a:tcPr>
                </a:tc>
                <a:tc>
                  <a:txBody>
                    <a:bodyPr/>
                    <a:lstStyle/>
                    <a:p>
                      <a:pPr algn="ctr"/>
                      <a:r>
                        <a:rPr sz="950">
                          <a:solidFill>
                            <a:srgbClr val="1A2E1E"/>
                          </a:solidFill>
                          <a:latin typeface="Calibri"/>
                        </a:rPr>
                        <a:t>≥ 90% of 470 weeks</a:t>
                      </a:r>
                    </a:p>
                  </a:txBody>
                  <a:tcPr>
                    <a:solidFill>
                      <a:srgbClr val="FFFFFF"/>
                    </a:solidFill>
                  </a:tcPr>
                </a:tc>
                <a:tc>
                  <a:txBody>
                    <a:bodyPr/>
                    <a:lstStyle/>
                    <a:p>
                      <a:pPr algn="ctr"/>
                      <a:r>
                        <a:rPr sz="950">
                          <a:solidFill>
                            <a:srgbClr val="1A2E1E"/>
                          </a:solidFill>
                          <a:latin typeface="Calibri"/>
                        </a:rPr>
                        <a:t>736,490</a:t>
                      </a:r>
                    </a:p>
                  </a:txBody>
                  <a:tcPr>
                    <a:solidFill>
                      <a:srgbClr val="FFFFFF"/>
                    </a:solidFill>
                  </a:tcPr>
                </a:tc>
                <a:tc>
                  <a:txBody>
                    <a:bodyPr/>
                    <a:lstStyle/>
                    <a:p>
                      <a:pPr algn="ctr"/>
                      <a:r>
                        <a:rPr sz="950">
                          <a:solidFill>
                            <a:srgbClr val="1A2E1E"/>
                          </a:solidFill>
                          <a:latin typeface="Calibri"/>
                        </a:rPr>
                        <a:t>tomato_weekly_panel.csv  (~70 MB)</a:t>
                      </a:r>
                    </a:p>
                  </a:txBody>
                  <a:tcPr>
                    <a:solidFill>
                      <a:srgbClr val="FFFFFF"/>
                    </a:solidFill>
                  </a:tcPr>
                </a:tc>
                <a:extLst>
                  <a:ext uri="{0D108BD9-81ED-4DB2-BD59-A6C34878D82A}">
                    <a16:rowId xmlns:a16="http://schemas.microsoft.com/office/drawing/2014/main" val="10001"/>
                  </a:ext>
                </a:extLst>
              </a:tr>
              <a:tr h="402336">
                <a:tc>
                  <a:txBody>
                    <a:bodyPr/>
                    <a:lstStyle/>
                    <a:p>
                      <a:pPr algn="l"/>
                      <a:r>
                        <a:rPr sz="950">
                          <a:solidFill>
                            <a:srgbClr val="1A2E1E"/>
                          </a:solidFill>
                          <a:latin typeface="Calibri"/>
                        </a:rPr>
                        <a:t>Onion</a:t>
                      </a:r>
                    </a:p>
                  </a:txBody>
                  <a:tcPr>
                    <a:solidFill>
                      <a:srgbClr val="F0F6F3"/>
                    </a:solidFill>
                  </a:tcPr>
                </a:tc>
                <a:tc>
                  <a:txBody>
                    <a:bodyPr/>
                    <a:lstStyle/>
                    <a:p>
                      <a:pPr algn="ctr"/>
                      <a:r>
                        <a:rPr sz="950">
                          <a:solidFill>
                            <a:srgbClr val="1A2E1E"/>
                          </a:solidFill>
                          <a:latin typeface="Calibri"/>
                        </a:rPr>
                        <a:t>843</a:t>
                      </a:r>
                    </a:p>
                  </a:txBody>
                  <a:tcPr>
                    <a:solidFill>
                      <a:srgbClr val="F0F6F3"/>
                    </a:solidFill>
                  </a:tcPr>
                </a:tc>
                <a:tc>
                  <a:txBody>
                    <a:bodyPr/>
                    <a:lstStyle/>
                    <a:p>
                      <a:pPr algn="ctr"/>
                      <a:r>
                        <a:rPr sz="950">
                          <a:solidFill>
                            <a:srgbClr val="1A2E1E"/>
                          </a:solidFill>
                          <a:latin typeface="Calibri"/>
                        </a:rPr>
                        <a:t>22</a:t>
                      </a:r>
                    </a:p>
                  </a:txBody>
                  <a:tcPr>
                    <a:solidFill>
                      <a:srgbClr val="F0F6F3"/>
                    </a:solidFill>
                  </a:tcPr>
                </a:tc>
                <a:tc>
                  <a:txBody>
                    <a:bodyPr/>
                    <a:lstStyle/>
                    <a:p>
                      <a:pPr algn="ctr"/>
                      <a:r>
                        <a:rPr sz="950">
                          <a:solidFill>
                            <a:srgbClr val="1A2E1E"/>
                          </a:solidFill>
                          <a:latin typeface="Calibri"/>
                        </a:rPr>
                        <a:t>≥ 90% of 470 weeks</a:t>
                      </a:r>
                    </a:p>
                  </a:txBody>
                  <a:tcPr>
                    <a:solidFill>
                      <a:srgbClr val="F0F6F3"/>
                    </a:solidFill>
                  </a:tcPr>
                </a:tc>
                <a:tc>
                  <a:txBody>
                    <a:bodyPr/>
                    <a:lstStyle/>
                    <a:p>
                      <a:pPr algn="ctr"/>
                      <a:r>
                        <a:rPr sz="950">
                          <a:solidFill>
                            <a:srgbClr val="1A2E1E"/>
                          </a:solidFill>
                          <a:latin typeface="Calibri"/>
                        </a:rPr>
                        <a:t>396,210</a:t>
                      </a:r>
                    </a:p>
                  </a:txBody>
                  <a:tcPr>
                    <a:solidFill>
                      <a:srgbClr val="F0F6F3"/>
                    </a:solidFill>
                  </a:tcPr>
                </a:tc>
                <a:tc>
                  <a:txBody>
                    <a:bodyPr/>
                    <a:lstStyle/>
                    <a:p>
                      <a:pPr algn="ctr"/>
                      <a:r>
                        <a:rPr sz="950">
                          <a:solidFill>
                            <a:srgbClr val="1A2E1E"/>
                          </a:solidFill>
                          <a:latin typeface="Calibri"/>
                        </a:rPr>
                        <a:t>onion_weekly_panel.csv   (~35 MB)</a:t>
                      </a:r>
                    </a:p>
                  </a:txBody>
                  <a:tcPr>
                    <a:solidFill>
                      <a:srgbClr val="F0F6F3"/>
                    </a:solidFill>
                  </a:tcPr>
                </a:tc>
                <a:extLst>
                  <a:ext uri="{0D108BD9-81ED-4DB2-BD59-A6C34878D82A}">
                    <a16:rowId xmlns:a16="http://schemas.microsoft.com/office/drawing/2014/main" val="10002"/>
                  </a:ext>
                </a:extLst>
              </a:tr>
              <a:tr h="402336">
                <a:tc>
                  <a:txBody>
                    <a:bodyPr/>
                    <a:lstStyle/>
                    <a:p>
                      <a:pPr algn="l"/>
                      <a:r>
                        <a:rPr sz="950">
                          <a:solidFill>
                            <a:srgbClr val="1A2E1E"/>
                          </a:solidFill>
                          <a:latin typeface="Calibri"/>
                        </a:rPr>
                        <a:t>Potato</a:t>
                      </a:r>
                    </a:p>
                  </a:txBody>
                  <a:tcPr>
                    <a:solidFill>
                      <a:srgbClr val="FFFFFF"/>
                    </a:solidFill>
                  </a:tcPr>
                </a:tc>
                <a:tc>
                  <a:txBody>
                    <a:bodyPr/>
                    <a:lstStyle/>
                    <a:p>
                      <a:pPr algn="ctr"/>
                      <a:r>
                        <a:rPr sz="950">
                          <a:solidFill>
                            <a:srgbClr val="1A2E1E"/>
                          </a:solidFill>
                          <a:latin typeface="Calibri"/>
                        </a:rPr>
                        <a:t>85</a:t>
                      </a:r>
                    </a:p>
                  </a:txBody>
                  <a:tcPr>
                    <a:solidFill>
                      <a:srgbClr val="FFFFFF"/>
                    </a:solidFill>
                  </a:tcPr>
                </a:tc>
                <a:tc>
                  <a:txBody>
                    <a:bodyPr/>
                    <a:lstStyle/>
                    <a:p>
                      <a:pPr algn="ctr"/>
                      <a:r>
                        <a:rPr sz="950">
                          <a:solidFill>
                            <a:srgbClr val="1A2E1E"/>
                          </a:solidFill>
                          <a:latin typeface="Calibri"/>
                        </a:rPr>
                        <a:t>2</a:t>
                      </a:r>
                    </a:p>
                  </a:txBody>
                  <a:tcPr>
                    <a:solidFill>
                      <a:srgbClr val="FFFFFF"/>
                    </a:solidFill>
                  </a:tcPr>
                </a:tc>
                <a:tc>
                  <a:txBody>
                    <a:bodyPr/>
                    <a:lstStyle/>
                    <a:p>
                      <a:pPr algn="ctr"/>
                      <a:r>
                        <a:rPr sz="950">
                          <a:solidFill>
                            <a:srgbClr val="1A2E1E"/>
                          </a:solidFill>
                          <a:latin typeface="Calibri"/>
                        </a:rPr>
                        <a:t>≥ 90% of 470 weeks</a:t>
                      </a:r>
                    </a:p>
                  </a:txBody>
                  <a:tcPr>
                    <a:solidFill>
                      <a:srgbClr val="FFFFFF"/>
                    </a:solidFill>
                  </a:tcPr>
                </a:tc>
                <a:tc>
                  <a:txBody>
                    <a:bodyPr/>
                    <a:lstStyle/>
                    <a:p>
                      <a:pPr algn="ctr"/>
                      <a:r>
                        <a:rPr sz="950">
                          <a:solidFill>
                            <a:srgbClr val="1A2E1E"/>
                          </a:solidFill>
                          <a:latin typeface="Calibri"/>
                        </a:rPr>
                        <a:t>39,950</a:t>
                      </a:r>
                    </a:p>
                  </a:txBody>
                  <a:tcPr>
                    <a:solidFill>
                      <a:srgbClr val="FFFFFF"/>
                    </a:solidFill>
                  </a:tcPr>
                </a:tc>
                <a:tc>
                  <a:txBody>
                    <a:bodyPr/>
                    <a:lstStyle/>
                    <a:p>
                      <a:pPr algn="ctr"/>
                      <a:r>
                        <a:rPr sz="950">
                          <a:solidFill>
                            <a:srgbClr val="1A2E1E"/>
                          </a:solidFill>
                          <a:latin typeface="Calibri"/>
                        </a:rPr>
                        <a:t>potato_weekly_panel.csv  (~4 MB)</a:t>
                      </a:r>
                    </a:p>
                  </a:txBody>
                  <a:tcPr>
                    <a:solidFill>
                      <a:srgbClr val="FFFFFF"/>
                    </a:solidFill>
                  </a:tcPr>
                </a:tc>
                <a:extLst>
                  <a:ext uri="{0D108BD9-81ED-4DB2-BD59-A6C34878D82A}">
                    <a16:rowId xmlns:a16="http://schemas.microsoft.com/office/drawing/2014/main" val="10003"/>
                  </a:ext>
                </a:extLst>
              </a:tr>
              <a:tr h="402336">
                <a:tc>
                  <a:txBody>
                    <a:bodyPr/>
                    <a:lstStyle/>
                    <a:p>
                      <a:pPr algn="l"/>
                      <a:r>
                        <a:rPr sz="950">
                          <a:solidFill>
                            <a:srgbClr val="1A2E1E"/>
                          </a:solidFill>
                          <a:latin typeface="Calibri"/>
                        </a:rPr>
                        <a:t>TOTAL</a:t>
                      </a:r>
                    </a:p>
                  </a:txBody>
                  <a:tcPr>
                    <a:solidFill>
                      <a:srgbClr val="F0F6F3"/>
                    </a:solidFill>
                  </a:tcPr>
                </a:tc>
                <a:tc>
                  <a:txBody>
                    <a:bodyPr/>
                    <a:lstStyle/>
                    <a:p>
                      <a:pPr algn="ctr"/>
                      <a:r>
                        <a:rPr sz="950">
                          <a:solidFill>
                            <a:srgbClr val="1A2E1E"/>
                          </a:solidFill>
                          <a:latin typeface="Calibri"/>
                        </a:rPr>
                        <a:t>2,495</a:t>
                      </a:r>
                    </a:p>
                  </a:txBody>
                  <a:tcPr>
                    <a:solidFill>
                      <a:srgbClr val="F0F6F3"/>
                    </a:solidFill>
                  </a:tcPr>
                </a:tc>
                <a:tc>
                  <a:txBody>
                    <a:bodyPr/>
                    <a:lstStyle/>
                    <a:p>
                      <a:pPr algn="ctr"/>
                      <a:r>
                        <a:rPr sz="950">
                          <a:solidFill>
                            <a:srgbClr val="1A2E1E"/>
                          </a:solidFill>
                          <a:latin typeface="Calibri"/>
                        </a:rPr>
                        <a:t>—</a:t>
                      </a:r>
                    </a:p>
                  </a:txBody>
                  <a:tcPr>
                    <a:solidFill>
                      <a:srgbClr val="F0F6F3"/>
                    </a:solidFill>
                  </a:tcPr>
                </a:tc>
                <a:tc>
                  <a:txBody>
                    <a:bodyPr/>
                    <a:lstStyle/>
                    <a:p>
                      <a:pPr algn="ctr"/>
                      <a:r>
                        <a:rPr sz="950">
                          <a:solidFill>
                            <a:srgbClr val="1A2E1E"/>
                          </a:solidFill>
                          <a:latin typeface="Calibri"/>
                        </a:rPr>
                        <a:t>—</a:t>
                      </a:r>
                    </a:p>
                  </a:txBody>
                  <a:tcPr>
                    <a:solidFill>
                      <a:srgbClr val="F0F6F3"/>
                    </a:solidFill>
                  </a:tcPr>
                </a:tc>
                <a:tc>
                  <a:txBody>
                    <a:bodyPr/>
                    <a:lstStyle/>
                    <a:p>
                      <a:pPr algn="ctr"/>
                      <a:r>
                        <a:rPr sz="950">
                          <a:solidFill>
                            <a:srgbClr val="1A2E1E"/>
                          </a:solidFill>
                          <a:latin typeface="Calibri"/>
                        </a:rPr>
                        <a:t>1,172,650</a:t>
                      </a:r>
                    </a:p>
                  </a:txBody>
                  <a:tcPr>
                    <a:solidFill>
                      <a:srgbClr val="F0F6F3"/>
                    </a:solidFill>
                  </a:tcPr>
                </a:tc>
                <a:tc>
                  <a:txBody>
                    <a:bodyPr/>
                    <a:lstStyle/>
                    <a:p>
                      <a:pPr algn="ctr"/>
                      <a:r>
                        <a:rPr sz="950">
                          <a:solidFill>
                            <a:srgbClr val="1A2E1E"/>
                          </a:solidFill>
                          <a:latin typeface="Calibri"/>
                        </a:rPr>
                        <a:t>top_weekly_panel.csv  (107 MB, .gitignore)</a:t>
                      </a:r>
                    </a:p>
                  </a:txBody>
                  <a:tcPr>
                    <a:solidFill>
                      <a:srgbClr val="F0F6F3"/>
                    </a:solidFill>
                  </a:tcPr>
                </a:tc>
                <a:extLst>
                  <a:ext uri="{0D108BD9-81ED-4DB2-BD59-A6C34878D82A}">
                    <a16:rowId xmlns:a16="http://schemas.microsoft.com/office/drawing/2014/main" val="10004"/>
                  </a:ext>
                </a:extLst>
              </a:tr>
            </a:tbl>
          </a:graphicData>
        </a:graphic>
      </p:graphicFrame>
      <p:sp>
        <p:nvSpPr>
          <p:cNvPr id="11" name="TextBox 10"/>
          <p:cNvSpPr txBox="1"/>
          <p:nvPr/>
        </p:nvSpPr>
        <p:spPr>
          <a:xfrm>
            <a:off x="182880" y="3246120"/>
            <a:ext cx="11795760" cy="347472"/>
          </a:xfrm>
          <a:prstGeom prst="rect">
            <a:avLst/>
          </a:prstGeom>
          <a:noFill/>
        </p:spPr>
        <p:txBody>
          <a:bodyPr wrap="square">
            <a:spAutoFit/>
          </a:bodyPr>
          <a:lstStyle/>
          <a:p>
            <a:pPr algn="l"/>
            <a:r>
              <a:rPr sz="1100" b="1" i="0">
                <a:solidFill>
                  <a:srgbClr val="1E6B45"/>
                </a:solidFill>
                <a:latin typeface="Calibri"/>
              </a:rPr>
              <a:t>KEY DECISION — Full Panel vs. Strategic Markets</a:t>
            </a:r>
          </a:p>
        </p:txBody>
      </p:sp>
      <p:sp>
        <p:nvSpPr>
          <p:cNvPr id="12" name="Rectangle 11"/>
          <p:cNvSpPr/>
          <p:nvPr/>
        </p:nvSpPr>
        <p:spPr>
          <a:xfrm>
            <a:off x="182880" y="3630168"/>
            <a:ext cx="5577840" cy="2633472"/>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182880" y="3630168"/>
            <a:ext cx="5577840" cy="320040"/>
          </a:xfrm>
          <a:prstGeom prst="rect">
            <a:avLst/>
          </a:prstGeom>
          <a:solidFill>
            <a:srgbClr val="0B4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20040" y="3648456"/>
            <a:ext cx="5303520" cy="274320"/>
          </a:xfrm>
          <a:prstGeom prst="rect">
            <a:avLst/>
          </a:prstGeom>
          <a:noFill/>
        </p:spPr>
        <p:txBody>
          <a:bodyPr wrap="square">
            <a:spAutoFit/>
          </a:bodyPr>
          <a:lstStyle/>
          <a:p>
            <a:pPr algn="l"/>
            <a:r>
              <a:rPr sz="1000" b="1" i="0">
                <a:solidFill>
                  <a:srgbClr val="FFFFFF"/>
                </a:solidFill>
                <a:latin typeface="Calibri"/>
              </a:rPr>
              <a:t>PI BRIEF RECOMMENDATION</a:t>
            </a:r>
          </a:p>
        </p:txBody>
      </p:sp>
      <p:sp>
        <p:nvSpPr>
          <p:cNvPr id="15" name="TextBox 14"/>
          <p:cNvSpPr txBox="1"/>
          <p:nvPr/>
        </p:nvSpPr>
        <p:spPr>
          <a:xfrm>
            <a:off x="292608" y="4005072"/>
            <a:ext cx="5303520" cy="2148840"/>
          </a:xfrm>
          <a:prstGeom prst="rect">
            <a:avLst/>
          </a:prstGeom>
          <a:noFill/>
        </p:spPr>
        <p:txBody>
          <a:bodyPr wrap="square">
            <a:spAutoFit/>
          </a:bodyPr>
          <a:lstStyle/>
          <a:p>
            <a:pPr>
              <a:spcBef>
                <a:spcPts val="700"/>
              </a:spcBef>
            </a:pPr>
            <a:r>
              <a:rPr sz="1100">
                <a:solidFill>
                  <a:srgbClr val="1A2E1E"/>
                </a:solidFill>
                <a:latin typeface="Calibri"/>
              </a:rPr>
              <a:t>~20–30 'strategic' APMCs selected on trading volume and geographic spread</a:t>
            </a:r>
          </a:p>
          <a:p>
            <a:pPr>
              <a:spcBef>
                <a:spcPts val="700"/>
              </a:spcBef>
            </a:pPr>
            <a:r>
              <a:rPr sz="1100">
                <a:solidFill>
                  <a:srgbClr val="1A2E1E"/>
                </a:solidFill>
                <a:latin typeface="Calibri"/>
              </a:rPr>
              <a:t>Smaller panel → easier to interpret → focused policy recommendations</a:t>
            </a:r>
          </a:p>
          <a:p>
            <a:pPr>
              <a:spcBef>
                <a:spcPts val="700"/>
              </a:spcBef>
            </a:pPr>
            <a:r>
              <a:rPr sz="1100">
                <a:solidFill>
                  <a:srgbClr val="1A2E1E"/>
                </a:solidFill>
                <a:latin typeface="Calibri"/>
              </a:rPr>
              <a:t>Standard approach in Indian agricultural economics literature</a:t>
            </a:r>
          </a:p>
        </p:txBody>
      </p:sp>
      <p:sp>
        <p:nvSpPr>
          <p:cNvPr id="16" name="Rectangle 15"/>
          <p:cNvSpPr/>
          <p:nvPr/>
        </p:nvSpPr>
        <p:spPr>
          <a:xfrm>
            <a:off x="5989320" y="3630168"/>
            <a:ext cx="5943600" cy="2633472"/>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989320" y="3630168"/>
            <a:ext cx="5943600" cy="320040"/>
          </a:xfrm>
          <a:prstGeom prst="rect">
            <a:avLst/>
          </a:prstGeom>
          <a:solidFill>
            <a:srgbClr val="0B6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126480" y="3648456"/>
            <a:ext cx="5669280" cy="274320"/>
          </a:xfrm>
          <a:prstGeom prst="rect">
            <a:avLst/>
          </a:prstGeom>
          <a:noFill/>
        </p:spPr>
        <p:txBody>
          <a:bodyPr wrap="square">
            <a:spAutoFit/>
          </a:bodyPr>
          <a:lstStyle/>
          <a:p>
            <a:pPr algn="l"/>
            <a:r>
              <a:rPr sz="1000" b="1" i="0">
                <a:solidFill>
                  <a:srgbClr val="FFFFFF"/>
                </a:solidFill>
                <a:latin typeface="Calibri"/>
              </a:rPr>
              <a:t>OUR DECISION — FULL PANEL  (approved)</a:t>
            </a:r>
          </a:p>
        </p:txBody>
      </p:sp>
      <p:sp>
        <p:nvSpPr>
          <p:cNvPr id="19" name="TextBox 18"/>
          <p:cNvSpPr txBox="1"/>
          <p:nvPr/>
        </p:nvSpPr>
        <p:spPr>
          <a:xfrm>
            <a:off x="6099048" y="4005072"/>
            <a:ext cx="5669280" cy="2148840"/>
          </a:xfrm>
          <a:prstGeom prst="rect">
            <a:avLst/>
          </a:prstGeom>
          <a:noFill/>
        </p:spPr>
        <p:txBody>
          <a:bodyPr wrap="square">
            <a:spAutoFit/>
          </a:bodyPr>
          <a:lstStyle/>
          <a:p>
            <a:pPr>
              <a:spcBef>
                <a:spcPts val="600"/>
              </a:spcBef>
            </a:pPr>
            <a:r>
              <a:rPr sz="1100">
                <a:solidFill>
                  <a:srgbClr val="1A2E1E"/>
                </a:solidFill>
                <a:latin typeface="Calibri"/>
              </a:rPr>
              <a:t>1.17M rows provides &gt;50× more training signal for LightGBM feature learning</a:t>
            </a:r>
          </a:p>
          <a:p>
            <a:pPr>
              <a:spcBef>
                <a:spcPts val="600"/>
              </a:spcBef>
            </a:pPr>
            <a:r>
              <a:rPr sz="1100">
                <a:solidFill>
                  <a:srgbClr val="1A2E1E"/>
                </a:solidFill>
                <a:latin typeface="Calibri"/>
              </a:rPr>
              <a:t>Captures diverse price dynamics: assembly markets, mandi hubs, local retail yards</a:t>
            </a:r>
          </a:p>
          <a:p>
            <a:pPr>
              <a:spcBef>
                <a:spcPts val="600"/>
              </a:spcBef>
            </a:pPr>
            <a:r>
              <a:rPr sz="1100">
                <a:solidFill>
                  <a:srgbClr val="1A2E1E"/>
                </a:solidFill>
                <a:latin typeface="Calibri"/>
              </a:rPr>
              <a:t>Better generalisation across India's heterogeneous market structure</a:t>
            </a:r>
          </a:p>
          <a:p>
            <a:pPr>
              <a:spcBef>
                <a:spcPts val="600"/>
              </a:spcBef>
            </a:pPr>
            <a:r>
              <a:rPr sz="1100">
                <a:solidFill>
                  <a:srgbClr val="1A2E1E"/>
                </a:solidFill>
                <a:latin typeface="Calibri"/>
              </a:rPr>
              <a:t>Strategic 20–30 markets highlighted in paper as focused policy lens within results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64008" cy="6858000"/>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 y="0"/>
            <a:ext cx="12124944" cy="960120"/>
          </a:xfrm>
          <a:prstGeom prst="rect">
            <a:avLst/>
          </a:prstGeom>
          <a:solidFill>
            <a:srgbClr val="0D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4008" y="960120"/>
            <a:ext cx="12124944" cy="32004"/>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 y="64008"/>
            <a:ext cx="11704320" cy="475488"/>
          </a:xfrm>
          <a:prstGeom prst="rect">
            <a:avLst/>
          </a:prstGeom>
          <a:noFill/>
        </p:spPr>
        <p:txBody>
          <a:bodyPr wrap="square">
            <a:spAutoFit/>
          </a:bodyPr>
          <a:lstStyle/>
          <a:p>
            <a:pPr algn="l"/>
            <a:r>
              <a:rPr sz="2100" b="1" i="0">
                <a:solidFill>
                  <a:srgbClr val="FFFFFF"/>
                </a:solidFill>
                <a:latin typeface="Calibri"/>
              </a:rPr>
              <a:t>Layer 4 — Macro-Logistics Data</a:t>
            </a:r>
          </a:p>
        </p:txBody>
      </p:sp>
      <p:sp>
        <p:nvSpPr>
          <p:cNvPr id="6" name="TextBox 5"/>
          <p:cNvSpPr txBox="1"/>
          <p:nvPr/>
        </p:nvSpPr>
        <p:spPr>
          <a:xfrm>
            <a:off x="201168" y="548640"/>
            <a:ext cx="11704320" cy="365760"/>
          </a:xfrm>
          <a:prstGeom prst="rect">
            <a:avLst/>
          </a:prstGeom>
          <a:noFill/>
        </p:spPr>
        <p:txBody>
          <a:bodyPr wrap="square">
            <a:spAutoFit/>
          </a:bodyPr>
          <a:lstStyle/>
          <a:p>
            <a:pPr algn="l"/>
            <a:r>
              <a:rPr sz="1300" b="0" i="1">
                <a:solidFill>
                  <a:srgbClr val="C8DDD0"/>
                </a:solidFill>
                <a:latin typeface="Calibri"/>
              </a:rPr>
              <a:t>Four economic data sources · 108 months (2017–2025) · Fully compiled and verified</a:t>
            </a:r>
          </a:p>
        </p:txBody>
      </p:sp>
      <p:sp>
        <p:nvSpPr>
          <p:cNvPr id="7" name="Rectangle 6"/>
          <p:cNvSpPr/>
          <p:nvPr/>
        </p:nvSpPr>
        <p:spPr>
          <a:xfrm>
            <a:off x="0" y="6565392"/>
            <a:ext cx="12188952" cy="292608"/>
          </a:xfrm>
          <a:prstGeom prst="rect">
            <a:avLst/>
          </a:prstGeom>
          <a:solidFill>
            <a:srgbClr val="0D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01168" y="6583680"/>
            <a:ext cx="7315200" cy="237744"/>
          </a:xfrm>
          <a:prstGeom prst="rect">
            <a:avLst/>
          </a:prstGeom>
          <a:noFill/>
        </p:spPr>
        <p:txBody>
          <a:bodyPr wrap="square">
            <a:spAutoFit/>
          </a:bodyPr>
          <a:lstStyle/>
          <a:p>
            <a:pPr algn="l"/>
            <a:r>
              <a:rPr sz="850" b="0" i="0">
                <a:solidFill>
                  <a:srgbClr val="C8DDD0"/>
                </a:solidFill>
                <a:latin typeface="Calibri"/>
              </a:rPr>
              <a:t>TOP Digital Twin  ·  SKUAST-K  ·  HADP-04  ·  July 2026</a:t>
            </a:r>
          </a:p>
        </p:txBody>
      </p:sp>
      <p:sp>
        <p:nvSpPr>
          <p:cNvPr id="9" name="TextBox 8"/>
          <p:cNvSpPr txBox="1"/>
          <p:nvPr/>
        </p:nvSpPr>
        <p:spPr>
          <a:xfrm>
            <a:off x="7589520" y="6583680"/>
            <a:ext cx="4389120" cy="237744"/>
          </a:xfrm>
          <a:prstGeom prst="rect">
            <a:avLst/>
          </a:prstGeom>
          <a:noFill/>
        </p:spPr>
        <p:txBody>
          <a:bodyPr wrap="square">
            <a:spAutoFit/>
          </a:bodyPr>
          <a:lstStyle/>
          <a:p>
            <a:pPr algn="r"/>
            <a:r>
              <a:rPr sz="850" b="0" i="0">
                <a:solidFill>
                  <a:srgbClr val="C8DDD0"/>
                </a:solidFill>
                <a:latin typeface="Calibri"/>
              </a:rPr>
              <a:t>CONFIDENTIAL — PI REVIEW</a:t>
            </a:r>
          </a:p>
        </p:txBody>
      </p:sp>
      <p:sp>
        <p:nvSpPr>
          <p:cNvPr id="10" name="TextBox 9"/>
          <p:cNvSpPr txBox="1"/>
          <p:nvPr/>
        </p:nvSpPr>
        <p:spPr>
          <a:xfrm>
            <a:off x="182880" y="1097280"/>
            <a:ext cx="11795760" cy="320040"/>
          </a:xfrm>
          <a:prstGeom prst="rect">
            <a:avLst/>
          </a:prstGeom>
          <a:noFill/>
        </p:spPr>
        <p:txBody>
          <a:bodyPr wrap="square">
            <a:spAutoFit/>
          </a:bodyPr>
          <a:lstStyle/>
          <a:p>
            <a:pPr algn="l"/>
            <a:r>
              <a:rPr sz="1050" b="0" i="1">
                <a:solidFill>
                  <a:srgbClr val="5A6A60"/>
                </a:solidFill>
                <a:latin typeface="Calibri"/>
              </a:rPr>
              <a:t>All macro series extend to December 2025. Each file is deduplicated (provisional vs. revised entries removed).</a:t>
            </a:r>
          </a:p>
        </p:txBody>
      </p:sp>
      <p:sp>
        <p:nvSpPr>
          <p:cNvPr id="11" name="Rectangle 10"/>
          <p:cNvSpPr/>
          <p:nvPr/>
        </p:nvSpPr>
        <p:spPr>
          <a:xfrm>
            <a:off x="182880" y="1508760"/>
            <a:ext cx="2834640" cy="4736592"/>
          </a:xfrm>
          <a:prstGeom prst="rect">
            <a:avLst/>
          </a:prstGeom>
          <a:solidFill>
            <a:srgbClr val="FFFFFF"/>
          </a:solidFill>
          <a:ln w="9525">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182880" y="1508760"/>
            <a:ext cx="2834640" cy="329184"/>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74320" y="1554480"/>
            <a:ext cx="2697480" cy="253916"/>
          </a:xfrm>
          <a:prstGeom prst="rect">
            <a:avLst/>
          </a:prstGeom>
          <a:noFill/>
        </p:spPr>
        <p:txBody>
          <a:bodyPr wrap="square">
            <a:spAutoFit/>
          </a:bodyPr>
          <a:lstStyle/>
          <a:p>
            <a:pPr algn="l"/>
            <a:r>
              <a:rPr sz="1050" b="1" i="0" dirty="0">
                <a:solidFill>
                  <a:srgbClr val="FFFFFF"/>
                </a:solidFill>
                <a:latin typeface="Calibri"/>
              </a:rPr>
              <a:t>CMIE </a:t>
            </a:r>
            <a:r>
              <a:rPr lang="en-US" sz="1050" b="1" i="0" dirty="0">
                <a:solidFill>
                  <a:srgbClr val="FFFFFF"/>
                </a:solidFill>
                <a:latin typeface="Calibri"/>
              </a:rPr>
              <a:t>EO </a:t>
            </a:r>
            <a:r>
              <a:rPr sz="1050" b="1" i="0" dirty="0">
                <a:solidFill>
                  <a:srgbClr val="FFFFFF"/>
                </a:solidFill>
                <a:latin typeface="Calibri"/>
              </a:rPr>
              <a:t>(Script 10)</a:t>
            </a:r>
          </a:p>
        </p:txBody>
      </p:sp>
      <p:sp>
        <p:nvSpPr>
          <p:cNvPr id="14" name="TextBox 13"/>
          <p:cNvSpPr txBox="1"/>
          <p:nvPr/>
        </p:nvSpPr>
        <p:spPr>
          <a:xfrm>
            <a:off x="274320" y="1901951"/>
            <a:ext cx="2670048" cy="4315968"/>
          </a:xfrm>
          <a:prstGeom prst="rect">
            <a:avLst/>
          </a:prstGeom>
          <a:noFill/>
        </p:spPr>
        <p:txBody>
          <a:bodyPr wrap="square">
            <a:spAutoFit/>
          </a:bodyPr>
          <a:lstStyle/>
          <a:p>
            <a:pPr algn="l"/>
            <a:r>
              <a:rPr sz="1000" b="0" i="0">
                <a:solidFill>
                  <a:srgbClr val="1A2E1E"/>
                </a:solidFill>
                <a:latin typeface="Calibri"/>
              </a:rPr>
              <a:t>6 economic series, 108 months
Diesel retail price (Rs/litre)
Consumer Price Index (CPI)
Wholesale Price Index (WPI)
Index of Industrial Production (IIP)
USD-INR exchange rate
Indian crude oil basket (PPAC)</a:t>
            </a:r>
          </a:p>
        </p:txBody>
      </p:sp>
      <p:sp>
        <p:nvSpPr>
          <p:cNvPr id="15" name="Rectangle 14"/>
          <p:cNvSpPr/>
          <p:nvPr/>
        </p:nvSpPr>
        <p:spPr>
          <a:xfrm>
            <a:off x="3154680" y="1508760"/>
            <a:ext cx="2834640" cy="4736592"/>
          </a:xfrm>
          <a:prstGeom prst="rect">
            <a:avLst/>
          </a:prstGeom>
          <a:solidFill>
            <a:srgbClr val="FFFFFF"/>
          </a:solidFill>
          <a:ln w="9525">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154680" y="1508760"/>
            <a:ext cx="2834640" cy="329184"/>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246120" y="1554480"/>
            <a:ext cx="2697480" cy="283464"/>
          </a:xfrm>
          <a:prstGeom prst="rect">
            <a:avLst/>
          </a:prstGeom>
          <a:noFill/>
        </p:spPr>
        <p:txBody>
          <a:bodyPr wrap="square">
            <a:spAutoFit/>
          </a:bodyPr>
          <a:lstStyle/>
          <a:p>
            <a:pPr algn="l"/>
            <a:r>
              <a:rPr sz="1050" b="1" i="0">
                <a:solidFill>
                  <a:srgbClr val="FFFFFF"/>
                </a:solidFill>
                <a:latin typeface="Calibri"/>
              </a:rPr>
              <a:t>PPAC FUEL PRICES</a:t>
            </a:r>
          </a:p>
        </p:txBody>
      </p:sp>
      <p:sp>
        <p:nvSpPr>
          <p:cNvPr id="18" name="TextBox 17"/>
          <p:cNvSpPr txBox="1"/>
          <p:nvPr/>
        </p:nvSpPr>
        <p:spPr>
          <a:xfrm>
            <a:off x="3246120" y="1901951"/>
            <a:ext cx="2670048" cy="4315968"/>
          </a:xfrm>
          <a:prstGeom prst="rect">
            <a:avLst/>
          </a:prstGeom>
          <a:noFill/>
        </p:spPr>
        <p:txBody>
          <a:bodyPr wrap="square">
            <a:spAutoFit/>
          </a:bodyPr>
          <a:lstStyle/>
          <a:p>
            <a:pPr algn="l"/>
            <a:r>
              <a:rPr sz="1000" b="0" i="0">
                <a:solidFill>
                  <a:srgbClr val="1A2E1E"/>
                </a:solidFill>
                <a:latin typeface="Calibri"/>
              </a:rPr>
              <a:t>Diesel: monthly avg retail price
LPG 19kg commercial cylinder
Non-subsidised series used throughout
(Subsidised LPG ended post-2020)
108 months, no gaps
File: ppac_diesel_lpg_2017_2025.csv
</a:t>
            </a:r>
          </a:p>
        </p:txBody>
      </p:sp>
      <p:sp>
        <p:nvSpPr>
          <p:cNvPr id="19" name="Rectangle 18"/>
          <p:cNvSpPr/>
          <p:nvPr/>
        </p:nvSpPr>
        <p:spPr>
          <a:xfrm>
            <a:off x="6126480" y="1508760"/>
            <a:ext cx="2834640" cy="4736592"/>
          </a:xfrm>
          <a:prstGeom prst="rect">
            <a:avLst/>
          </a:prstGeom>
          <a:solidFill>
            <a:srgbClr val="FFFFFF"/>
          </a:solidFill>
          <a:ln w="9525">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126480" y="1508760"/>
            <a:ext cx="2834640" cy="329184"/>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217920" y="1554480"/>
            <a:ext cx="2697480" cy="283464"/>
          </a:xfrm>
          <a:prstGeom prst="rect">
            <a:avLst/>
          </a:prstGeom>
          <a:noFill/>
        </p:spPr>
        <p:txBody>
          <a:bodyPr wrap="square">
            <a:spAutoFit/>
          </a:bodyPr>
          <a:lstStyle/>
          <a:p>
            <a:pPr algn="l"/>
            <a:r>
              <a:rPr sz="1050" b="1" i="0">
                <a:solidFill>
                  <a:srgbClr val="FFFFFF"/>
                </a:solidFill>
                <a:latin typeface="Calibri"/>
              </a:rPr>
              <a:t>RBI DBIE — MONETARY</a:t>
            </a:r>
          </a:p>
        </p:txBody>
      </p:sp>
      <p:sp>
        <p:nvSpPr>
          <p:cNvPr id="22" name="TextBox 21"/>
          <p:cNvSpPr txBox="1"/>
          <p:nvPr/>
        </p:nvSpPr>
        <p:spPr>
          <a:xfrm>
            <a:off x="6217920" y="1901951"/>
            <a:ext cx="2670048" cy="4315968"/>
          </a:xfrm>
          <a:prstGeom prst="rect">
            <a:avLst/>
          </a:prstGeom>
          <a:noFill/>
        </p:spPr>
        <p:txBody>
          <a:bodyPr wrap="square">
            <a:spAutoFit/>
          </a:bodyPr>
          <a:lstStyle/>
          <a:p>
            <a:pPr algn="l"/>
            <a:r>
              <a:rPr sz="1000" b="0" i="0">
                <a:solidFill>
                  <a:srgbClr val="1A2E1E"/>
                </a:solidFill>
                <a:latin typeface="Calibri"/>
              </a:rPr>
              <a:t>Repo rate: 108 months
COVID cuts: 6.50% → 5.25%
2022–23 tightening cycle captured
Current (Jul 2026): 6.25%
File: rbi_repo_rate_2017_2025.csv
</a:t>
            </a:r>
          </a:p>
        </p:txBody>
      </p:sp>
      <p:sp>
        <p:nvSpPr>
          <p:cNvPr id="23" name="Rectangle 22"/>
          <p:cNvSpPr/>
          <p:nvPr/>
        </p:nvSpPr>
        <p:spPr>
          <a:xfrm>
            <a:off x="9098280" y="1508760"/>
            <a:ext cx="2834640" cy="4736592"/>
          </a:xfrm>
          <a:prstGeom prst="rect">
            <a:avLst/>
          </a:prstGeom>
          <a:solidFill>
            <a:srgbClr val="FFFFFF"/>
          </a:solidFill>
          <a:ln w="9525">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9098280" y="1508760"/>
            <a:ext cx="2834640" cy="329184"/>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189719" y="1554480"/>
            <a:ext cx="2697480" cy="283464"/>
          </a:xfrm>
          <a:prstGeom prst="rect">
            <a:avLst/>
          </a:prstGeom>
          <a:noFill/>
        </p:spPr>
        <p:txBody>
          <a:bodyPr wrap="square">
            <a:spAutoFit/>
          </a:bodyPr>
          <a:lstStyle/>
          <a:p>
            <a:pPr algn="l"/>
            <a:r>
              <a:rPr sz="1050" b="1" i="0">
                <a:solidFill>
                  <a:srgbClr val="FFFFFF"/>
                </a:solidFill>
                <a:latin typeface="Calibri"/>
              </a:rPr>
              <a:t>RBI DBIE — PRICES</a:t>
            </a:r>
          </a:p>
        </p:txBody>
      </p:sp>
      <p:sp>
        <p:nvSpPr>
          <p:cNvPr id="26" name="TextBox 25"/>
          <p:cNvSpPr txBox="1"/>
          <p:nvPr/>
        </p:nvSpPr>
        <p:spPr>
          <a:xfrm>
            <a:off x="9189719" y="1901951"/>
            <a:ext cx="2670048" cy="4315968"/>
          </a:xfrm>
          <a:prstGeom prst="rect">
            <a:avLst/>
          </a:prstGeom>
          <a:noFill/>
        </p:spPr>
        <p:txBody>
          <a:bodyPr wrap="square">
            <a:spAutoFit/>
          </a:bodyPr>
          <a:lstStyle/>
          <a:p>
            <a:pPr algn="l"/>
            <a:r>
              <a:rPr sz="1000" b="0" i="0">
                <a:solidFill>
                  <a:srgbClr val="1A2E1E"/>
                </a:solidFill>
                <a:latin typeface="Calibri"/>
              </a:rPr>
              <a:t>Crop-specific WPI (KEY FEATURE):
  · wpi_tomato
  · wpi_onion
  · wpi_potato
USD/INR: 2025 avg 87.14 Rs/USD
(8.5% depreciation vs 2024)
Files: rbi_wpi_* · rbi_usdinr_*</a:t>
            </a:r>
          </a:p>
        </p:txBody>
      </p:sp>
      <p:sp>
        <p:nvSpPr>
          <p:cNvPr id="27" name="TextBox 26"/>
          <p:cNvSpPr txBox="1"/>
          <p:nvPr/>
        </p:nvSpPr>
        <p:spPr>
          <a:xfrm>
            <a:off x="182880" y="6309360"/>
            <a:ext cx="11795760" cy="256032"/>
          </a:xfrm>
          <a:prstGeom prst="rect">
            <a:avLst/>
          </a:prstGeom>
          <a:noFill/>
        </p:spPr>
        <p:txBody>
          <a:bodyPr wrap="square">
            <a:spAutoFit/>
          </a:bodyPr>
          <a:lstStyle/>
          <a:p>
            <a:pPr algn="l"/>
            <a:r>
              <a:rPr sz="950" b="0" i="1">
                <a:solidFill>
                  <a:srgbClr val="5A6A60"/>
                </a:solidFill>
                <a:latin typeface="Calibri"/>
              </a:rPr>
              <a:t>MODELLING NOTE:  Macro series are monthly; aggregated to weekly by forward-filling within each month. Crop-specific WPI (wpi_tomato, wpi_onion, wpi_potato) is preferred over general WPI in the ablation design (M2 layer).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64008" cy="6858000"/>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 y="0"/>
            <a:ext cx="12124944" cy="960120"/>
          </a:xfrm>
          <a:prstGeom prst="rect">
            <a:avLst/>
          </a:prstGeom>
          <a:solidFill>
            <a:srgbClr val="0D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4008" y="960120"/>
            <a:ext cx="12124944" cy="32004"/>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 y="64008"/>
            <a:ext cx="11704320" cy="475488"/>
          </a:xfrm>
          <a:prstGeom prst="rect">
            <a:avLst/>
          </a:prstGeom>
          <a:noFill/>
        </p:spPr>
        <p:txBody>
          <a:bodyPr wrap="square">
            <a:spAutoFit/>
          </a:bodyPr>
          <a:lstStyle/>
          <a:p>
            <a:pPr algn="l"/>
            <a:r>
              <a:rPr sz="2100" b="1" i="0">
                <a:solidFill>
                  <a:srgbClr val="FFFFFF"/>
                </a:solidFill>
                <a:latin typeface="Calibri"/>
              </a:rPr>
              <a:t>Layers 2 &amp; 3 — Satellite &amp; Climate Data Framework</a:t>
            </a:r>
          </a:p>
        </p:txBody>
      </p:sp>
      <p:sp>
        <p:nvSpPr>
          <p:cNvPr id="6" name="TextBox 5"/>
          <p:cNvSpPr txBox="1"/>
          <p:nvPr/>
        </p:nvSpPr>
        <p:spPr>
          <a:xfrm>
            <a:off x="201168" y="548640"/>
            <a:ext cx="11704320" cy="365760"/>
          </a:xfrm>
          <a:prstGeom prst="rect">
            <a:avLst/>
          </a:prstGeom>
          <a:noFill/>
        </p:spPr>
        <p:txBody>
          <a:bodyPr wrap="square">
            <a:spAutoFit/>
          </a:bodyPr>
          <a:lstStyle/>
          <a:p>
            <a:pPr algn="l"/>
            <a:r>
              <a:rPr sz="1300" b="0" i="1">
                <a:solidFill>
                  <a:srgbClr val="C8DDD0"/>
                </a:solidFill>
                <a:latin typeface="Calibri"/>
              </a:rPr>
              <a:t>17 production zones · 30 km buffer · Five GEE data sources · 18 features per zone-week</a:t>
            </a:r>
          </a:p>
        </p:txBody>
      </p:sp>
      <p:sp>
        <p:nvSpPr>
          <p:cNvPr id="7" name="Rectangle 6"/>
          <p:cNvSpPr/>
          <p:nvPr/>
        </p:nvSpPr>
        <p:spPr>
          <a:xfrm>
            <a:off x="0" y="6565392"/>
            <a:ext cx="12188952" cy="292608"/>
          </a:xfrm>
          <a:prstGeom prst="rect">
            <a:avLst/>
          </a:prstGeom>
          <a:solidFill>
            <a:srgbClr val="0D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01168" y="6583680"/>
            <a:ext cx="7315200" cy="237744"/>
          </a:xfrm>
          <a:prstGeom prst="rect">
            <a:avLst/>
          </a:prstGeom>
          <a:noFill/>
        </p:spPr>
        <p:txBody>
          <a:bodyPr wrap="square">
            <a:spAutoFit/>
          </a:bodyPr>
          <a:lstStyle/>
          <a:p>
            <a:pPr algn="l"/>
            <a:r>
              <a:rPr sz="850" b="0" i="0">
                <a:solidFill>
                  <a:srgbClr val="C8DDD0"/>
                </a:solidFill>
                <a:latin typeface="Calibri"/>
              </a:rPr>
              <a:t>TOP Digital Twin  ·  SKUAST-K  ·  HADP-04  ·  July 2026</a:t>
            </a:r>
          </a:p>
        </p:txBody>
      </p:sp>
      <p:sp>
        <p:nvSpPr>
          <p:cNvPr id="9" name="TextBox 8"/>
          <p:cNvSpPr txBox="1"/>
          <p:nvPr/>
        </p:nvSpPr>
        <p:spPr>
          <a:xfrm>
            <a:off x="7589520" y="6583680"/>
            <a:ext cx="4389120" cy="237744"/>
          </a:xfrm>
          <a:prstGeom prst="rect">
            <a:avLst/>
          </a:prstGeom>
          <a:noFill/>
        </p:spPr>
        <p:txBody>
          <a:bodyPr wrap="square">
            <a:spAutoFit/>
          </a:bodyPr>
          <a:lstStyle/>
          <a:p>
            <a:pPr algn="r"/>
            <a:r>
              <a:rPr sz="850" b="0" i="0">
                <a:solidFill>
                  <a:srgbClr val="C8DDD0"/>
                </a:solidFill>
                <a:latin typeface="Calibri"/>
              </a:rPr>
              <a:t>CONFIDENTIAL — PI REVIEW</a:t>
            </a:r>
          </a:p>
        </p:txBody>
      </p:sp>
      <p:sp>
        <p:nvSpPr>
          <p:cNvPr id="10" name="TextBox 9"/>
          <p:cNvSpPr txBox="1"/>
          <p:nvPr/>
        </p:nvSpPr>
        <p:spPr>
          <a:xfrm>
            <a:off x="182880" y="1097280"/>
            <a:ext cx="5669280" cy="320040"/>
          </a:xfrm>
          <a:prstGeom prst="rect">
            <a:avLst/>
          </a:prstGeom>
          <a:noFill/>
        </p:spPr>
        <p:txBody>
          <a:bodyPr wrap="square">
            <a:spAutoFit/>
          </a:bodyPr>
          <a:lstStyle/>
          <a:p>
            <a:pPr algn="l"/>
            <a:r>
              <a:rPr sz="1100" b="1" i="0">
                <a:solidFill>
                  <a:srgbClr val="1E6B45"/>
                </a:solidFill>
                <a:latin typeface="Calibri"/>
              </a:rPr>
              <a:t>WHY PRODUCTION ZONES (NOT MARKET LOCATIONS)</a:t>
            </a:r>
          </a:p>
        </p:txBody>
      </p:sp>
      <p:sp>
        <p:nvSpPr>
          <p:cNvPr id="11" name="TextBox 10"/>
          <p:cNvSpPr txBox="1"/>
          <p:nvPr/>
        </p:nvSpPr>
        <p:spPr>
          <a:xfrm>
            <a:off x="182880" y="1463040"/>
            <a:ext cx="5669280" cy="1417320"/>
          </a:xfrm>
          <a:prstGeom prst="rect">
            <a:avLst/>
          </a:prstGeom>
          <a:noFill/>
        </p:spPr>
        <p:txBody>
          <a:bodyPr wrap="square">
            <a:spAutoFit/>
          </a:bodyPr>
          <a:lstStyle/>
          <a:p>
            <a:pPr>
              <a:spcBef>
                <a:spcPts val="600"/>
              </a:spcBef>
            </a:pPr>
            <a:r>
              <a:rPr sz="1100">
                <a:solidFill>
                  <a:srgbClr val="1A2E1E"/>
                </a:solidFill>
                <a:latin typeface="Calibri"/>
              </a:rPr>
              <a:t>▸  APMC market locations are consumption/trading centres — not where the crop is grown. Satellite NDVI over a wholesale market tells us nothing about vegetation health.</a:t>
            </a:r>
          </a:p>
          <a:p>
            <a:pPr>
              <a:spcBef>
                <a:spcPts val="600"/>
              </a:spcBef>
            </a:pPr>
            <a:r>
              <a:rPr sz="1100">
                <a:solidFill>
                  <a:srgbClr val="1A2E1E"/>
                </a:solidFill>
                <a:latin typeface="Calibri"/>
              </a:rPr>
              <a:t>▸  Production zones are defined as 30 km radius circles around the centroid of the dominant production-area APMC for each crop-region. The buffer captures the surrounding cultivation landscape.</a:t>
            </a:r>
          </a:p>
          <a:p>
            <a:pPr>
              <a:spcBef>
                <a:spcPts val="600"/>
              </a:spcBef>
            </a:pPr>
            <a:r>
              <a:rPr sz="1100">
                <a:solidFill>
                  <a:srgbClr val="1A2E1E"/>
                </a:solidFill>
                <a:latin typeface="Calibri"/>
              </a:rPr>
              <a:t>▸  Zone-level satellite and climate signals represent the supply-side environment: crop health, heat stress during critical growth stages, and rainfall adequacy.</a:t>
            </a:r>
          </a:p>
        </p:txBody>
      </p:sp>
      <p:sp>
        <p:nvSpPr>
          <p:cNvPr id="12" name="TextBox 11"/>
          <p:cNvSpPr txBox="1"/>
          <p:nvPr/>
        </p:nvSpPr>
        <p:spPr>
          <a:xfrm>
            <a:off x="182880" y="2971800"/>
            <a:ext cx="5669280" cy="320040"/>
          </a:xfrm>
          <a:prstGeom prst="rect">
            <a:avLst/>
          </a:prstGeom>
          <a:noFill/>
        </p:spPr>
        <p:txBody>
          <a:bodyPr wrap="square">
            <a:spAutoFit/>
          </a:bodyPr>
          <a:lstStyle/>
          <a:p>
            <a:pPr algn="l"/>
            <a:r>
              <a:rPr sz="1100" b="1" i="0">
                <a:solidFill>
                  <a:srgbClr val="1E6B45"/>
                </a:solidFill>
                <a:latin typeface="Calibri"/>
              </a:rPr>
              <a:t>17 PRODUCTION ZONES</a:t>
            </a:r>
          </a:p>
        </p:txBody>
      </p:sp>
      <p:graphicFrame>
        <p:nvGraphicFramePr>
          <p:cNvPr id="13" name="Table 12"/>
          <p:cNvGraphicFramePr>
            <a:graphicFrameLocks noGrp="1"/>
          </p:cNvGraphicFramePr>
          <p:nvPr/>
        </p:nvGraphicFramePr>
        <p:xfrm>
          <a:off x="182880" y="3337560"/>
          <a:ext cx="5669280" cy="2926080"/>
        </p:xfrm>
        <a:graphic>
          <a:graphicData uri="http://schemas.openxmlformats.org/drawingml/2006/table">
            <a:tbl>
              <a:tblPr firstRow="1" bandRow="1">
                <a:tableStyleId>{5C22544A-7EE6-4342-B048-85BDC9FD1C3A}</a:tableStyleId>
              </a:tblPr>
              <a:tblGrid>
                <a:gridCol w="82296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tblGrid>
              <a:tr h="585216">
                <a:tc>
                  <a:txBody>
                    <a:bodyPr/>
                    <a:lstStyle/>
                    <a:p>
                      <a:pPr algn="ctr"/>
                      <a:r>
                        <a:rPr sz="950" b="1">
                          <a:solidFill>
                            <a:srgbClr val="FFFFFF"/>
                          </a:solidFill>
                          <a:latin typeface="Calibri"/>
                        </a:rPr>
                        <a:t>Zone</a:t>
                      </a:r>
                    </a:p>
                  </a:txBody>
                  <a:tcPr>
                    <a:solidFill>
                      <a:srgbClr val="0D2240"/>
                    </a:solidFill>
                  </a:tcPr>
                </a:tc>
                <a:tc>
                  <a:txBody>
                    <a:bodyPr/>
                    <a:lstStyle/>
                    <a:p>
                      <a:pPr algn="ctr"/>
                      <a:r>
                        <a:rPr sz="950" b="1">
                          <a:solidFill>
                            <a:srgbClr val="FFFFFF"/>
                          </a:solidFill>
                          <a:latin typeface="Calibri"/>
                        </a:rPr>
                        <a:t>Crop</a:t>
                      </a:r>
                    </a:p>
                  </a:txBody>
                  <a:tcPr>
                    <a:solidFill>
                      <a:srgbClr val="0D2240"/>
                    </a:solidFill>
                  </a:tcPr>
                </a:tc>
                <a:tc>
                  <a:txBody>
                    <a:bodyPr/>
                    <a:lstStyle/>
                    <a:p>
                      <a:pPr algn="ctr"/>
                      <a:r>
                        <a:rPr sz="950" b="1">
                          <a:solidFill>
                            <a:srgbClr val="FFFFFF"/>
                          </a:solidFill>
                          <a:latin typeface="Calibri"/>
                        </a:rPr>
                        <a:t>APMC Market</a:t>
                      </a:r>
                    </a:p>
                  </a:txBody>
                  <a:tcPr>
                    <a:solidFill>
                      <a:srgbClr val="0D2240"/>
                    </a:solidFill>
                  </a:tcPr>
                </a:tc>
                <a:tc>
                  <a:txBody>
                    <a:bodyPr/>
                    <a:lstStyle/>
                    <a:p>
                      <a:pPr algn="ctr"/>
                      <a:r>
                        <a:rPr sz="950" b="1">
                          <a:solidFill>
                            <a:srgbClr val="FFFFFF"/>
                          </a:solidFill>
                          <a:latin typeface="Calibri"/>
                        </a:rPr>
                        <a:t>State</a:t>
                      </a:r>
                    </a:p>
                  </a:txBody>
                  <a:tcPr>
                    <a:solidFill>
                      <a:srgbClr val="0D2240"/>
                    </a:solidFill>
                  </a:tcPr>
                </a:tc>
                <a:extLst>
                  <a:ext uri="{0D108BD9-81ED-4DB2-BD59-A6C34878D82A}">
                    <a16:rowId xmlns:a16="http://schemas.microsoft.com/office/drawing/2014/main" val="10000"/>
                  </a:ext>
                </a:extLst>
              </a:tr>
              <a:tr h="585216">
                <a:tc>
                  <a:txBody>
                    <a:bodyPr/>
                    <a:lstStyle/>
                    <a:p>
                      <a:pPr algn="l"/>
                      <a:r>
                        <a:rPr sz="950">
                          <a:solidFill>
                            <a:srgbClr val="1A2E1E"/>
                          </a:solidFill>
                          <a:latin typeface="Calibri"/>
                        </a:rPr>
                        <a:t>T1–T5</a:t>
                      </a:r>
                    </a:p>
                  </a:txBody>
                  <a:tcPr>
                    <a:solidFill>
                      <a:srgbClr val="FFFFFF"/>
                    </a:solidFill>
                  </a:tcPr>
                </a:tc>
                <a:tc>
                  <a:txBody>
                    <a:bodyPr/>
                    <a:lstStyle/>
                    <a:p>
                      <a:pPr algn="ctr"/>
                      <a:r>
                        <a:rPr sz="950">
                          <a:solidFill>
                            <a:srgbClr val="1A2E1E"/>
                          </a:solidFill>
                          <a:latin typeface="Calibri"/>
                        </a:rPr>
                        <a:t>Tomato</a:t>
                      </a:r>
                    </a:p>
                  </a:txBody>
                  <a:tcPr>
                    <a:solidFill>
                      <a:srgbClr val="FFFFFF"/>
                    </a:solidFill>
                  </a:tcPr>
                </a:tc>
                <a:tc>
                  <a:txBody>
                    <a:bodyPr/>
                    <a:lstStyle/>
                    <a:p>
                      <a:pPr algn="ctr"/>
                      <a:r>
                        <a:rPr sz="950">
                          <a:solidFill>
                            <a:srgbClr val="1A2E1E"/>
                          </a:solidFill>
                          <a:latin typeface="Calibri"/>
                        </a:rPr>
                        <a:t>Kolar · Madanapalle · Nashik · Solan · Navsari</a:t>
                      </a:r>
                    </a:p>
                  </a:txBody>
                  <a:tcPr>
                    <a:solidFill>
                      <a:srgbClr val="FFFFFF"/>
                    </a:solidFill>
                  </a:tcPr>
                </a:tc>
                <a:tc>
                  <a:txBody>
                    <a:bodyPr/>
                    <a:lstStyle/>
                    <a:p>
                      <a:pPr algn="ctr"/>
                      <a:r>
                        <a:rPr sz="950">
                          <a:solidFill>
                            <a:srgbClr val="1A2E1E"/>
                          </a:solidFill>
                          <a:latin typeface="Calibri"/>
                        </a:rPr>
                        <a:t>KA · AP · MH · HP · GJ</a:t>
                      </a:r>
                    </a:p>
                  </a:txBody>
                  <a:tcPr>
                    <a:solidFill>
                      <a:srgbClr val="FFFFFF"/>
                    </a:solidFill>
                  </a:tcPr>
                </a:tc>
                <a:extLst>
                  <a:ext uri="{0D108BD9-81ED-4DB2-BD59-A6C34878D82A}">
                    <a16:rowId xmlns:a16="http://schemas.microsoft.com/office/drawing/2014/main" val="10001"/>
                  </a:ext>
                </a:extLst>
              </a:tr>
              <a:tr h="585216">
                <a:tc>
                  <a:txBody>
                    <a:bodyPr/>
                    <a:lstStyle/>
                    <a:p>
                      <a:pPr algn="l"/>
                      <a:r>
                        <a:rPr sz="950">
                          <a:solidFill>
                            <a:srgbClr val="1A2E1E"/>
                          </a:solidFill>
                          <a:latin typeface="Calibri"/>
                        </a:rPr>
                        <a:t>O1–O3</a:t>
                      </a:r>
                    </a:p>
                  </a:txBody>
                  <a:tcPr>
                    <a:solidFill>
                      <a:srgbClr val="F0F6F3"/>
                    </a:solidFill>
                  </a:tcPr>
                </a:tc>
                <a:tc>
                  <a:txBody>
                    <a:bodyPr/>
                    <a:lstStyle/>
                    <a:p>
                      <a:pPr algn="ctr"/>
                      <a:r>
                        <a:rPr sz="950">
                          <a:solidFill>
                            <a:srgbClr val="1A2E1E"/>
                          </a:solidFill>
                          <a:latin typeface="Calibri"/>
                        </a:rPr>
                        <a:t>Onion</a:t>
                      </a:r>
                    </a:p>
                  </a:txBody>
                  <a:tcPr>
                    <a:solidFill>
                      <a:srgbClr val="F0F6F3"/>
                    </a:solidFill>
                  </a:tcPr>
                </a:tc>
                <a:tc>
                  <a:txBody>
                    <a:bodyPr/>
                    <a:lstStyle/>
                    <a:p>
                      <a:pPr algn="ctr"/>
                      <a:r>
                        <a:rPr sz="950">
                          <a:solidFill>
                            <a:srgbClr val="1A2E1E"/>
                          </a:solidFill>
                          <a:latin typeface="Calibri"/>
                        </a:rPr>
                        <a:t>Lasalgaon · Pimpalgaon · Mahuva</a:t>
                      </a:r>
                    </a:p>
                  </a:txBody>
                  <a:tcPr>
                    <a:solidFill>
                      <a:srgbClr val="F0F6F3"/>
                    </a:solidFill>
                  </a:tcPr>
                </a:tc>
                <a:tc>
                  <a:txBody>
                    <a:bodyPr/>
                    <a:lstStyle/>
                    <a:p>
                      <a:pPr algn="ctr"/>
                      <a:r>
                        <a:rPr sz="950">
                          <a:solidFill>
                            <a:srgbClr val="1A2E1E"/>
                          </a:solidFill>
                          <a:latin typeface="Calibri"/>
                        </a:rPr>
                        <a:t>MH · MH · GJ</a:t>
                      </a:r>
                    </a:p>
                  </a:txBody>
                  <a:tcPr>
                    <a:solidFill>
                      <a:srgbClr val="F0F6F3"/>
                    </a:solidFill>
                  </a:tcPr>
                </a:tc>
                <a:extLst>
                  <a:ext uri="{0D108BD9-81ED-4DB2-BD59-A6C34878D82A}">
                    <a16:rowId xmlns:a16="http://schemas.microsoft.com/office/drawing/2014/main" val="10002"/>
                  </a:ext>
                </a:extLst>
              </a:tr>
              <a:tr h="585216">
                <a:tc>
                  <a:txBody>
                    <a:bodyPr/>
                    <a:lstStyle/>
                    <a:p>
                      <a:pPr algn="l"/>
                      <a:r>
                        <a:rPr sz="950">
                          <a:solidFill>
                            <a:srgbClr val="1A2E1E"/>
                          </a:solidFill>
                          <a:latin typeface="Calibri"/>
                        </a:rPr>
                        <a:t>O6–O10</a:t>
                      </a:r>
                    </a:p>
                  </a:txBody>
                  <a:tcPr>
                    <a:solidFill>
                      <a:srgbClr val="FFFFFF"/>
                    </a:solidFill>
                  </a:tcPr>
                </a:tc>
                <a:tc>
                  <a:txBody>
                    <a:bodyPr/>
                    <a:lstStyle/>
                    <a:p>
                      <a:pPr algn="ctr"/>
                      <a:r>
                        <a:rPr sz="950">
                          <a:solidFill>
                            <a:srgbClr val="1A2E1E"/>
                          </a:solidFill>
                          <a:latin typeface="Calibri"/>
                        </a:rPr>
                        <a:t>Onion</a:t>
                      </a:r>
                    </a:p>
                  </a:txBody>
                  <a:tcPr>
                    <a:solidFill>
                      <a:srgbClr val="FFFFFF"/>
                    </a:solidFill>
                  </a:tcPr>
                </a:tc>
                <a:tc>
                  <a:txBody>
                    <a:bodyPr/>
                    <a:lstStyle/>
                    <a:p>
                      <a:pPr algn="ctr"/>
                      <a:r>
                        <a:rPr sz="950">
                          <a:solidFill>
                            <a:srgbClr val="1A2E1E"/>
                          </a:solidFill>
                          <a:latin typeface="Calibri"/>
                        </a:rPr>
                        <a:t>Hubli · Solapur · Manmad · Kurnool · Gondal</a:t>
                      </a:r>
                    </a:p>
                  </a:txBody>
                  <a:tcPr>
                    <a:solidFill>
                      <a:srgbClr val="FFFFFF"/>
                    </a:solidFill>
                  </a:tcPr>
                </a:tc>
                <a:tc>
                  <a:txBody>
                    <a:bodyPr/>
                    <a:lstStyle/>
                    <a:p>
                      <a:pPr algn="ctr"/>
                      <a:r>
                        <a:rPr sz="950">
                          <a:solidFill>
                            <a:srgbClr val="1A2E1E"/>
                          </a:solidFill>
                          <a:latin typeface="Calibri"/>
                        </a:rPr>
                        <a:t>KA · MH · MH · AP · GJ</a:t>
                      </a:r>
                    </a:p>
                  </a:txBody>
                  <a:tcPr>
                    <a:solidFill>
                      <a:srgbClr val="FFFFFF"/>
                    </a:solidFill>
                  </a:tcPr>
                </a:tc>
                <a:extLst>
                  <a:ext uri="{0D108BD9-81ED-4DB2-BD59-A6C34878D82A}">
                    <a16:rowId xmlns:a16="http://schemas.microsoft.com/office/drawing/2014/main" val="10003"/>
                  </a:ext>
                </a:extLst>
              </a:tr>
              <a:tr h="585216">
                <a:tc>
                  <a:txBody>
                    <a:bodyPr/>
                    <a:lstStyle/>
                    <a:p>
                      <a:pPr algn="l"/>
                      <a:r>
                        <a:rPr sz="950">
                          <a:solidFill>
                            <a:srgbClr val="1A2E1E"/>
                          </a:solidFill>
                          <a:latin typeface="Calibri"/>
                        </a:rPr>
                        <a:t>P1–P4</a:t>
                      </a:r>
                    </a:p>
                  </a:txBody>
                  <a:tcPr>
                    <a:solidFill>
                      <a:srgbClr val="F0F6F3"/>
                    </a:solidFill>
                  </a:tcPr>
                </a:tc>
                <a:tc>
                  <a:txBody>
                    <a:bodyPr/>
                    <a:lstStyle/>
                    <a:p>
                      <a:pPr algn="ctr"/>
                      <a:r>
                        <a:rPr sz="950">
                          <a:solidFill>
                            <a:srgbClr val="1A2E1E"/>
                          </a:solidFill>
                          <a:latin typeface="Calibri"/>
                        </a:rPr>
                        <a:t>Potato</a:t>
                      </a:r>
                    </a:p>
                  </a:txBody>
                  <a:tcPr>
                    <a:solidFill>
                      <a:srgbClr val="F0F6F3"/>
                    </a:solidFill>
                  </a:tcPr>
                </a:tc>
                <a:tc>
                  <a:txBody>
                    <a:bodyPr/>
                    <a:lstStyle/>
                    <a:p>
                      <a:pPr algn="ctr"/>
                      <a:r>
                        <a:rPr sz="950">
                          <a:solidFill>
                            <a:srgbClr val="1A2E1E"/>
                          </a:solidFill>
                          <a:latin typeface="Calibri"/>
                        </a:rPr>
                        <a:t>Agra · Farrukhabad · Jalandhar · Bardhaman</a:t>
                      </a:r>
                    </a:p>
                  </a:txBody>
                  <a:tcPr>
                    <a:solidFill>
                      <a:srgbClr val="F0F6F3"/>
                    </a:solidFill>
                  </a:tcPr>
                </a:tc>
                <a:tc>
                  <a:txBody>
                    <a:bodyPr/>
                    <a:lstStyle/>
                    <a:p>
                      <a:pPr algn="ctr"/>
                      <a:r>
                        <a:rPr sz="950">
                          <a:solidFill>
                            <a:srgbClr val="1A2E1E"/>
                          </a:solidFill>
                          <a:latin typeface="Calibri"/>
                        </a:rPr>
                        <a:t>UP · UP · PB · WB</a:t>
                      </a:r>
                    </a:p>
                  </a:txBody>
                  <a:tcPr>
                    <a:solidFill>
                      <a:srgbClr val="F0F6F3"/>
                    </a:solidFill>
                  </a:tcPr>
                </a:tc>
                <a:extLst>
                  <a:ext uri="{0D108BD9-81ED-4DB2-BD59-A6C34878D82A}">
                    <a16:rowId xmlns:a16="http://schemas.microsoft.com/office/drawing/2014/main" val="10004"/>
                  </a:ext>
                </a:extLst>
              </a:tr>
            </a:tbl>
          </a:graphicData>
        </a:graphic>
      </p:graphicFrame>
      <p:sp>
        <p:nvSpPr>
          <p:cNvPr id="14" name="TextBox 13"/>
          <p:cNvSpPr txBox="1"/>
          <p:nvPr/>
        </p:nvSpPr>
        <p:spPr>
          <a:xfrm>
            <a:off x="182880" y="6336792"/>
            <a:ext cx="5669280" cy="256032"/>
          </a:xfrm>
          <a:prstGeom prst="rect">
            <a:avLst/>
          </a:prstGeom>
          <a:noFill/>
        </p:spPr>
        <p:txBody>
          <a:bodyPr wrap="square">
            <a:spAutoFit/>
          </a:bodyPr>
          <a:lstStyle/>
          <a:p>
            <a:pPr algn="l"/>
            <a:r>
              <a:rPr sz="850" b="0" i="1">
                <a:solidFill>
                  <a:srgbClr val="5A6A60"/>
                </a:solidFill>
                <a:latin typeface="Calibri"/>
              </a:rPr>
              <a:t>Note: O4 and O5 not included (merged into adjacent zones). P1 (Agra) assigned for completeness.</a:t>
            </a:r>
          </a:p>
        </p:txBody>
      </p:sp>
      <p:sp>
        <p:nvSpPr>
          <p:cNvPr id="15" name="TextBox 14"/>
          <p:cNvSpPr txBox="1"/>
          <p:nvPr/>
        </p:nvSpPr>
        <p:spPr>
          <a:xfrm>
            <a:off x="6080760" y="1097280"/>
            <a:ext cx="5943600" cy="320040"/>
          </a:xfrm>
          <a:prstGeom prst="rect">
            <a:avLst/>
          </a:prstGeom>
          <a:noFill/>
        </p:spPr>
        <p:txBody>
          <a:bodyPr wrap="square">
            <a:spAutoFit/>
          </a:bodyPr>
          <a:lstStyle/>
          <a:p>
            <a:pPr algn="l"/>
            <a:r>
              <a:rPr sz="1100" b="1" i="0">
                <a:solidFill>
                  <a:srgbClr val="1E6B45"/>
                </a:solidFill>
                <a:latin typeface="Calibri"/>
              </a:rPr>
              <a:t>5 GEE DATA SOURCES  (2017–2025)</a:t>
            </a:r>
          </a:p>
        </p:txBody>
      </p:sp>
      <p:sp>
        <p:nvSpPr>
          <p:cNvPr id="16" name="Rectangle 15"/>
          <p:cNvSpPr/>
          <p:nvPr/>
        </p:nvSpPr>
        <p:spPr>
          <a:xfrm>
            <a:off x="6080760" y="1481328"/>
            <a:ext cx="109728" cy="777240"/>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217920" y="1481328"/>
            <a:ext cx="5806440" cy="777240"/>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27648" y="1536192"/>
            <a:ext cx="2377440" cy="274320"/>
          </a:xfrm>
          <a:prstGeom prst="rect">
            <a:avLst/>
          </a:prstGeom>
          <a:noFill/>
        </p:spPr>
        <p:txBody>
          <a:bodyPr wrap="square">
            <a:spAutoFit/>
          </a:bodyPr>
          <a:lstStyle/>
          <a:p>
            <a:pPr algn="l"/>
            <a:r>
              <a:rPr sz="1100" b="1" i="0">
                <a:solidFill>
                  <a:srgbClr val="1A2E1E"/>
                </a:solidFill>
                <a:latin typeface="Calibri"/>
              </a:rPr>
              <a:t>ERA5-Land</a:t>
            </a:r>
          </a:p>
        </p:txBody>
      </p:sp>
      <p:sp>
        <p:nvSpPr>
          <p:cNvPr id="19" name="TextBox 18"/>
          <p:cNvSpPr txBox="1"/>
          <p:nvPr/>
        </p:nvSpPr>
        <p:spPr>
          <a:xfrm>
            <a:off x="6327648" y="1810512"/>
            <a:ext cx="5486400" cy="219456"/>
          </a:xfrm>
          <a:prstGeom prst="rect">
            <a:avLst/>
          </a:prstGeom>
          <a:noFill/>
        </p:spPr>
        <p:txBody>
          <a:bodyPr wrap="square">
            <a:spAutoFit/>
          </a:bodyPr>
          <a:lstStyle/>
          <a:p>
            <a:pPr algn="l"/>
            <a:r>
              <a:rPr sz="950" b="0" i="1">
                <a:solidFill>
                  <a:srgbClr val="5A6A60"/>
                </a:solidFill>
                <a:latin typeface="Calibri"/>
              </a:rPr>
              <a:t>Tmax · Tmin · Tmean · DTR · Heat-stress days ≥35°C / ≥38°C</a:t>
            </a:r>
          </a:p>
        </p:txBody>
      </p:sp>
      <p:sp>
        <p:nvSpPr>
          <p:cNvPr id="20" name="TextBox 19"/>
          <p:cNvSpPr txBox="1"/>
          <p:nvPr/>
        </p:nvSpPr>
        <p:spPr>
          <a:xfrm>
            <a:off x="9509760" y="1536192"/>
            <a:ext cx="1371600" cy="256032"/>
          </a:xfrm>
          <a:prstGeom prst="rect">
            <a:avLst/>
          </a:prstGeom>
          <a:noFill/>
        </p:spPr>
        <p:txBody>
          <a:bodyPr wrap="square">
            <a:spAutoFit/>
          </a:bodyPr>
          <a:lstStyle/>
          <a:p>
            <a:pPr algn="ctr"/>
            <a:r>
              <a:rPr sz="950" b="0" i="0">
                <a:solidFill>
                  <a:srgbClr val="0D2240"/>
                </a:solidFill>
                <a:latin typeface="Calibri"/>
              </a:rPr>
              <a:t>~11 km</a:t>
            </a:r>
          </a:p>
        </p:txBody>
      </p:sp>
      <p:sp>
        <p:nvSpPr>
          <p:cNvPr id="21" name="TextBox 20"/>
          <p:cNvSpPr txBox="1"/>
          <p:nvPr/>
        </p:nvSpPr>
        <p:spPr>
          <a:xfrm>
            <a:off x="10881360" y="1536192"/>
            <a:ext cx="1005840" cy="256032"/>
          </a:xfrm>
          <a:prstGeom prst="rect">
            <a:avLst/>
          </a:prstGeom>
          <a:noFill/>
        </p:spPr>
        <p:txBody>
          <a:bodyPr wrap="square">
            <a:spAutoFit/>
          </a:bodyPr>
          <a:lstStyle/>
          <a:p>
            <a:pPr algn="ctr"/>
            <a:r>
              <a:rPr sz="950" b="0" i="0">
                <a:solidFill>
                  <a:srgbClr val="0D2240"/>
                </a:solidFill>
                <a:latin typeface="Calibri"/>
              </a:rPr>
              <a:t>365/yr</a:t>
            </a:r>
          </a:p>
        </p:txBody>
      </p:sp>
      <p:sp>
        <p:nvSpPr>
          <p:cNvPr id="22" name="Rectangle 21"/>
          <p:cNvSpPr/>
          <p:nvPr/>
        </p:nvSpPr>
        <p:spPr>
          <a:xfrm>
            <a:off x="6080760" y="2450592"/>
            <a:ext cx="109728" cy="777240"/>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217920" y="2450592"/>
            <a:ext cx="5806440" cy="777240"/>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327648" y="2505456"/>
            <a:ext cx="2377440" cy="274320"/>
          </a:xfrm>
          <a:prstGeom prst="rect">
            <a:avLst/>
          </a:prstGeom>
          <a:noFill/>
        </p:spPr>
        <p:txBody>
          <a:bodyPr wrap="square">
            <a:spAutoFit/>
          </a:bodyPr>
          <a:lstStyle/>
          <a:p>
            <a:pPr algn="l"/>
            <a:r>
              <a:rPr sz="1100" b="1" i="0">
                <a:solidFill>
                  <a:srgbClr val="1A2E1E"/>
                </a:solidFill>
                <a:latin typeface="Calibri"/>
              </a:rPr>
              <a:t>CHIRPS PENTAD</a:t>
            </a:r>
          </a:p>
        </p:txBody>
      </p:sp>
      <p:sp>
        <p:nvSpPr>
          <p:cNvPr id="25" name="TextBox 24"/>
          <p:cNvSpPr txBox="1"/>
          <p:nvPr/>
        </p:nvSpPr>
        <p:spPr>
          <a:xfrm>
            <a:off x="6327648" y="2779776"/>
            <a:ext cx="5486400" cy="219456"/>
          </a:xfrm>
          <a:prstGeom prst="rect">
            <a:avLst/>
          </a:prstGeom>
          <a:noFill/>
        </p:spPr>
        <p:txBody>
          <a:bodyPr wrap="square">
            <a:spAutoFit/>
          </a:bodyPr>
          <a:lstStyle/>
          <a:p>
            <a:pPr algn="l"/>
            <a:r>
              <a:rPr sz="950" b="0" i="1">
                <a:solidFill>
                  <a:srgbClr val="5A6A60"/>
                </a:solidFill>
                <a:latin typeface="Calibri"/>
              </a:rPr>
              <a:t>Rain mm/day · Max pentad · Excess rain fraction (&gt;50mm/pentad)</a:t>
            </a:r>
          </a:p>
        </p:txBody>
      </p:sp>
      <p:sp>
        <p:nvSpPr>
          <p:cNvPr id="26" name="TextBox 25"/>
          <p:cNvSpPr txBox="1"/>
          <p:nvPr/>
        </p:nvSpPr>
        <p:spPr>
          <a:xfrm>
            <a:off x="9509760" y="2505456"/>
            <a:ext cx="1371600" cy="256032"/>
          </a:xfrm>
          <a:prstGeom prst="rect">
            <a:avLst/>
          </a:prstGeom>
          <a:noFill/>
        </p:spPr>
        <p:txBody>
          <a:bodyPr wrap="square">
            <a:spAutoFit/>
          </a:bodyPr>
          <a:lstStyle/>
          <a:p>
            <a:pPr algn="ctr"/>
            <a:r>
              <a:rPr sz="950" b="0" i="0">
                <a:solidFill>
                  <a:srgbClr val="0D2240"/>
                </a:solidFill>
                <a:latin typeface="Calibri"/>
              </a:rPr>
              <a:t>~5.5 km</a:t>
            </a:r>
          </a:p>
        </p:txBody>
      </p:sp>
      <p:sp>
        <p:nvSpPr>
          <p:cNvPr id="27" name="TextBox 26"/>
          <p:cNvSpPr txBox="1"/>
          <p:nvPr/>
        </p:nvSpPr>
        <p:spPr>
          <a:xfrm>
            <a:off x="10881360" y="2505456"/>
            <a:ext cx="1005840" cy="256032"/>
          </a:xfrm>
          <a:prstGeom prst="rect">
            <a:avLst/>
          </a:prstGeom>
          <a:noFill/>
        </p:spPr>
        <p:txBody>
          <a:bodyPr wrap="square">
            <a:spAutoFit/>
          </a:bodyPr>
          <a:lstStyle/>
          <a:p>
            <a:pPr algn="ctr"/>
            <a:r>
              <a:rPr sz="950" b="0" i="0">
                <a:solidFill>
                  <a:srgbClr val="0D2240"/>
                </a:solidFill>
                <a:latin typeface="Calibri"/>
              </a:rPr>
              <a:t>~73/yr</a:t>
            </a:r>
          </a:p>
        </p:txBody>
      </p:sp>
      <p:sp>
        <p:nvSpPr>
          <p:cNvPr id="28" name="Rectangle 27"/>
          <p:cNvSpPr/>
          <p:nvPr/>
        </p:nvSpPr>
        <p:spPr>
          <a:xfrm>
            <a:off x="6080760" y="3419856"/>
            <a:ext cx="109728" cy="777240"/>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217920" y="3419856"/>
            <a:ext cx="5806440" cy="777240"/>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327648" y="3474720"/>
            <a:ext cx="2377440" cy="274320"/>
          </a:xfrm>
          <a:prstGeom prst="rect">
            <a:avLst/>
          </a:prstGeom>
          <a:noFill/>
        </p:spPr>
        <p:txBody>
          <a:bodyPr wrap="square">
            <a:spAutoFit/>
          </a:bodyPr>
          <a:lstStyle/>
          <a:p>
            <a:pPr algn="l"/>
            <a:r>
              <a:rPr sz="1100" b="1" i="0">
                <a:solidFill>
                  <a:srgbClr val="1A2E1E"/>
                </a:solidFill>
                <a:latin typeface="Calibri"/>
              </a:rPr>
              <a:t>Sentinel-2 SR</a:t>
            </a:r>
          </a:p>
        </p:txBody>
      </p:sp>
      <p:sp>
        <p:nvSpPr>
          <p:cNvPr id="31" name="TextBox 30"/>
          <p:cNvSpPr txBox="1"/>
          <p:nvPr/>
        </p:nvSpPr>
        <p:spPr>
          <a:xfrm>
            <a:off x="6327648" y="3749040"/>
            <a:ext cx="5486400" cy="219456"/>
          </a:xfrm>
          <a:prstGeom prst="rect">
            <a:avLst/>
          </a:prstGeom>
          <a:noFill/>
        </p:spPr>
        <p:txBody>
          <a:bodyPr wrap="square">
            <a:spAutoFit/>
          </a:bodyPr>
          <a:lstStyle/>
          <a:p>
            <a:pPr algn="l"/>
            <a:r>
              <a:rPr sz="950" b="0" i="1">
                <a:solidFill>
                  <a:srgbClr val="5A6A60"/>
                </a:solidFill>
                <a:latin typeface="Calibri"/>
              </a:rPr>
              <a:t>NDVI · EVI · Valid-pixel fraction · NDVI anomaly</a:t>
            </a:r>
          </a:p>
        </p:txBody>
      </p:sp>
      <p:sp>
        <p:nvSpPr>
          <p:cNvPr id="32" name="TextBox 31"/>
          <p:cNvSpPr txBox="1"/>
          <p:nvPr/>
        </p:nvSpPr>
        <p:spPr>
          <a:xfrm>
            <a:off x="9509760" y="3474720"/>
            <a:ext cx="1371600" cy="256032"/>
          </a:xfrm>
          <a:prstGeom prst="rect">
            <a:avLst/>
          </a:prstGeom>
          <a:noFill/>
        </p:spPr>
        <p:txBody>
          <a:bodyPr wrap="square">
            <a:spAutoFit/>
          </a:bodyPr>
          <a:lstStyle/>
          <a:p>
            <a:pPr algn="ctr"/>
            <a:r>
              <a:rPr sz="950" b="0" i="0">
                <a:solidFill>
                  <a:srgbClr val="0D2240"/>
                </a:solidFill>
                <a:latin typeface="Calibri"/>
              </a:rPr>
              <a:t>10 m</a:t>
            </a:r>
          </a:p>
        </p:txBody>
      </p:sp>
      <p:sp>
        <p:nvSpPr>
          <p:cNvPr id="33" name="TextBox 32"/>
          <p:cNvSpPr txBox="1"/>
          <p:nvPr/>
        </p:nvSpPr>
        <p:spPr>
          <a:xfrm>
            <a:off x="10881360" y="3474720"/>
            <a:ext cx="1005840" cy="256032"/>
          </a:xfrm>
          <a:prstGeom prst="rect">
            <a:avLst/>
          </a:prstGeom>
          <a:noFill/>
        </p:spPr>
        <p:txBody>
          <a:bodyPr wrap="square">
            <a:spAutoFit/>
          </a:bodyPr>
          <a:lstStyle/>
          <a:p>
            <a:pPr algn="ctr"/>
            <a:r>
              <a:rPr sz="950" b="0" i="0">
                <a:solidFill>
                  <a:srgbClr val="0D2240"/>
                </a:solidFill>
                <a:latin typeface="Calibri"/>
              </a:rPr>
              <a:t>~24/yr</a:t>
            </a:r>
          </a:p>
        </p:txBody>
      </p:sp>
      <p:sp>
        <p:nvSpPr>
          <p:cNvPr id="34" name="Rectangle 33"/>
          <p:cNvSpPr/>
          <p:nvPr/>
        </p:nvSpPr>
        <p:spPr>
          <a:xfrm>
            <a:off x="6080760" y="4389120"/>
            <a:ext cx="109728" cy="777240"/>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6217920" y="4389120"/>
            <a:ext cx="5806440" cy="777240"/>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327648" y="4443984"/>
            <a:ext cx="2377440" cy="274320"/>
          </a:xfrm>
          <a:prstGeom prst="rect">
            <a:avLst/>
          </a:prstGeom>
          <a:noFill/>
        </p:spPr>
        <p:txBody>
          <a:bodyPr wrap="square">
            <a:spAutoFit/>
          </a:bodyPr>
          <a:lstStyle/>
          <a:p>
            <a:pPr algn="l"/>
            <a:r>
              <a:rPr sz="1100" b="1" i="0">
                <a:solidFill>
                  <a:srgbClr val="1A2E1E"/>
                </a:solidFill>
                <a:latin typeface="Calibri"/>
              </a:rPr>
              <a:t>MODIS NDVI</a:t>
            </a:r>
          </a:p>
        </p:txBody>
      </p:sp>
      <p:sp>
        <p:nvSpPr>
          <p:cNvPr id="37" name="TextBox 36"/>
          <p:cNvSpPr txBox="1"/>
          <p:nvPr/>
        </p:nvSpPr>
        <p:spPr>
          <a:xfrm>
            <a:off x="6327648" y="4718304"/>
            <a:ext cx="5486400" cy="219456"/>
          </a:xfrm>
          <a:prstGeom prst="rect">
            <a:avLst/>
          </a:prstGeom>
          <a:noFill/>
        </p:spPr>
        <p:txBody>
          <a:bodyPr wrap="square">
            <a:spAutoFit/>
          </a:bodyPr>
          <a:lstStyle/>
          <a:p>
            <a:pPr algn="l"/>
            <a:r>
              <a:rPr sz="950" b="0" i="1">
                <a:solidFill>
                  <a:srgbClr val="5A6A60"/>
                </a:solidFill>
                <a:latin typeface="Calibri"/>
              </a:rPr>
              <a:t>NDVI · EVI  (Terra + Aqua for ~8-day revisit)</a:t>
            </a:r>
          </a:p>
        </p:txBody>
      </p:sp>
      <p:sp>
        <p:nvSpPr>
          <p:cNvPr id="38" name="TextBox 37"/>
          <p:cNvSpPr txBox="1"/>
          <p:nvPr/>
        </p:nvSpPr>
        <p:spPr>
          <a:xfrm>
            <a:off x="9509760" y="4443984"/>
            <a:ext cx="1371600" cy="256032"/>
          </a:xfrm>
          <a:prstGeom prst="rect">
            <a:avLst/>
          </a:prstGeom>
          <a:noFill/>
        </p:spPr>
        <p:txBody>
          <a:bodyPr wrap="square">
            <a:spAutoFit/>
          </a:bodyPr>
          <a:lstStyle/>
          <a:p>
            <a:pPr algn="ctr"/>
            <a:r>
              <a:rPr sz="950" b="0" i="0">
                <a:solidFill>
                  <a:srgbClr val="0D2240"/>
                </a:solidFill>
                <a:latin typeface="Calibri"/>
              </a:rPr>
              <a:t>250 m</a:t>
            </a:r>
          </a:p>
        </p:txBody>
      </p:sp>
      <p:sp>
        <p:nvSpPr>
          <p:cNvPr id="39" name="TextBox 38"/>
          <p:cNvSpPr txBox="1"/>
          <p:nvPr/>
        </p:nvSpPr>
        <p:spPr>
          <a:xfrm>
            <a:off x="10881360" y="4443984"/>
            <a:ext cx="1005840" cy="256032"/>
          </a:xfrm>
          <a:prstGeom prst="rect">
            <a:avLst/>
          </a:prstGeom>
          <a:noFill/>
        </p:spPr>
        <p:txBody>
          <a:bodyPr wrap="square">
            <a:spAutoFit/>
          </a:bodyPr>
          <a:lstStyle/>
          <a:p>
            <a:pPr algn="ctr"/>
            <a:r>
              <a:rPr sz="950" b="0" i="0">
                <a:solidFill>
                  <a:srgbClr val="0D2240"/>
                </a:solidFill>
                <a:latin typeface="Calibri"/>
              </a:rPr>
              <a:t>~46/yr</a:t>
            </a:r>
          </a:p>
        </p:txBody>
      </p:sp>
      <p:sp>
        <p:nvSpPr>
          <p:cNvPr id="40" name="Rectangle 39"/>
          <p:cNvSpPr/>
          <p:nvPr/>
        </p:nvSpPr>
        <p:spPr>
          <a:xfrm>
            <a:off x="6080760" y="5358384"/>
            <a:ext cx="109728" cy="777240"/>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6217920" y="5358384"/>
            <a:ext cx="5806440" cy="777240"/>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327648" y="5413248"/>
            <a:ext cx="2377440" cy="274320"/>
          </a:xfrm>
          <a:prstGeom prst="rect">
            <a:avLst/>
          </a:prstGeom>
          <a:noFill/>
        </p:spPr>
        <p:txBody>
          <a:bodyPr wrap="square">
            <a:spAutoFit/>
          </a:bodyPr>
          <a:lstStyle/>
          <a:p>
            <a:pPr algn="l"/>
            <a:r>
              <a:rPr sz="1100" b="1" i="0">
                <a:solidFill>
                  <a:srgbClr val="1A2E1E"/>
                </a:solidFill>
                <a:latin typeface="Calibri"/>
              </a:rPr>
              <a:t>MODIS LST</a:t>
            </a:r>
          </a:p>
        </p:txBody>
      </p:sp>
      <p:sp>
        <p:nvSpPr>
          <p:cNvPr id="43" name="TextBox 42"/>
          <p:cNvSpPr txBox="1"/>
          <p:nvPr/>
        </p:nvSpPr>
        <p:spPr>
          <a:xfrm>
            <a:off x="6327648" y="5687568"/>
            <a:ext cx="5486400" cy="219456"/>
          </a:xfrm>
          <a:prstGeom prst="rect">
            <a:avLst/>
          </a:prstGeom>
          <a:noFill/>
        </p:spPr>
        <p:txBody>
          <a:bodyPr wrap="square">
            <a:spAutoFit/>
          </a:bodyPr>
          <a:lstStyle/>
          <a:p>
            <a:pPr algn="l"/>
            <a:r>
              <a:rPr sz="950" b="0" i="1">
                <a:solidFill>
                  <a:srgbClr val="5A6A60"/>
                </a:solidFill>
                <a:latin typeface="Calibri"/>
              </a:rPr>
              <a:t>LST mean · LST max · Fraction &gt;35°C / &gt;38°C</a:t>
            </a:r>
          </a:p>
        </p:txBody>
      </p:sp>
      <p:sp>
        <p:nvSpPr>
          <p:cNvPr id="44" name="TextBox 43"/>
          <p:cNvSpPr txBox="1"/>
          <p:nvPr/>
        </p:nvSpPr>
        <p:spPr>
          <a:xfrm>
            <a:off x="9509760" y="5413248"/>
            <a:ext cx="1371600" cy="256032"/>
          </a:xfrm>
          <a:prstGeom prst="rect">
            <a:avLst/>
          </a:prstGeom>
          <a:noFill/>
        </p:spPr>
        <p:txBody>
          <a:bodyPr wrap="square">
            <a:spAutoFit/>
          </a:bodyPr>
          <a:lstStyle/>
          <a:p>
            <a:pPr algn="ctr"/>
            <a:r>
              <a:rPr sz="950" b="0" i="0">
                <a:solidFill>
                  <a:srgbClr val="0D2240"/>
                </a:solidFill>
                <a:latin typeface="Calibri"/>
              </a:rPr>
              <a:t>1 km</a:t>
            </a:r>
          </a:p>
        </p:txBody>
      </p:sp>
      <p:sp>
        <p:nvSpPr>
          <p:cNvPr id="45" name="TextBox 44"/>
          <p:cNvSpPr txBox="1"/>
          <p:nvPr/>
        </p:nvSpPr>
        <p:spPr>
          <a:xfrm>
            <a:off x="10881360" y="5413248"/>
            <a:ext cx="1005840" cy="256032"/>
          </a:xfrm>
          <a:prstGeom prst="rect">
            <a:avLst/>
          </a:prstGeom>
          <a:noFill/>
        </p:spPr>
        <p:txBody>
          <a:bodyPr wrap="square">
            <a:spAutoFit/>
          </a:bodyPr>
          <a:lstStyle/>
          <a:p>
            <a:pPr algn="ctr"/>
            <a:r>
              <a:rPr sz="950" b="0" i="0">
                <a:solidFill>
                  <a:srgbClr val="0D2240"/>
                </a:solidFill>
                <a:latin typeface="Calibri"/>
              </a:rPr>
              <a:t>~46/yr</a:t>
            </a:r>
          </a:p>
        </p:txBody>
      </p:sp>
      <p:sp>
        <p:nvSpPr>
          <p:cNvPr id="46" name="TextBox 45"/>
          <p:cNvSpPr txBox="1"/>
          <p:nvPr/>
        </p:nvSpPr>
        <p:spPr>
          <a:xfrm>
            <a:off x="6080760" y="6355080"/>
            <a:ext cx="5943600" cy="256032"/>
          </a:xfrm>
          <a:prstGeom prst="rect">
            <a:avLst/>
          </a:prstGeom>
          <a:noFill/>
        </p:spPr>
        <p:txBody>
          <a:bodyPr wrap="square">
            <a:spAutoFit/>
          </a:bodyPr>
          <a:lstStyle/>
          <a:p>
            <a:pPr algn="l"/>
            <a:r>
              <a:rPr sz="900" b="0" i="1">
                <a:solidFill>
                  <a:srgbClr val="5A6A60"/>
                </a:solidFill>
                <a:latin typeface="Calibri"/>
              </a:rPr>
              <a:t>Total: 17 zones × 5 scripts = 85 CSV exports · 18 features per zone-week · ~7,990 zone-week rows (470 wks × 17 zones)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64008" cy="6858000"/>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 y="0"/>
            <a:ext cx="12124944" cy="960120"/>
          </a:xfrm>
          <a:prstGeom prst="rect">
            <a:avLst/>
          </a:prstGeom>
          <a:solidFill>
            <a:srgbClr val="0D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4008" y="960120"/>
            <a:ext cx="12124944" cy="32004"/>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 y="64008"/>
            <a:ext cx="11704320" cy="475488"/>
          </a:xfrm>
          <a:prstGeom prst="rect">
            <a:avLst/>
          </a:prstGeom>
          <a:noFill/>
        </p:spPr>
        <p:txBody>
          <a:bodyPr wrap="square">
            <a:spAutoFit/>
          </a:bodyPr>
          <a:lstStyle/>
          <a:p>
            <a:pPr algn="l"/>
            <a:r>
              <a:rPr sz="2100" b="1" i="0">
                <a:solidFill>
                  <a:srgbClr val="FFFFFF"/>
                </a:solidFill>
                <a:latin typeface="Calibri"/>
              </a:rPr>
              <a:t>Google Earth Engine — Data Extraction Pipeline</a:t>
            </a:r>
          </a:p>
        </p:txBody>
      </p:sp>
      <p:sp>
        <p:nvSpPr>
          <p:cNvPr id="6" name="TextBox 5"/>
          <p:cNvSpPr txBox="1"/>
          <p:nvPr/>
        </p:nvSpPr>
        <p:spPr>
          <a:xfrm>
            <a:off x="201168" y="548640"/>
            <a:ext cx="11704320" cy="365760"/>
          </a:xfrm>
          <a:prstGeom prst="rect">
            <a:avLst/>
          </a:prstGeom>
          <a:noFill/>
        </p:spPr>
        <p:txBody>
          <a:bodyPr wrap="square">
            <a:spAutoFit/>
          </a:bodyPr>
          <a:lstStyle/>
          <a:p>
            <a:pPr algn="l"/>
            <a:r>
              <a:rPr sz="1300" b="0" i="1">
                <a:solidFill>
                  <a:srgbClr val="C8DDD0"/>
                </a:solidFill>
                <a:latin typeface="Calibri"/>
              </a:rPr>
              <a:t>5 JavaScript scripts · 85 CSV exports · Script 14 processes all sources into 18 modelling features</a:t>
            </a:r>
          </a:p>
        </p:txBody>
      </p:sp>
      <p:sp>
        <p:nvSpPr>
          <p:cNvPr id="7" name="Rectangle 6"/>
          <p:cNvSpPr/>
          <p:nvPr/>
        </p:nvSpPr>
        <p:spPr>
          <a:xfrm>
            <a:off x="0" y="6565392"/>
            <a:ext cx="12188952" cy="292608"/>
          </a:xfrm>
          <a:prstGeom prst="rect">
            <a:avLst/>
          </a:prstGeom>
          <a:solidFill>
            <a:srgbClr val="0D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01168" y="6583680"/>
            <a:ext cx="7315200" cy="237744"/>
          </a:xfrm>
          <a:prstGeom prst="rect">
            <a:avLst/>
          </a:prstGeom>
          <a:noFill/>
        </p:spPr>
        <p:txBody>
          <a:bodyPr wrap="square">
            <a:spAutoFit/>
          </a:bodyPr>
          <a:lstStyle/>
          <a:p>
            <a:pPr algn="l"/>
            <a:r>
              <a:rPr sz="850" b="0" i="0">
                <a:solidFill>
                  <a:srgbClr val="C8DDD0"/>
                </a:solidFill>
                <a:latin typeface="Calibri"/>
              </a:rPr>
              <a:t>TOP Digital Twin  ·  SKUAST-K  ·  HADP-04  ·  July 2026</a:t>
            </a:r>
          </a:p>
        </p:txBody>
      </p:sp>
      <p:sp>
        <p:nvSpPr>
          <p:cNvPr id="9" name="TextBox 8"/>
          <p:cNvSpPr txBox="1"/>
          <p:nvPr/>
        </p:nvSpPr>
        <p:spPr>
          <a:xfrm>
            <a:off x="7589520" y="6583680"/>
            <a:ext cx="4389120" cy="237744"/>
          </a:xfrm>
          <a:prstGeom prst="rect">
            <a:avLst/>
          </a:prstGeom>
          <a:noFill/>
        </p:spPr>
        <p:txBody>
          <a:bodyPr wrap="square">
            <a:spAutoFit/>
          </a:bodyPr>
          <a:lstStyle/>
          <a:p>
            <a:pPr algn="r"/>
            <a:r>
              <a:rPr sz="850" b="0" i="0">
                <a:solidFill>
                  <a:srgbClr val="C8DDD0"/>
                </a:solidFill>
                <a:latin typeface="Calibri"/>
              </a:rPr>
              <a:t>CONFIDENTIAL — PI REVIEW</a:t>
            </a:r>
          </a:p>
        </p:txBody>
      </p:sp>
      <p:sp>
        <p:nvSpPr>
          <p:cNvPr id="10" name="TextBox 9"/>
          <p:cNvSpPr txBox="1"/>
          <p:nvPr/>
        </p:nvSpPr>
        <p:spPr>
          <a:xfrm>
            <a:off x="182880" y="1097280"/>
            <a:ext cx="6583680" cy="320040"/>
          </a:xfrm>
          <a:prstGeom prst="rect">
            <a:avLst/>
          </a:prstGeom>
          <a:noFill/>
        </p:spPr>
        <p:txBody>
          <a:bodyPr wrap="square">
            <a:spAutoFit/>
          </a:bodyPr>
          <a:lstStyle/>
          <a:p>
            <a:pPr algn="l"/>
            <a:r>
              <a:rPr sz="1100" b="1" i="0">
                <a:solidFill>
                  <a:srgbClr val="1E6B45"/>
                </a:solidFill>
                <a:latin typeface="Calibri"/>
              </a:rPr>
              <a:t>GEE EXTRACTION SCRIPTS</a:t>
            </a:r>
          </a:p>
        </p:txBody>
      </p:sp>
      <p:graphicFrame>
        <p:nvGraphicFramePr>
          <p:cNvPr id="11" name="Table 10"/>
          <p:cNvGraphicFramePr>
            <a:graphicFrameLocks noGrp="1"/>
          </p:cNvGraphicFramePr>
          <p:nvPr/>
        </p:nvGraphicFramePr>
        <p:xfrm>
          <a:off x="182880" y="1463040"/>
          <a:ext cx="6583680" cy="2331720"/>
        </p:xfrm>
        <a:graphic>
          <a:graphicData uri="http://schemas.openxmlformats.org/drawingml/2006/table">
            <a:tbl>
              <a:tblPr firstRow="1" bandRow="1">
                <a:tableStyleId>{5C22544A-7EE6-4342-B048-85BDC9FD1C3A}</a:tableStyleId>
              </a:tblPr>
              <a:tblGrid>
                <a:gridCol w="96012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tblGrid>
              <a:tr h="388620">
                <a:tc>
                  <a:txBody>
                    <a:bodyPr/>
                    <a:lstStyle/>
                    <a:p>
                      <a:pPr algn="ctr"/>
                      <a:r>
                        <a:rPr sz="1000" b="1">
                          <a:solidFill>
                            <a:srgbClr val="FFFFFF"/>
                          </a:solidFill>
                          <a:latin typeface="Calibri"/>
                        </a:rPr>
                        <a:t>Script</a:t>
                      </a:r>
                    </a:p>
                  </a:txBody>
                  <a:tcPr>
                    <a:solidFill>
                      <a:srgbClr val="0D2240"/>
                    </a:solidFill>
                  </a:tcPr>
                </a:tc>
                <a:tc>
                  <a:txBody>
                    <a:bodyPr/>
                    <a:lstStyle/>
                    <a:p>
                      <a:pPr algn="ctr"/>
                      <a:r>
                        <a:rPr sz="1000" b="1">
                          <a:solidFill>
                            <a:srgbClr val="FFFFFF"/>
                          </a:solidFill>
                          <a:latin typeface="Calibri"/>
                        </a:rPr>
                        <a:t>Source</a:t>
                      </a:r>
                    </a:p>
                  </a:txBody>
                  <a:tcPr>
                    <a:solidFill>
                      <a:srgbClr val="0D2240"/>
                    </a:solidFill>
                  </a:tcPr>
                </a:tc>
                <a:tc>
                  <a:txBody>
                    <a:bodyPr/>
                    <a:lstStyle/>
                    <a:p>
                      <a:pPr algn="ctr"/>
                      <a:r>
                        <a:rPr sz="1000" b="1">
                          <a:solidFill>
                            <a:srgbClr val="FFFFFF"/>
                          </a:solidFill>
                          <a:latin typeface="Calibri"/>
                        </a:rPr>
                        <a:t>Key Features</a:t>
                      </a:r>
                    </a:p>
                  </a:txBody>
                  <a:tcPr>
                    <a:solidFill>
                      <a:srgbClr val="0D2240"/>
                    </a:solidFill>
                  </a:tcPr>
                </a:tc>
                <a:tc>
                  <a:txBody>
                    <a:bodyPr/>
                    <a:lstStyle/>
                    <a:p>
                      <a:pPr algn="ctr"/>
                      <a:r>
                        <a:rPr sz="1000" b="1">
                          <a:solidFill>
                            <a:srgbClr val="FFFFFF"/>
                          </a:solidFill>
                          <a:latin typeface="Calibri"/>
                        </a:rPr>
                        <a:t>Resolution</a:t>
                      </a:r>
                    </a:p>
                  </a:txBody>
                  <a:tcPr>
                    <a:solidFill>
                      <a:srgbClr val="0D2240"/>
                    </a:solidFill>
                  </a:tcPr>
                </a:tc>
                <a:extLst>
                  <a:ext uri="{0D108BD9-81ED-4DB2-BD59-A6C34878D82A}">
                    <a16:rowId xmlns:a16="http://schemas.microsoft.com/office/drawing/2014/main" val="10000"/>
                  </a:ext>
                </a:extLst>
              </a:tr>
              <a:tr h="388620">
                <a:tc>
                  <a:txBody>
                    <a:bodyPr/>
                    <a:lstStyle/>
                    <a:p>
                      <a:pPr algn="l"/>
                      <a:r>
                        <a:rPr sz="950">
                          <a:solidFill>
                            <a:srgbClr val="1A2E1E"/>
                          </a:solidFill>
                          <a:latin typeface="Calibri"/>
                        </a:rPr>
                        <a:t>gee_01</a:t>
                      </a:r>
                    </a:p>
                  </a:txBody>
                  <a:tcPr>
                    <a:solidFill>
                      <a:srgbClr val="FFFFFF"/>
                    </a:solidFill>
                  </a:tcPr>
                </a:tc>
                <a:tc>
                  <a:txBody>
                    <a:bodyPr/>
                    <a:lstStyle/>
                    <a:p>
                      <a:pPr algn="ctr"/>
                      <a:r>
                        <a:rPr sz="950">
                          <a:solidFill>
                            <a:srgbClr val="1A2E1E"/>
                          </a:solidFill>
                          <a:latin typeface="Calibri"/>
                        </a:rPr>
                        <a:t>ERA5-Land Daily</a:t>
                      </a:r>
                    </a:p>
                  </a:txBody>
                  <a:tcPr>
                    <a:solidFill>
                      <a:srgbClr val="FFFFFF"/>
                    </a:solidFill>
                  </a:tcPr>
                </a:tc>
                <a:tc>
                  <a:txBody>
                    <a:bodyPr/>
                    <a:lstStyle/>
                    <a:p>
                      <a:pPr algn="ctr"/>
                      <a:r>
                        <a:rPr sz="950">
                          <a:solidFill>
                            <a:srgbClr val="1A2E1E"/>
                          </a:solidFill>
                          <a:latin typeface="Calibri"/>
                        </a:rPr>
                        <a:t>Tmax, Tmin, Tmean, flag_above35, flag_above38</a:t>
                      </a:r>
                    </a:p>
                  </a:txBody>
                  <a:tcPr>
                    <a:solidFill>
                      <a:srgbClr val="FFFFFF"/>
                    </a:solidFill>
                  </a:tcPr>
                </a:tc>
                <a:tc>
                  <a:txBody>
                    <a:bodyPr/>
                    <a:lstStyle/>
                    <a:p>
                      <a:pPr algn="ctr"/>
                      <a:r>
                        <a:rPr sz="950">
                          <a:solidFill>
                            <a:srgbClr val="1A2E1E"/>
                          </a:solidFill>
                          <a:latin typeface="Calibri"/>
                        </a:rPr>
                        <a:t>11 km</a:t>
                      </a:r>
                    </a:p>
                  </a:txBody>
                  <a:tcPr>
                    <a:solidFill>
                      <a:srgbClr val="FFFFFF"/>
                    </a:solidFill>
                  </a:tcPr>
                </a:tc>
                <a:extLst>
                  <a:ext uri="{0D108BD9-81ED-4DB2-BD59-A6C34878D82A}">
                    <a16:rowId xmlns:a16="http://schemas.microsoft.com/office/drawing/2014/main" val="10001"/>
                  </a:ext>
                </a:extLst>
              </a:tr>
              <a:tr h="388620">
                <a:tc>
                  <a:txBody>
                    <a:bodyPr/>
                    <a:lstStyle/>
                    <a:p>
                      <a:pPr algn="l"/>
                      <a:r>
                        <a:rPr sz="950">
                          <a:solidFill>
                            <a:srgbClr val="1A2E1E"/>
                          </a:solidFill>
                          <a:latin typeface="Calibri"/>
                        </a:rPr>
                        <a:t>gee_02</a:t>
                      </a:r>
                    </a:p>
                  </a:txBody>
                  <a:tcPr>
                    <a:solidFill>
                      <a:srgbClr val="F0F6F3"/>
                    </a:solidFill>
                  </a:tcPr>
                </a:tc>
                <a:tc>
                  <a:txBody>
                    <a:bodyPr/>
                    <a:lstStyle/>
                    <a:p>
                      <a:pPr algn="ctr"/>
                      <a:r>
                        <a:rPr sz="950">
                          <a:solidFill>
                            <a:srgbClr val="1A2E1E"/>
                          </a:solidFill>
                          <a:latin typeface="Calibri"/>
                        </a:rPr>
                        <a:t>CHIRPS Pentad</a:t>
                      </a:r>
                    </a:p>
                  </a:txBody>
                  <a:tcPr>
                    <a:solidFill>
                      <a:srgbClr val="F0F6F3"/>
                    </a:solidFill>
                  </a:tcPr>
                </a:tc>
                <a:tc>
                  <a:txBody>
                    <a:bodyPr/>
                    <a:lstStyle/>
                    <a:p>
                      <a:pPr algn="ctr"/>
                      <a:r>
                        <a:rPr sz="950">
                          <a:solidFill>
                            <a:srgbClr val="1A2E1E"/>
                          </a:solidFill>
                          <a:latin typeface="Calibri"/>
                        </a:rPr>
                        <a:t>rain_mean_mm, rain_max_mm, frac_excess_rain</a:t>
                      </a:r>
                    </a:p>
                  </a:txBody>
                  <a:tcPr>
                    <a:solidFill>
                      <a:srgbClr val="F0F6F3"/>
                    </a:solidFill>
                  </a:tcPr>
                </a:tc>
                <a:tc>
                  <a:txBody>
                    <a:bodyPr/>
                    <a:lstStyle/>
                    <a:p>
                      <a:pPr algn="ctr"/>
                      <a:r>
                        <a:rPr sz="950">
                          <a:solidFill>
                            <a:srgbClr val="1A2E1E"/>
                          </a:solidFill>
                          <a:latin typeface="Calibri"/>
                        </a:rPr>
                        <a:t>5.5 km</a:t>
                      </a:r>
                    </a:p>
                  </a:txBody>
                  <a:tcPr>
                    <a:solidFill>
                      <a:srgbClr val="F0F6F3"/>
                    </a:solidFill>
                  </a:tcPr>
                </a:tc>
                <a:extLst>
                  <a:ext uri="{0D108BD9-81ED-4DB2-BD59-A6C34878D82A}">
                    <a16:rowId xmlns:a16="http://schemas.microsoft.com/office/drawing/2014/main" val="10002"/>
                  </a:ext>
                </a:extLst>
              </a:tr>
              <a:tr h="388620">
                <a:tc>
                  <a:txBody>
                    <a:bodyPr/>
                    <a:lstStyle/>
                    <a:p>
                      <a:pPr algn="l"/>
                      <a:r>
                        <a:rPr sz="950">
                          <a:solidFill>
                            <a:srgbClr val="1A2E1E"/>
                          </a:solidFill>
                          <a:latin typeface="Calibri"/>
                        </a:rPr>
                        <a:t>gee_03</a:t>
                      </a:r>
                    </a:p>
                  </a:txBody>
                  <a:tcPr>
                    <a:solidFill>
                      <a:srgbClr val="FFFFFF"/>
                    </a:solidFill>
                  </a:tcPr>
                </a:tc>
                <a:tc>
                  <a:txBody>
                    <a:bodyPr/>
                    <a:lstStyle/>
                    <a:p>
                      <a:pPr algn="ctr"/>
                      <a:r>
                        <a:rPr sz="950">
                          <a:solidFill>
                            <a:srgbClr val="1A2E1E"/>
                          </a:solidFill>
                          <a:latin typeface="Calibri"/>
                        </a:rPr>
                        <a:t>Sentinel-2 SR Harmon.</a:t>
                      </a:r>
                    </a:p>
                  </a:txBody>
                  <a:tcPr>
                    <a:solidFill>
                      <a:srgbClr val="FFFFFF"/>
                    </a:solidFill>
                  </a:tcPr>
                </a:tc>
                <a:tc>
                  <a:txBody>
                    <a:bodyPr/>
                    <a:lstStyle/>
                    <a:p>
                      <a:pPr algn="ctr"/>
                      <a:r>
                        <a:rPr sz="950">
                          <a:solidFill>
                            <a:srgbClr val="1A2E1E"/>
                          </a:solidFill>
                          <a:latin typeface="Calibri"/>
                        </a:rPr>
                        <a:t>NDVI, EVI, valid_px_frac</a:t>
                      </a:r>
                    </a:p>
                  </a:txBody>
                  <a:tcPr>
                    <a:solidFill>
                      <a:srgbClr val="FFFFFF"/>
                    </a:solidFill>
                  </a:tcPr>
                </a:tc>
                <a:tc>
                  <a:txBody>
                    <a:bodyPr/>
                    <a:lstStyle/>
                    <a:p>
                      <a:pPr algn="ctr"/>
                      <a:r>
                        <a:rPr sz="950">
                          <a:solidFill>
                            <a:srgbClr val="1A2E1E"/>
                          </a:solidFill>
                          <a:latin typeface="Calibri"/>
                        </a:rPr>
                        <a:t>10 m</a:t>
                      </a:r>
                    </a:p>
                  </a:txBody>
                  <a:tcPr>
                    <a:solidFill>
                      <a:srgbClr val="FFFFFF"/>
                    </a:solidFill>
                  </a:tcPr>
                </a:tc>
                <a:extLst>
                  <a:ext uri="{0D108BD9-81ED-4DB2-BD59-A6C34878D82A}">
                    <a16:rowId xmlns:a16="http://schemas.microsoft.com/office/drawing/2014/main" val="10003"/>
                  </a:ext>
                </a:extLst>
              </a:tr>
              <a:tr h="388620">
                <a:tc>
                  <a:txBody>
                    <a:bodyPr/>
                    <a:lstStyle/>
                    <a:p>
                      <a:pPr algn="l"/>
                      <a:r>
                        <a:rPr sz="950">
                          <a:solidFill>
                            <a:srgbClr val="1A2E1E"/>
                          </a:solidFill>
                          <a:latin typeface="Calibri"/>
                        </a:rPr>
                        <a:t>gee_04</a:t>
                      </a:r>
                    </a:p>
                  </a:txBody>
                  <a:tcPr>
                    <a:solidFill>
                      <a:srgbClr val="F0F6F3"/>
                    </a:solidFill>
                  </a:tcPr>
                </a:tc>
                <a:tc>
                  <a:txBody>
                    <a:bodyPr/>
                    <a:lstStyle/>
                    <a:p>
                      <a:pPr algn="ctr"/>
                      <a:r>
                        <a:rPr sz="950">
                          <a:solidFill>
                            <a:srgbClr val="1A2E1E"/>
                          </a:solidFill>
                          <a:latin typeface="Calibri"/>
                        </a:rPr>
                        <a:t>MODIS MOD13Q1+MYD13Q1</a:t>
                      </a:r>
                    </a:p>
                  </a:txBody>
                  <a:tcPr>
                    <a:solidFill>
                      <a:srgbClr val="F0F6F3"/>
                    </a:solidFill>
                  </a:tcPr>
                </a:tc>
                <a:tc>
                  <a:txBody>
                    <a:bodyPr/>
                    <a:lstStyle/>
                    <a:p>
                      <a:pPr algn="ctr"/>
                      <a:r>
                        <a:rPr sz="950">
                          <a:solidFill>
                            <a:srgbClr val="1A2E1E"/>
                          </a:solidFill>
                          <a:latin typeface="Calibri"/>
                        </a:rPr>
                        <a:t>NDVI, EVI (Terra+Aqua merged)</a:t>
                      </a:r>
                    </a:p>
                  </a:txBody>
                  <a:tcPr>
                    <a:solidFill>
                      <a:srgbClr val="F0F6F3"/>
                    </a:solidFill>
                  </a:tcPr>
                </a:tc>
                <a:tc>
                  <a:txBody>
                    <a:bodyPr/>
                    <a:lstStyle/>
                    <a:p>
                      <a:pPr algn="ctr"/>
                      <a:r>
                        <a:rPr sz="950">
                          <a:solidFill>
                            <a:srgbClr val="1A2E1E"/>
                          </a:solidFill>
                          <a:latin typeface="Calibri"/>
                        </a:rPr>
                        <a:t>250 m</a:t>
                      </a:r>
                    </a:p>
                  </a:txBody>
                  <a:tcPr>
                    <a:solidFill>
                      <a:srgbClr val="F0F6F3"/>
                    </a:solidFill>
                  </a:tcPr>
                </a:tc>
                <a:extLst>
                  <a:ext uri="{0D108BD9-81ED-4DB2-BD59-A6C34878D82A}">
                    <a16:rowId xmlns:a16="http://schemas.microsoft.com/office/drawing/2014/main" val="10004"/>
                  </a:ext>
                </a:extLst>
              </a:tr>
              <a:tr h="388620">
                <a:tc>
                  <a:txBody>
                    <a:bodyPr/>
                    <a:lstStyle/>
                    <a:p>
                      <a:pPr algn="l"/>
                      <a:r>
                        <a:rPr sz="950">
                          <a:solidFill>
                            <a:srgbClr val="1A2E1E"/>
                          </a:solidFill>
                          <a:latin typeface="Calibri"/>
                        </a:rPr>
                        <a:t>gee_05</a:t>
                      </a:r>
                    </a:p>
                  </a:txBody>
                  <a:tcPr>
                    <a:solidFill>
                      <a:srgbClr val="FFFFFF"/>
                    </a:solidFill>
                  </a:tcPr>
                </a:tc>
                <a:tc>
                  <a:txBody>
                    <a:bodyPr/>
                    <a:lstStyle/>
                    <a:p>
                      <a:pPr algn="ctr"/>
                      <a:r>
                        <a:rPr sz="950">
                          <a:solidFill>
                            <a:srgbClr val="1A2E1E"/>
                          </a:solidFill>
                          <a:latin typeface="Calibri"/>
                        </a:rPr>
                        <a:t>MODIS MOD11A2 LST</a:t>
                      </a:r>
                    </a:p>
                  </a:txBody>
                  <a:tcPr>
                    <a:solidFill>
                      <a:srgbClr val="FFFFFF"/>
                    </a:solidFill>
                  </a:tcPr>
                </a:tc>
                <a:tc>
                  <a:txBody>
                    <a:bodyPr/>
                    <a:lstStyle/>
                    <a:p>
                      <a:pPr algn="ctr"/>
                      <a:r>
                        <a:rPr sz="950">
                          <a:solidFill>
                            <a:srgbClr val="1A2E1E"/>
                          </a:solidFill>
                          <a:latin typeface="Calibri"/>
                        </a:rPr>
                        <a:t>LST_mean_C, LST_max_C, frac_above35</a:t>
                      </a:r>
                    </a:p>
                  </a:txBody>
                  <a:tcPr>
                    <a:solidFill>
                      <a:srgbClr val="FFFFFF"/>
                    </a:solidFill>
                  </a:tcPr>
                </a:tc>
                <a:tc>
                  <a:txBody>
                    <a:bodyPr/>
                    <a:lstStyle/>
                    <a:p>
                      <a:pPr algn="ctr"/>
                      <a:r>
                        <a:rPr sz="950">
                          <a:solidFill>
                            <a:srgbClr val="1A2E1E"/>
                          </a:solidFill>
                          <a:latin typeface="Calibri"/>
                        </a:rPr>
                        <a:t>1 km</a:t>
                      </a:r>
                    </a:p>
                  </a:txBody>
                  <a:tcPr>
                    <a:solidFill>
                      <a:srgbClr val="FFFFFF"/>
                    </a:solidFill>
                  </a:tcPr>
                </a:tc>
                <a:extLst>
                  <a:ext uri="{0D108BD9-81ED-4DB2-BD59-A6C34878D82A}">
                    <a16:rowId xmlns:a16="http://schemas.microsoft.com/office/drawing/2014/main" val="10005"/>
                  </a:ext>
                </a:extLst>
              </a:tr>
            </a:tbl>
          </a:graphicData>
        </a:graphic>
      </p:graphicFrame>
      <p:sp>
        <p:nvSpPr>
          <p:cNvPr id="12" name="TextBox 11"/>
          <p:cNvSpPr txBox="1"/>
          <p:nvPr/>
        </p:nvSpPr>
        <p:spPr>
          <a:xfrm>
            <a:off x="182880" y="3886200"/>
            <a:ext cx="6583680" cy="320040"/>
          </a:xfrm>
          <a:prstGeom prst="rect">
            <a:avLst/>
          </a:prstGeom>
          <a:noFill/>
        </p:spPr>
        <p:txBody>
          <a:bodyPr wrap="square">
            <a:spAutoFit/>
          </a:bodyPr>
          <a:lstStyle/>
          <a:p>
            <a:pPr algn="l"/>
            <a:r>
              <a:rPr sz="1100" b="1" i="0">
                <a:solidFill>
                  <a:srgbClr val="1E6B45"/>
                </a:solidFill>
                <a:latin typeface="Calibri"/>
              </a:rPr>
              <a:t>18 MODELLING FEATURES  (after Script 14 processing)</a:t>
            </a:r>
          </a:p>
        </p:txBody>
      </p:sp>
      <p:sp>
        <p:nvSpPr>
          <p:cNvPr id="13" name="Rectangle 12"/>
          <p:cNvSpPr/>
          <p:nvPr/>
        </p:nvSpPr>
        <p:spPr>
          <a:xfrm>
            <a:off x="182880" y="4251960"/>
            <a:ext cx="1261872" cy="274320"/>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28600" y="4270248"/>
            <a:ext cx="1188720" cy="237744"/>
          </a:xfrm>
          <a:prstGeom prst="rect">
            <a:avLst/>
          </a:prstGeom>
          <a:noFill/>
        </p:spPr>
        <p:txBody>
          <a:bodyPr wrap="square">
            <a:spAutoFit/>
          </a:bodyPr>
          <a:lstStyle/>
          <a:p>
            <a:pPr algn="ctr"/>
            <a:r>
              <a:rPr sz="800" b="1" i="0">
                <a:solidFill>
                  <a:srgbClr val="FFFFFF"/>
                </a:solidFill>
                <a:latin typeface="Calibri"/>
              </a:rPr>
              <a:t>ERA5 Temperature (6)</a:t>
            </a:r>
          </a:p>
        </p:txBody>
      </p:sp>
      <p:sp>
        <p:nvSpPr>
          <p:cNvPr id="15" name="TextBox 14"/>
          <p:cNvSpPr txBox="1"/>
          <p:nvPr/>
        </p:nvSpPr>
        <p:spPr>
          <a:xfrm>
            <a:off x="228600" y="4553712"/>
            <a:ext cx="1188720" cy="1188720"/>
          </a:xfrm>
          <a:prstGeom prst="rect">
            <a:avLst/>
          </a:prstGeom>
          <a:noFill/>
        </p:spPr>
        <p:txBody>
          <a:bodyPr wrap="square">
            <a:spAutoFit/>
          </a:bodyPr>
          <a:lstStyle/>
          <a:p>
            <a:pPr>
              <a:spcBef>
                <a:spcPts val="300"/>
              </a:spcBef>
            </a:pPr>
            <a:r>
              <a:rPr sz="850">
                <a:solidFill>
                  <a:srgbClr val="1A2E1E"/>
                </a:solidFill>
                <a:latin typeface="Calibri"/>
              </a:rPr>
              <a:t>Tmax_C · Tmin_C · Tmean_C</a:t>
            </a:r>
          </a:p>
          <a:p>
            <a:pPr>
              <a:spcBef>
                <a:spcPts val="300"/>
              </a:spcBef>
            </a:pPr>
            <a:r>
              <a:rPr sz="850">
                <a:solidFill>
                  <a:srgbClr val="1A2E1E"/>
                </a:solidFill>
                <a:latin typeface="Calibri"/>
              </a:rPr>
              <a:t>DTR (diurnal range)</a:t>
            </a:r>
          </a:p>
          <a:p>
            <a:pPr>
              <a:spcBef>
                <a:spcPts val="300"/>
              </a:spcBef>
            </a:pPr>
            <a:r>
              <a:rPr sz="850">
                <a:solidFill>
                  <a:srgbClr val="1A2E1E"/>
                </a:solidFill>
                <a:latin typeface="Calibri"/>
              </a:rPr>
              <a:t>heat_days_35 · heat_days_38</a:t>
            </a:r>
          </a:p>
        </p:txBody>
      </p:sp>
      <p:sp>
        <p:nvSpPr>
          <p:cNvPr id="16" name="Rectangle 15"/>
          <p:cNvSpPr/>
          <p:nvPr/>
        </p:nvSpPr>
        <p:spPr>
          <a:xfrm>
            <a:off x="1481328" y="4251960"/>
            <a:ext cx="1261872" cy="274320"/>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527048" y="4270248"/>
            <a:ext cx="1188720" cy="237744"/>
          </a:xfrm>
          <a:prstGeom prst="rect">
            <a:avLst/>
          </a:prstGeom>
          <a:noFill/>
        </p:spPr>
        <p:txBody>
          <a:bodyPr wrap="square">
            <a:spAutoFit/>
          </a:bodyPr>
          <a:lstStyle/>
          <a:p>
            <a:pPr algn="ctr"/>
            <a:r>
              <a:rPr sz="800" b="1" i="0">
                <a:solidFill>
                  <a:srgbClr val="FFFFFF"/>
                </a:solidFill>
                <a:latin typeface="Calibri"/>
              </a:rPr>
              <a:t>CHIRPS Rainfall (3)</a:t>
            </a:r>
          </a:p>
        </p:txBody>
      </p:sp>
      <p:sp>
        <p:nvSpPr>
          <p:cNvPr id="18" name="TextBox 17"/>
          <p:cNvSpPr txBox="1"/>
          <p:nvPr/>
        </p:nvSpPr>
        <p:spPr>
          <a:xfrm>
            <a:off x="1527048" y="4553712"/>
            <a:ext cx="1188720" cy="1188720"/>
          </a:xfrm>
          <a:prstGeom prst="rect">
            <a:avLst/>
          </a:prstGeom>
          <a:noFill/>
        </p:spPr>
        <p:txBody>
          <a:bodyPr wrap="square">
            <a:spAutoFit/>
          </a:bodyPr>
          <a:lstStyle/>
          <a:p>
            <a:pPr>
              <a:spcBef>
                <a:spcPts val="300"/>
              </a:spcBef>
            </a:pPr>
            <a:r>
              <a:rPr sz="850">
                <a:solidFill>
                  <a:srgbClr val="1A2E1E"/>
                </a:solidFill>
                <a:latin typeface="Calibri"/>
              </a:rPr>
              <a:t>rain_weekly_mm</a:t>
            </a:r>
          </a:p>
          <a:p>
            <a:pPr>
              <a:spcBef>
                <a:spcPts val="300"/>
              </a:spcBef>
            </a:pPr>
            <a:r>
              <a:rPr sz="850">
                <a:solidFill>
                  <a:srgbClr val="1A2E1E"/>
                </a:solidFill>
                <a:latin typeface="Calibri"/>
              </a:rPr>
              <a:t>rain_max_mm</a:t>
            </a:r>
          </a:p>
          <a:p>
            <a:pPr>
              <a:spcBef>
                <a:spcPts val="300"/>
              </a:spcBef>
            </a:pPr>
            <a:r>
              <a:rPr sz="850">
                <a:solidFill>
                  <a:srgbClr val="1A2E1E"/>
                </a:solidFill>
                <a:latin typeface="Calibri"/>
              </a:rPr>
              <a:t>frac_excess_rain</a:t>
            </a:r>
          </a:p>
        </p:txBody>
      </p:sp>
      <p:sp>
        <p:nvSpPr>
          <p:cNvPr id="19" name="Rectangle 18"/>
          <p:cNvSpPr/>
          <p:nvPr/>
        </p:nvSpPr>
        <p:spPr>
          <a:xfrm>
            <a:off x="2779776" y="4251960"/>
            <a:ext cx="1261872" cy="274320"/>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825496" y="4270248"/>
            <a:ext cx="1188720" cy="237744"/>
          </a:xfrm>
          <a:prstGeom prst="rect">
            <a:avLst/>
          </a:prstGeom>
          <a:noFill/>
        </p:spPr>
        <p:txBody>
          <a:bodyPr wrap="square">
            <a:spAutoFit/>
          </a:bodyPr>
          <a:lstStyle/>
          <a:p>
            <a:pPr algn="ctr"/>
            <a:r>
              <a:rPr sz="800" b="1" i="0">
                <a:solidFill>
                  <a:srgbClr val="FFFFFF"/>
                </a:solidFill>
                <a:latin typeface="Calibri"/>
              </a:rPr>
              <a:t>Sentinel-2 NDVI (4)</a:t>
            </a:r>
          </a:p>
        </p:txBody>
      </p:sp>
      <p:sp>
        <p:nvSpPr>
          <p:cNvPr id="21" name="TextBox 20"/>
          <p:cNvSpPr txBox="1"/>
          <p:nvPr/>
        </p:nvSpPr>
        <p:spPr>
          <a:xfrm>
            <a:off x="2825496" y="4553712"/>
            <a:ext cx="1188720" cy="1188720"/>
          </a:xfrm>
          <a:prstGeom prst="rect">
            <a:avLst/>
          </a:prstGeom>
          <a:noFill/>
        </p:spPr>
        <p:txBody>
          <a:bodyPr wrap="square">
            <a:spAutoFit/>
          </a:bodyPr>
          <a:lstStyle/>
          <a:p>
            <a:pPr>
              <a:spcBef>
                <a:spcPts val="300"/>
              </a:spcBef>
            </a:pPr>
            <a:r>
              <a:rPr sz="850">
                <a:solidFill>
                  <a:srgbClr val="1A2E1E"/>
                </a:solidFill>
                <a:latin typeface="Calibri"/>
              </a:rPr>
              <a:t>NDVI · EVI</a:t>
            </a:r>
          </a:p>
          <a:p>
            <a:pPr>
              <a:spcBef>
                <a:spcPts val="300"/>
              </a:spcBef>
            </a:pPr>
            <a:r>
              <a:rPr sz="850">
                <a:solidFill>
                  <a:srgbClr val="1A2E1E"/>
                </a:solidFill>
                <a:latin typeface="Calibri"/>
              </a:rPr>
              <a:t>valid_px_frac</a:t>
            </a:r>
          </a:p>
          <a:p>
            <a:pPr>
              <a:spcBef>
                <a:spcPts val="300"/>
              </a:spcBef>
            </a:pPr>
            <a:r>
              <a:rPr sz="850">
                <a:solidFill>
                  <a:srgbClr val="1A2E1E"/>
                </a:solidFill>
                <a:latin typeface="Calibri"/>
              </a:rPr>
              <a:t>NDVI_anomaly</a:t>
            </a:r>
          </a:p>
        </p:txBody>
      </p:sp>
      <p:sp>
        <p:nvSpPr>
          <p:cNvPr id="22" name="Rectangle 21"/>
          <p:cNvSpPr/>
          <p:nvPr/>
        </p:nvSpPr>
        <p:spPr>
          <a:xfrm>
            <a:off x="4078224" y="4251960"/>
            <a:ext cx="1261872" cy="274320"/>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23944" y="4270248"/>
            <a:ext cx="1188720" cy="237744"/>
          </a:xfrm>
          <a:prstGeom prst="rect">
            <a:avLst/>
          </a:prstGeom>
          <a:noFill/>
        </p:spPr>
        <p:txBody>
          <a:bodyPr wrap="square">
            <a:spAutoFit/>
          </a:bodyPr>
          <a:lstStyle/>
          <a:p>
            <a:pPr algn="ctr"/>
            <a:r>
              <a:rPr sz="800" b="1" i="0">
                <a:solidFill>
                  <a:srgbClr val="FFFFFF"/>
                </a:solidFill>
                <a:latin typeface="Calibri"/>
              </a:rPr>
              <a:t>MODIS Vegetation (2)</a:t>
            </a:r>
          </a:p>
        </p:txBody>
      </p:sp>
      <p:sp>
        <p:nvSpPr>
          <p:cNvPr id="24" name="TextBox 23"/>
          <p:cNvSpPr txBox="1"/>
          <p:nvPr/>
        </p:nvSpPr>
        <p:spPr>
          <a:xfrm>
            <a:off x="4123944" y="4553712"/>
            <a:ext cx="1188720" cy="1188720"/>
          </a:xfrm>
          <a:prstGeom prst="rect">
            <a:avLst/>
          </a:prstGeom>
          <a:noFill/>
        </p:spPr>
        <p:txBody>
          <a:bodyPr wrap="square">
            <a:spAutoFit/>
          </a:bodyPr>
          <a:lstStyle/>
          <a:p>
            <a:pPr>
              <a:spcBef>
                <a:spcPts val="300"/>
              </a:spcBef>
            </a:pPr>
            <a:r>
              <a:rPr sz="850">
                <a:solidFill>
                  <a:srgbClr val="1A2E1E"/>
                </a:solidFill>
                <a:latin typeface="Calibri"/>
              </a:rPr>
              <a:t>NDVI · EVI</a:t>
            </a:r>
          </a:p>
          <a:p>
            <a:pPr>
              <a:spcBef>
                <a:spcPts val="300"/>
              </a:spcBef>
            </a:pPr>
            <a:r>
              <a:rPr sz="850">
                <a:solidFill>
                  <a:srgbClr val="1A2E1E"/>
                </a:solidFill>
                <a:latin typeface="Calibri"/>
              </a:rPr>
              <a:t>(Terra+Aqua merged)</a:t>
            </a:r>
          </a:p>
        </p:txBody>
      </p:sp>
      <p:sp>
        <p:nvSpPr>
          <p:cNvPr id="25" name="Rectangle 24"/>
          <p:cNvSpPr/>
          <p:nvPr/>
        </p:nvSpPr>
        <p:spPr>
          <a:xfrm>
            <a:off x="5376672" y="4251960"/>
            <a:ext cx="1261872" cy="274320"/>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422392" y="4270248"/>
            <a:ext cx="1188720" cy="237744"/>
          </a:xfrm>
          <a:prstGeom prst="rect">
            <a:avLst/>
          </a:prstGeom>
          <a:noFill/>
        </p:spPr>
        <p:txBody>
          <a:bodyPr wrap="square">
            <a:spAutoFit/>
          </a:bodyPr>
          <a:lstStyle/>
          <a:p>
            <a:pPr algn="ctr"/>
            <a:r>
              <a:rPr sz="800" b="1" i="0">
                <a:solidFill>
                  <a:srgbClr val="FFFFFF"/>
                </a:solidFill>
                <a:latin typeface="Calibri"/>
              </a:rPr>
              <a:t>MODIS LST (3)</a:t>
            </a:r>
          </a:p>
        </p:txBody>
      </p:sp>
      <p:sp>
        <p:nvSpPr>
          <p:cNvPr id="27" name="TextBox 26"/>
          <p:cNvSpPr txBox="1"/>
          <p:nvPr/>
        </p:nvSpPr>
        <p:spPr>
          <a:xfrm>
            <a:off x="5422392" y="4553712"/>
            <a:ext cx="1188720" cy="1188720"/>
          </a:xfrm>
          <a:prstGeom prst="rect">
            <a:avLst/>
          </a:prstGeom>
          <a:noFill/>
        </p:spPr>
        <p:txBody>
          <a:bodyPr wrap="square">
            <a:spAutoFit/>
          </a:bodyPr>
          <a:lstStyle/>
          <a:p>
            <a:pPr>
              <a:spcBef>
                <a:spcPts val="300"/>
              </a:spcBef>
            </a:pPr>
            <a:r>
              <a:rPr sz="850">
                <a:solidFill>
                  <a:srgbClr val="1A2E1E"/>
                </a:solidFill>
                <a:latin typeface="Calibri"/>
              </a:rPr>
              <a:t>LST_mean_C · LST_max_C</a:t>
            </a:r>
          </a:p>
          <a:p>
            <a:pPr>
              <a:spcBef>
                <a:spcPts val="300"/>
              </a:spcBef>
            </a:pPr>
            <a:r>
              <a:rPr sz="850">
                <a:solidFill>
                  <a:srgbClr val="1A2E1E"/>
                </a:solidFill>
                <a:latin typeface="Calibri"/>
              </a:rPr>
              <a:t>frac_above35_C</a:t>
            </a:r>
          </a:p>
        </p:txBody>
      </p:sp>
      <p:sp>
        <p:nvSpPr>
          <p:cNvPr id="28" name="TextBox 27"/>
          <p:cNvSpPr txBox="1"/>
          <p:nvPr/>
        </p:nvSpPr>
        <p:spPr>
          <a:xfrm>
            <a:off x="182880" y="5824728"/>
            <a:ext cx="6583680" cy="347472"/>
          </a:xfrm>
          <a:prstGeom prst="rect">
            <a:avLst/>
          </a:prstGeom>
          <a:noFill/>
        </p:spPr>
        <p:txBody>
          <a:bodyPr wrap="square">
            <a:spAutoFit/>
          </a:bodyPr>
          <a:lstStyle/>
          <a:p>
            <a:pPr algn="l"/>
            <a:r>
              <a:rPr sz="950" b="0" i="1">
                <a:solidFill>
                  <a:srgbClr val="5A6A60"/>
                </a:solidFill>
                <a:latin typeface="Calibri"/>
              </a:rPr>
              <a:t>Join to market panel: df.merge(crop_weekly_features.csv, on=['crop','week_start'], how='left')
Primary join: crop × week (national supply-chain integration rationale — see Slide 11)</a:t>
            </a:r>
          </a:p>
        </p:txBody>
      </p:sp>
      <p:sp>
        <p:nvSpPr>
          <p:cNvPr id="29" name="TextBox 28"/>
          <p:cNvSpPr txBox="1"/>
          <p:nvPr/>
        </p:nvSpPr>
        <p:spPr>
          <a:xfrm>
            <a:off x="6949440" y="1097280"/>
            <a:ext cx="4937760" cy="320040"/>
          </a:xfrm>
          <a:prstGeom prst="rect">
            <a:avLst/>
          </a:prstGeom>
          <a:noFill/>
        </p:spPr>
        <p:txBody>
          <a:bodyPr wrap="square">
            <a:spAutoFit/>
          </a:bodyPr>
          <a:lstStyle/>
          <a:p>
            <a:pPr algn="l"/>
            <a:r>
              <a:rPr sz="1100" b="1" i="0">
                <a:solidFill>
                  <a:srgbClr val="1E6B45"/>
                </a:solidFill>
                <a:latin typeface="Calibri"/>
              </a:rPr>
              <a:t>SAMPLE OUTPUT — ERA5 TEMPERATURE SERIES</a:t>
            </a:r>
          </a:p>
        </p:txBody>
      </p:sp>
      <p:pic>
        <p:nvPicPr>
          <p:cNvPr id="30" name="Picture 29" descr="fig_era5_temperature.png"/>
          <p:cNvPicPr>
            <a:picLocks noChangeAspect="1"/>
          </p:cNvPicPr>
          <p:nvPr/>
        </p:nvPicPr>
        <p:blipFill>
          <a:blip r:embed="rId3"/>
          <a:stretch>
            <a:fillRect/>
          </a:stretch>
        </p:blipFill>
        <p:spPr>
          <a:xfrm>
            <a:off x="6949440" y="1463040"/>
            <a:ext cx="4937760" cy="2743200"/>
          </a:xfrm>
          <a:prstGeom prst="rect">
            <a:avLst/>
          </a:prstGeom>
        </p:spPr>
      </p:pic>
      <p:sp>
        <p:nvSpPr>
          <p:cNvPr id="31" name="TextBox 30"/>
          <p:cNvSpPr txBox="1"/>
          <p:nvPr/>
        </p:nvSpPr>
        <p:spPr>
          <a:xfrm>
            <a:off x="6949440" y="4297680"/>
            <a:ext cx="4937760" cy="320040"/>
          </a:xfrm>
          <a:prstGeom prst="rect">
            <a:avLst/>
          </a:prstGeom>
          <a:noFill/>
        </p:spPr>
        <p:txBody>
          <a:bodyPr wrap="square">
            <a:spAutoFit/>
          </a:bodyPr>
          <a:lstStyle/>
          <a:p>
            <a:pPr algn="l"/>
            <a:r>
              <a:rPr sz="1100" b="1" i="0">
                <a:solidFill>
                  <a:srgbClr val="1E6B45"/>
                </a:solidFill>
                <a:latin typeface="Calibri"/>
              </a:rPr>
              <a:t>SAMPLE OUTPUT — S2 NDVI ANOMALY</a:t>
            </a:r>
          </a:p>
        </p:txBody>
      </p:sp>
      <p:pic>
        <p:nvPicPr>
          <p:cNvPr id="32" name="Picture 31" descr="fig_s2_ndvi_anomaly.png"/>
          <p:cNvPicPr>
            <a:picLocks noChangeAspect="1"/>
          </p:cNvPicPr>
          <p:nvPr/>
        </p:nvPicPr>
        <p:blipFill>
          <a:blip r:embed="rId4"/>
          <a:stretch>
            <a:fillRect/>
          </a:stretch>
        </p:blipFill>
        <p:spPr>
          <a:xfrm>
            <a:off x="6949440" y="4663440"/>
            <a:ext cx="4937760" cy="16916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64008" cy="6858000"/>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 y="0"/>
            <a:ext cx="12124944" cy="960120"/>
          </a:xfrm>
          <a:prstGeom prst="rect">
            <a:avLst/>
          </a:prstGeom>
          <a:solidFill>
            <a:srgbClr val="0D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4008" y="960120"/>
            <a:ext cx="12124944" cy="32004"/>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 y="64008"/>
            <a:ext cx="11704320" cy="475488"/>
          </a:xfrm>
          <a:prstGeom prst="rect">
            <a:avLst/>
          </a:prstGeom>
          <a:noFill/>
        </p:spPr>
        <p:txBody>
          <a:bodyPr wrap="square">
            <a:spAutoFit/>
          </a:bodyPr>
          <a:lstStyle/>
          <a:p>
            <a:pPr algn="l"/>
            <a:r>
              <a:rPr sz="2100" b="1" i="0">
                <a:solidFill>
                  <a:srgbClr val="FFFFFF"/>
                </a:solidFill>
                <a:latin typeface="Calibri"/>
              </a:rPr>
              <a:t>Zone Assignment Analysis  —  Script 16</a:t>
            </a:r>
          </a:p>
        </p:txBody>
      </p:sp>
      <p:sp>
        <p:nvSpPr>
          <p:cNvPr id="6" name="TextBox 5"/>
          <p:cNvSpPr txBox="1"/>
          <p:nvPr/>
        </p:nvSpPr>
        <p:spPr>
          <a:xfrm>
            <a:off x="201168" y="548640"/>
            <a:ext cx="11704320" cy="365760"/>
          </a:xfrm>
          <a:prstGeom prst="rect">
            <a:avLst/>
          </a:prstGeom>
          <a:noFill/>
        </p:spPr>
        <p:txBody>
          <a:bodyPr wrap="square">
            <a:spAutoFit/>
          </a:bodyPr>
          <a:lstStyle/>
          <a:p>
            <a:pPr algn="l"/>
            <a:r>
              <a:rPr sz="1300" b="0" i="1">
                <a:solidFill>
                  <a:srgbClr val="C8DDD0"/>
                </a:solidFill>
                <a:latin typeface="Calibri"/>
              </a:rPr>
              <a:t>Geocoding 2,607 APMC markets and assigning each to its nearest same-crop production zone</a:t>
            </a:r>
          </a:p>
        </p:txBody>
      </p:sp>
      <p:sp>
        <p:nvSpPr>
          <p:cNvPr id="7" name="Rectangle 6"/>
          <p:cNvSpPr/>
          <p:nvPr/>
        </p:nvSpPr>
        <p:spPr>
          <a:xfrm>
            <a:off x="0" y="6565392"/>
            <a:ext cx="12188952" cy="292608"/>
          </a:xfrm>
          <a:prstGeom prst="rect">
            <a:avLst/>
          </a:prstGeom>
          <a:solidFill>
            <a:srgbClr val="0D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01168" y="6583680"/>
            <a:ext cx="7315200" cy="237744"/>
          </a:xfrm>
          <a:prstGeom prst="rect">
            <a:avLst/>
          </a:prstGeom>
          <a:noFill/>
        </p:spPr>
        <p:txBody>
          <a:bodyPr wrap="square">
            <a:spAutoFit/>
          </a:bodyPr>
          <a:lstStyle/>
          <a:p>
            <a:pPr algn="l"/>
            <a:r>
              <a:rPr sz="850" b="0" i="0">
                <a:solidFill>
                  <a:srgbClr val="C8DDD0"/>
                </a:solidFill>
                <a:latin typeface="Calibri"/>
              </a:rPr>
              <a:t>TOP Digital Twin  ·  SKUAST-K  ·  HADP-04  ·  July 2026</a:t>
            </a:r>
          </a:p>
        </p:txBody>
      </p:sp>
      <p:sp>
        <p:nvSpPr>
          <p:cNvPr id="9" name="TextBox 8"/>
          <p:cNvSpPr txBox="1"/>
          <p:nvPr/>
        </p:nvSpPr>
        <p:spPr>
          <a:xfrm>
            <a:off x="7589520" y="6583680"/>
            <a:ext cx="4389120" cy="237744"/>
          </a:xfrm>
          <a:prstGeom prst="rect">
            <a:avLst/>
          </a:prstGeom>
          <a:noFill/>
        </p:spPr>
        <p:txBody>
          <a:bodyPr wrap="square">
            <a:spAutoFit/>
          </a:bodyPr>
          <a:lstStyle/>
          <a:p>
            <a:pPr algn="r"/>
            <a:r>
              <a:rPr sz="850" b="0" i="0">
                <a:solidFill>
                  <a:srgbClr val="C8DDD0"/>
                </a:solidFill>
                <a:latin typeface="Calibri"/>
              </a:rPr>
              <a:t>CONFIDENTIAL — PI REVIEW</a:t>
            </a:r>
          </a:p>
        </p:txBody>
      </p:sp>
      <p:sp>
        <p:nvSpPr>
          <p:cNvPr id="10" name="TextBox 9"/>
          <p:cNvSpPr txBox="1"/>
          <p:nvPr/>
        </p:nvSpPr>
        <p:spPr>
          <a:xfrm>
            <a:off x="182880" y="1097280"/>
            <a:ext cx="5669280" cy="320040"/>
          </a:xfrm>
          <a:prstGeom prst="rect">
            <a:avLst/>
          </a:prstGeom>
          <a:noFill/>
        </p:spPr>
        <p:txBody>
          <a:bodyPr wrap="square">
            <a:spAutoFit/>
          </a:bodyPr>
          <a:lstStyle/>
          <a:p>
            <a:pPr algn="l"/>
            <a:r>
              <a:rPr sz="1100" b="1" i="0">
                <a:solidFill>
                  <a:srgbClr val="1E6B45"/>
                </a:solidFill>
                <a:latin typeface="Calibri"/>
              </a:rPr>
              <a:t>METHODOLOGY</a:t>
            </a:r>
          </a:p>
        </p:txBody>
      </p:sp>
      <p:sp>
        <p:nvSpPr>
          <p:cNvPr id="11" name="TextBox 10"/>
          <p:cNvSpPr txBox="1"/>
          <p:nvPr/>
        </p:nvSpPr>
        <p:spPr>
          <a:xfrm>
            <a:off x="182880" y="1463040"/>
            <a:ext cx="5669280" cy="1417320"/>
          </a:xfrm>
          <a:prstGeom prst="rect">
            <a:avLst/>
          </a:prstGeom>
          <a:noFill/>
        </p:spPr>
        <p:txBody>
          <a:bodyPr wrap="square">
            <a:spAutoFit/>
          </a:bodyPr>
          <a:lstStyle/>
          <a:p>
            <a:pPr>
              <a:spcBef>
                <a:spcPts val="500"/>
              </a:spcBef>
            </a:pPr>
            <a:r>
              <a:rPr sz="1100">
                <a:solidFill>
                  <a:srgbClr val="1A2E1E"/>
                </a:solidFill>
                <a:latin typeface="Calibri"/>
              </a:rPr>
              <a:t>1.  Extract unique (district, state) pairs from the market panel → 557 pairs</a:t>
            </a:r>
          </a:p>
          <a:p>
            <a:pPr>
              <a:spcBef>
                <a:spcPts val="500"/>
              </a:spcBef>
            </a:pPr>
            <a:r>
              <a:rPr sz="1100">
                <a:solidFill>
                  <a:srgbClr val="1A2E1E"/>
                </a:solidFill>
                <a:latin typeface="Calibri"/>
              </a:rPr>
              <a:t>2.  Geocode each pair using Nominatim/OpenStreetMap API (no external dependencies — pure Python urllib)</a:t>
            </a:r>
          </a:p>
          <a:p>
            <a:pPr>
              <a:spcBef>
                <a:spcPts val="500"/>
              </a:spcBef>
            </a:pPr>
            <a:r>
              <a:rPr sz="1100">
                <a:solidFill>
                  <a:srgbClr val="1A2E1E"/>
                </a:solidFill>
                <a:latin typeface="Calibri"/>
              </a:rPr>
              <a:t>     Resolution hierarchy: district centroid → district-only → state centroid</a:t>
            </a:r>
          </a:p>
          <a:p>
            <a:pPr>
              <a:spcBef>
                <a:spcPts val="500"/>
              </a:spcBef>
            </a:pPr>
            <a:r>
              <a:rPr sz="1100">
                <a:solidFill>
                  <a:srgbClr val="1A2E1E"/>
                </a:solidFill>
                <a:latin typeface="Calibri"/>
              </a:rPr>
              <a:t>3.  Haversine great-circle distance from each market to all same-crop zones</a:t>
            </a:r>
          </a:p>
          <a:p>
            <a:pPr>
              <a:spcBef>
                <a:spcPts val="500"/>
              </a:spcBef>
            </a:pPr>
            <a:r>
              <a:rPr sz="1100">
                <a:solidFill>
                  <a:srgbClr val="1A2E1E"/>
                </a:solidFill>
                <a:latin typeface="Calibri"/>
              </a:rPr>
              <a:t>4.  Assign market to the nearest zone; save zone_assignment.csv</a:t>
            </a:r>
          </a:p>
        </p:txBody>
      </p:sp>
      <p:sp>
        <p:nvSpPr>
          <p:cNvPr id="12" name="Rectangle 11"/>
          <p:cNvSpPr/>
          <p:nvPr/>
        </p:nvSpPr>
        <p:spPr>
          <a:xfrm>
            <a:off x="182880" y="3017520"/>
            <a:ext cx="1298448" cy="932688"/>
          </a:xfrm>
          <a:prstGeom prst="rect">
            <a:avLst/>
          </a:prstGeom>
          <a:solidFill>
            <a:srgbClr val="0D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82880" y="3110788"/>
            <a:ext cx="1298448" cy="484997"/>
          </a:xfrm>
          <a:prstGeom prst="rect">
            <a:avLst/>
          </a:prstGeom>
          <a:noFill/>
        </p:spPr>
        <p:txBody>
          <a:bodyPr wrap="square">
            <a:spAutoFit/>
          </a:bodyPr>
          <a:lstStyle/>
          <a:p>
            <a:pPr algn="ctr"/>
            <a:r>
              <a:rPr sz="2000" b="1" i="0">
                <a:solidFill>
                  <a:srgbClr val="FFFFFF"/>
                </a:solidFill>
                <a:latin typeface="Calibri"/>
              </a:rPr>
              <a:t>2,607</a:t>
            </a:r>
          </a:p>
        </p:txBody>
      </p:sp>
      <p:sp>
        <p:nvSpPr>
          <p:cNvPr id="14" name="TextBox 13"/>
          <p:cNvSpPr txBox="1"/>
          <p:nvPr/>
        </p:nvSpPr>
        <p:spPr>
          <a:xfrm>
            <a:off x="228600" y="3595786"/>
            <a:ext cx="1207007" cy="326440"/>
          </a:xfrm>
          <a:prstGeom prst="rect">
            <a:avLst/>
          </a:prstGeom>
          <a:noFill/>
        </p:spPr>
        <p:txBody>
          <a:bodyPr wrap="square">
            <a:spAutoFit/>
          </a:bodyPr>
          <a:lstStyle/>
          <a:p>
            <a:pPr algn="ctr"/>
            <a:r>
              <a:rPr sz="850" b="0" i="0">
                <a:solidFill>
                  <a:srgbClr val="FFFFFF"/>
                </a:solidFill>
                <a:latin typeface="Calibri"/>
              </a:rPr>
              <a:t>Total Markets</a:t>
            </a:r>
          </a:p>
        </p:txBody>
      </p:sp>
      <p:sp>
        <p:nvSpPr>
          <p:cNvPr id="15" name="Rectangle 14"/>
          <p:cNvSpPr/>
          <p:nvPr/>
        </p:nvSpPr>
        <p:spPr>
          <a:xfrm>
            <a:off x="1600200" y="3017520"/>
            <a:ext cx="1298448" cy="932688"/>
          </a:xfrm>
          <a:prstGeom prst="rect">
            <a:avLst/>
          </a:prstGeom>
          <a:solidFill>
            <a:srgbClr val="0B6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600200" y="3110788"/>
            <a:ext cx="1298448" cy="484997"/>
          </a:xfrm>
          <a:prstGeom prst="rect">
            <a:avLst/>
          </a:prstGeom>
          <a:noFill/>
        </p:spPr>
        <p:txBody>
          <a:bodyPr wrap="square">
            <a:spAutoFit/>
          </a:bodyPr>
          <a:lstStyle/>
          <a:p>
            <a:pPr algn="ctr"/>
            <a:r>
              <a:rPr sz="2000" b="1" i="0">
                <a:solidFill>
                  <a:srgbClr val="FFFFFF"/>
                </a:solidFill>
                <a:latin typeface="Calibri"/>
              </a:rPr>
              <a:t>2,598</a:t>
            </a:r>
          </a:p>
        </p:txBody>
      </p:sp>
      <p:sp>
        <p:nvSpPr>
          <p:cNvPr id="17" name="TextBox 16"/>
          <p:cNvSpPr txBox="1"/>
          <p:nvPr/>
        </p:nvSpPr>
        <p:spPr>
          <a:xfrm>
            <a:off x="1645920" y="3595786"/>
            <a:ext cx="1207007" cy="326440"/>
          </a:xfrm>
          <a:prstGeom prst="rect">
            <a:avLst/>
          </a:prstGeom>
          <a:noFill/>
        </p:spPr>
        <p:txBody>
          <a:bodyPr wrap="square">
            <a:spAutoFit/>
          </a:bodyPr>
          <a:lstStyle/>
          <a:p>
            <a:pPr algn="ctr"/>
            <a:r>
              <a:rPr sz="850" b="0" i="0">
                <a:solidFill>
                  <a:srgbClr val="FFFFFF"/>
                </a:solidFill>
                <a:latin typeface="Calibri"/>
              </a:rPr>
              <a:t>Assigned (99.7%)</a:t>
            </a:r>
          </a:p>
        </p:txBody>
      </p:sp>
      <p:sp>
        <p:nvSpPr>
          <p:cNvPr id="18" name="Rectangle 17"/>
          <p:cNvSpPr/>
          <p:nvPr/>
        </p:nvSpPr>
        <p:spPr>
          <a:xfrm>
            <a:off x="3017520" y="3017520"/>
            <a:ext cx="1298448" cy="932688"/>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017520" y="3110788"/>
            <a:ext cx="1298448" cy="484997"/>
          </a:xfrm>
          <a:prstGeom prst="rect">
            <a:avLst/>
          </a:prstGeom>
          <a:noFill/>
        </p:spPr>
        <p:txBody>
          <a:bodyPr wrap="square">
            <a:spAutoFit/>
          </a:bodyPr>
          <a:lstStyle/>
          <a:p>
            <a:pPr algn="ctr"/>
            <a:r>
              <a:rPr sz="2000" b="1" i="0">
                <a:solidFill>
                  <a:srgbClr val="FFFFFF"/>
                </a:solidFill>
                <a:latin typeface="Calibri"/>
              </a:rPr>
              <a:t>557</a:t>
            </a:r>
          </a:p>
        </p:txBody>
      </p:sp>
      <p:sp>
        <p:nvSpPr>
          <p:cNvPr id="20" name="TextBox 19"/>
          <p:cNvSpPr txBox="1"/>
          <p:nvPr/>
        </p:nvSpPr>
        <p:spPr>
          <a:xfrm>
            <a:off x="3063240" y="3595786"/>
            <a:ext cx="1207007" cy="326440"/>
          </a:xfrm>
          <a:prstGeom prst="rect">
            <a:avLst/>
          </a:prstGeom>
          <a:noFill/>
        </p:spPr>
        <p:txBody>
          <a:bodyPr wrap="square">
            <a:spAutoFit/>
          </a:bodyPr>
          <a:lstStyle/>
          <a:p>
            <a:pPr algn="ctr"/>
            <a:r>
              <a:rPr sz="850" b="0" i="0">
                <a:solidFill>
                  <a:srgbClr val="FFFFFF"/>
                </a:solidFill>
                <a:latin typeface="Calibri"/>
              </a:rPr>
              <a:t>Unique District Pairs
Geocoded</a:t>
            </a:r>
          </a:p>
        </p:txBody>
      </p:sp>
      <p:sp>
        <p:nvSpPr>
          <p:cNvPr id="21" name="Rectangle 20"/>
          <p:cNvSpPr/>
          <p:nvPr/>
        </p:nvSpPr>
        <p:spPr>
          <a:xfrm>
            <a:off x="4434840" y="3017520"/>
            <a:ext cx="1298448" cy="932688"/>
          </a:xfrm>
          <a:prstGeom prst="rect">
            <a:avLst/>
          </a:prstGeom>
          <a:solidFill>
            <a:srgbClr val="0B4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434840" y="3110788"/>
            <a:ext cx="1298448" cy="484997"/>
          </a:xfrm>
          <a:prstGeom prst="rect">
            <a:avLst/>
          </a:prstGeom>
          <a:noFill/>
        </p:spPr>
        <p:txBody>
          <a:bodyPr wrap="square">
            <a:spAutoFit/>
          </a:bodyPr>
          <a:lstStyle/>
          <a:p>
            <a:pPr algn="ctr"/>
            <a:r>
              <a:rPr sz="2000" b="1" i="0">
                <a:solidFill>
                  <a:srgbClr val="FFFFFF"/>
                </a:solidFill>
                <a:latin typeface="Calibri"/>
              </a:rPr>
              <a:t>523</a:t>
            </a:r>
          </a:p>
        </p:txBody>
      </p:sp>
      <p:sp>
        <p:nvSpPr>
          <p:cNvPr id="23" name="TextBox 22"/>
          <p:cNvSpPr txBox="1"/>
          <p:nvPr/>
        </p:nvSpPr>
        <p:spPr>
          <a:xfrm>
            <a:off x="4480560" y="3595786"/>
            <a:ext cx="1207007" cy="326440"/>
          </a:xfrm>
          <a:prstGeom prst="rect">
            <a:avLst/>
          </a:prstGeom>
          <a:noFill/>
        </p:spPr>
        <p:txBody>
          <a:bodyPr wrap="square">
            <a:spAutoFit/>
          </a:bodyPr>
          <a:lstStyle/>
          <a:p>
            <a:pPr algn="ctr"/>
            <a:r>
              <a:rPr sz="850" b="0" i="0">
                <a:solidFill>
                  <a:srgbClr val="FFFFFF"/>
                </a:solidFill>
                <a:latin typeface="Calibri"/>
              </a:rPr>
              <a:t>District-Level
Resolved</a:t>
            </a:r>
          </a:p>
        </p:txBody>
      </p:sp>
      <p:sp>
        <p:nvSpPr>
          <p:cNvPr id="24" name="TextBox 23"/>
          <p:cNvSpPr txBox="1"/>
          <p:nvPr/>
        </p:nvSpPr>
        <p:spPr>
          <a:xfrm>
            <a:off x="182880" y="4096512"/>
            <a:ext cx="5669280" cy="320040"/>
          </a:xfrm>
          <a:prstGeom prst="rect">
            <a:avLst/>
          </a:prstGeom>
          <a:noFill/>
        </p:spPr>
        <p:txBody>
          <a:bodyPr wrap="square">
            <a:spAutoFit/>
          </a:bodyPr>
          <a:lstStyle/>
          <a:p>
            <a:pPr algn="l"/>
            <a:r>
              <a:rPr sz="1100" b="1" i="0">
                <a:solidFill>
                  <a:srgbClr val="1E6B45"/>
                </a:solidFill>
                <a:latin typeface="Calibri"/>
              </a:rPr>
              <a:t>ASSIGNMENT SUMMARY BY CROP</a:t>
            </a:r>
          </a:p>
        </p:txBody>
      </p:sp>
      <p:graphicFrame>
        <p:nvGraphicFramePr>
          <p:cNvPr id="25" name="Table 24"/>
          <p:cNvGraphicFramePr>
            <a:graphicFrameLocks noGrp="1"/>
          </p:cNvGraphicFramePr>
          <p:nvPr/>
        </p:nvGraphicFramePr>
        <p:xfrm>
          <a:off x="182880" y="4462272"/>
          <a:ext cx="5669280" cy="1755648"/>
        </p:xfrm>
        <a:graphic>
          <a:graphicData uri="http://schemas.openxmlformats.org/drawingml/2006/table">
            <a:tbl>
              <a:tblPr firstRow="1" bandRow="1">
                <a:tableStyleId>{5C22544A-7EE6-4342-B048-85BDC9FD1C3A}</a:tableStyleId>
              </a:tblPr>
              <a:tblGrid>
                <a:gridCol w="96012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gridCol w="685800">
                  <a:extLst>
                    <a:ext uri="{9D8B030D-6E8A-4147-A177-3AD203B41FA5}">
                      <a16:colId xmlns:a16="http://schemas.microsoft.com/office/drawing/2014/main" val="20005"/>
                    </a:ext>
                  </a:extLst>
                </a:gridCol>
              </a:tblGrid>
              <a:tr h="438912">
                <a:tc>
                  <a:txBody>
                    <a:bodyPr/>
                    <a:lstStyle/>
                    <a:p>
                      <a:pPr algn="ctr"/>
                      <a:r>
                        <a:rPr sz="950" b="1">
                          <a:solidFill>
                            <a:srgbClr val="FFFFFF"/>
                          </a:solidFill>
                          <a:latin typeface="Calibri"/>
                        </a:rPr>
                        <a:t>Crop</a:t>
                      </a:r>
                    </a:p>
                  </a:txBody>
                  <a:tcPr>
                    <a:solidFill>
                      <a:srgbClr val="0D2240"/>
                    </a:solidFill>
                  </a:tcPr>
                </a:tc>
                <a:tc>
                  <a:txBody>
                    <a:bodyPr/>
                    <a:lstStyle/>
                    <a:p>
                      <a:pPr algn="ctr"/>
                      <a:r>
                        <a:rPr sz="950" b="1">
                          <a:solidFill>
                            <a:srgbClr val="FFFFFF"/>
                          </a:solidFill>
                          <a:latin typeface="Calibri"/>
                        </a:rPr>
                        <a:t>Markets</a:t>
                      </a:r>
                    </a:p>
                  </a:txBody>
                  <a:tcPr>
                    <a:solidFill>
                      <a:srgbClr val="0D2240"/>
                    </a:solidFill>
                  </a:tcPr>
                </a:tc>
                <a:tc>
                  <a:txBody>
                    <a:bodyPr/>
                    <a:lstStyle/>
                    <a:p>
                      <a:pPr algn="ctr"/>
                      <a:r>
                        <a:rPr sz="950" b="1">
                          <a:solidFill>
                            <a:srgbClr val="FFFFFF"/>
                          </a:solidFill>
                          <a:latin typeface="Calibri"/>
                        </a:rPr>
                        <a:t>Zones</a:t>
                      </a:r>
                    </a:p>
                  </a:txBody>
                  <a:tcPr>
                    <a:solidFill>
                      <a:srgbClr val="0D2240"/>
                    </a:solidFill>
                  </a:tcPr>
                </a:tc>
                <a:tc>
                  <a:txBody>
                    <a:bodyPr/>
                    <a:lstStyle/>
                    <a:p>
                      <a:pPr algn="ctr"/>
                      <a:r>
                        <a:rPr sz="950" b="1">
                          <a:solidFill>
                            <a:srgbClr val="FFFFFF"/>
                          </a:solidFill>
                          <a:latin typeface="Calibri"/>
                        </a:rPr>
                        <a:t>Mean Dist km</a:t>
                      </a:r>
                    </a:p>
                  </a:txBody>
                  <a:tcPr>
                    <a:solidFill>
                      <a:srgbClr val="0D2240"/>
                    </a:solidFill>
                  </a:tcPr>
                </a:tc>
                <a:tc>
                  <a:txBody>
                    <a:bodyPr/>
                    <a:lstStyle/>
                    <a:p>
                      <a:pPr algn="ctr"/>
                      <a:r>
                        <a:rPr sz="950" b="1">
                          <a:solidFill>
                            <a:srgbClr val="FFFFFF"/>
                          </a:solidFill>
                          <a:latin typeface="Calibri"/>
                        </a:rPr>
                        <a:t>75th Pct km</a:t>
                      </a:r>
                    </a:p>
                  </a:txBody>
                  <a:tcPr>
                    <a:solidFill>
                      <a:srgbClr val="0D2240"/>
                    </a:solidFill>
                  </a:tcPr>
                </a:tc>
                <a:tc>
                  <a:txBody>
                    <a:bodyPr/>
                    <a:lstStyle/>
                    <a:p>
                      <a:pPr algn="ctr"/>
                      <a:r>
                        <a:rPr sz="950" b="1">
                          <a:solidFill>
                            <a:srgbClr val="FFFFFF"/>
                          </a:solidFill>
                          <a:latin typeface="Calibri"/>
                        </a:rPr>
                        <a:t>Max Dist km</a:t>
                      </a:r>
                    </a:p>
                  </a:txBody>
                  <a:tcPr>
                    <a:solidFill>
                      <a:srgbClr val="0D2240"/>
                    </a:solidFill>
                  </a:tcPr>
                </a:tc>
                <a:extLst>
                  <a:ext uri="{0D108BD9-81ED-4DB2-BD59-A6C34878D82A}">
                    <a16:rowId xmlns:a16="http://schemas.microsoft.com/office/drawing/2014/main" val="10000"/>
                  </a:ext>
                </a:extLst>
              </a:tr>
              <a:tr h="438912">
                <a:tc>
                  <a:txBody>
                    <a:bodyPr/>
                    <a:lstStyle/>
                    <a:p>
                      <a:pPr algn="l"/>
                      <a:r>
                        <a:rPr sz="950">
                          <a:solidFill>
                            <a:srgbClr val="1A2E1E"/>
                          </a:solidFill>
                          <a:latin typeface="Calibri"/>
                        </a:rPr>
                        <a:t>Tomato</a:t>
                      </a:r>
                    </a:p>
                  </a:txBody>
                  <a:tcPr>
                    <a:solidFill>
                      <a:srgbClr val="FFFFFF"/>
                    </a:solidFill>
                  </a:tcPr>
                </a:tc>
                <a:tc>
                  <a:txBody>
                    <a:bodyPr/>
                    <a:lstStyle/>
                    <a:p>
                      <a:pPr algn="ctr"/>
                      <a:r>
                        <a:rPr sz="950">
                          <a:solidFill>
                            <a:srgbClr val="1A2E1E"/>
                          </a:solidFill>
                          <a:latin typeface="Calibri"/>
                        </a:rPr>
                        <a:t>1,639</a:t>
                      </a:r>
                    </a:p>
                  </a:txBody>
                  <a:tcPr>
                    <a:solidFill>
                      <a:srgbClr val="FFFFFF"/>
                    </a:solidFill>
                  </a:tcPr>
                </a:tc>
                <a:tc>
                  <a:txBody>
                    <a:bodyPr/>
                    <a:lstStyle/>
                    <a:p>
                      <a:pPr algn="ctr"/>
                      <a:r>
                        <a:rPr sz="950">
                          <a:solidFill>
                            <a:srgbClr val="1A2E1E"/>
                          </a:solidFill>
                          <a:latin typeface="Calibri"/>
                        </a:rPr>
                        <a:t>5  (T1–T5)</a:t>
                      </a:r>
                    </a:p>
                  </a:txBody>
                  <a:tcPr>
                    <a:solidFill>
                      <a:srgbClr val="FFFFFF"/>
                    </a:solidFill>
                  </a:tcPr>
                </a:tc>
                <a:tc>
                  <a:txBody>
                    <a:bodyPr/>
                    <a:lstStyle/>
                    <a:p>
                      <a:pPr algn="ctr"/>
                      <a:r>
                        <a:rPr sz="950">
                          <a:solidFill>
                            <a:srgbClr val="1A2E1E"/>
                          </a:solidFill>
                          <a:latin typeface="Calibri"/>
                        </a:rPr>
                        <a:t>546</a:t>
                      </a:r>
                    </a:p>
                  </a:txBody>
                  <a:tcPr>
                    <a:solidFill>
                      <a:srgbClr val="FFFFFF"/>
                    </a:solidFill>
                  </a:tcPr>
                </a:tc>
                <a:tc>
                  <a:txBody>
                    <a:bodyPr/>
                    <a:lstStyle/>
                    <a:p>
                      <a:pPr algn="ctr"/>
                      <a:r>
                        <a:rPr sz="950">
                          <a:solidFill>
                            <a:srgbClr val="1A2E1E"/>
                          </a:solidFill>
                          <a:latin typeface="Calibri"/>
                        </a:rPr>
                        <a:t>807</a:t>
                      </a:r>
                    </a:p>
                  </a:txBody>
                  <a:tcPr>
                    <a:solidFill>
                      <a:srgbClr val="FFFFFF"/>
                    </a:solidFill>
                  </a:tcPr>
                </a:tc>
                <a:tc>
                  <a:txBody>
                    <a:bodyPr/>
                    <a:lstStyle/>
                    <a:p>
                      <a:pPr algn="ctr"/>
                      <a:r>
                        <a:rPr sz="950">
                          <a:solidFill>
                            <a:srgbClr val="1A2E1E"/>
                          </a:solidFill>
                          <a:latin typeface="Calibri"/>
                        </a:rPr>
                        <a:t>1,432</a:t>
                      </a:r>
                    </a:p>
                  </a:txBody>
                  <a:tcPr>
                    <a:solidFill>
                      <a:srgbClr val="FFFFFF"/>
                    </a:solidFill>
                  </a:tcPr>
                </a:tc>
                <a:extLst>
                  <a:ext uri="{0D108BD9-81ED-4DB2-BD59-A6C34878D82A}">
                    <a16:rowId xmlns:a16="http://schemas.microsoft.com/office/drawing/2014/main" val="10001"/>
                  </a:ext>
                </a:extLst>
              </a:tr>
              <a:tr h="438912">
                <a:tc>
                  <a:txBody>
                    <a:bodyPr/>
                    <a:lstStyle/>
                    <a:p>
                      <a:pPr algn="l"/>
                      <a:r>
                        <a:rPr sz="950">
                          <a:solidFill>
                            <a:srgbClr val="1A2E1E"/>
                          </a:solidFill>
                          <a:latin typeface="Calibri"/>
                        </a:rPr>
                        <a:t>Onion</a:t>
                      </a:r>
                    </a:p>
                  </a:txBody>
                  <a:tcPr>
                    <a:solidFill>
                      <a:srgbClr val="F0F6F3"/>
                    </a:solidFill>
                  </a:tcPr>
                </a:tc>
                <a:tc>
                  <a:txBody>
                    <a:bodyPr/>
                    <a:lstStyle/>
                    <a:p>
                      <a:pPr algn="ctr"/>
                      <a:r>
                        <a:rPr sz="950">
                          <a:solidFill>
                            <a:srgbClr val="1A2E1E"/>
                          </a:solidFill>
                          <a:latin typeface="Calibri"/>
                        </a:rPr>
                        <a:t>882</a:t>
                      </a:r>
                    </a:p>
                  </a:txBody>
                  <a:tcPr>
                    <a:solidFill>
                      <a:srgbClr val="F0F6F3"/>
                    </a:solidFill>
                  </a:tcPr>
                </a:tc>
                <a:tc>
                  <a:txBody>
                    <a:bodyPr/>
                    <a:lstStyle/>
                    <a:p>
                      <a:pPr algn="ctr"/>
                      <a:r>
                        <a:rPr sz="950">
                          <a:solidFill>
                            <a:srgbClr val="1A2E1E"/>
                          </a:solidFill>
                          <a:latin typeface="Calibri"/>
                        </a:rPr>
                        <a:t>8  (O1–O10)</a:t>
                      </a:r>
                    </a:p>
                  </a:txBody>
                  <a:tcPr>
                    <a:solidFill>
                      <a:srgbClr val="F0F6F3"/>
                    </a:solidFill>
                  </a:tcPr>
                </a:tc>
                <a:tc>
                  <a:txBody>
                    <a:bodyPr/>
                    <a:lstStyle/>
                    <a:p>
                      <a:pPr algn="ctr"/>
                      <a:r>
                        <a:rPr sz="950">
                          <a:solidFill>
                            <a:srgbClr val="1A2E1E"/>
                          </a:solidFill>
                          <a:latin typeface="Calibri"/>
                        </a:rPr>
                        <a:t>636</a:t>
                      </a:r>
                    </a:p>
                  </a:txBody>
                  <a:tcPr>
                    <a:solidFill>
                      <a:srgbClr val="F0F6F3"/>
                    </a:solidFill>
                  </a:tcPr>
                </a:tc>
                <a:tc>
                  <a:txBody>
                    <a:bodyPr/>
                    <a:lstStyle/>
                    <a:p>
                      <a:pPr algn="ctr"/>
                      <a:r>
                        <a:rPr sz="950">
                          <a:solidFill>
                            <a:srgbClr val="1A2E1E"/>
                          </a:solidFill>
                          <a:latin typeface="Calibri"/>
                        </a:rPr>
                        <a:t>1,020</a:t>
                      </a:r>
                    </a:p>
                  </a:txBody>
                  <a:tcPr>
                    <a:solidFill>
                      <a:srgbClr val="F0F6F3"/>
                    </a:solidFill>
                  </a:tcPr>
                </a:tc>
                <a:tc>
                  <a:txBody>
                    <a:bodyPr/>
                    <a:lstStyle/>
                    <a:p>
                      <a:pPr algn="ctr"/>
                      <a:r>
                        <a:rPr sz="950">
                          <a:solidFill>
                            <a:srgbClr val="1A2E1E"/>
                          </a:solidFill>
                          <a:latin typeface="Calibri"/>
                        </a:rPr>
                        <a:t>2,246</a:t>
                      </a:r>
                    </a:p>
                  </a:txBody>
                  <a:tcPr>
                    <a:solidFill>
                      <a:srgbClr val="F0F6F3"/>
                    </a:solidFill>
                  </a:tcPr>
                </a:tc>
                <a:extLst>
                  <a:ext uri="{0D108BD9-81ED-4DB2-BD59-A6C34878D82A}">
                    <a16:rowId xmlns:a16="http://schemas.microsoft.com/office/drawing/2014/main" val="10002"/>
                  </a:ext>
                </a:extLst>
              </a:tr>
              <a:tr h="438912">
                <a:tc>
                  <a:txBody>
                    <a:bodyPr/>
                    <a:lstStyle/>
                    <a:p>
                      <a:pPr algn="l"/>
                      <a:r>
                        <a:rPr sz="950">
                          <a:solidFill>
                            <a:srgbClr val="1A2E1E"/>
                          </a:solidFill>
                          <a:latin typeface="Calibri"/>
                        </a:rPr>
                        <a:t>Potato</a:t>
                      </a:r>
                    </a:p>
                  </a:txBody>
                  <a:tcPr>
                    <a:solidFill>
                      <a:srgbClr val="FFFFFF"/>
                    </a:solidFill>
                  </a:tcPr>
                </a:tc>
                <a:tc>
                  <a:txBody>
                    <a:bodyPr/>
                    <a:lstStyle/>
                    <a:p>
                      <a:pPr algn="ctr"/>
                      <a:r>
                        <a:rPr sz="950">
                          <a:solidFill>
                            <a:srgbClr val="1A2E1E"/>
                          </a:solidFill>
                          <a:latin typeface="Calibri"/>
                        </a:rPr>
                        <a:t>86</a:t>
                      </a:r>
                    </a:p>
                  </a:txBody>
                  <a:tcPr>
                    <a:solidFill>
                      <a:srgbClr val="FFFFFF"/>
                    </a:solidFill>
                  </a:tcPr>
                </a:tc>
                <a:tc>
                  <a:txBody>
                    <a:bodyPr/>
                    <a:lstStyle/>
                    <a:p>
                      <a:pPr algn="ctr"/>
                      <a:r>
                        <a:rPr sz="950">
                          <a:solidFill>
                            <a:srgbClr val="1A2E1E"/>
                          </a:solidFill>
                          <a:latin typeface="Calibri"/>
                        </a:rPr>
                        <a:t>3  (P2/P3/P4)</a:t>
                      </a:r>
                    </a:p>
                  </a:txBody>
                  <a:tcPr>
                    <a:solidFill>
                      <a:srgbClr val="FFFFFF"/>
                    </a:solidFill>
                  </a:tcPr>
                </a:tc>
                <a:tc>
                  <a:txBody>
                    <a:bodyPr/>
                    <a:lstStyle/>
                    <a:p>
                      <a:pPr algn="ctr"/>
                      <a:r>
                        <a:rPr sz="950">
                          <a:solidFill>
                            <a:srgbClr val="1A2E1E"/>
                          </a:solidFill>
                          <a:latin typeface="Calibri"/>
                        </a:rPr>
                        <a:t>196</a:t>
                      </a:r>
                    </a:p>
                  </a:txBody>
                  <a:tcPr>
                    <a:solidFill>
                      <a:srgbClr val="FFFFFF"/>
                    </a:solidFill>
                  </a:tcPr>
                </a:tc>
                <a:tc>
                  <a:txBody>
                    <a:bodyPr/>
                    <a:lstStyle/>
                    <a:p>
                      <a:pPr algn="ctr"/>
                      <a:r>
                        <a:rPr sz="950">
                          <a:solidFill>
                            <a:srgbClr val="1A2E1E"/>
                          </a:solidFill>
                          <a:latin typeface="Calibri"/>
                        </a:rPr>
                        <a:t>258</a:t>
                      </a:r>
                    </a:p>
                  </a:txBody>
                  <a:tcPr>
                    <a:solidFill>
                      <a:srgbClr val="FFFFFF"/>
                    </a:solidFill>
                  </a:tcPr>
                </a:tc>
                <a:tc>
                  <a:txBody>
                    <a:bodyPr/>
                    <a:lstStyle/>
                    <a:p>
                      <a:pPr algn="ctr"/>
                      <a:r>
                        <a:rPr sz="950">
                          <a:solidFill>
                            <a:srgbClr val="1A2E1E"/>
                          </a:solidFill>
                          <a:latin typeface="Calibri"/>
                        </a:rPr>
                        <a:t>420</a:t>
                      </a:r>
                    </a:p>
                  </a:txBody>
                  <a:tcPr>
                    <a:solidFill>
                      <a:srgbClr val="FFFFFF"/>
                    </a:solidFill>
                  </a:tcPr>
                </a:tc>
                <a:extLst>
                  <a:ext uri="{0D108BD9-81ED-4DB2-BD59-A6C34878D82A}">
                    <a16:rowId xmlns:a16="http://schemas.microsoft.com/office/drawing/2014/main" val="10003"/>
                  </a:ext>
                </a:extLst>
              </a:tr>
            </a:tbl>
          </a:graphicData>
        </a:graphic>
      </p:graphicFrame>
      <p:sp>
        <p:nvSpPr>
          <p:cNvPr id="26" name="TextBox 25"/>
          <p:cNvSpPr txBox="1"/>
          <p:nvPr/>
        </p:nvSpPr>
        <p:spPr>
          <a:xfrm>
            <a:off x="6080760" y="1097280"/>
            <a:ext cx="5943600" cy="320040"/>
          </a:xfrm>
          <a:prstGeom prst="rect">
            <a:avLst/>
          </a:prstGeom>
          <a:noFill/>
        </p:spPr>
        <p:txBody>
          <a:bodyPr wrap="square">
            <a:spAutoFit/>
          </a:bodyPr>
          <a:lstStyle/>
          <a:p>
            <a:pPr algn="l"/>
            <a:r>
              <a:rPr sz="1100" b="1" i="0">
                <a:solidFill>
                  <a:srgbClr val="1E6B45"/>
                </a:solidFill>
                <a:latin typeface="Calibri"/>
              </a:rPr>
              <a:t>MARKET-TO-ZONE ASSIGNMENT MAP</a:t>
            </a:r>
          </a:p>
        </p:txBody>
      </p:sp>
      <p:pic>
        <p:nvPicPr>
          <p:cNvPr id="27" name="Picture 26" descr="fig_zone_assignment_map.png"/>
          <p:cNvPicPr>
            <a:picLocks noChangeAspect="1"/>
          </p:cNvPicPr>
          <p:nvPr/>
        </p:nvPicPr>
        <p:blipFill>
          <a:blip r:embed="rId3"/>
          <a:stretch>
            <a:fillRect/>
          </a:stretch>
        </p:blipFill>
        <p:spPr>
          <a:xfrm>
            <a:off x="6080760" y="1463040"/>
            <a:ext cx="5943600" cy="2743200"/>
          </a:xfrm>
          <a:prstGeom prst="rect">
            <a:avLst/>
          </a:prstGeom>
        </p:spPr>
      </p:pic>
      <p:sp>
        <p:nvSpPr>
          <p:cNvPr id="28" name="TextBox 27"/>
          <p:cNvSpPr txBox="1"/>
          <p:nvPr/>
        </p:nvSpPr>
        <p:spPr>
          <a:xfrm>
            <a:off x="6080760" y="4297680"/>
            <a:ext cx="5943600" cy="320040"/>
          </a:xfrm>
          <a:prstGeom prst="rect">
            <a:avLst/>
          </a:prstGeom>
          <a:noFill/>
        </p:spPr>
        <p:txBody>
          <a:bodyPr wrap="square">
            <a:spAutoFit/>
          </a:bodyPr>
          <a:lstStyle/>
          <a:p>
            <a:pPr algn="l"/>
            <a:r>
              <a:rPr sz="1100" b="1" i="0">
                <a:solidFill>
                  <a:srgbClr val="1E6B45"/>
                </a:solidFill>
                <a:latin typeface="Calibri"/>
              </a:rPr>
              <a:t>DISTANCE DISTRIBUTION</a:t>
            </a:r>
          </a:p>
        </p:txBody>
      </p:sp>
      <p:pic>
        <p:nvPicPr>
          <p:cNvPr id="29" name="Picture 28" descr="fig_zone_assignment_distances.png"/>
          <p:cNvPicPr>
            <a:picLocks noChangeAspect="1"/>
          </p:cNvPicPr>
          <p:nvPr/>
        </p:nvPicPr>
        <p:blipFill>
          <a:blip r:embed="rId4"/>
          <a:stretch>
            <a:fillRect/>
          </a:stretch>
        </p:blipFill>
        <p:spPr>
          <a:xfrm>
            <a:off x="6080760" y="4663440"/>
            <a:ext cx="5943600" cy="162763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64008" cy="6858000"/>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 y="0"/>
            <a:ext cx="12124944" cy="960120"/>
          </a:xfrm>
          <a:prstGeom prst="rect">
            <a:avLst/>
          </a:prstGeom>
          <a:solidFill>
            <a:srgbClr val="0D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4008" y="960120"/>
            <a:ext cx="12124944" cy="32004"/>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 y="64008"/>
            <a:ext cx="11704320" cy="475488"/>
          </a:xfrm>
          <a:prstGeom prst="rect">
            <a:avLst/>
          </a:prstGeom>
          <a:noFill/>
        </p:spPr>
        <p:txBody>
          <a:bodyPr wrap="square">
            <a:spAutoFit/>
          </a:bodyPr>
          <a:lstStyle/>
          <a:p>
            <a:pPr algn="l"/>
            <a:r>
              <a:rPr sz="2100" b="1" i="0">
                <a:solidFill>
                  <a:srgbClr val="FFFFFF"/>
                </a:solidFill>
                <a:latin typeface="Calibri"/>
              </a:rPr>
              <a:t>Critical Architecture Decision — Satellite-Climate Join Strategy</a:t>
            </a:r>
          </a:p>
        </p:txBody>
      </p:sp>
      <p:sp>
        <p:nvSpPr>
          <p:cNvPr id="6" name="TextBox 5"/>
          <p:cNvSpPr txBox="1"/>
          <p:nvPr/>
        </p:nvSpPr>
        <p:spPr>
          <a:xfrm>
            <a:off x="201168" y="548640"/>
            <a:ext cx="11704320" cy="365760"/>
          </a:xfrm>
          <a:prstGeom prst="rect">
            <a:avLst/>
          </a:prstGeom>
          <a:noFill/>
        </p:spPr>
        <p:txBody>
          <a:bodyPr wrap="square">
            <a:spAutoFit/>
          </a:bodyPr>
          <a:lstStyle/>
          <a:p>
            <a:pPr algn="l"/>
            <a:r>
              <a:rPr sz="1300" b="0" i="1">
                <a:solidFill>
                  <a:srgbClr val="C8DDD0"/>
                </a:solidFill>
                <a:latin typeface="Calibri"/>
              </a:rPr>
              <a:t>Evidence-based choice of crop-average over nearest-zone join for modelling</a:t>
            </a:r>
          </a:p>
        </p:txBody>
      </p:sp>
      <p:sp>
        <p:nvSpPr>
          <p:cNvPr id="7" name="Rectangle 6"/>
          <p:cNvSpPr/>
          <p:nvPr/>
        </p:nvSpPr>
        <p:spPr>
          <a:xfrm>
            <a:off x="0" y="6565392"/>
            <a:ext cx="12188952" cy="292608"/>
          </a:xfrm>
          <a:prstGeom prst="rect">
            <a:avLst/>
          </a:prstGeom>
          <a:solidFill>
            <a:srgbClr val="0D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01168" y="6583680"/>
            <a:ext cx="7315200" cy="237744"/>
          </a:xfrm>
          <a:prstGeom prst="rect">
            <a:avLst/>
          </a:prstGeom>
          <a:noFill/>
        </p:spPr>
        <p:txBody>
          <a:bodyPr wrap="square">
            <a:spAutoFit/>
          </a:bodyPr>
          <a:lstStyle/>
          <a:p>
            <a:pPr algn="l"/>
            <a:r>
              <a:rPr sz="850" b="0" i="0">
                <a:solidFill>
                  <a:srgbClr val="C8DDD0"/>
                </a:solidFill>
                <a:latin typeface="Calibri"/>
              </a:rPr>
              <a:t>TOP Digital Twin  ·  SKUAST-K  ·  HADP-04  ·  July 2026</a:t>
            </a:r>
          </a:p>
        </p:txBody>
      </p:sp>
      <p:sp>
        <p:nvSpPr>
          <p:cNvPr id="9" name="TextBox 8"/>
          <p:cNvSpPr txBox="1"/>
          <p:nvPr/>
        </p:nvSpPr>
        <p:spPr>
          <a:xfrm>
            <a:off x="7589520" y="6583680"/>
            <a:ext cx="4389120" cy="237744"/>
          </a:xfrm>
          <a:prstGeom prst="rect">
            <a:avLst/>
          </a:prstGeom>
          <a:noFill/>
        </p:spPr>
        <p:txBody>
          <a:bodyPr wrap="square">
            <a:spAutoFit/>
          </a:bodyPr>
          <a:lstStyle/>
          <a:p>
            <a:pPr algn="r"/>
            <a:r>
              <a:rPr sz="850" b="0" i="0">
                <a:solidFill>
                  <a:srgbClr val="C8DDD0"/>
                </a:solidFill>
                <a:latin typeface="Calibri"/>
              </a:rPr>
              <a:t>CONFIDENTIAL — PI REVIEW</a:t>
            </a:r>
          </a:p>
        </p:txBody>
      </p:sp>
      <p:sp>
        <p:nvSpPr>
          <p:cNvPr id="10" name="Rectangle 9"/>
          <p:cNvSpPr/>
          <p:nvPr/>
        </p:nvSpPr>
        <p:spPr>
          <a:xfrm>
            <a:off x="182880" y="1097280"/>
            <a:ext cx="5577840" cy="5230368"/>
          </a:xfrm>
          <a:prstGeom prst="rect">
            <a:avLst/>
          </a:prstGeom>
          <a:solidFill>
            <a:srgbClr val="F0F6F3"/>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182880" y="1097280"/>
            <a:ext cx="5577840" cy="347472"/>
          </a:xfrm>
          <a:prstGeom prst="rect">
            <a:avLst/>
          </a:prstGeom>
          <a:solidFill>
            <a:srgbClr val="9B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20040" y="1115568"/>
            <a:ext cx="5303520" cy="310896"/>
          </a:xfrm>
          <a:prstGeom prst="rect">
            <a:avLst/>
          </a:prstGeom>
          <a:noFill/>
        </p:spPr>
        <p:txBody>
          <a:bodyPr wrap="square">
            <a:spAutoFit/>
          </a:bodyPr>
          <a:lstStyle/>
          <a:p>
            <a:pPr algn="l"/>
            <a:r>
              <a:rPr sz="1100" b="1" i="0">
                <a:solidFill>
                  <a:srgbClr val="FFFFFF"/>
                </a:solidFill>
                <a:latin typeface="Calibri"/>
              </a:rPr>
              <a:t>OPTION A — Nearest-Zone Join  (rejected)</a:t>
            </a:r>
          </a:p>
        </p:txBody>
      </p:sp>
      <p:sp>
        <p:nvSpPr>
          <p:cNvPr id="13" name="TextBox 12"/>
          <p:cNvSpPr txBox="1"/>
          <p:nvPr/>
        </p:nvSpPr>
        <p:spPr>
          <a:xfrm>
            <a:off x="292608" y="1508760"/>
            <a:ext cx="5303520" cy="2286000"/>
          </a:xfrm>
          <a:prstGeom prst="rect">
            <a:avLst/>
          </a:prstGeom>
          <a:noFill/>
        </p:spPr>
        <p:txBody>
          <a:bodyPr wrap="square">
            <a:spAutoFit/>
          </a:bodyPr>
          <a:lstStyle/>
          <a:p>
            <a:pPr>
              <a:spcBef>
                <a:spcPts val="400"/>
              </a:spcBef>
            </a:pPr>
            <a:r>
              <a:rPr sz="1050">
                <a:solidFill>
                  <a:srgbClr val="1A2E1E"/>
                </a:solidFill>
                <a:latin typeface="Calibri"/>
              </a:rPr>
              <a:t>Each market joined to its nearest same-crop production zone</a:t>
            </a:r>
          </a:p>
          <a:p>
            <a:pPr>
              <a:spcBef>
                <a:spcPts val="400"/>
              </a:spcBef>
            </a:pPr>
            <a:r>
              <a:rPr sz="1050">
                <a:solidFill>
                  <a:srgbClr val="1A2E1E"/>
                </a:solidFill>
                <a:latin typeface="Calibri"/>
              </a:rPr>
              <a:t>Join key: (market_id, week_start) → (zone_id, week_start)</a:t>
            </a:r>
          </a:p>
          <a:p>
            <a:pPr>
              <a:spcBef>
                <a:spcPts val="400"/>
              </a:spcBef>
            </a:pPr>
            <a:endParaRPr sz="1050">
              <a:solidFill>
                <a:srgbClr val="1A2E1E"/>
              </a:solidFill>
              <a:latin typeface="Calibri"/>
            </a:endParaRPr>
          </a:p>
          <a:p>
            <a:pPr>
              <a:spcBef>
                <a:spcPts val="400"/>
              </a:spcBef>
            </a:pPr>
            <a:r>
              <a:rPr sz="1050">
                <a:solidFill>
                  <a:srgbClr val="1A2E1E"/>
                </a:solidFill>
                <a:latin typeface="Calibri"/>
              </a:rPr>
              <a:t>PROBLEM — Evidence from Script 16:</a:t>
            </a:r>
          </a:p>
          <a:p>
            <a:pPr>
              <a:spcBef>
                <a:spcPts val="400"/>
              </a:spcBef>
            </a:pPr>
            <a:r>
              <a:rPr sz="1050">
                <a:solidFill>
                  <a:srgbClr val="1A2E1E"/>
                </a:solidFill>
                <a:latin typeface="Calibri"/>
              </a:rPr>
              <a:t>  · Overall mean distance: 590 km</a:t>
            </a:r>
          </a:p>
          <a:p>
            <a:pPr>
              <a:spcBef>
                <a:spcPts val="400"/>
              </a:spcBef>
            </a:pPr>
            <a:r>
              <a:rPr sz="1050">
                <a:solidFill>
                  <a:srgbClr val="1A2E1E"/>
                </a:solidFill>
                <a:latin typeface="Calibri"/>
              </a:rPr>
              <a:t>  · 75th percentile: 944 km</a:t>
            </a:r>
          </a:p>
          <a:p>
            <a:pPr>
              <a:spcBef>
                <a:spcPts val="400"/>
              </a:spcBef>
            </a:pPr>
            <a:r>
              <a:rPr sz="1050">
                <a:solidFill>
                  <a:srgbClr val="1A2E1E"/>
                </a:solidFill>
                <a:latin typeface="Calibri"/>
              </a:rPr>
              <a:t>  · Onion O9_Kurnool serves markets at mean 1,084 km</a:t>
            </a:r>
          </a:p>
          <a:p>
            <a:pPr>
              <a:spcBef>
                <a:spcPts val="400"/>
              </a:spcBef>
            </a:pPr>
            <a:r>
              <a:rPr sz="1050">
                <a:solidFill>
                  <a:srgbClr val="1A2E1E"/>
                </a:solidFill>
                <a:latin typeface="Calibri"/>
              </a:rPr>
              <a:t>  · No onion zones exist in North/Northeast India</a:t>
            </a:r>
          </a:p>
          <a:p>
            <a:pPr>
              <a:spcBef>
                <a:spcPts val="400"/>
              </a:spcBef>
            </a:pPr>
            <a:r>
              <a:rPr sz="1050">
                <a:solidFill>
                  <a:srgbClr val="1A2E1E"/>
                </a:solidFill>
                <a:latin typeface="Calibri"/>
              </a:rPr>
              <a:t>  · At 1,000+ km, the zone satellite signal is NOT a local supply signal for that market</a:t>
            </a:r>
          </a:p>
          <a:p>
            <a:pPr>
              <a:spcBef>
                <a:spcPts val="400"/>
              </a:spcBef>
            </a:pPr>
            <a:endParaRPr sz="1050">
              <a:solidFill>
                <a:srgbClr val="1A2E1E"/>
              </a:solidFill>
              <a:latin typeface="Calibri"/>
            </a:endParaRPr>
          </a:p>
          <a:p>
            <a:pPr>
              <a:spcBef>
                <a:spcPts val="400"/>
              </a:spcBef>
            </a:pPr>
            <a:r>
              <a:rPr sz="1050">
                <a:solidFill>
                  <a:srgbClr val="1A2E1E"/>
                </a:solidFill>
                <a:latin typeface="Calibri"/>
              </a:rPr>
              <a:t>VERDICT: Introduces geographic correlation noise, not causal signal.</a:t>
            </a:r>
          </a:p>
          <a:p>
            <a:pPr>
              <a:spcBef>
                <a:spcPts val="400"/>
              </a:spcBef>
            </a:pPr>
            <a:r>
              <a:rPr sz="1050">
                <a:solidFill>
                  <a:srgbClr val="1A2E1E"/>
                </a:solidFill>
                <a:latin typeface="Calibri"/>
              </a:rPr>
              <a:t>A market in Patna (Bihar) does not source onion from Kurnool (AP).</a:t>
            </a:r>
          </a:p>
        </p:txBody>
      </p:sp>
      <p:sp>
        <p:nvSpPr>
          <p:cNvPr id="14" name="Rectangle 13"/>
          <p:cNvSpPr/>
          <p:nvPr/>
        </p:nvSpPr>
        <p:spPr>
          <a:xfrm>
            <a:off x="5989320" y="1097280"/>
            <a:ext cx="5943600" cy="5230368"/>
          </a:xfrm>
          <a:prstGeom prst="rect">
            <a:avLst/>
          </a:prstGeom>
          <a:solidFill>
            <a:srgbClr val="F0F6F3"/>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989320" y="1097280"/>
            <a:ext cx="5943600" cy="347472"/>
          </a:xfrm>
          <a:prstGeom prst="rect">
            <a:avLst/>
          </a:prstGeom>
          <a:solidFill>
            <a:srgbClr val="0B6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126480" y="1115568"/>
            <a:ext cx="5669280" cy="310896"/>
          </a:xfrm>
          <a:prstGeom prst="rect">
            <a:avLst/>
          </a:prstGeom>
          <a:noFill/>
        </p:spPr>
        <p:txBody>
          <a:bodyPr wrap="square">
            <a:spAutoFit/>
          </a:bodyPr>
          <a:lstStyle/>
          <a:p>
            <a:pPr algn="l"/>
            <a:r>
              <a:rPr sz="1100" b="1" i="0">
                <a:solidFill>
                  <a:srgbClr val="FFFFFF"/>
                </a:solidFill>
                <a:latin typeface="Calibri"/>
              </a:rPr>
              <a:t>OPTION B — Crop-Average Join  (CONFIRMED PRIMARY)</a:t>
            </a:r>
          </a:p>
        </p:txBody>
      </p:sp>
      <p:sp>
        <p:nvSpPr>
          <p:cNvPr id="17" name="TextBox 16"/>
          <p:cNvSpPr txBox="1"/>
          <p:nvPr/>
        </p:nvSpPr>
        <p:spPr>
          <a:xfrm>
            <a:off x="6099048" y="1508760"/>
            <a:ext cx="5669280" cy="3200400"/>
          </a:xfrm>
          <a:prstGeom prst="rect">
            <a:avLst/>
          </a:prstGeom>
          <a:noFill/>
        </p:spPr>
        <p:txBody>
          <a:bodyPr wrap="square">
            <a:spAutoFit/>
          </a:bodyPr>
          <a:lstStyle/>
          <a:p>
            <a:pPr>
              <a:spcBef>
                <a:spcPts val="400"/>
              </a:spcBef>
            </a:pPr>
            <a:r>
              <a:rPr sz="1050">
                <a:solidFill>
                  <a:srgbClr val="1A2E1E"/>
                </a:solidFill>
                <a:latin typeface="Calibri"/>
              </a:rPr>
              <a:t>Average satellite-climate features across all same-crop zones</a:t>
            </a:r>
          </a:p>
          <a:p>
            <a:pPr>
              <a:spcBef>
                <a:spcPts val="400"/>
              </a:spcBef>
            </a:pPr>
            <a:r>
              <a:rPr sz="1050">
                <a:solidFill>
                  <a:srgbClr val="1A2E1E"/>
                </a:solidFill>
                <a:latin typeface="Calibri"/>
              </a:rPr>
              <a:t>Join key: (crop, week_start)  — 3 series, one per crop</a:t>
            </a:r>
          </a:p>
          <a:p>
            <a:pPr>
              <a:spcBef>
                <a:spcPts val="400"/>
              </a:spcBef>
            </a:pPr>
            <a:endParaRPr sz="1050">
              <a:solidFill>
                <a:srgbClr val="1A2E1E"/>
              </a:solidFill>
              <a:latin typeface="Calibri"/>
            </a:endParaRPr>
          </a:p>
          <a:p>
            <a:pPr>
              <a:spcBef>
                <a:spcPts val="400"/>
              </a:spcBef>
            </a:pPr>
            <a:r>
              <a:rPr sz="1050">
                <a:solidFill>
                  <a:srgbClr val="1A2E1E"/>
                </a:solidFill>
                <a:latin typeface="Calibri"/>
              </a:rPr>
              <a:t>RATIONALE — National supply-chain integration:</a:t>
            </a:r>
          </a:p>
          <a:p>
            <a:pPr>
              <a:spcBef>
                <a:spcPts val="400"/>
              </a:spcBef>
            </a:pPr>
            <a:r>
              <a:rPr sz="1050">
                <a:solidFill>
                  <a:srgbClr val="1A2E1E"/>
                </a:solidFill>
                <a:latin typeface="Calibri"/>
              </a:rPr>
              <a:t>  · India's TOP commodity markets are NOT locally supplied</a:t>
            </a:r>
          </a:p>
          <a:p>
            <a:pPr>
              <a:spcBef>
                <a:spcPts val="400"/>
              </a:spcBef>
            </a:pPr>
            <a:r>
              <a:rPr sz="1050">
                <a:solidFill>
                  <a:srgbClr val="1A2E1E"/>
                </a:solidFill>
                <a:latin typeface="Calibri"/>
              </a:rPr>
              <a:t>  · A supply shock in any major production zone propagates</a:t>
            </a:r>
          </a:p>
          <a:p>
            <a:pPr>
              <a:spcBef>
                <a:spcPts val="400"/>
              </a:spcBef>
            </a:pPr>
            <a:r>
              <a:rPr sz="1050">
                <a:solidFill>
                  <a:srgbClr val="1A2E1E"/>
                </a:solidFill>
                <a:latin typeface="Calibri"/>
              </a:rPr>
              <a:t>    nationally through trader networks within 1–2 weeks</a:t>
            </a:r>
          </a:p>
          <a:p>
            <a:pPr>
              <a:spcBef>
                <a:spcPts val="400"/>
              </a:spcBef>
            </a:pPr>
            <a:r>
              <a:rPr sz="1050">
                <a:solidFill>
                  <a:srgbClr val="1A2E1E"/>
                </a:solidFill>
                <a:latin typeface="Calibri"/>
              </a:rPr>
              <a:t>  · Crop average captures the aggregate national supply signal</a:t>
            </a:r>
          </a:p>
          <a:p>
            <a:pPr>
              <a:spcBef>
                <a:spcPts val="400"/>
              </a:spcBef>
            </a:pPr>
            <a:r>
              <a:rPr sz="1050">
                <a:solidFill>
                  <a:srgbClr val="1A2E1E"/>
                </a:solidFill>
                <a:latin typeface="Calibri"/>
              </a:rPr>
              <a:t>    that actually drives price co-movement across markets</a:t>
            </a:r>
          </a:p>
          <a:p>
            <a:pPr>
              <a:spcBef>
                <a:spcPts val="400"/>
              </a:spcBef>
            </a:pPr>
            <a:endParaRPr sz="1050">
              <a:solidFill>
                <a:srgbClr val="1A2E1E"/>
              </a:solidFill>
              <a:latin typeface="Calibri"/>
            </a:endParaRPr>
          </a:p>
          <a:p>
            <a:pPr>
              <a:spcBef>
                <a:spcPts val="400"/>
              </a:spcBef>
            </a:pPr>
            <a:r>
              <a:rPr sz="1050">
                <a:solidFill>
                  <a:srgbClr val="1A2E1E"/>
                </a:solidFill>
                <a:latin typeface="Calibri"/>
              </a:rPr>
              <a:t>SUPPORTING EVIDENCE:</a:t>
            </a:r>
          </a:p>
          <a:p>
            <a:pPr>
              <a:spcBef>
                <a:spcPts val="400"/>
              </a:spcBef>
            </a:pPr>
            <a:r>
              <a:rPr sz="1050">
                <a:solidFill>
                  <a:srgbClr val="1A2E1E"/>
                </a:solidFill>
                <a:latin typeface="Calibri"/>
              </a:rPr>
              <a:t>  · WPI tomato/onion/potato move together nationally during crises</a:t>
            </a:r>
          </a:p>
          <a:p>
            <a:pPr>
              <a:spcBef>
                <a:spcPts val="400"/>
              </a:spcBef>
            </a:pPr>
            <a:r>
              <a:rPr sz="1050">
                <a:solidFill>
                  <a:srgbClr val="1A2E1E"/>
                </a:solidFill>
                <a:latin typeface="Calibri"/>
              </a:rPr>
              <a:t>  · 2019 onion prices rose simultaneously in all 22 states</a:t>
            </a:r>
          </a:p>
          <a:p>
            <a:pPr>
              <a:spcBef>
                <a:spcPts val="400"/>
              </a:spcBef>
            </a:pPr>
            <a:r>
              <a:rPr sz="1050">
                <a:solidFill>
                  <a:srgbClr val="1A2E1E"/>
                </a:solidFill>
                <a:latin typeface="Calibri"/>
              </a:rPr>
              <a:t>  · National mandi integration is well-documented (Ghosh 2010,</a:t>
            </a:r>
          </a:p>
          <a:p>
            <a:pPr>
              <a:spcBef>
                <a:spcPts val="400"/>
              </a:spcBef>
            </a:pPr>
            <a:r>
              <a:rPr sz="1050">
                <a:solidFill>
                  <a:srgbClr val="1A2E1E"/>
                </a:solidFill>
                <a:latin typeface="Calibri"/>
              </a:rPr>
              <a:t>    Fałkowski &amp; Jakubowski 2019, Birthal et al. 2015)</a:t>
            </a:r>
          </a:p>
        </p:txBody>
      </p:sp>
      <p:sp>
        <p:nvSpPr>
          <p:cNvPr id="18" name="Rectangle 17"/>
          <p:cNvSpPr/>
          <p:nvPr/>
        </p:nvSpPr>
        <p:spPr>
          <a:xfrm>
            <a:off x="182880" y="6400800"/>
            <a:ext cx="11750040" cy="91440"/>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82880" y="6291072"/>
            <a:ext cx="11750040" cy="274320"/>
          </a:xfrm>
          <a:prstGeom prst="rect">
            <a:avLst/>
          </a:prstGeom>
          <a:noFill/>
        </p:spPr>
        <p:txBody>
          <a:bodyPr wrap="square">
            <a:spAutoFit/>
          </a:bodyPr>
          <a:lstStyle/>
          <a:p>
            <a:pPr algn="ctr"/>
            <a:r>
              <a:rPr sz="1000" b="1" i="0">
                <a:solidFill>
                  <a:srgbClr val="14355A"/>
                </a:solidFill>
                <a:latin typeface="Calibri"/>
              </a:rPr>
              <a:t>CONFIRMED:  crop_weekly_features.csv  joined on  (crop, week_start)  =  PRIMARY modelling join.  market_zone_features.csv  =  robustness check only (supplementary material).</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64008" cy="6858000"/>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 y="0"/>
            <a:ext cx="12124944" cy="960120"/>
          </a:xfrm>
          <a:prstGeom prst="rect">
            <a:avLst/>
          </a:prstGeom>
          <a:solidFill>
            <a:srgbClr val="0D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4008" y="960120"/>
            <a:ext cx="12124944" cy="32004"/>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 y="64008"/>
            <a:ext cx="11704320" cy="475488"/>
          </a:xfrm>
          <a:prstGeom prst="rect">
            <a:avLst/>
          </a:prstGeom>
          <a:noFill/>
        </p:spPr>
        <p:txBody>
          <a:bodyPr wrap="square">
            <a:spAutoFit/>
          </a:bodyPr>
          <a:lstStyle/>
          <a:p>
            <a:pPr algn="l"/>
            <a:r>
              <a:rPr sz="2100" b="1" i="0">
                <a:solidFill>
                  <a:srgbClr val="FFFFFF"/>
                </a:solidFill>
                <a:latin typeface="Calibri"/>
              </a:rPr>
              <a:t>Module B — Price Forecasting Model</a:t>
            </a:r>
          </a:p>
        </p:txBody>
      </p:sp>
      <p:sp>
        <p:nvSpPr>
          <p:cNvPr id="6" name="TextBox 5"/>
          <p:cNvSpPr txBox="1"/>
          <p:nvPr/>
        </p:nvSpPr>
        <p:spPr>
          <a:xfrm>
            <a:off x="201168" y="548640"/>
            <a:ext cx="11704320" cy="365760"/>
          </a:xfrm>
          <a:prstGeom prst="rect">
            <a:avLst/>
          </a:prstGeom>
          <a:noFill/>
        </p:spPr>
        <p:txBody>
          <a:bodyPr wrap="square">
            <a:spAutoFit/>
          </a:bodyPr>
          <a:lstStyle/>
          <a:p>
            <a:pPr algn="l"/>
            <a:r>
              <a:rPr sz="1300" b="0" i="1">
                <a:solidFill>
                  <a:srgbClr val="C8DDD0"/>
                </a:solidFill>
                <a:latin typeface="Calibri"/>
              </a:rPr>
              <a:t>LightGBM with rolling-origin CV · 4 forecast horizons · Spike classifier · SHAP attribution</a:t>
            </a:r>
          </a:p>
        </p:txBody>
      </p:sp>
      <p:sp>
        <p:nvSpPr>
          <p:cNvPr id="7" name="Rectangle 6"/>
          <p:cNvSpPr/>
          <p:nvPr/>
        </p:nvSpPr>
        <p:spPr>
          <a:xfrm>
            <a:off x="0" y="6565392"/>
            <a:ext cx="12188952" cy="292608"/>
          </a:xfrm>
          <a:prstGeom prst="rect">
            <a:avLst/>
          </a:prstGeom>
          <a:solidFill>
            <a:srgbClr val="0D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01168" y="6583680"/>
            <a:ext cx="7315200" cy="237744"/>
          </a:xfrm>
          <a:prstGeom prst="rect">
            <a:avLst/>
          </a:prstGeom>
          <a:noFill/>
        </p:spPr>
        <p:txBody>
          <a:bodyPr wrap="square">
            <a:spAutoFit/>
          </a:bodyPr>
          <a:lstStyle/>
          <a:p>
            <a:pPr algn="l"/>
            <a:r>
              <a:rPr sz="850" b="0" i="0">
                <a:solidFill>
                  <a:srgbClr val="C8DDD0"/>
                </a:solidFill>
                <a:latin typeface="Calibri"/>
              </a:rPr>
              <a:t>TOP Digital Twin  ·  SKUAST-K  ·  HADP-04  ·  July 2026</a:t>
            </a:r>
          </a:p>
        </p:txBody>
      </p:sp>
      <p:sp>
        <p:nvSpPr>
          <p:cNvPr id="9" name="TextBox 8"/>
          <p:cNvSpPr txBox="1"/>
          <p:nvPr/>
        </p:nvSpPr>
        <p:spPr>
          <a:xfrm>
            <a:off x="7589520" y="6583680"/>
            <a:ext cx="4389120" cy="237744"/>
          </a:xfrm>
          <a:prstGeom prst="rect">
            <a:avLst/>
          </a:prstGeom>
          <a:noFill/>
        </p:spPr>
        <p:txBody>
          <a:bodyPr wrap="square">
            <a:spAutoFit/>
          </a:bodyPr>
          <a:lstStyle/>
          <a:p>
            <a:pPr algn="r"/>
            <a:r>
              <a:rPr sz="850" b="0" i="0">
                <a:solidFill>
                  <a:srgbClr val="C8DDD0"/>
                </a:solidFill>
                <a:latin typeface="Calibri"/>
              </a:rPr>
              <a:t>CONFIDENTIAL — PI REVIEW</a:t>
            </a:r>
          </a:p>
        </p:txBody>
      </p:sp>
      <p:sp>
        <p:nvSpPr>
          <p:cNvPr id="10" name="TextBox 9"/>
          <p:cNvSpPr txBox="1"/>
          <p:nvPr/>
        </p:nvSpPr>
        <p:spPr>
          <a:xfrm>
            <a:off x="182880" y="1035398"/>
            <a:ext cx="5303520" cy="320040"/>
          </a:xfrm>
          <a:prstGeom prst="rect">
            <a:avLst/>
          </a:prstGeom>
          <a:noFill/>
        </p:spPr>
        <p:txBody>
          <a:bodyPr wrap="square">
            <a:spAutoFit/>
          </a:bodyPr>
          <a:lstStyle/>
          <a:p>
            <a:pPr algn="l"/>
            <a:r>
              <a:rPr sz="1100" b="1" i="0">
                <a:solidFill>
                  <a:srgbClr val="1E6B45"/>
                </a:solidFill>
                <a:latin typeface="Calibri"/>
              </a:rPr>
              <a:t>MODEL DESIGN  (Script 12 — 472 lines)</a:t>
            </a:r>
          </a:p>
        </p:txBody>
      </p:sp>
      <p:sp>
        <p:nvSpPr>
          <p:cNvPr id="11" name="TextBox 10"/>
          <p:cNvSpPr txBox="1"/>
          <p:nvPr/>
        </p:nvSpPr>
        <p:spPr>
          <a:xfrm>
            <a:off x="201168" y="1229391"/>
            <a:ext cx="4639056" cy="2318583"/>
          </a:xfrm>
          <a:prstGeom prst="rect">
            <a:avLst/>
          </a:prstGeom>
          <a:noFill/>
        </p:spPr>
        <p:txBody>
          <a:bodyPr wrap="square">
            <a:spAutoFit/>
          </a:bodyPr>
          <a:lstStyle/>
          <a:p>
            <a:pPr>
              <a:spcBef>
                <a:spcPts val="400"/>
              </a:spcBef>
            </a:pPr>
            <a:r>
              <a:rPr sz="900" dirty="0">
                <a:solidFill>
                  <a:srgbClr val="1A2E1E"/>
                </a:solidFill>
                <a:latin typeface="Calibri"/>
              </a:rPr>
              <a:t>ALGORITHM:  </a:t>
            </a:r>
            <a:r>
              <a:rPr sz="900" dirty="0" err="1">
                <a:solidFill>
                  <a:srgbClr val="1A2E1E"/>
                </a:solidFill>
                <a:latin typeface="Calibri"/>
              </a:rPr>
              <a:t>LightGBM</a:t>
            </a:r>
            <a:r>
              <a:rPr sz="900" dirty="0">
                <a:solidFill>
                  <a:srgbClr val="1A2E1E"/>
                </a:solidFill>
                <a:latin typeface="Calibri"/>
              </a:rPr>
              <a:t> (gradient-boosted decision trees)</a:t>
            </a:r>
          </a:p>
          <a:p>
            <a:pPr>
              <a:spcBef>
                <a:spcPts val="400"/>
              </a:spcBef>
            </a:pPr>
            <a:r>
              <a:rPr sz="900" dirty="0">
                <a:solidFill>
                  <a:srgbClr val="1A2E1E"/>
                </a:solidFill>
                <a:latin typeface="Calibri"/>
              </a:rPr>
              <a:t>  ·  Handles mixed data types, missing values, and non-linear interactions natively</a:t>
            </a:r>
          </a:p>
          <a:p>
            <a:pPr>
              <a:spcBef>
                <a:spcPts val="400"/>
              </a:spcBef>
            </a:pPr>
            <a:r>
              <a:rPr sz="900" dirty="0">
                <a:solidFill>
                  <a:srgbClr val="1A2E1E"/>
                </a:solidFill>
                <a:latin typeface="Calibri"/>
              </a:rPr>
              <a:t>  ·  Validated for agricultural time-series at scale (Xiong et al. 2022, Kumar et al. 2024)</a:t>
            </a:r>
          </a:p>
          <a:p>
            <a:pPr>
              <a:spcBef>
                <a:spcPts val="400"/>
              </a:spcBef>
            </a:pPr>
            <a:r>
              <a:rPr sz="900" dirty="0">
                <a:solidFill>
                  <a:srgbClr val="1A2E1E"/>
                </a:solidFill>
                <a:latin typeface="Calibri"/>
              </a:rPr>
              <a:t>TARGET:  log(</a:t>
            </a:r>
            <a:r>
              <a:rPr sz="900" dirty="0" err="1">
                <a:solidFill>
                  <a:srgbClr val="1A2E1E"/>
                </a:solidFill>
                <a:latin typeface="Calibri"/>
              </a:rPr>
              <a:t>modal_price</a:t>
            </a:r>
            <a:r>
              <a:rPr sz="900" dirty="0">
                <a:solidFill>
                  <a:srgbClr val="1A2E1E"/>
                </a:solidFill>
                <a:latin typeface="Calibri"/>
              </a:rPr>
              <a:t> + 1) per market per week</a:t>
            </a:r>
          </a:p>
          <a:p>
            <a:pPr>
              <a:spcBef>
                <a:spcPts val="400"/>
              </a:spcBef>
            </a:pPr>
            <a:r>
              <a:rPr sz="900" dirty="0">
                <a:solidFill>
                  <a:srgbClr val="1A2E1E"/>
                </a:solidFill>
                <a:latin typeface="Calibri"/>
              </a:rPr>
              <a:t>  ·  Log transform addresses extreme right skew of price distributions</a:t>
            </a:r>
          </a:p>
          <a:p>
            <a:pPr>
              <a:spcBef>
                <a:spcPts val="400"/>
              </a:spcBef>
            </a:pPr>
            <a:r>
              <a:rPr sz="900" dirty="0">
                <a:solidFill>
                  <a:srgbClr val="1A2E1E"/>
                </a:solidFill>
                <a:latin typeface="Calibri"/>
              </a:rPr>
              <a:t>  ·  Back-transformed for evaluation in original Rs/quintal units</a:t>
            </a:r>
            <a:endParaRPr lang="en-IN" sz="900" dirty="0">
              <a:solidFill>
                <a:srgbClr val="1A2E1E"/>
              </a:solidFill>
              <a:latin typeface="Calibri"/>
            </a:endParaRPr>
          </a:p>
          <a:p>
            <a:pPr>
              <a:spcBef>
                <a:spcPts val="400"/>
              </a:spcBef>
            </a:pPr>
            <a:r>
              <a:rPr sz="900" dirty="0">
                <a:solidFill>
                  <a:srgbClr val="1A2E1E"/>
                </a:solidFill>
                <a:latin typeface="Calibri"/>
              </a:rPr>
              <a:t>FORECAST HORIZONS:  h = 1, 2, 4, 8 weeks ahead</a:t>
            </a:r>
          </a:p>
          <a:p>
            <a:pPr>
              <a:spcBef>
                <a:spcPts val="400"/>
              </a:spcBef>
            </a:pPr>
            <a:r>
              <a:rPr sz="900" dirty="0">
                <a:solidFill>
                  <a:srgbClr val="1A2E1E"/>
                </a:solidFill>
                <a:latin typeface="Calibri"/>
              </a:rPr>
              <a:t>  ·  Separate model trained per horizon per crop</a:t>
            </a:r>
          </a:p>
          <a:p>
            <a:pPr>
              <a:spcBef>
                <a:spcPts val="400"/>
              </a:spcBef>
            </a:pPr>
            <a:r>
              <a:rPr sz="900" dirty="0">
                <a:solidFill>
                  <a:srgbClr val="1A2E1E"/>
                </a:solidFill>
                <a:latin typeface="Calibri"/>
              </a:rPr>
              <a:t>  ·  Horizon-stratified evaluation (RMSE, MAPE, R²)</a:t>
            </a:r>
          </a:p>
          <a:p>
            <a:pPr>
              <a:spcBef>
                <a:spcPts val="400"/>
              </a:spcBef>
            </a:pPr>
            <a:r>
              <a:rPr sz="900" dirty="0">
                <a:solidFill>
                  <a:srgbClr val="1A2E1E"/>
                </a:solidFill>
                <a:latin typeface="Calibri"/>
              </a:rPr>
              <a:t>SPIKE CLASSIFIER:  Binary target: price &gt; 1.5× rolling 8-week median</a:t>
            </a:r>
          </a:p>
          <a:p>
            <a:pPr>
              <a:spcBef>
                <a:spcPts val="400"/>
              </a:spcBef>
            </a:pPr>
            <a:r>
              <a:rPr sz="900" dirty="0">
                <a:solidFill>
                  <a:srgbClr val="1A2E1E"/>
                </a:solidFill>
                <a:latin typeface="Calibri"/>
              </a:rPr>
              <a:t>  ·  Evaluated with ROC-AUC and precision-recall curves</a:t>
            </a:r>
          </a:p>
          <a:p>
            <a:pPr>
              <a:spcBef>
                <a:spcPts val="400"/>
              </a:spcBef>
            </a:pPr>
            <a:r>
              <a:rPr sz="900" dirty="0">
                <a:solidFill>
                  <a:srgbClr val="1A2E1E"/>
                </a:solidFill>
                <a:latin typeface="Calibri"/>
              </a:rPr>
              <a:t>  ·  Critical for early-warning policy applications</a:t>
            </a:r>
          </a:p>
        </p:txBody>
      </p:sp>
      <p:sp>
        <p:nvSpPr>
          <p:cNvPr id="12" name="TextBox 11"/>
          <p:cNvSpPr txBox="1"/>
          <p:nvPr/>
        </p:nvSpPr>
        <p:spPr>
          <a:xfrm>
            <a:off x="182880" y="3611880"/>
            <a:ext cx="5303520" cy="320040"/>
          </a:xfrm>
          <a:prstGeom prst="rect">
            <a:avLst/>
          </a:prstGeom>
          <a:noFill/>
        </p:spPr>
        <p:txBody>
          <a:bodyPr wrap="square">
            <a:spAutoFit/>
          </a:bodyPr>
          <a:lstStyle/>
          <a:p>
            <a:pPr algn="l"/>
            <a:r>
              <a:rPr sz="1100" b="1" i="0">
                <a:solidFill>
                  <a:srgbClr val="1E6B45"/>
                </a:solidFill>
                <a:latin typeface="Calibri"/>
              </a:rPr>
              <a:t>FEATURE GROUPS</a:t>
            </a:r>
          </a:p>
        </p:txBody>
      </p:sp>
      <p:sp>
        <p:nvSpPr>
          <p:cNvPr id="13" name="Rectangle 12"/>
          <p:cNvSpPr/>
          <p:nvPr/>
        </p:nvSpPr>
        <p:spPr>
          <a:xfrm>
            <a:off x="182880" y="3977639"/>
            <a:ext cx="1508760" cy="365760"/>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56032" y="4041648"/>
            <a:ext cx="1417320" cy="256032"/>
          </a:xfrm>
          <a:prstGeom prst="rect">
            <a:avLst/>
          </a:prstGeom>
          <a:noFill/>
        </p:spPr>
        <p:txBody>
          <a:bodyPr wrap="square">
            <a:spAutoFit/>
          </a:bodyPr>
          <a:lstStyle/>
          <a:p>
            <a:pPr algn="l"/>
            <a:r>
              <a:rPr sz="950" b="1" i="0">
                <a:solidFill>
                  <a:srgbClr val="FFFFFF"/>
                </a:solidFill>
                <a:latin typeface="Calibri"/>
              </a:rPr>
              <a:t>Price Lags</a:t>
            </a:r>
          </a:p>
        </p:txBody>
      </p:sp>
      <p:sp>
        <p:nvSpPr>
          <p:cNvPr id="15" name="TextBox 14"/>
          <p:cNvSpPr txBox="1"/>
          <p:nvPr/>
        </p:nvSpPr>
        <p:spPr>
          <a:xfrm>
            <a:off x="1828800" y="4096512"/>
            <a:ext cx="3611880" cy="256032"/>
          </a:xfrm>
          <a:prstGeom prst="rect">
            <a:avLst/>
          </a:prstGeom>
          <a:noFill/>
        </p:spPr>
        <p:txBody>
          <a:bodyPr wrap="square">
            <a:spAutoFit/>
          </a:bodyPr>
          <a:lstStyle/>
          <a:p>
            <a:pPr algn="l"/>
            <a:r>
              <a:rPr sz="950" b="0" i="0" dirty="0">
                <a:solidFill>
                  <a:srgbClr val="1A2E1E"/>
                </a:solidFill>
                <a:latin typeface="Calibri"/>
              </a:rPr>
              <a:t>lag_1, lag_2, lag_4, lag_8 weeks · rolling mean/std (4wk, 8wk)</a:t>
            </a:r>
          </a:p>
        </p:txBody>
      </p:sp>
      <p:sp>
        <p:nvSpPr>
          <p:cNvPr id="16" name="Rectangle 15"/>
          <p:cNvSpPr/>
          <p:nvPr/>
        </p:nvSpPr>
        <p:spPr>
          <a:xfrm>
            <a:off x="182880" y="4398264"/>
            <a:ext cx="1508760" cy="365760"/>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56032" y="4462272"/>
            <a:ext cx="1417320" cy="256032"/>
          </a:xfrm>
          <a:prstGeom prst="rect">
            <a:avLst/>
          </a:prstGeom>
          <a:noFill/>
        </p:spPr>
        <p:txBody>
          <a:bodyPr wrap="square">
            <a:spAutoFit/>
          </a:bodyPr>
          <a:lstStyle/>
          <a:p>
            <a:pPr algn="l"/>
            <a:r>
              <a:rPr sz="950" b="1" i="0">
                <a:solidFill>
                  <a:srgbClr val="FFFFFF"/>
                </a:solidFill>
                <a:latin typeface="Calibri"/>
              </a:rPr>
              <a:t>Seasonality</a:t>
            </a:r>
          </a:p>
        </p:txBody>
      </p:sp>
      <p:sp>
        <p:nvSpPr>
          <p:cNvPr id="18" name="TextBox 17"/>
          <p:cNvSpPr txBox="1"/>
          <p:nvPr/>
        </p:nvSpPr>
        <p:spPr>
          <a:xfrm>
            <a:off x="1828800" y="4462272"/>
            <a:ext cx="3611880" cy="256032"/>
          </a:xfrm>
          <a:prstGeom prst="rect">
            <a:avLst/>
          </a:prstGeom>
          <a:noFill/>
        </p:spPr>
        <p:txBody>
          <a:bodyPr wrap="square">
            <a:spAutoFit/>
          </a:bodyPr>
          <a:lstStyle/>
          <a:p>
            <a:pPr algn="l"/>
            <a:r>
              <a:rPr sz="950" b="0" i="0">
                <a:solidFill>
                  <a:srgbClr val="1A2E1E"/>
                </a:solidFill>
                <a:latin typeface="Calibri"/>
              </a:rPr>
              <a:t>ISO week-of-year · month · crop-season dummies</a:t>
            </a:r>
          </a:p>
        </p:txBody>
      </p:sp>
      <p:sp>
        <p:nvSpPr>
          <p:cNvPr id="19" name="Rectangle 18"/>
          <p:cNvSpPr/>
          <p:nvPr/>
        </p:nvSpPr>
        <p:spPr>
          <a:xfrm>
            <a:off x="182880" y="4818888"/>
            <a:ext cx="1508760" cy="365760"/>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56032" y="4882896"/>
            <a:ext cx="1417320" cy="256032"/>
          </a:xfrm>
          <a:prstGeom prst="rect">
            <a:avLst/>
          </a:prstGeom>
          <a:noFill/>
        </p:spPr>
        <p:txBody>
          <a:bodyPr wrap="square">
            <a:spAutoFit/>
          </a:bodyPr>
          <a:lstStyle/>
          <a:p>
            <a:pPr algn="l"/>
            <a:r>
              <a:rPr sz="950" b="1" i="0">
                <a:solidFill>
                  <a:srgbClr val="FFFFFF"/>
                </a:solidFill>
                <a:latin typeface="Calibri"/>
              </a:rPr>
              <a:t>Market Identity</a:t>
            </a:r>
          </a:p>
        </p:txBody>
      </p:sp>
      <p:sp>
        <p:nvSpPr>
          <p:cNvPr id="21" name="TextBox 20"/>
          <p:cNvSpPr txBox="1"/>
          <p:nvPr/>
        </p:nvSpPr>
        <p:spPr>
          <a:xfrm>
            <a:off x="1828800" y="4882896"/>
            <a:ext cx="3611880" cy="256032"/>
          </a:xfrm>
          <a:prstGeom prst="rect">
            <a:avLst/>
          </a:prstGeom>
          <a:noFill/>
        </p:spPr>
        <p:txBody>
          <a:bodyPr wrap="square">
            <a:spAutoFit/>
          </a:bodyPr>
          <a:lstStyle/>
          <a:p>
            <a:pPr algn="l"/>
            <a:r>
              <a:rPr sz="950" b="0" i="0">
                <a:solidFill>
                  <a:srgbClr val="1A2E1E"/>
                </a:solidFill>
                <a:latin typeface="Calibri"/>
              </a:rPr>
              <a:t>Market FE · State FE · Crop</a:t>
            </a:r>
          </a:p>
        </p:txBody>
      </p:sp>
      <p:sp>
        <p:nvSpPr>
          <p:cNvPr id="22" name="Rectangle 21"/>
          <p:cNvSpPr/>
          <p:nvPr/>
        </p:nvSpPr>
        <p:spPr>
          <a:xfrm>
            <a:off x="182880" y="5239512"/>
            <a:ext cx="1508760" cy="365760"/>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56032" y="5303520"/>
            <a:ext cx="1417320" cy="256032"/>
          </a:xfrm>
          <a:prstGeom prst="rect">
            <a:avLst/>
          </a:prstGeom>
          <a:noFill/>
        </p:spPr>
        <p:txBody>
          <a:bodyPr wrap="square">
            <a:spAutoFit/>
          </a:bodyPr>
          <a:lstStyle/>
          <a:p>
            <a:pPr algn="l"/>
            <a:r>
              <a:rPr sz="950" b="1" i="0">
                <a:solidFill>
                  <a:srgbClr val="FFFFFF"/>
                </a:solidFill>
                <a:latin typeface="Calibri"/>
              </a:rPr>
              <a:t>Macro (L4)</a:t>
            </a:r>
          </a:p>
        </p:txBody>
      </p:sp>
      <p:sp>
        <p:nvSpPr>
          <p:cNvPr id="24" name="TextBox 23"/>
          <p:cNvSpPr txBox="1"/>
          <p:nvPr/>
        </p:nvSpPr>
        <p:spPr>
          <a:xfrm>
            <a:off x="1828800" y="5303520"/>
            <a:ext cx="3611880" cy="256032"/>
          </a:xfrm>
          <a:prstGeom prst="rect">
            <a:avLst/>
          </a:prstGeom>
          <a:noFill/>
        </p:spPr>
        <p:txBody>
          <a:bodyPr wrap="square">
            <a:spAutoFit/>
          </a:bodyPr>
          <a:lstStyle/>
          <a:p>
            <a:pPr algn="l"/>
            <a:r>
              <a:rPr sz="950" b="0" i="0">
                <a:solidFill>
                  <a:srgbClr val="1A2E1E"/>
                </a:solidFill>
                <a:latin typeface="Calibri"/>
              </a:rPr>
              <a:t>Diesel · LPG · Repo rate · WPI crop-specific · USD-INR</a:t>
            </a:r>
          </a:p>
        </p:txBody>
      </p:sp>
      <p:sp>
        <p:nvSpPr>
          <p:cNvPr id="25" name="Rectangle 24"/>
          <p:cNvSpPr/>
          <p:nvPr/>
        </p:nvSpPr>
        <p:spPr>
          <a:xfrm>
            <a:off x="182880" y="5660136"/>
            <a:ext cx="1508760" cy="365760"/>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56032" y="5724144"/>
            <a:ext cx="1417320" cy="256032"/>
          </a:xfrm>
          <a:prstGeom prst="rect">
            <a:avLst/>
          </a:prstGeom>
          <a:noFill/>
        </p:spPr>
        <p:txBody>
          <a:bodyPr wrap="square">
            <a:spAutoFit/>
          </a:bodyPr>
          <a:lstStyle/>
          <a:p>
            <a:pPr algn="l"/>
            <a:r>
              <a:rPr sz="950" b="1" i="0">
                <a:solidFill>
                  <a:srgbClr val="FFFFFF"/>
                </a:solidFill>
                <a:latin typeface="Calibri"/>
              </a:rPr>
              <a:t>Satellite (L2)</a:t>
            </a:r>
          </a:p>
        </p:txBody>
      </p:sp>
      <p:sp>
        <p:nvSpPr>
          <p:cNvPr id="27" name="TextBox 26"/>
          <p:cNvSpPr txBox="1"/>
          <p:nvPr/>
        </p:nvSpPr>
        <p:spPr>
          <a:xfrm>
            <a:off x="1828800" y="5724144"/>
            <a:ext cx="3611880" cy="256032"/>
          </a:xfrm>
          <a:prstGeom prst="rect">
            <a:avLst/>
          </a:prstGeom>
          <a:noFill/>
        </p:spPr>
        <p:txBody>
          <a:bodyPr wrap="square">
            <a:spAutoFit/>
          </a:bodyPr>
          <a:lstStyle/>
          <a:p>
            <a:pPr algn="l"/>
            <a:r>
              <a:rPr sz="950" b="0" i="0">
                <a:solidFill>
                  <a:srgbClr val="1A2E1E"/>
                </a:solidFill>
                <a:latin typeface="Calibri"/>
              </a:rPr>
              <a:t>NDVI · EVI · NDVI_anomaly · valid_px_frac</a:t>
            </a:r>
          </a:p>
        </p:txBody>
      </p:sp>
      <p:sp>
        <p:nvSpPr>
          <p:cNvPr id="28" name="Rectangle 27"/>
          <p:cNvSpPr/>
          <p:nvPr/>
        </p:nvSpPr>
        <p:spPr>
          <a:xfrm>
            <a:off x="182880" y="6080760"/>
            <a:ext cx="1508760" cy="365760"/>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56032" y="6144768"/>
            <a:ext cx="1417320" cy="256032"/>
          </a:xfrm>
          <a:prstGeom prst="rect">
            <a:avLst/>
          </a:prstGeom>
          <a:noFill/>
        </p:spPr>
        <p:txBody>
          <a:bodyPr wrap="square">
            <a:spAutoFit/>
          </a:bodyPr>
          <a:lstStyle/>
          <a:p>
            <a:pPr algn="l"/>
            <a:r>
              <a:rPr sz="950" b="1" i="0">
                <a:solidFill>
                  <a:srgbClr val="FFFFFF"/>
                </a:solidFill>
                <a:latin typeface="Calibri"/>
              </a:rPr>
              <a:t>Climate (L3)</a:t>
            </a:r>
          </a:p>
        </p:txBody>
      </p:sp>
      <p:sp>
        <p:nvSpPr>
          <p:cNvPr id="30" name="TextBox 29"/>
          <p:cNvSpPr txBox="1"/>
          <p:nvPr/>
        </p:nvSpPr>
        <p:spPr>
          <a:xfrm>
            <a:off x="1828800" y="6144768"/>
            <a:ext cx="3611880" cy="256032"/>
          </a:xfrm>
          <a:prstGeom prst="rect">
            <a:avLst/>
          </a:prstGeom>
          <a:noFill/>
        </p:spPr>
        <p:txBody>
          <a:bodyPr wrap="square">
            <a:spAutoFit/>
          </a:bodyPr>
          <a:lstStyle/>
          <a:p>
            <a:pPr algn="l"/>
            <a:r>
              <a:rPr sz="950" b="0" i="0">
                <a:solidFill>
                  <a:srgbClr val="1A2E1E"/>
                </a:solidFill>
                <a:latin typeface="Calibri"/>
              </a:rPr>
              <a:t>Tmax · heat_days_35 · rain_weekly · frac_excess · LST_mean</a:t>
            </a:r>
          </a:p>
        </p:txBody>
      </p:sp>
      <p:sp>
        <p:nvSpPr>
          <p:cNvPr id="31" name="TextBox 30"/>
          <p:cNvSpPr txBox="1"/>
          <p:nvPr/>
        </p:nvSpPr>
        <p:spPr>
          <a:xfrm>
            <a:off x="5897880" y="1097280"/>
            <a:ext cx="6126480" cy="320040"/>
          </a:xfrm>
          <a:prstGeom prst="rect">
            <a:avLst/>
          </a:prstGeom>
          <a:noFill/>
        </p:spPr>
        <p:txBody>
          <a:bodyPr wrap="square">
            <a:spAutoFit/>
          </a:bodyPr>
          <a:lstStyle/>
          <a:p>
            <a:pPr algn="l"/>
            <a:r>
              <a:rPr sz="1100" b="1" i="0">
                <a:solidFill>
                  <a:srgbClr val="1E6B45"/>
                </a:solidFill>
                <a:latin typeface="Calibri"/>
              </a:rPr>
              <a:t>SHAP FEATURE IMPORTANCE — TOMATO</a:t>
            </a:r>
          </a:p>
        </p:txBody>
      </p:sp>
      <p:pic>
        <p:nvPicPr>
          <p:cNvPr id="32" name="Picture 31" descr="fig_shap_tomato.png"/>
          <p:cNvPicPr>
            <a:picLocks noChangeAspect="1"/>
          </p:cNvPicPr>
          <p:nvPr/>
        </p:nvPicPr>
        <p:blipFill>
          <a:blip r:embed="rId3"/>
          <a:stretch>
            <a:fillRect/>
          </a:stretch>
        </p:blipFill>
        <p:spPr>
          <a:xfrm>
            <a:off x="5897880" y="1463040"/>
            <a:ext cx="6126480" cy="2286000"/>
          </a:xfrm>
          <a:prstGeom prst="rect">
            <a:avLst/>
          </a:prstGeom>
        </p:spPr>
      </p:pic>
      <p:sp>
        <p:nvSpPr>
          <p:cNvPr id="33" name="TextBox 32"/>
          <p:cNvSpPr txBox="1"/>
          <p:nvPr/>
        </p:nvSpPr>
        <p:spPr>
          <a:xfrm>
            <a:off x="5897880" y="3840480"/>
            <a:ext cx="6126480" cy="320040"/>
          </a:xfrm>
          <a:prstGeom prst="rect">
            <a:avLst/>
          </a:prstGeom>
          <a:noFill/>
        </p:spPr>
        <p:txBody>
          <a:bodyPr wrap="square">
            <a:spAutoFit/>
          </a:bodyPr>
          <a:lstStyle/>
          <a:p>
            <a:pPr algn="l"/>
            <a:r>
              <a:rPr sz="1100" b="1" i="0">
                <a:solidFill>
                  <a:srgbClr val="1E6B45"/>
                </a:solidFill>
                <a:latin typeface="Calibri"/>
              </a:rPr>
              <a:t>ROLLING-ORIGIN CV PERFORMANCE</a:t>
            </a:r>
          </a:p>
        </p:txBody>
      </p:sp>
      <p:pic>
        <p:nvPicPr>
          <p:cNvPr id="34" name="Picture 33" descr="fig_rolling_origin_rmse.png"/>
          <p:cNvPicPr>
            <a:picLocks noChangeAspect="1"/>
          </p:cNvPicPr>
          <p:nvPr/>
        </p:nvPicPr>
        <p:blipFill>
          <a:blip r:embed="rId4"/>
          <a:stretch>
            <a:fillRect/>
          </a:stretch>
        </p:blipFill>
        <p:spPr>
          <a:xfrm>
            <a:off x="5897880" y="4206240"/>
            <a:ext cx="2926080" cy="2084831"/>
          </a:xfrm>
          <a:prstGeom prst="rect">
            <a:avLst/>
          </a:prstGeom>
        </p:spPr>
      </p:pic>
      <p:pic>
        <p:nvPicPr>
          <p:cNvPr id="35" name="Picture 34" descr="fig_horizon_r2.png"/>
          <p:cNvPicPr>
            <a:picLocks noChangeAspect="1"/>
          </p:cNvPicPr>
          <p:nvPr/>
        </p:nvPicPr>
        <p:blipFill>
          <a:blip r:embed="rId5"/>
          <a:stretch>
            <a:fillRect/>
          </a:stretch>
        </p:blipFill>
        <p:spPr>
          <a:xfrm>
            <a:off x="8915400" y="4206240"/>
            <a:ext cx="3108960" cy="2084831"/>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64008" cy="6858000"/>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 y="0"/>
            <a:ext cx="12124944" cy="960120"/>
          </a:xfrm>
          <a:prstGeom prst="rect">
            <a:avLst/>
          </a:prstGeom>
          <a:solidFill>
            <a:srgbClr val="0D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4008" y="960120"/>
            <a:ext cx="12124944" cy="32004"/>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 y="64008"/>
            <a:ext cx="11704320" cy="475488"/>
          </a:xfrm>
          <a:prstGeom prst="rect">
            <a:avLst/>
          </a:prstGeom>
          <a:noFill/>
        </p:spPr>
        <p:txBody>
          <a:bodyPr wrap="square">
            <a:spAutoFit/>
          </a:bodyPr>
          <a:lstStyle/>
          <a:p>
            <a:pPr algn="l"/>
            <a:r>
              <a:rPr sz="2100" b="1" i="0">
                <a:solidFill>
                  <a:srgbClr val="FFFFFF"/>
                </a:solidFill>
                <a:latin typeface="Calibri"/>
              </a:rPr>
              <a:t>Benchmark Models &amp; Performance Evaluation</a:t>
            </a:r>
          </a:p>
        </p:txBody>
      </p:sp>
      <p:sp>
        <p:nvSpPr>
          <p:cNvPr id="6" name="TextBox 5"/>
          <p:cNvSpPr txBox="1"/>
          <p:nvPr/>
        </p:nvSpPr>
        <p:spPr>
          <a:xfrm>
            <a:off x="201168" y="548640"/>
            <a:ext cx="11704320" cy="365760"/>
          </a:xfrm>
          <a:prstGeom prst="rect">
            <a:avLst/>
          </a:prstGeom>
          <a:noFill/>
        </p:spPr>
        <p:txBody>
          <a:bodyPr wrap="square">
            <a:spAutoFit/>
          </a:bodyPr>
          <a:lstStyle/>
          <a:p>
            <a:pPr algn="l"/>
            <a:r>
              <a:rPr sz="1300" b="0" i="1">
                <a:solidFill>
                  <a:srgbClr val="C8DDD0"/>
                </a:solidFill>
                <a:latin typeface="Calibri"/>
              </a:rPr>
              <a:t>Four benchmark forecasters vs LightGBM across 3 crops · 4 horizons · 4 CV folds</a:t>
            </a:r>
          </a:p>
        </p:txBody>
      </p:sp>
      <p:sp>
        <p:nvSpPr>
          <p:cNvPr id="7" name="Rectangle 6"/>
          <p:cNvSpPr/>
          <p:nvPr/>
        </p:nvSpPr>
        <p:spPr>
          <a:xfrm>
            <a:off x="0" y="6565392"/>
            <a:ext cx="12188952" cy="292608"/>
          </a:xfrm>
          <a:prstGeom prst="rect">
            <a:avLst/>
          </a:prstGeom>
          <a:solidFill>
            <a:srgbClr val="0D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01168" y="6583680"/>
            <a:ext cx="7315200" cy="237744"/>
          </a:xfrm>
          <a:prstGeom prst="rect">
            <a:avLst/>
          </a:prstGeom>
          <a:noFill/>
        </p:spPr>
        <p:txBody>
          <a:bodyPr wrap="square">
            <a:spAutoFit/>
          </a:bodyPr>
          <a:lstStyle/>
          <a:p>
            <a:pPr algn="l"/>
            <a:r>
              <a:rPr sz="850" b="0" i="0">
                <a:solidFill>
                  <a:srgbClr val="C8DDD0"/>
                </a:solidFill>
                <a:latin typeface="Calibri"/>
              </a:rPr>
              <a:t>TOP Digital Twin  ·  SKUAST-K  ·  HADP-04  ·  July 2026</a:t>
            </a:r>
          </a:p>
        </p:txBody>
      </p:sp>
      <p:sp>
        <p:nvSpPr>
          <p:cNvPr id="9" name="TextBox 8"/>
          <p:cNvSpPr txBox="1"/>
          <p:nvPr/>
        </p:nvSpPr>
        <p:spPr>
          <a:xfrm>
            <a:off x="7589520" y="6583680"/>
            <a:ext cx="4389120" cy="237744"/>
          </a:xfrm>
          <a:prstGeom prst="rect">
            <a:avLst/>
          </a:prstGeom>
          <a:noFill/>
        </p:spPr>
        <p:txBody>
          <a:bodyPr wrap="square">
            <a:spAutoFit/>
          </a:bodyPr>
          <a:lstStyle/>
          <a:p>
            <a:pPr algn="r"/>
            <a:r>
              <a:rPr sz="850" b="0" i="0">
                <a:solidFill>
                  <a:srgbClr val="C8DDD0"/>
                </a:solidFill>
                <a:latin typeface="Calibri"/>
              </a:rPr>
              <a:t>CONFIDENTIAL — PI REVIEW</a:t>
            </a:r>
          </a:p>
        </p:txBody>
      </p:sp>
      <p:sp>
        <p:nvSpPr>
          <p:cNvPr id="10" name="TextBox 9"/>
          <p:cNvSpPr txBox="1"/>
          <p:nvPr/>
        </p:nvSpPr>
        <p:spPr>
          <a:xfrm>
            <a:off x="182880" y="1097280"/>
            <a:ext cx="5486400" cy="320040"/>
          </a:xfrm>
          <a:prstGeom prst="rect">
            <a:avLst/>
          </a:prstGeom>
          <a:noFill/>
        </p:spPr>
        <p:txBody>
          <a:bodyPr wrap="square">
            <a:spAutoFit/>
          </a:bodyPr>
          <a:lstStyle/>
          <a:p>
            <a:pPr algn="l"/>
            <a:r>
              <a:rPr sz="1100" b="1" i="0">
                <a:solidFill>
                  <a:srgbClr val="1E6B45"/>
                </a:solidFill>
                <a:latin typeface="Calibri"/>
              </a:rPr>
              <a:t>BENCHMARK SUITE  (Script 13 — 366 lines)</a:t>
            </a:r>
          </a:p>
        </p:txBody>
      </p:sp>
      <p:sp>
        <p:nvSpPr>
          <p:cNvPr id="11" name="Rectangle 10"/>
          <p:cNvSpPr/>
          <p:nvPr/>
        </p:nvSpPr>
        <p:spPr>
          <a:xfrm>
            <a:off x="182880" y="1481328"/>
            <a:ext cx="411480" cy="658368"/>
          </a:xfrm>
          <a:prstGeom prst="rect">
            <a:avLst/>
          </a:prstGeom>
          <a:solidFill>
            <a:srgbClr val="1435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01168" y="1664208"/>
            <a:ext cx="393192" cy="274320"/>
          </a:xfrm>
          <a:prstGeom prst="rect">
            <a:avLst/>
          </a:prstGeom>
          <a:noFill/>
        </p:spPr>
        <p:txBody>
          <a:bodyPr wrap="square">
            <a:spAutoFit/>
          </a:bodyPr>
          <a:lstStyle/>
          <a:p>
            <a:pPr algn="ctr"/>
            <a:r>
              <a:rPr sz="1000" b="1" i="0">
                <a:solidFill>
                  <a:srgbClr val="FFFFFF"/>
                </a:solidFill>
                <a:latin typeface="Calibri"/>
              </a:rPr>
              <a:t>B0</a:t>
            </a:r>
          </a:p>
        </p:txBody>
      </p:sp>
      <p:sp>
        <p:nvSpPr>
          <p:cNvPr id="13" name="Rectangle 12"/>
          <p:cNvSpPr/>
          <p:nvPr/>
        </p:nvSpPr>
        <p:spPr>
          <a:xfrm>
            <a:off x="621792" y="1481328"/>
            <a:ext cx="4983480" cy="658368"/>
          </a:xfrm>
          <a:prstGeom prst="rect">
            <a:avLst/>
          </a:prstGeom>
          <a:solidFill>
            <a:srgbClr val="FFFFFF"/>
          </a:solidFill>
          <a:ln w="9525">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1536192"/>
            <a:ext cx="1280160" cy="256032"/>
          </a:xfrm>
          <a:prstGeom prst="rect">
            <a:avLst/>
          </a:prstGeom>
          <a:noFill/>
        </p:spPr>
        <p:txBody>
          <a:bodyPr wrap="square">
            <a:spAutoFit/>
          </a:bodyPr>
          <a:lstStyle/>
          <a:p>
            <a:pPr algn="l"/>
            <a:r>
              <a:rPr sz="1100" b="1" i="0">
                <a:solidFill>
                  <a:srgbClr val="1A2E1E"/>
                </a:solidFill>
                <a:latin typeface="Calibri"/>
              </a:rPr>
              <a:t>Naïve</a:t>
            </a:r>
          </a:p>
        </p:txBody>
      </p:sp>
      <p:sp>
        <p:nvSpPr>
          <p:cNvPr id="15" name="TextBox 14"/>
          <p:cNvSpPr txBox="1"/>
          <p:nvPr/>
        </p:nvSpPr>
        <p:spPr>
          <a:xfrm>
            <a:off x="731520" y="1810512"/>
            <a:ext cx="3566160" cy="256032"/>
          </a:xfrm>
          <a:prstGeom prst="rect">
            <a:avLst/>
          </a:prstGeom>
          <a:noFill/>
        </p:spPr>
        <p:txBody>
          <a:bodyPr wrap="square">
            <a:spAutoFit/>
          </a:bodyPr>
          <a:lstStyle/>
          <a:p>
            <a:pPr algn="l"/>
            <a:r>
              <a:rPr sz="950" b="0" i="1">
                <a:solidFill>
                  <a:srgbClr val="5A6A60"/>
                </a:solidFill>
                <a:latin typeface="Calibri"/>
              </a:rPr>
              <a:t>Price at t as forecast for t+h</a:t>
            </a:r>
          </a:p>
        </p:txBody>
      </p:sp>
      <p:sp>
        <p:nvSpPr>
          <p:cNvPr id="16" name="TextBox 15"/>
          <p:cNvSpPr txBox="1"/>
          <p:nvPr/>
        </p:nvSpPr>
        <p:spPr>
          <a:xfrm>
            <a:off x="4389120" y="1536192"/>
            <a:ext cx="1143000" cy="256032"/>
          </a:xfrm>
          <a:prstGeom prst="rect">
            <a:avLst/>
          </a:prstGeom>
          <a:noFill/>
        </p:spPr>
        <p:txBody>
          <a:bodyPr wrap="square">
            <a:spAutoFit/>
          </a:bodyPr>
          <a:lstStyle/>
          <a:p>
            <a:pPr algn="l"/>
            <a:r>
              <a:rPr sz="850" b="0" i="0">
                <a:solidFill>
                  <a:srgbClr val="5A6A60"/>
                </a:solidFill>
                <a:latin typeface="Calibri"/>
              </a:rPr>
              <a:t>Simplest possible baseline; no model</a:t>
            </a:r>
          </a:p>
        </p:txBody>
      </p:sp>
      <p:sp>
        <p:nvSpPr>
          <p:cNvPr id="17" name="Rectangle 16"/>
          <p:cNvSpPr/>
          <p:nvPr/>
        </p:nvSpPr>
        <p:spPr>
          <a:xfrm>
            <a:off x="182880" y="2304288"/>
            <a:ext cx="411480" cy="658368"/>
          </a:xfrm>
          <a:prstGeom prst="rect">
            <a:avLst/>
          </a:prstGeom>
          <a:solidFill>
            <a:srgbClr val="1435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01168" y="2487168"/>
            <a:ext cx="393192" cy="274320"/>
          </a:xfrm>
          <a:prstGeom prst="rect">
            <a:avLst/>
          </a:prstGeom>
          <a:noFill/>
        </p:spPr>
        <p:txBody>
          <a:bodyPr wrap="square">
            <a:spAutoFit/>
          </a:bodyPr>
          <a:lstStyle/>
          <a:p>
            <a:pPr algn="ctr"/>
            <a:r>
              <a:rPr sz="1000" b="1" i="0">
                <a:solidFill>
                  <a:srgbClr val="FFFFFF"/>
                </a:solidFill>
                <a:latin typeface="Calibri"/>
              </a:rPr>
              <a:t>B1</a:t>
            </a:r>
          </a:p>
        </p:txBody>
      </p:sp>
      <p:sp>
        <p:nvSpPr>
          <p:cNvPr id="19" name="Rectangle 18"/>
          <p:cNvSpPr/>
          <p:nvPr/>
        </p:nvSpPr>
        <p:spPr>
          <a:xfrm>
            <a:off x="621792" y="2304288"/>
            <a:ext cx="4983480" cy="658368"/>
          </a:xfrm>
          <a:prstGeom prst="rect">
            <a:avLst/>
          </a:prstGeom>
          <a:solidFill>
            <a:srgbClr val="FFFFFF"/>
          </a:solidFill>
          <a:ln w="9525">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31520" y="2359152"/>
            <a:ext cx="1280160" cy="256032"/>
          </a:xfrm>
          <a:prstGeom prst="rect">
            <a:avLst/>
          </a:prstGeom>
          <a:noFill/>
        </p:spPr>
        <p:txBody>
          <a:bodyPr wrap="square">
            <a:spAutoFit/>
          </a:bodyPr>
          <a:lstStyle/>
          <a:p>
            <a:pPr algn="l"/>
            <a:r>
              <a:rPr sz="1100" b="1" i="0">
                <a:solidFill>
                  <a:srgbClr val="1A2E1E"/>
                </a:solidFill>
                <a:latin typeface="Calibri"/>
              </a:rPr>
              <a:t>Seasonal Naïve</a:t>
            </a:r>
          </a:p>
        </p:txBody>
      </p:sp>
      <p:sp>
        <p:nvSpPr>
          <p:cNvPr id="21" name="TextBox 20"/>
          <p:cNvSpPr txBox="1"/>
          <p:nvPr/>
        </p:nvSpPr>
        <p:spPr>
          <a:xfrm>
            <a:off x="731520" y="2633472"/>
            <a:ext cx="3566160" cy="256032"/>
          </a:xfrm>
          <a:prstGeom prst="rect">
            <a:avLst/>
          </a:prstGeom>
          <a:noFill/>
        </p:spPr>
        <p:txBody>
          <a:bodyPr wrap="square">
            <a:spAutoFit/>
          </a:bodyPr>
          <a:lstStyle/>
          <a:p>
            <a:pPr algn="l"/>
            <a:r>
              <a:rPr sz="950" b="0" i="1">
                <a:solidFill>
                  <a:srgbClr val="5A6A60"/>
                </a:solidFill>
                <a:latin typeface="Calibri"/>
              </a:rPr>
              <a:t>Price at same week, prior year</a:t>
            </a:r>
          </a:p>
        </p:txBody>
      </p:sp>
      <p:sp>
        <p:nvSpPr>
          <p:cNvPr id="22" name="TextBox 21"/>
          <p:cNvSpPr txBox="1"/>
          <p:nvPr/>
        </p:nvSpPr>
        <p:spPr>
          <a:xfrm>
            <a:off x="4389120" y="2359152"/>
            <a:ext cx="1143000" cy="256032"/>
          </a:xfrm>
          <a:prstGeom prst="rect">
            <a:avLst/>
          </a:prstGeom>
          <a:noFill/>
        </p:spPr>
        <p:txBody>
          <a:bodyPr wrap="square">
            <a:spAutoFit/>
          </a:bodyPr>
          <a:lstStyle/>
          <a:p>
            <a:pPr algn="l"/>
            <a:r>
              <a:rPr sz="850" b="0" i="0">
                <a:solidFill>
                  <a:srgbClr val="5A6A60"/>
                </a:solidFill>
                <a:latin typeface="Calibri"/>
              </a:rPr>
              <a:t>Captures annual harvest cycle</a:t>
            </a:r>
          </a:p>
        </p:txBody>
      </p:sp>
      <p:sp>
        <p:nvSpPr>
          <p:cNvPr id="23" name="Rectangle 22"/>
          <p:cNvSpPr/>
          <p:nvPr/>
        </p:nvSpPr>
        <p:spPr>
          <a:xfrm>
            <a:off x="182880" y="3127248"/>
            <a:ext cx="411480" cy="658368"/>
          </a:xfrm>
          <a:prstGeom prst="rect">
            <a:avLst/>
          </a:prstGeom>
          <a:solidFill>
            <a:srgbClr val="1435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01168" y="3310128"/>
            <a:ext cx="393192" cy="274320"/>
          </a:xfrm>
          <a:prstGeom prst="rect">
            <a:avLst/>
          </a:prstGeom>
          <a:noFill/>
        </p:spPr>
        <p:txBody>
          <a:bodyPr wrap="square">
            <a:spAutoFit/>
          </a:bodyPr>
          <a:lstStyle/>
          <a:p>
            <a:pPr algn="ctr"/>
            <a:r>
              <a:rPr sz="1000" b="1" i="0">
                <a:solidFill>
                  <a:srgbClr val="FFFFFF"/>
                </a:solidFill>
                <a:latin typeface="Calibri"/>
              </a:rPr>
              <a:t>B2</a:t>
            </a:r>
          </a:p>
        </p:txBody>
      </p:sp>
      <p:sp>
        <p:nvSpPr>
          <p:cNvPr id="25" name="Rectangle 24"/>
          <p:cNvSpPr/>
          <p:nvPr/>
        </p:nvSpPr>
        <p:spPr>
          <a:xfrm>
            <a:off x="621792" y="3127248"/>
            <a:ext cx="4983480" cy="658368"/>
          </a:xfrm>
          <a:prstGeom prst="rect">
            <a:avLst/>
          </a:prstGeom>
          <a:solidFill>
            <a:srgbClr val="FFFFFF"/>
          </a:solidFill>
          <a:ln w="9525">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31520" y="3182112"/>
            <a:ext cx="1280160" cy="256032"/>
          </a:xfrm>
          <a:prstGeom prst="rect">
            <a:avLst/>
          </a:prstGeom>
          <a:noFill/>
        </p:spPr>
        <p:txBody>
          <a:bodyPr wrap="square">
            <a:spAutoFit/>
          </a:bodyPr>
          <a:lstStyle/>
          <a:p>
            <a:pPr algn="l"/>
            <a:r>
              <a:rPr sz="1100" b="1" i="0">
                <a:solidFill>
                  <a:srgbClr val="1A2E1E"/>
                </a:solidFill>
                <a:latin typeface="Calibri"/>
              </a:rPr>
              <a:t>Moving Average</a:t>
            </a:r>
          </a:p>
        </p:txBody>
      </p:sp>
      <p:sp>
        <p:nvSpPr>
          <p:cNvPr id="27" name="TextBox 26"/>
          <p:cNvSpPr txBox="1"/>
          <p:nvPr/>
        </p:nvSpPr>
        <p:spPr>
          <a:xfrm>
            <a:off x="731520" y="3456432"/>
            <a:ext cx="3566160" cy="256032"/>
          </a:xfrm>
          <a:prstGeom prst="rect">
            <a:avLst/>
          </a:prstGeom>
          <a:noFill/>
        </p:spPr>
        <p:txBody>
          <a:bodyPr wrap="square">
            <a:spAutoFit/>
          </a:bodyPr>
          <a:lstStyle/>
          <a:p>
            <a:pPr algn="l"/>
            <a:r>
              <a:rPr sz="950" b="0" i="1">
                <a:solidFill>
                  <a:srgbClr val="5A6A60"/>
                </a:solidFill>
                <a:latin typeface="Calibri"/>
              </a:rPr>
              <a:t>4-week trailing mean</a:t>
            </a:r>
          </a:p>
        </p:txBody>
      </p:sp>
      <p:sp>
        <p:nvSpPr>
          <p:cNvPr id="28" name="TextBox 27"/>
          <p:cNvSpPr txBox="1"/>
          <p:nvPr/>
        </p:nvSpPr>
        <p:spPr>
          <a:xfrm>
            <a:off x="4389120" y="3182112"/>
            <a:ext cx="1143000" cy="256032"/>
          </a:xfrm>
          <a:prstGeom prst="rect">
            <a:avLst/>
          </a:prstGeom>
          <a:noFill/>
        </p:spPr>
        <p:txBody>
          <a:bodyPr wrap="square">
            <a:spAutoFit/>
          </a:bodyPr>
          <a:lstStyle/>
          <a:p>
            <a:pPr algn="l"/>
            <a:r>
              <a:rPr sz="850" b="0" i="0">
                <a:solidFill>
                  <a:srgbClr val="5A6A60"/>
                </a:solidFill>
                <a:latin typeface="Calibri"/>
              </a:rPr>
              <a:t>Smoothed short-run trend</a:t>
            </a:r>
          </a:p>
        </p:txBody>
      </p:sp>
      <p:sp>
        <p:nvSpPr>
          <p:cNvPr id="29" name="Rectangle 28"/>
          <p:cNvSpPr/>
          <p:nvPr/>
        </p:nvSpPr>
        <p:spPr>
          <a:xfrm>
            <a:off x="182880" y="3950208"/>
            <a:ext cx="411480" cy="658368"/>
          </a:xfrm>
          <a:prstGeom prst="rect">
            <a:avLst/>
          </a:prstGeom>
          <a:solidFill>
            <a:srgbClr val="1435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01168" y="4133088"/>
            <a:ext cx="393192" cy="274320"/>
          </a:xfrm>
          <a:prstGeom prst="rect">
            <a:avLst/>
          </a:prstGeom>
          <a:noFill/>
        </p:spPr>
        <p:txBody>
          <a:bodyPr wrap="square">
            <a:spAutoFit/>
          </a:bodyPr>
          <a:lstStyle/>
          <a:p>
            <a:pPr algn="ctr"/>
            <a:r>
              <a:rPr sz="1000" b="1" i="0">
                <a:solidFill>
                  <a:srgbClr val="FFFFFF"/>
                </a:solidFill>
                <a:latin typeface="Calibri"/>
              </a:rPr>
              <a:t>B3</a:t>
            </a:r>
          </a:p>
        </p:txBody>
      </p:sp>
      <p:sp>
        <p:nvSpPr>
          <p:cNvPr id="31" name="Rectangle 30"/>
          <p:cNvSpPr/>
          <p:nvPr/>
        </p:nvSpPr>
        <p:spPr>
          <a:xfrm>
            <a:off x="621792" y="3950208"/>
            <a:ext cx="4983480" cy="658368"/>
          </a:xfrm>
          <a:prstGeom prst="rect">
            <a:avLst/>
          </a:prstGeom>
          <a:solidFill>
            <a:srgbClr val="FFFFFF"/>
          </a:solidFill>
          <a:ln w="9525">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31520" y="4005072"/>
            <a:ext cx="1280160" cy="256032"/>
          </a:xfrm>
          <a:prstGeom prst="rect">
            <a:avLst/>
          </a:prstGeom>
          <a:noFill/>
        </p:spPr>
        <p:txBody>
          <a:bodyPr wrap="square">
            <a:spAutoFit/>
          </a:bodyPr>
          <a:lstStyle/>
          <a:p>
            <a:pPr algn="l"/>
            <a:r>
              <a:rPr sz="1100" b="1" i="0">
                <a:solidFill>
                  <a:srgbClr val="1A2E1E"/>
                </a:solidFill>
                <a:latin typeface="Calibri"/>
              </a:rPr>
              <a:t>ARIMA</a:t>
            </a:r>
          </a:p>
        </p:txBody>
      </p:sp>
      <p:sp>
        <p:nvSpPr>
          <p:cNvPr id="33" name="TextBox 32"/>
          <p:cNvSpPr txBox="1"/>
          <p:nvPr/>
        </p:nvSpPr>
        <p:spPr>
          <a:xfrm>
            <a:off x="731520" y="4279392"/>
            <a:ext cx="3566160" cy="256032"/>
          </a:xfrm>
          <a:prstGeom prst="rect">
            <a:avLst/>
          </a:prstGeom>
          <a:noFill/>
        </p:spPr>
        <p:txBody>
          <a:bodyPr wrap="square">
            <a:spAutoFit/>
          </a:bodyPr>
          <a:lstStyle/>
          <a:p>
            <a:pPr algn="l"/>
            <a:r>
              <a:rPr sz="950" b="0" i="1">
                <a:solidFill>
                  <a:srgbClr val="5A6A60"/>
                </a:solidFill>
                <a:latin typeface="Calibri"/>
              </a:rPr>
              <a:t>Auto-selected (p,d,q) per market, per fold</a:t>
            </a:r>
          </a:p>
        </p:txBody>
      </p:sp>
      <p:sp>
        <p:nvSpPr>
          <p:cNvPr id="34" name="TextBox 33"/>
          <p:cNvSpPr txBox="1"/>
          <p:nvPr/>
        </p:nvSpPr>
        <p:spPr>
          <a:xfrm>
            <a:off x="4389120" y="4005072"/>
            <a:ext cx="1143000" cy="256032"/>
          </a:xfrm>
          <a:prstGeom prst="rect">
            <a:avLst/>
          </a:prstGeom>
          <a:noFill/>
        </p:spPr>
        <p:txBody>
          <a:bodyPr wrap="square">
            <a:spAutoFit/>
          </a:bodyPr>
          <a:lstStyle/>
          <a:p>
            <a:pPr algn="l"/>
            <a:r>
              <a:rPr sz="850" b="0" i="0">
                <a:solidFill>
                  <a:srgbClr val="5A6A60"/>
                </a:solidFill>
                <a:latin typeface="Calibri"/>
              </a:rPr>
              <a:t>Standard econometric benchmark</a:t>
            </a:r>
          </a:p>
        </p:txBody>
      </p:sp>
      <p:sp>
        <p:nvSpPr>
          <p:cNvPr id="35" name="TextBox 34"/>
          <p:cNvSpPr txBox="1"/>
          <p:nvPr/>
        </p:nvSpPr>
        <p:spPr>
          <a:xfrm>
            <a:off x="182880" y="4892040"/>
            <a:ext cx="5486400" cy="320040"/>
          </a:xfrm>
          <a:prstGeom prst="rect">
            <a:avLst/>
          </a:prstGeom>
          <a:noFill/>
        </p:spPr>
        <p:txBody>
          <a:bodyPr wrap="square">
            <a:spAutoFit/>
          </a:bodyPr>
          <a:lstStyle/>
          <a:p>
            <a:pPr algn="l"/>
            <a:r>
              <a:rPr sz="1100" b="1" i="0">
                <a:solidFill>
                  <a:srgbClr val="1E6B45"/>
                </a:solidFill>
                <a:latin typeface="Calibri"/>
              </a:rPr>
              <a:t>EVALUATION METRICS</a:t>
            </a:r>
          </a:p>
        </p:txBody>
      </p:sp>
      <p:sp>
        <p:nvSpPr>
          <p:cNvPr id="36" name="TextBox 35"/>
          <p:cNvSpPr txBox="1"/>
          <p:nvPr/>
        </p:nvSpPr>
        <p:spPr>
          <a:xfrm>
            <a:off x="182880" y="5257800"/>
            <a:ext cx="5486400" cy="1078992"/>
          </a:xfrm>
          <a:prstGeom prst="rect">
            <a:avLst/>
          </a:prstGeom>
          <a:noFill/>
        </p:spPr>
        <p:txBody>
          <a:bodyPr wrap="square">
            <a:spAutoFit/>
          </a:bodyPr>
          <a:lstStyle/>
          <a:p>
            <a:pPr>
              <a:spcBef>
                <a:spcPts val="400"/>
              </a:spcBef>
            </a:pPr>
            <a:r>
              <a:rPr sz="1100">
                <a:solidFill>
                  <a:srgbClr val="1A2E1E"/>
                </a:solidFill>
                <a:latin typeface="Calibri"/>
              </a:rPr>
              <a:t>▸  RMSE (Rs/quintal) — absolute forecast error magnitude</a:t>
            </a:r>
          </a:p>
          <a:p>
            <a:pPr>
              <a:spcBef>
                <a:spcPts val="400"/>
              </a:spcBef>
            </a:pPr>
            <a:r>
              <a:rPr sz="1100">
                <a:solidFill>
                  <a:srgbClr val="1A2E1E"/>
                </a:solidFill>
                <a:latin typeface="Calibri"/>
              </a:rPr>
              <a:t>▸  MAPE (%) — scale-free error; comparable across crops and markets</a:t>
            </a:r>
          </a:p>
          <a:p>
            <a:pPr>
              <a:spcBef>
                <a:spcPts val="400"/>
              </a:spcBef>
            </a:pPr>
            <a:r>
              <a:rPr sz="1100">
                <a:solidFill>
                  <a:srgbClr val="1A2E1E"/>
                </a:solidFill>
                <a:latin typeface="Calibri"/>
              </a:rPr>
              <a:t>▸  R² — proportion of price variance explained</a:t>
            </a:r>
          </a:p>
          <a:p>
            <a:pPr>
              <a:spcBef>
                <a:spcPts val="400"/>
              </a:spcBef>
            </a:pPr>
            <a:r>
              <a:rPr sz="1100">
                <a:solidFill>
                  <a:srgbClr val="1A2E1E"/>
                </a:solidFill>
                <a:latin typeface="Calibri"/>
              </a:rPr>
              <a:t>▸  Skill Score = 1 − (LightGBM RMSE / Naïve RMSE) — improvement over naïve</a:t>
            </a:r>
          </a:p>
          <a:p>
            <a:pPr>
              <a:spcBef>
                <a:spcPts val="400"/>
              </a:spcBef>
            </a:pPr>
            <a:r>
              <a:rPr sz="1100">
                <a:solidFill>
                  <a:srgbClr val="1A2E1E"/>
                </a:solidFill>
                <a:latin typeface="Calibri"/>
              </a:rPr>
              <a:t>▸  ROC-AUC — spike classifier; evaluates early-warning capability</a:t>
            </a:r>
          </a:p>
        </p:txBody>
      </p:sp>
      <p:sp>
        <p:nvSpPr>
          <p:cNvPr id="37" name="TextBox 36"/>
          <p:cNvSpPr txBox="1"/>
          <p:nvPr/>
        </p:nvSpPr>
        <p:spPr>
          <a:xfrm>
            <a:off x="5897880" y="1097280"/>
            <a:ext cx="6126480" cy="320040"/>
          </a:xfrm>
          <a:prstGeom prst="rect">
            <a:avLst/>
          </a:prstGeom>
          <a:noFill/>
        </p:spPr>
        <p:txBody>
          <a:bodyPr wrap="square">
            <a:spAutoFit/>
          </a:bodyPr>
          <a:lstStyle/>
          <a:p>
            <a:pPr algn="l"/>
            <a:r>
              <a:rPr sz="1100" b="1" i="0">
                <a:solidFill>
                  <a:srgbClr val="1E6B45"/>
                </a:solidFill>
                <a:latin typeface="Calibri"/>
              </a:rPr>
              <a:t>BENCHMARK COMPARISON CHART</a:t>
            </a:r>
          </a:p>
        </p:txBody>
      </p:sp>
      <p:pic>
        <p:nvPicPr>
          <p:cNvPr id="38" name="Picture 37" descr="fig_benchmark_comparison.png"/>
          <p:cNvPicPr>
            <a:picLocks noChangeAspect="1"/>
          </p:cNvPicPr>
          <p:nvPr/>
        </p:nvPicPr>
        <p:blipFill>
          <a:blip r:embed="rId3"/>
          <a:stretch>
            <a:fillRect/>
          </a:stretch>
        </p:blipFill>
        <p:spPr>
          <a:xfrm>
            <a:off x="5897880" y="1463040"/>
            <a:ext cx="6126480" cy="2651760"/>
          </a:xfrm>
          <a:prstGeom prst="rect">
            <a:avLst/>
          </a:prstGeom>
        </p:spPr>
      </p:pic>
      <p:sp>
        <p:nvSpPr>
          <p:cNvPr id="39" name="TextBox 38"/>
          <p:cNvSpPr txBox="1"/>
          <p:nvPr/>
        </p:nvSpPr>
        <p:spPr>
          <a:xfrm>
            <a:off x="5897880" y="4206240"/>
            <a:ext cx="6126480" cy="320040"/>
          </a:xfrm>
          <a:prstGeom prst="rect">
            <a:avLst/>
          </a:prstGeom>
          <a:noFill/>
        </p:spPr>
        <p:txBody>
          <a:bodyPr wrap="square">
            <a:spAutoFit/>
          </a:bodyPr>
          <a:lstStyle/>
          <a:p>
            <a:pPr algn="l"/>
            <a:r>
              <a:rPr sz="1100" b="1" i="0">
                <a:solidFill>
                  <a:srgbClr val="1E6B45"/>
                </a:solidFill>
                <a:latin typeface="Calibri"/>
              </a:rPr>
              <a:t>MAPE BY HORIZON</a:t>
            </a:r>
          </a:p>
        </p:txBody>
      </p:sp>
      <p:pic>
        <p:nvPicPr>
          <p:cNvPr id="40" name="Picture 39" descr="fig_mape_by_horizon.png"/>
          <p:cNvPicPr>
            <a:picLocks noChangeAspect="1"/>
          </p:cNvPicPr>
          <p:nvPr/>
        </p:nvPicPr>
        <p:blipFill>
          <a:blip r:embed="rId4"/>
          <a:stretch>
            <a:fillRect/>
          </a:stretch>
        </p:blipFill>
        <p:spPr>
          <a:xfrm>
            <a:off x="5897880" y="4572000"/>
            <a:ext cx="2834640" cy="1737360"/>
          </a:xfrm>
          <a:prstGeom prst="rect">
            <a:avLst/>
          </a:prstGeom>
        </p:spPr>
      </p:pic>
      <p:pic>
        <p:nvPicPr>
          <p:cNvPr id="41" name="Picture 40" descr="fig_skill_score.png"/>
          <p:cNvPicPr>
            <a:picLocks noChangeAspect="1"/>
          </p:cNvPicPr>
          <p:nvPr/>
        </p:nvPicPr>
        <p:blipFill>
          <a:blip r:embed="rId5"/>
          <a:stretch>
            <a:fillRect/>
          </a:stretch>
        </p:blipFill>
        <p:spPr>
          <a:xfrm>
            <a:off x="8823960" y="4572000"/>
            <a:ext cx="3200400" cy="173736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64008" cy="6858000"/>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 y="0"/>
            <a:ext cx="12124944" cy="960120"/>
          </a:xfrm>
          <a:prstGeom prst="rect">
            <a:avLst/>
          </a:prstGeom>
          <a:solidFill>
            <a:srgbClr val="0D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4008" y="960120"/>
            <a:ext cx="12124944" cy="32004"/>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 y="64008"/>
            <a:ext cx="11704320" cy="475488"/>
          </a:xfrm>
          <a:prstGeom prst="rect">
            <a:avLst/>
          </a:prstGeom>
          <a:noFill/>
        </p:spPr>
        <p:txBody>
          <a:bodyPr wrap="square">
            <a:spAutoFit/>
          </a:bodyPr>
          <a:lstStyle/>
          <a:p>
            <a:pPr algn="l"/>
            <a:r>
              <a:rPr sz="2100" b="1" i="0">
                <a:solidFill>
                  <a:srgbClr val="FFFFFF"/>
                </a:solidFill>
                <a:latin typeface="Calibri"/>
              </a:rPr>
              <a:t>The Paper's Core Scientific Contribution — Ablation Study</a:t>
            </a:r>
          </a:p>
        </p:txBody>
      </p:sp>
      <p:sp>
        <p:nvSpPr>
          <p:cNvPr id="6" name="TextBox 5"/>
          <p:cNvSpPr txBox="1"/>
          <p:nvPr/>
        </p:nvSpPr>
        <p:spPr>
          <a:xfrm>
            <a:off x="201168" y="548640"/>
            <a:ext cx="11704320" cy="365760"/>
          </a:xfrm>
          <a:prstGeom prst="rect">
            <a:avLst/>
          </a:prstGeom>
          <a:noFill/>
        </p:spPr>
        <p:txBody>
          <a:bodyPr wrap="square">
            <a:spAutoFit/>
          </a:bodyPr>
          <a:lstStyle/>
          <a:p>
            <a:pPr algn="l"/>
            <a:r>
              <a:rPr sz="1300" b="0" i="1">
                <a:solidFill>
                  <a:srgbClr val="C8DDD0"/>
                </a:solidFill>
                <a:latin typeface="Calibri"/>
              </a:rPr>
              <a:t>M0 → M6: Quantifying the marginal value of each data layer for price forecasting accuracy</a:t>
            </a:r>
          </a:p>
        </p:txBody>
      </p:sp>
      <p:sp>
        <p:nvSpPr>
          <p:cNvPr id="7" name="Rectangle 6"/>
          <p:cNvSpPr/>
          <p:nvPr/>
        </p:nvSpPr>
        <p:spPr>
          <a:xfrm>
            <a:off x="0" y="6565392"/>
            <a:ext cx="12188952" cy="292608"/>
          </a:xfrm>
          <a:prstGeom prst="rect">
            <a:avLst/>
          </a:prstGeom>
          <a:solidFill>
            <a:srgbClr val="0D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01168" y="6583680"/>
            <a:ext cx="7315200" cy="237744"/>
          </a:xfrm>
          <a:prstGeom prst="rect">
            <a:avLst/>
          </a:prstGeom>
          <a:noFill/>
        </p:spPr>
        <p:txBody>
          <a:bodyPr wrap="square">
            <a:spAutoFit/>
          </a:bodyPr>
          <a:lstStyle/>
          <a:p>
            <a:pPr algn="l"/>
            <a:r>
              <a:rPr sz="850" b="0" i="0">
                <a:solidFill>
                  <a:srgbClr val="C8DDD0"/>
                </a:solidFill>
                <a:latin typeface="Calibri"/>
              </a:rPr>
              <a:t>TOP Digital Twin  ·  SKUAST-K  ·  HADP-04  ·  July 2026</a:t>
            </a:r>
          </a:p>
        </p:txBody>
      </p:sp>
      <p:sp>
        <p:nvSpPr>
          <p:cNvPr id="9" name="TextBox 8"/>
          <p:cNvSpPr txBox="1"/>
          <p:nvPr/>
        </p:nvSpPr>
        <p:spPr>
          <a:xfrm>
            <a:off x="7589520" y="6583680"/>
            <a:ext cx="4389120" cy="237744"/>
          </a:xfrm>
          <a:prstGeom prst="rect">
            <a:avLst/>
          </a:prstGeom>
          <a:noFill/>
        </p:spPr>
        <p:txBody>
          <a:bodyPr wrap="square">
            <a:spAutoFit/>
          </a:bodyPr>
          <a:lstStyle/>
          <a:p>
            <a:pPr algn="r"/>
            <a:r>
              <a:rPr sz="850" b="0" i="0">
                <a:solidFill>
                  <a:srgbClr val="C8DDD0"/>
                </a:solidFill>
                <a:latin typeface="Calibri"/>
              </a:rPr>
              <a:t>CONFIDENTIAL — PI REVIEW</a:t>
            </a:r>
          </a:p>
        </p:txBody>
      </p:sp>
      <p:sp>
        <p:nvSpPr>
          <p:cNvPr id="10" name="TextBox 9"/>
          <p:cNvSpPr txBox="1"/>
          <p:nvPr/>
        </p:nvSpPr>
        <p:spPr>
          <a:xfrm>
            <a:off x="182880" y="1097280"/>
            <a:ext cx="11795760" cy="384048"/>
          </a:xfrm>
          <a:prstGeom prst="rect">
            <a:avLst/>
          </a:prstGeom>
          <a:noFill/>
        </p:spPr>
        <p:txBody>
          <a:bodyPr wrap="square">
            <a:spAutoFit/>
          </a:bodyPr>
          <a:lstStyle/>
          <a:p>
            <a:pPr algn="l"/>
            <a:r>
              <a:rPr sz="1150" b="0" i="1">
                <a:solidFill>
                  <a:srgbClr val="1A2E1E"/>
                </a:solidFill>
                <a:latin typeface="Calibri"/>
              </a:rPr>
              <a:t>The ablation study answers the fundamental research question: How much does each data layer actually improve price forecasting?</a:t>
            </a:r>
          </a:p>
        </p:txBody>
      </p:sp>
      <p:graphicFrame>
        <p:nvGraphicFramePr>
          <p:cNvPr id="11" name="Table 10"/>
          <p:cNvGraphicFramePr>
            <a:graphicFrameLocks noGrp="1"/>
          </p:cNvGraphicFramePr>
          <p:nvPr/>
        </p:nvGraphicFramePr>
        <p:xfrm>
          <a:off x="182880" y="1572768"/>
          <a:ext cx="10195560" cy="3977639"/>
        </p:xfrm>
        <a:graphic>
          <a:graphicData uri="http://schemas.openxmlformats.org/drawingml/2006/table">
            <a:tbl>
              <a:tblPr firstRow="1" bandRow="1">
                <a:tableStyleId>{5C22544A-7EE6-4342-B048-85BDC9FD1C3A}</a:tableStyleId>
              </a:tblPr>
              <a:tblGrid>
                <a:gridCol w="54864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3474720">
                  <a:extLst>
                    <a:ext uri="{9D8B030D-6E8A-4147-A177-3AD203B41FA5}">
                      <a16:colId xmlns:a16="http://schemas.microsoft.com/office/drawing/2014/main" val="20002"/>
                    </a:ext>
                  </a:extLst>
                </a:gridCol>
                <a:gridCol w="3017520">
                  <a:extLst>
                    <a:ext uri="{9D8B030D-6E8A-4147-A177-3AD203B41FA5}">
                      <a16:colId xmlns:a16="http://schemas.microsoft.com/office/drawing/2014/main" val="20003"/>
                    </a:ext>
                  </a:extLst>
                </a:gridCol>
                <a:gridCol w="868680">
                  <a:extLst>
                    <a:ext uri="{9D8B030D-6E8A-4147-A177-3AD203B41FA5}">
                      <a16:colId xmlns:a16="http://schemas.microsoft.com/office/drawing/2014/main" val="20004"/>
                    </a:ext>
                  </a:extLst>
                </a:gridCol>
              </a:tblGrid>
              <a:tr h="497204">
                <a:tc>
                  <a:txBody>
                    <a:bodyPr/>
                    <a:lstStyle/>
                    <a:p>
                      <a:pPr algn="ctr"/>
                      <a:r>
                        <a:rPr sz="950" b="1">
                          <a:solidFill>
                            <a:srgbClr val="FFFFFF"/>
                          </a:solidFill>
                          <a:latin typeface="Calibri"/>
                        </a:rPr>
                        <a:t>Model</a:t>
                      </a:r>
                    </a:p>
                  </a:txBody>
                  <a:tcPr>
                    <a:solidFill>
                      <a:srgbClr val="0D2240"/>
                    </a:solidFill>
                  </a:tcPr>
                </a:tc>
                <a:tc>
                  <a:txBody>
                    <a:bodyPr/>
                    <a:lstStyle/>
                    <a:p>
                      <a:pPr algn="ctr"/>
                      <a:r>
                        <a:rPr sz="950" b="1">
                          <a:solidFill>
                            <a:srgbClr val="FFFFFF"/>
                          </a:solidFill>
                          <a:latin typeface="Calibri"/>
                        </a:rPr>
                        <a:t>Layer Added</a:t>
                      </a:r>
                    </a:p>
                  </a:txBody>
                  <a:tcPr>
                    <a:solidFill>
                      <a:srgbClr val="0D2240"/>
                    </a:solidFill>
                  </a:tcPr>
                </a:tc>
                <a:tc>
                  <a:txBody>
                    <a:bodyPr/>
                    <a:lstStyle/>
                    <a:p>
                      <a:pPr algn="ctr"/>
                      <a:r>
                        <a:rPr sz="950" b="1">
                          <a:solidFill>
                            <a:srgbClr val="FFFFFF"/>
                          </a:solidFill>
                          <a:latin typeface="Calibri"/>
                        </a:rPr>
                        <a:t>Key Features</a:t>
                      </a:r>
                    </a:p>
                  </a:txBody>
                  <a:tcPr>
                    <a:solidFill>
                      <a:srgbClr val="0D2240"/>
                    </a:solidFill>
                  </a:tcPr>
                </a:tc>
                <a:tc>
                  <a:txBody>
                    <a:bodyPr/>
                    <a:lstStyle/>
                    <a:p>
                      <a:pPr algn="ctr"/>
                      <a:r>
                        <a:rPr sz="950" b="1">
                          <a:solidFill>
                            <a:srgbClr val="FFFFFF"/>
                          </a:solidFill>
                          <a:latin typeface="Calibri"/>
                        </a:rPr>
                        <a:t>Scientific Question</a:t>
                      </a:r>
                    </a:p>
                  </a:txBody>
                  <a:tcPr>
                    <a:solidFill>
                      <a:srgbClr val="0D2240"/>
                    </a:solidFill>
                  </a:tcPr>
                </a:tc>
                <a:tc>
                  <a:txBody>
                    <a:bodyPr/>
                    <a:lstStyle/>
                    <a:p>
                      <a:pPr algn="ctr"/>
                      <a:r>
                        <a:rPr sz="950" b="1">
                          <a:solidFill>
                            <a:srgbClr val="FFFFFF"/>
                          </a:solidFill>
                          <a:latin typeface="Calibri"/>
                        </a:rPr>
                        <a:t>Status</a:t>
                      </a:r>
                    </a:p>
                  </a:txBody>
                  <a:tcPr>
                    <a:solidFill>
                      <a:srgbClr val="0D2240"/>
                    </a:solidFill>
                  </a:tcPr>
                </a:tc>
                <a:extLst>
                  <a:ext uri="{0D108BD9-81ED-4DB2-BD59-A6C34878D82A}">
                    <a16:rowId xmlns:a16="http://schemas.microsoft.com/office/drawing/2014/main" val="10000"/>
                  </a:ext>
                </a:extLst>
              </a:tr>
              <a:tr h="497204">
                <a:tc>
                  <a:txBody>
                    <a:bodyPr/>
                    <a:lstStyle/>
                    <a:p>
                      <a:pPr algn="l"/>
                      <a:r>
                        <a:rPr sz="900">
                          <a:solidFill>
                            <a:srgbClr val="1A2E1E"/>
                          </a:solidFill>
                          <a:latin typeface="Calibri"/>
                        </a:rPr>
                        <a:t>M0</a:t>
                      </a:r>
                    </a:p>
                  </a:txBody>
                  <a:tcPr>
                    <a:solidFill>
                      <a:srgbClr val="FFFFFF"/>
                    </a:solidFill>
                  </a:tcPr>
                </a:tc>
                <a:tc>
                  <a:txBody>
                    <a:bodyPr/>
                    <a:lstStyle/>
                    <a:p>
                      <a:pPr algn="ctr"/>
                      <a:r>
                        <a:rPr sz="900">
                          <a:solidFill>
                            <a:srgbClr val="1A2E1E"/>
                          </a:solidFill>
                          <a:latin typeface="Calibri"/>
                        </a:rPr>
                        <a:t>Price Lags + Seasonality</a:t>
                      </a:r>
                    </a:p>
                  </a:txBody>
                  <a:tcPr>
                    <a:solidFill>
                      <a:srgbClr val="FFFFFF"/>
                    </a:solidFill>
                  </a:tcPr>
                </a:tc>
                <a:tc>
                  <a:txBody>
                    <a:bodyPr/>
                    <a:lstStyle/>
                    <a:p>
                      <a:pPr algn="ctr"/>
                      <a:r>
                        <a:rPr sz="900">
                          <a:solidFill>
                            <a:srgbClr val="1A2E1E"/>
                          </a:solidFill>
                          <a:latin typeface="Calibri"/>
                        </a:rPr>
                        <a:t>Log-price lag_1/2/4/8, rolling mean/std, week-of-year, month</a:t>
                      </a:r>
                    </a:p>
                  </a:txBody>
                  <a:tcPr>
                    <a:solidFill>
                      <a:srgbClr val="FFFFFF"/>
                    </a:solidFill>
                  </a:tcPr>
                </a:tc>
                <a:tc>
                  <a:txBody>
                    <a:bodyPr/>
                    <a:lstStyle/>
                    <a:p>
                      <a:pPr algn="ctr"/>
                      <a:r>
                        <a:rPr sz="900">
                          <a:solidFill>
                            <a:srgbClr val="1A2E1E"/>
                          </a:solidFill>
                          <a:latin typeface="Calibri"/>
                        </a:rPr>
                        <a:t>True baseline — price autocorrelation only</a:t>
                      </a:r>
                    </a:p>
                  </a:txBody>
                  <a:tcPr>
                    <a:solidFill>
                      <a:srgbClr val="FFFFFF"/>
                    </a:solidFill>
                  </a:tcPr>
                </a:tc>
                <a:tc>
                  <a:txBody>
                    <a:bodyPr/>
                    <a:lstStyle/>
                    <a:p>
                      <a:pPr algn="ctr"/>
                      <a:r>
                        <a:rPr sz="900">
                          <a:solidFill>
                            <a:srgbClr val="1A2E1E"/>
                          </a:solidFill>
                          <a:latin typeface="Calibri"/>
                        </a:rPr>
                        <a:t>RUNNING</a:t>
                      </a:r>
                    </a:p>
                  </a:txBody>
                  <a:tcPr>
                    <a:solidFill>
                      <a:srgbClr val="FFFFFF"/>
                    </a:solidFill>
                  </a:tcPr>
                </a:tc>
                <a:extLst>
                  <a:ext uri="{0D108BD9-81ED-4DB2-BD59-A6C34878D82A}">
                    <a16:rowId xmlns:a16="http://schemas.microsoft.com/office/drawing/2014/main" val="10001"/>
                  </a:ext>
                </a:extLst>
              </a:tr>
              <a:tr h="497204">
                <a:tc>
                  <a:txBody>
                    <a:bodyPr/>
                    <a:lstStyle/>
                    <a:p>
                      <a:pPr algn="l"/>
                      <a:r>
                        <a:rPr sz="900">
                          <a:solidFill>
                            <a:srgbClr val="1A2E1E"/>
                          </a:solidFill>
                          <a:latin typeface="Calibri"/>
                        </a:rPr>
                        <a:t>M1</a:t>
                      </a:r>
                    </a:p>
                  </a:txBody>
                  <a:tcPr>
                    <a:solidFill>
                      <a:srgbClr val="F0F6F3"/>
                    </a:solidFill>
                  </a:tcPr>
                </a:tc>
                <a:tc>
                  <a:txBody>
                    <a:bodyPr/>
                    <a:lstStyle/>
                    <a:p>
                      <a:pPr algn="ctr"/>
                      <a:r>
                        <a:rPr sz="900">
                          <a:solidFill>
                            <a:srgbClr val="1A2E1E"/>
                          </a:solidFill>
                          <a:latin typeface="Calibri"/>
                        </a:rPr>
                        <a:t>M0 + Market Fixed Effects</a:t>
                      </a:r>
                    </a:p>
                  </a:txBody>
                  <a:tcPr>
                    <a:solidFill>
                      <a:srgbClr val="F0F6F3"/>
                    </a:solidFill>
                  </a:tcPr>
                </a:tc>
                <a:tc>
                  <a:txBody>
                    <a:bodyPr/>
                    <a:lstStyle/>
                    <a:p>
                      <a:pPr algn="ctr"/>
                      <a:r>
                        <a:rPr sz="900">
                          <a:solidFill>
                            <a:srgbClr val="1A2E1E"/>
                          </a:solidFill>
                          <a:latin typeface="Calibri"/>
                        </a:rPr>
                        <a:t>Market identity, state identity, crop</a:t>
                      </a:r>
                    </a:p>
                  </a:txBody>
                  <a:tcPr>
                    <a:solidFill>
                      <a:srgbClr val="F0F6F3"/>
                    </a:solidFill>
                  </a:tcPr>
                </a:tc>
                <a:tc>
                  <a:txBody>
                    <a:bodyPr/>
                    <a:lstStyle/>
                    <a:p>
                      <a:pPr algn="ctr"/>
                      <a:r>
                        <a:rPr sz="900">
                          <a:solidFill>
                            <a:srgbClr val="1A2E1E"/>
                          </a:solidFill>
                          <a:latin typeface="Calibri"/>
                        </a:rPr>
                        <a:t>Adds cross-market structural heterogeneity</a:t>
                      </a:r>
                    </a:p>
                  </a:txBody>
                  <a:tcPr>
                    <a:solidFill>
                      <a:srgbClr val="F0F6F3"/>
                    </a:solidFill>
                  </a:tcPr>
                </a:tc>
                <a:tc>
                  <a:txBody>
                    <a:bodyPr/>
                    <a:lstStyle/>
                    <a:p>
                      <a:pPr algn="ctr"/>
                      <a:r>
                        <a:rPr sz="900">
                          <a:solidFill>
                            <a:srgbClr val="1A2E1E"/>
                          </a:solidFill>
                          <a:latin typeface="Calibri"/>
                        </a:rPr>
                        <a:t>RUNNING</a:t>
                      </a:r>
                    </a:p>
                  </a:txBody>
                  <a:tcPr>
                    <a:solidFill>
                      <a:srgbClr val="F0F6F3"/>
                    </a:solidFill>
                  </a:tcPr>
                </a:tc>
                <a:extLst>
                  <a:ext uri="{0D108BD9-81ED-4DB2-BD59-A6C34878D82A}">
                    <a16:rowId xmlns:a16="http://schemas.microsoft.com/office/drawing/2014/main" val="10002"/>
                  </a:ext>
                </a:extLst>
              </a:tr>
              <a:tr h="497204">
                <a:tc>
                  <a:txBody>
                    <a:bodyPr/>
                    <a:lstStyle/>
                    <a:p>
                      <a:pPr algn="l"/>
                      <a:r>
                        <a:rPr sz="900">
                          <a:solidFill>
                            <a:srgbClr val="1A2E1E"/>
                          </a:solidFill>
                          <a:latin typeface="Calibri"/>
                        </a:rPr>
                        <a:t>M2</a:t>
                      </a:r>
                    </a:p>
                  </a:txBody>
                  <a:tcPr>
                    <a:solidFill>
                      <a:srgbClr val="FFFFFF"/>
                    </a:solidFill>
                  </a:tcPr>
                </a:tc>
                <a:tc>
                  <a:txBody>
                    <a:bodyPr/>
                    <a:lstStyle/>
                    <a:p>
                      <a:pPr algn="ctr"/>
                      <a:r>
                        <a:rPr sz="900">
                          <a:solidFill>
                            <a:srgbClr val="1A2E1E"/>
                          </a:solidFill>
                          <a:latin typeface="Calibri"/>
                        </a:rPr>
                        <a:t>M1 + Macro-Logistics  (L4)</a:t>
                      </a:r>
                    </a:p>
                  </a:txBody>
                  <a:tcPr>
                    <a:solidFill>
                      <a:srgbClr val="FFFFFF"/>
                    </a:solidFill>
                  </a:tcPr>
                </a:tc>
                <a:tc>
                  <a:txBody>
                    <a:bodyPr/>
                    <a:lstStyle/>
                    <a:p>
                      <a:pPr algn="ctr"/>
                      <a:r>
                        <a:rPr sz="900">
                          <a:solidFill>
                            <a:srgbClr val="1A2E1E"/>
                          </a:solidFill>
                          <a:latin typeface="Calibri"/>
                        </a:rPr>
                        <a:t>Diesel, LPG, repo rate, WPI_crop, USD-INR</a:t>
                      </a:r>
                    </a:p>
                  </a:txBody>
                  <a:tcPr>
                    <a:solidFill>
                      <a:srgbClr val="FFFFFF"/>
                    </a:solidFill>
                  </a:tcPr>
                </a:tc>
                <a:tc>
                  <a:txBody>
                    <a:bodyPr/>
                    <a:lstStyle/>
                    <a:p>
                      <a:pPr algn="ctr"/>
                      <a:r>
                        <a:rPr sz="900">
                          <a:solidFill>
                            <a:srgbClr val="1A2E1E"/>
                          </a:solidFill>
                          <a:latin typeface="Calibri"/>
                        </a:rPr>
                        <a:t>Tests whether macro-economic signals add price signal</a:t>
                      </a:r>
                    </a:p>
                  </a:txBody>
                  <a:tcPr>
                    <a:solidFill>
                      <a:srgbClr val="FFFFFF"/>
                    </a:solidFill>
                  </a:tcPr>
                </a:tc>
                <a:tc>
                  <a:txBody>
                    <a:bodyPr/>
                    <a:lstStyle/>
                    <a:p>
                      <a:pPr algn="ctr"/>
                      <a:r>
                        <a:rPr sz="900">
                          <a:solidFill>
                            <a:srgbClr val="1A2E1E"/>
                          </a:solidFill>
                          <a:latin typeface="Calibri"/>
                        </a:rPr>
                        <a:t>RUNNING</a:t>
                      </a:r>
                    </a:p>
                  </a:txBody>
                  <a:tcPr>
                    <a:solidFill>
                      <a:srgbClr val="FFFFFF"/>
                    </a:solidFill>
                  </a:tcPr>
                </a:tc>
                <a:extLst>
                  <a:ext uri="{0D108BD9-81ED-4DB2-BD59-A6C34878D82A}">
                    <a16:rowId xmlns:a16="http://schemas.microsoft.com/office/drawing/2014/main" val="10003"/>
                  </a:ext>
                </a:extLst>
              </a:tr>
              <a:tr h="497204">
                <a:tc>
                  <a:txBody>
                    <a:bodyPr/>
                    <a:lstStyle/>
                    <a:p>
                      <a:pPr algn="l"/>
                      <a:r>
                        <a:rPr sz="900">
                          <a:solidFill>
                            <a:srgbClr val="1A2E1E"/>
                          </a:solidFill>
                          <a:latin typeface="Calibri"/>
                        </a:rPr>
                        <a:t>M3</a:t>
                      </a:r>
                    </a:p>
                  </a:txBody>
                  <a:tcPr>
                    <a:solidFill>
                      <a:srgbClr val="F0F6F3"/>
                    </a:solidFill>
                  </a:tcPr>
                </a:tc>
                <a:tc>
                  <a:txBody>
                    <a:bodyPr/>
                    <a:lstStyle/>
                    <a:p>
                      <a:pPr algn="ctr"/>
                      <a:r>
                        <a:rPr sz="900">
                          <a:solidFill>
                            <a:srgbClr val="1A2E1E"/>
                          </a:solidFill>
                          <a:latin typeface="Calibri"/>
                        </a:rPr>
                        <a:t>M2 + Satellite Vegetation  (L2)</a:t>
                      </a:r>
                    </a:p>
                  </a:txBody>
                  <a:tcPr>
                    <a:solidFill>
                      <a:srgbClr val="F0F6F3"/>
                    </a:solidFill>
                  </a:tcPr>
                </a:tc>
                <a:tc>
                  <a:txBody>
                    <a:bodyPr/>
                    <a:lstStyle/>
                    <a:p>
                      <a:pPr algn="ctr"/>
                      <a:r>
                        <a:rPr sz="900">
                          <a:solidFill>
                            <a:srgbClr val="1A2E1E"/>
                          </a:solidFill>
                          <a:latin typeface="Calibri"/>
                        </a:rPr>
                        <a:t>NDVI, EVI, NDVI_anomaly, valid_px_frac</a:t>
                      </a:r>
                    </a:p>
                  </a:txBody>
                  <a:tcPr>
                    <a:solidFill>
                      <a:srgbClr val="F0F6F3"/>
                    </a:solidFill>
                  </a:tcPr>
                </a:tc>
                <a:tc>
                  <a:txBody>
                    <a:bodyPr/>
                    <a:lstStyle/>
                    <a:p>
                      <a:pPr algn="ctr"/>
                      <a:r>
                        <a:rPr sz="900">
                          <a:solidFill>
                            <a:srgbClr val="1A2E1E"/>
                          </a:solidFill>
                          <a:latin typeface="Calibri"/>
                        </a:rPr>
                        <a:t>Tests whether crop health observed from space improves forecasts</a:t>
                      </a:r>
                    </a:p>
                  </a:txBody>
                  <a:tcPr>
                    <a:solidFill>
                      <a:srgbClr val="F0F6F3"/>
                    </a:solidFill>
                  </a:tcPr>
                </a:tc>
                <a:tc>
                  <a:txBody>
                    <a:bodyPr/>
                    <a:lstStyle/>
                    <a:p>
                      <a:pPr algn="ctr"/>
                      <a:r>
                        <a:rPr sz="900">
                          <a:solidFill>
                            <a:srgbClr val="1A2E1E"/>
                          </a:solidFill>
                          <a:latin typeface="Calibri"/>
                        </a:rPr>
                        <a:t>RUNNING</a:t>
                      </a:r>
                    </a:p>
                  </a:txBody>
                  <a:tcPr>
                    <a:solidFill>
                      <a:srgbClr val="F0F6F3"/>
                    </a:solidFill>
                  </a:tcPr>
                </a:tc>
                <a:extLst>
                  <a:ext uri="{0D108BD9-81ED-4DB2-BD59-A6C34878D82A}">
                    <a16:rowId xmlns:a16="http://schemas.microsoft.com/office/drawing/2014/main" val="10004"/>
                  </a:ext>
                </a:extLst>
              </a:tr>
              <a:tr h="497204">
                <a:tc>
                  <a:txBody>
                    <a:bodyPr/>
                    <a:lstStyle/>
                    <a:p>
                      <a:pPr algn="l"/>
                      <a:r>
                        <a:rPr sz="900">
                          <a:solidFill>
                            <a:srgbClr val="1A2E1E"/>
                          </a:solidFill>
                          <a:latin typeface="Calibri"/>
                        </a:rPr>
                        <a:t>M4</a:t>
                      </a:r>
                    </a:p>
                  </a:txBody>
                  <a:tcPr>
                    <a:solidFill>
                      <a:srgbClr val="FFFFFF"/>
                    </a:solidFill>
                  </a:tcPr>
                </a:tc>
                <a:tc>
                  <a:txBody>
                    <a:bodyPr/>
                    <a:lstStyle/>
                    <a:p>
                      <a:pPr algn="ctr"/>
                      <a:r>
                        <a:rPr sz="900">
                          <a:solidFill>
                            <a:srgbClr val="1A2E1E"/>
                          </a:solidFill>
                          <a:latin typeface="Calibri"/>
                        </a:rPr>
                        <a:t>M3 + Climate Stress  (L3)</a:t>
                      </a:r>
                    </a:p>
                  </a:txBody>
                  <a:tcPr>
                    <a:solidFill>
                      <a:srgbClr val="FFFFFF"/>
                    </a:solidFill>
                  </a:tcPr>
                </a:tc>
                <a:tc>
                  <a:txBody>
                    <a:bodyPr/>
                    <a:lstStyle/>
                    <a:p>
                      <a:pPr algn="ctr"/>
                      <a:r>
                        <a:rPr sz="900">
                          <a:solidFill>
                            <a:srgbClr val="1A2E1E"/>
                          </a:solidFill>
                          <a:latin typeface="Calibri"/>
                        </a:rPr>
                        <a:t>Tmax, heat_days_35/38, rain_weekly, frac_excess, LST_mean</a:t>
                      </a:r>
                    </a:p>
                  </a:txBody>
                  <a:tcPr>
                    <a:solidFill>
                      <a:srgbClr val="FFFFFF"/>
                    </a:solidFill>
                  </a:tcPr>
                </a:tc>
                <a:tc>
                  <a:txBody>
                    <a:bodyPr/>
                    <a:lstStyle/>
                    <a:p>
                      <a:pPr algn="ctr"/>
                      <a:r>
                        <a:rPr sz="900">
                          <a:solidFill>
                            <a:srgbClr val="1A2E1E"/>
                          </a:solidFill>
                          <a:latin typeface="Calibri"/>
                        </a:rPr>
                        <a:t>Tests whether weather risk drives price movements</a:t>
                      </a:r>
                    </a:p>
                  </a:txBody>
                  <a:tcPr>
                    <a:solidFill>
                      <a:srgbClr val="FFFFFF"/>
                    </a:solidFill>
                  </a:tcPr>
                </a:tc>
                <a:tc>
                  <a:txBody>
                    <a:bodyPr/>
                    <a:lstStyle/>
                    <a:p>
                      <a:pPr algn="ctr"/>
                      <a:r>
                        <a:rPr sz="900">
                          <a:solidFill>
                            <a:srgbClr val="1A2E1E"/>
                          </a:solidFill>
                          <a:latin typeface="Calibri"/>
                        </a:rPr>
                        <a:t>BUILT</a:t>
                      </a:r>
                    </a:p>
                  </a:txBody>
                  <a:tcPr>
                    <a:solidFill>
                      <a:srgbClr val="FFFFFF"/>
                    </a:solidFill>
                  </a:tcPr>
                </a:tc>
                <a:extLst>
                  <a:ext uri="{0D108BD9-81ED-4DB2-BD59-A6C34878D82A}">
                    <a16:rowId xmlns:a16="http://schemas.microsoft.com/office/drawing/2014/main" val="10005"/>
                  </a:ext>
                </a:extLst>
              </a:tr>
              <a:tr h="497204">
                <a:tc>
                  <a:txBody>
                    <a:bodyPr/>
                    <a:lstStyle/>
                    <a:p>
                      <a:pPr algn="l"/>
                      <a:r>
                        <a:rPr sz="900">
                          <a:solidFill>
                            <a:srgbClr val="1A2E1E"/>
                          </a:solidFill>
                          <a:latin typeface="Calibri"/>
                        </a:rPr>
                        <a:t>M5</a:t>
                      </a:r>
                    </a:p>
                  </a:txBody>
                  <a:tcPr>
                    <a:solidFill>
                      <a:srgbClr val="F0F6F3"/>
                    </a:solidFill>
                  </a:tcPr>
                </a:tc>
                <a:tc>
                  <a:txBody>
                    <a:bodyPr/>
                    <a:lstStyle/>
                    <a:p>
                      <a:pPr algn="ctr"/>
                      <a:r>
                        <a:rPr sz="900">
                          <a:solidFill>
                            <a:srgbClr val="1A2E1E"/>
                          </a:solidFill>
                          <a:latin typeface="Calibri"/>
                        </a:rPr>
                        <a:t>M4 + Infrastructure  (L5)</a:t>
                      </a:r>
                    </a:p>
                  </a:txBody>
                  <a:tcPr>
                    <a:solidFill>
                      <a:srgbClr val="F0F6F3"/>
                    </a:solidFill>
                  </a:tcPr>
                </a:tc>
                <a:tc>
                  <a:txBody>
                    <a:bodyPr/>
                    <a:lstStyle/>
                    <a:p>
                      <a:pPr algn="ctr"/>
                      <a:r>
                        <a:rPr sz="900">
                          <a:solidFill>
                            <a:srgbClr val="1A2E1E"/>
                          </a:solidFill>
                          <a:latin typeface="Calibri"/>
                        </a:rPr>
                        <a:t>Cold storage capacity, road density index, rural wages</a:t>
                      </a:r>
                    </a:p>
                  </a:txBody>
                  <a:tcPr>
                    <a:solidFill>
                      <a:srgbClr val="F0F6F3"/>
                    </a:solidFill>
                  </a:tcPr>
                </a:tc>
                <a:tc>
                  <a:txBody>
                    <a:bodyPr/>
                    <a:lstStyle/>
                    <a:p>
                      <a:pPr algn="ctr"/>
                      <a:r>
                        <a:rPr sz="900">
                          <a:solidFill>
                            <a:srgbClr val="1A2E1E"/>
                          </a:solidFill>
                          <a:latin typeface="Calibri"/>
                        </a:rPr>
                        <a:t>Tests logistics constraint signals</a:t>
                      </a:r>
                    </a:p>
                  </a:txBody>
                  <a:tcPr>
                    <a:solidFill>
                      <a:srgbClr val="F0F6F3"/>
                    </a:solidFill>
                  </a:tcPr>
                </a:tc>
                <a:tc>
                  <a:txBody>
                    <a:bodyPr/>
                    <a:lstStyle/>
                    <a:p>
                      <a:pPr algn="ctr"/>
                      <a:r>
                        <a:rPr sz="900">
                          <a:solidFill>
                            <a:srgbClr val="1A2E1E"/>
                          </a:solidFill>
                          <a:latin typeface="Calibri"/>
                        </a:rPr>
                        <a:t>PENDING</a:t>
                      </a:r>
                    </a:p>
                  </a:txBody>
                  <a:tcPr>
                    <a:solidFill>
                      <a:srgbClr val="F0F6F3"/>
                    </a:solidFill>
                  </a:tcPr>
                </a:tc>
                <a:extLst>
                  <a:ext uri="{0D108BD9-81ED-4DB2-BD59-A6C34878D82A}">
                    <a16:rowId xmlns:a16="http://schemas.microsoft.com/office/drawing/2014/main" val="10006"/>
                  </a:ext>
                </a:extLst>
              </a:tr>
              <a:tr h="497211">
                <a:tc>
                  <a:txBody>
                    <a:bodyPr/>
                    <a:lstStyle/>
                    <a:p>
                      <a:pPr algn="l"/>
                      <a:r>
                        <a:rPr sz="900">
                          <a:solidFill>
                            <a:srgbClr val="1A2E1E"/>
                          </a:solidFill>
                          <a:latin typeface="Calibri"/>
                        </a:rPr>
                        <a:t>M6</a:t>
                      </a:r>
                    </a:p>
                  </a:txBody>
                  <a:tcPr>
                    <a:solidFill>
                      <a:srgbClr val="FFFFFF"/>
                    </a:solidFill>
                  </a:tcPr>
                </a:tc>
                <a:tc>
                  <a:txBody>
                    <a:bodyPr/>
                    <a:lstStyle/>
                    <a:p>
                      <a:pPr algn="ctr"/>
                      <a:r>
                        <a:rPr sz="900">
                          <a:solidFill>
                            <a:srgbClr val="1A2E1E"/>
                          </a:solidFill>
                          <a:latin typeface="Calibri"/>
                        </a:rPr>
                        <a:t>M5 + Policy / Trade  (L6)</a:t>
                      </a:r>
                    </a:p>
                  </a:txBody>
                  <a:tcPr>
                    <a:solidFill>
                      <a:srgbClr val="FFFFFF"/>
                    </a:solidFill>
                  </a:tcPr>
                </a:tc>
                <a:tc>
                  <a:txBody>
                    <a:bodyPr/>
                    <a:lstStyle/>
                    <a:p>
                      <a:pPr algn="ctr"/>
                      <a:r>
                        <a:rPr sz="900">
                          <a:solidFill>
                            <a:srgbClr val="1A2E1E"/>
                          </a:solidFill>
                          <a:latin typeface="Calibri"/>
                        </a:rPr>
                        <a:t>Export ban dummies, MEP levels, NAFED intervention dates</a:t>
                      </a:r>
                    </a:p>
                  </a:txBody>
                  <a:tcPr>
                    <a:solidFill>
                      <a:srgbClr val="FFFFFF"/>
                    </a:solidFill>
                  </a:tcPr>
                </a:tc>
                <a:tc>
                  <a:txBody>
                    <a:bodyPr/>
                    <a:lstStyle/>
                    <a:p>
                      <a:pPr algn="ctr"/>
                      <a:r>
                        <a:rPr sz="900">
                          <a:solidFill>
                            <a:srgbClr val="1A2E1E"/>
                          </a:solidFill>
                          <a:latin typeface="Calibri"/>
                        </a:rPr>
                        <a:t>Tests whether policy events are predictable price drivers</a:t>
                      </a:r>
                    </a:p>
                  </a:txBody>
                  <a:tcPr>
                    <a:solidFill>
                      <a:srgbClr val="FFFFFF"/>
                    </a:solidFill>
                  </a:tcPr>
                </a:tc>
                <a:tc>
                  <a:txBody>
                    <a:bodyPr/>
                    <a:lstStyle/>
                    <a:p>
                      <a:pPr algn="ctr"/>
                      <a:r>
                        <a:rPr sz="900">
                          <a:solidFill>
                            <a:srgbClr val="1A2E1E"/>
                          </a:solidFill>
                          <a:latin typeface="Calibri"/>
                        </a:rPr>
                        <a:t>BLOCKED</a:t>
                      </a:r>
                    </a:p>
                  </a:txBody>
                  <a:tcPr>
                    <a:solidFill>
                      <a:srgbClr val="FFFFFF"/>
                    </a:solidFill>
                  </a:tcPr>
                </a:tc>
                <a:extLst>
                  <a:ext uri="{0D108BD9-81ED-4DB2-BD59-A6C34878D82A}">
                    <a16:rowId xmlns:a16="http://schemas.microsoft.com/office/drawing/2014/main" val="10007"/>
                  </a:ext>
                </a:extLst>
              </a:tr>
            </a:tbl>
          </a:graphicData>
        </a:graphic>
      </p:graphicFrame>
      <p:sp>
        <p:nvSpPr>
          <p:cNvPr id="12" name="Rectangle 11"/>
          <p:cNvSpPr/>
          <p:nvPr/>
        </p:nvSpPr>
        <p:spPr>
          <a:xfrm>
            <a:off x="182880" y="5669280"/>
            <a:ext cx="201168" cy="201168"/>
          </a:xfrm>
          <a:prstGeom prst="rect">
            <a:avLst/>
          </a:prstGeom>
          <a:solidFill>
            <a:srgbClr val="0B6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38912" y="5650992"/>
            <a:ext cx="1280160" cy="256032"/>
          </a:xfrm>
          <a:prstGeom prst="rect">
            <a:avLst/>
          </a:prstGeom>
          <a:noFill/>
        </p:spPr>
        <p:txBody>
          <a:bodyPr wrap="square">
            <a:spAutoFit/>
          </a:bodyPr>
          <a:lstStyle/>
          <a:p>
            <a:pPr algn="l"/>
            <a:r>
              <a:rPr sz="900" b="0" i="0">
                <a:solidFill>
                  <a:srgbClr val="1A2E1E"/>
                </a:solidFill>
                <a:latin typeface="Calibri"/>
              </a:rPr>
              <a:t>RUNNING</a:t>
            </a:r>
          </a:p>
        </p:txBody>
      </p:sp>
      <p:sp>
        <p:nvSpPr>
          <p:cNvPr id="14" name="Rectangle 13"/>
          <p:cNvSpPr/>
          <p:nvPr/>
        </p:nvSpPr>
        <p:spPr>
          <a:xfrm>
            <a:off x="1737360" y="5669280"/>
            <a:ext cx="201168" cy="201168"/>
          </a:xfrm>
          <a:prstGeom prst="rect">
            <a:avLst/>
          </a:prstGeom>
          <a:solidFill>
            <a:srgbClr val="186A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993391" y="5650992"/>
            <a:ext cx="1280160" cy="256032"/>
          </a:xfrm>
          <a:prstGeom prst="rect">
            <a:avLst/>
          </a:prstGeom>
          <a:noFill/>
        </p:spPr>
        <p:txBody>
          <a:bodyPr wrap="square">
            <a:spAutoFit/>
          </a:bodyPr>
          <a:lstStyle/>
          <a:p>
            <a:pPr algn="l"/>
            <a:r>
              <a:rPr sz="900" b="0" i="0">
                <a:solidFill>
                  <a:srgbClr val="1A2E1E"/>
                </a:solidFill>
                <a:latin typeface="Calibri"/>
              </a:rPr>
              <a:t>BUILT</a:t>
            </a:r>
          </a:p>
        </p:txBody>
      </p:sp>
      <p:sp>
        <p:nvSpPr>
          <p:cNvPr id="16" name="Rectangle 15"/>
          <p:cNvSpPr/>
          <p:nvPr/>
        </p:nvSpPr>
        <p:spPr>
          <a:xfrm>
            <a:off x="3291840" y="5669280"/>
            <a:ext cx="201168" cy="201168"/>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547872" y="5650992"/>
            <a:ext cx="1280160" cy="256032"/>
          </a:xfrm>
          <a:prstGeom prst="rect">
            <a:avLst/>
          </a:prstGeom>
          <a:noFill/>
        </p:spPr>
        <p:txBody>
          <a:bodyPr wrap="square">
            <a:spAutoFit/>
          </a:bodyPr>
          <a:lstStyle/>
          <a:p>
            <a:pPr algn="l"/>
            <a:r>
              <a:rPr sz="900" b="0" i="0">
                <a:solidFill>
                  <a:srgbClr val="1A2E1E"/>
                </a:solidFill>
                <a:latin typeface="Calibri"/>
              </a:rPr>
              <a:t>PENDING</a:t>
            </a:r>
          </a:p>
        </p:txBody>
      </p:sp>
      <p:sp>
        <p:nvSpPr>
          <p:cNvPr id="18" name="Rectangle 17"/>
          <p:cNvSpPr/>
          <p:nvPr/>
        </p:nvSpPr>
        <p:spPr>
          <a:xfrm>
            <a:off x="4846320" y="5669280"/>
            <a:ext cx="201168" cy="201168"/>
          </a:xfrm>
          <a:prstGeom prst="rect">
            <a:avLst/>
          </a:prstGeom>
          <a:solidFill>
            <a:srgbClr val="9B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02352" y="5650992"/>
            <a:ext cx="1280160" cy="256032"/>
          </a:xfrm>
          <a:prstGeom prst="rect">
            <a:avLst/>
          </a:prstGeom>
          <a:noFill/>
        </p:spPr>
        <p:txBody>
          <a:bodyPr wrap="square">
            <a:spAutoFit/>
          </a:bodyPr>
          <a:lstStyle/>
          <a:p>
            <a:pPr algn="l"/>
            <a:r>
              <a:rPr sz="900" b="0" i="0">
                <a:solidFill>
                  <a:srgbClr val="1A2E1E"/>
                </a:solidFill>
                <a:latin typeface="Calibri"/>
              </a:rPr>
              <a:t>BLOCKED</a:t>
            </a:r>
          </a:p>
        </p:txBody>
      </p:sp>
      <p:pic>
        <p:nvPicPr>
          <p:cNvPr id="20" name="Picture 19" descr="fig_ablation_mape.png"/>
          <p:cNvPicPr>
            <a:picLocks noChangeAspect="1"/>
          </p:cNvPicPr>
          <p:nvPr/>
        </p:nvPicPr>
        <p:blipFill>
          <a:blip r:embed="rId3"/>
          <a:stretch>
            <a:fillRect/>
          </a:stretch>
        </p:blipFill>
        <p:spPr>
          <a:xfrm>
            <a:off x="6675120" y="5486400"/>
            <a:ext cx="2743200" cy="1005840"/>
          </a:xfrm>
          <a:prstGeom prst="rect">
            <a:avLst/>
          </a:prstGeom>
        </p:spPr>
      </p:pic>
      <p:pic>
        <p:nvPicPr>
          <p:cNvPr id="21" name="Picture 20" descr="fig_ablation_r2.png"/>
          <p:cNvPicPr>
            <a:picLocks noChangeAspect="1"/>
          </p:cNvPicPr>
          <p:nvPr/>
        </p:nvPicPr>
        <p:blipFill>
          <a:blip r:embed="rId4"/>
          <a:stretch>
            <a:fillRect/>
          </a:stretch>
        </p:blipFill>
        <p:spPr>
          <a:xfrm>
            <a:off x="9601200" y="5486400"/>
            <a:ext cx="2377440" cy="1005840"/>
          </a:xfrm>
          <a:prstGeom prst="rect">
            <a:avLst/>
          </a:prstGeom>
        </p:spPr>
      </p:pic>
      <p:sp>
        <p:nvSpPr>
          <p:cNvPr id="22" name="TextBox 21"/>
          <p:cNvSpPr txBox="1"/>
          <p:nvPr/>
        </p:nvSpPr>
        <p:spPr>
          <a:xfrm>
            <a:off x="182880" y="5943600"/>
            <a:ext cx="6217920" cy="594360"/>
          </a:xfrm>
          <a:prstGeom prst="rect">
            <a:avLst/>
          </a:prstGeom>
          <a:noFill/>
        </p:spPr>
        <p:txBody>
          <a:bodyPr wrap="square">
            <a:spAutoFit/>
          </a:bodyPr>
          <a:lstStyle/>
          <a:p>
            <a:pPr algn="l"/>
            <a:r>
              <a:rPr sz="950" b="0" i="1">
                <a:solidFill>
                  <a:srgbClr val="5A6A60"/>
                </a:solidFill>
                <a:latin typeface="Calibri"/>
              </a:rPr>
              <a:t>PAPER HYPOTHESIS: Each layer from M0→M4 reduces MAPE significantly. M3 (satellite) and M4 (climate) together should show the largest incremental gain at h=8 weeks — because supply-side signals matter most for medium-range forecasting.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64008" cy="6858000"/>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 y="0"/>
            <a:ext cx="12124944" cy="960120"/>
          </a:xfrm>
          <a:prstGeom prst="rect">
            <a:avLst/>
          </a:prstGeom>
          <a:solidFill>
            <a:srgbClr val="0D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4008" y="960120"/>
            <a:ext cx="12124944" cy="32004"/>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 y="64008"/>
            <a:ext cx="11704320" cy="475488"/>
          </a:xfrm>
          <a:prstGeom prst="rect">
            <a:avLst/>
          </a:prstGeom>
          <a:noFill/>
        </p:spPr>
        <p:txBody>
          <a:bodyPr wrap="square">
            <a:spAutoFit/>
          </a:bodyPr>
          <a:lstStyle/>
          <a:p>
            <a:pPr algn="l"/>
            <a:r>
              <a:rPr sz="2100" b="1" i="0">
                <a:solidFill>
                  <a:srgbClr val="FFFFFF"/>
                </a:solidFill>
                <a:latin typeface="Calibri"/>
              </a:rPr>
              <a:t>Code &amp; Data Infrastructure</a:t>
            </a:r>
          </a:p>
        </p:txBody>
      </p:sp>
      <p:sp>
        <p:nvSpPr>
          <p:cNvPr id="6" name="TextBox 5"/>
          <p:cNvSpPr txBox="1"/>
          <p:nvPr/>
        </p:nvSpPr>
        <p:spPr>
          <a:xfrm>
            <a:off x="201168" y="548640"/>
            <a:ext cx="11704320" cy="365760"/>
          </a:xfrm>
          <a:prstGeom prst="rect">
            <a:avLst/>
          </a:prstGeom>
          <a:noFill/>
        </p:spPr>
        <p:txBody>
          <a:bodyPr wrap="square">
            <a:spAutoFit/>
          </a:bodyPr>
          <a:lstStyle/>
          <a:p>
            <a:pPr algn="l"/>
            <a:r>
              <a:rPr sz="1300" b="0" i="1">
                <a:solidFill>
                  <a:srgbClr val="C8DDD0"/>
                </a:solidFill>
                <a:latin typeface="Calibri"/>
              </a:rPr>
              <a:t>16 Python scripts · 5 GEE scripts · 29 paper-ready figures · GitHub repository</a:t>
            </a:r>
          </a:p>
        </p:txBody>
      </p:sp>
      <p:sp>
        <p:nvSpPr>
          <p:cNvPr id="7" name="Rectangle 6"/>
          <p:cNvSpPr/>
          <p:nvPr/>
        </p:nvSpPr>
        <p:spPr>
          <a:xfrm>
            <a:off x="0" y="6565392"/>
            <a:ext cx="12188952" cy="292608"/>
          </a:xfrm>
          <a:prstGeom prst="rect">
            <a:avLst/>
          </a:prstGeom>
          <a:solidFill>
            <a:srgbClr val="0D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01168" y="6583680"/>
            <a:ext cx="7315200" cy="237744"/>
          </a:xfrm>
          <a:prstGeom prst="rect">
            <a:avLst/>
          </a:prstGeom>
          <a:noFill/>
        </p:spPr>
        <p:txBody>
          <a:bodyPr wrap="square">
            <a:spAutoFit/>
          </a:bodyPr>
          <a:lstStyle/>
          <a:p>
            <a:pPr algn="l"/>
            <a:r>
              <a:rPr sz="850" b="0" i="0">
                <a:solidFill>
                  <a:srgbClr val="C8DDD0"/>
                </a:solidFill>
                <a:latin typeface="Calibri"/>
              </a:rPr>
              <a:t>TOP Digital Twin  ·  SKUAST-K  ·  HADP-04  ·  July 2026</a:t>
            </a:r>
          </a:p>
        </p:txBody>
      </p:sp>
      <p:sp>
        <p:nvSpPr>
          <p:cNvPr id="9" name="TextBox 8"/>
          <p:cNvSpPr txBox="1"/>
          <p:nvPr/>
        </p:nvSpPr>
        <p:spPr>
          <a:xfrm>
            <a:off x="7589520" y="6583680"/>
            <a:ext cx="4389120" cy="237744"/>
          </a:xfrm>
          <a:prstGeom prst="rect">
            <a:avLst/>
          </a:prstGeom>
          <a:noFill/>
        </p:spPr>
        <p:txBody>
          <a:bodyPr wrap="square">
            <a:spAutoFit/>
          </a:bodyPr>
          <a:lstStyle/>
          <a:p>
            <a:pPr algn="r"/>
            <a:r>
              <a:rPr sz="850" b="0" i="0">
                <a:solidFill>
                  <a:srgbClr val="C8DDD0"/>
                </a:solidFill>
                <a:latin typeface="Calibri"/>
              </a:rPr>
              <a:t>CONFIDENTIAL — PI REVIEW</a:t>
            </a:r>
          </a:p>
        </p:txBody>
      </p:sp>
      <p:sp>
        <p:nvSpPr>
          <p:cNvPr id="10" name="TextBox 9"/>
          <p:cNvSpPr txBox="1"/>
          <p:nvPr/>
        </p:nvSpPr>
        <p:spPr>
          <a:xfrm>
            <a:off x="182880" y="1097280"/>
            <a:ext cx="7772400" cy="320040"/>
          </a:xfrm>
          <a:prstGeom prst="rect">
            <a:avLst/>
          </a:prstGeom>
          <a:noFill/>
        </p:spPr>
        <p:txBody>
          <a:bodyPr wrap="square">
            <a:spAutoFit/>
          </a:bodyPr>
          <a:lstStyle/>
          <a:p>
            <a:pPr algn="l"/>
            <a:r>
              <a:rPr sz="1100" b="1" i="0">
                <a:solidFill>
                  <a:srgbClr val="1E6B45"/>
                </a:solidFill>
                <a:latin typeface="Calibri"/>
              </a:rPr>
              <a:t>PYTHON SCRIPTS  (all in scripts/ directory)</a:t>
            </a:r>
          </a:p>
        </p:txBody>
      </p:sp>
      <p:graphicFrame>
        <p:nvGraphicFramePr>
          <p:cNvPr id="11" name="Table 10"/>
          <p:cNvGraphicFramePr>
            <a:graphicFrameLocks noGrp="1"/>
          </p:cNvGraphicFramePr>
          <p:nvPr/>
        </p:nvGraphicFramePr>
        <p:xfrm>
          <a:off x="182880" y="1463040"/>
          <a:ext cx="7772400" cy="4754880"/>
        </p:xfrm>
        <a:graphic>
          <a:graphicData uri="http://schemas.openxmlformats.org/drawingml/2006/table">
            <a:tbl>
              <a:tblPr firstRow="1" bandRow="1">
                <a:tableStyleId>{5C22544A-7EE6-4342-B048-85BDC9FD1C3A}</a:tableStyleId>
              </a:tblPr>
              <a:tblGrid>
                <a:gridCol w="64008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3657600">
                  <a:extLst>
                    <a:ext uri="{9D8B030D-6E8A-4147-A177-3AD203B41FA5}">
                      <a16:colId xmlns:a16="http://schemas.microsoft.com/office/drawing/2014/main" val="20003"/>
                    </a:ext>
                  </a:extLst>
                </a:gridCol>
              </a:tblGrid>
              <a:tr h="528320">
                <a:tc>
                  <a:txBody>
                    <a:bodyPr/>
                    <a:lstStyle/>
                    <a:p>
                      <a:pPr algn="ctr"/>
                      <a:r>
                        <a:rPr sz="1000" b="1">
                          <a:solidFill>
                            <a:srgbClr val="FFFFFF"/>
                          </a:solidFill>
                          <a:latin typeface="Calibri"/>
                        </a:rPr>
                        <a:t>Script</a:t>
                      </a:r>
                    </a:p>
                  </a:txBody>
                  <a:tcPr>
                    <a:solidFill>
                      <a:srgbClr val="0D2240"/>
                    </a:solidFill>
                  </a:tcPr>
                </a:tc>
                <a:tc>
                  <a:txBody>
                    <a:bodyPr/>
                    <a:lstStyle/>
                    <a:p>
                      <a:pPr algn="ctr"/>
                      <a:r>
                        <a:rPr sz="1000" b="1">
                          <a:solidFill>
                            <a:srgbClr val="FFFFFF"/>
                          </a:solidFill>
                          <a:latin typeface="Calibri"/>
                        </a:rPr>
                        <a:t>Function</a:t>
                      </a:r>
                    </a:p>
                  </a:txBody>
                  <a:tcPr>
                    <a:solidFill>
                      <a:srgbClr val="0D2240"/>
                    </a:solidFill>
                  </a:tcPr>
                </a:tc>
                <a:tc>
                  <a:txBody>
                    <a:bodyPr/>
                    <a:lstStyle/>
                    <a:p>
                      <a:pPr algn="ctr"/>
                      <a:r>
                        <a:rPr sz="1000" b="1">
                          <a:solidFill>
                            <a:srgbClr val="FFFFFF"/>
                          </a:solidFill>
                          <a:latin typeface="Calibri"/>
                        </a:rPr>
                        <a:t>Lines</a:t>
                      </a:r>
                    </a:p>
                  </a:txBody>
                  <a:tcPr>
                    <a:solidFill>
                      <a:srgbClr val="0D2240"/>
                    </a:solidFill>
                  </a:tcPr>
                </a:tc>
                <a:tc>
                  <a:txBody>
                    <a:bodyPr/>
                    <a:lstStyle/>
                    <a:p>
                      <a:pPr algn="ctr"/>
                      <a:r>
                        <a:rPr sz="1000" b="1">
                          <a:solidFill>
                            <a:srgbClr val="FFFFFF"/>
                          </a:solidFill>
                          <a:latin typeface="Calibri"/>
                        </a:rPr>
                        <a:t>Outputs</a:t>
                      </a:r>
                    </a:p>
                  </a:txBody>
                  <a:tcPr>
                    <a:solidFill>
                      <a:srgbClr val="0D2240"/>
                    </a:solidFill>
                  </a:tcPr>
                </a:tc>
                <a:extLst>
                  <a:ext uri="{0D108BD9-81ED-4DB2-BD59-A6C34878D82A}">
                    <a16:rowId xmlns:a16="http://schemas.microsoft.com/office/drawing/2014/main" val="10000"/>
                  </a:ext>
                </a:extLst>
              </a:tr>
              <a:tr h="528320">
                <a:tc>
                  <a:txBody>
                    <a:bodyPr/>
                    <a:lstStyle/>
                    <a:p>
                      <a:pPr algn="l"/>
                      <a:r>
                        <a:rPr sz="950">
                          <a:solidFill>
                            <a:srgbClr val="1A2E1E"/>
                          </a:solidFill>
                          <a:latin typeface="Calibri"/>
                        </a:rPr>
                        <a:t>09</a:t>
                      </a:r>
                    </a:p>
                  </a:txBody>
                  <a:tcPr>
                    <a:solidFill>
                      <a:srgbClr val="FFFFFF"/>
                    </a:solidFill>
                  </a:tcPr>
                </a:tc>
                <a:tc>
                  <a:txBody>
                    <a:bodyPr/>
                    <a:lstStyle/>
                    <a:p>
                      <a:pPr algn="ctr"/>
                      <a:r>
                        <a:rPr sz="950">
                          <a:solidFill>
                            <a:srgbClr val="1A2E1E"/>
                          </a:solidFill>
                          <a:latin typeface="Calibri"/>
                        </a:rPr>
                        <a:t>Agmarknet Weekly Panel</a:t>
                      </a:r>
                    </a:p>
                  </a:txBody>
                  <a:tcPr>
                    <a:solidFill>
                      <a:srgbClr val="FFFFFF"/>
                    </a:solidFill>
                  </a:tcPr>
                </a:tc>
                <a:tc>
                  <a:txBody>
                    <a:bodyPr/>
                    <a:lstStyle/>
                    <a:p>
                      <a:pPr algn="ctr"/>
                      <a:r>
                        <a:rPr sz="950">
                          <a:solidFill>
                            <a:srgbClr val="1A2E1E"/>
                          </a:solidFill>
                          <a:latin typeface="Calibri"/>
                        </a:rPr>
                        <a:t>249</a:t>
                      </a:r>
                    </a:p>
                  </a:txBody>
                  <a:tcPr>
                    <a:solidFill>
                      <a:srgbClr val="FFFFFF"/>
                    </a:solidFill>
                  </a:tcPr>
                </a:tc>
                <a:tc>
                  <a:txBody>
                    <a:bodyPr/>
                    <a:lstStyle/>
                    <a:p>
                      <a:pPr algn="ctr"/>
                      <a:r>
                        <a:rPr sz="950">
                          <a:solidFill>
                            <a:srgbClr val="1A2E1E"/>
                          </a:solidFill>
                          <a:latin typeface="Calibri"/>
                        </a:rPr>
                        <a:t>tomato/onion/potato_weekly_panel.csv</a:t>
                      </a:r>
                    </a:p>
                  </a:txBody>
                  <a:tcPr>
                    <a:solidFill>
                      <a:srgbClr val="FFFFFF"/>
                    </a:solidFill>
                  </a:tcPr>
                </a:tc>
                <a:extLst>
                  <a:ext uri="{0D108BD9-81ED-4DB2-BD59-A6C34878D82A}">
                    <a16:rowId xmlns:a16="http://schemas.microsoft.com/office/drawing/2014/main" val="10001"/>
                  </a:ext>
                </a:extLst>
              </a:tr>
              <a:tr h="528320">
                <a:tc>
                  <a:txBody>
                    <a:bodyPr/>
                    <a:lstStyle/>
                    <a:p>
                      <a:pPr algn="l"/>
                      <a:r>
                        <a:rPr sz="950">
                          <a:solidFill>
                            <a:srgbClr val="1A2E1E"/>
                          </a:solidFill>
                          <a:latin typeface="Calibri"/>
                        </a:rPr>
                        <a:t>10</a:t>
                      </a:r>
                    </a:p>
                  </a:txBody>
                  <a:tcPr>
                    <a:solidFill>
                      <a:srgbClr val="F0F6F3"/>
                    </a:solidFill>
                  </a:tcPr>
                </a:tc>
                <a:tc>
                  <a:txBody>
                    <a:bodyPr/>
                    <a:lstStyle/>
                    <a:p>
                      <a:pPr algn="ctr"/>
                      <a:r>
                        <a:rPr sz="950">
                          <a:solidFill>
                            <a:srgbClr val="1A2E1E"/>
                          </a:solidFill>
                          <a:latin typeface="Calibri"/>
                        </a:rPr>
                        <a:t>CMIE Macro Parser</a:t>
                      </a:r>
                    </a:p>
                  </a:txBody>
                  <a:tcPr>
                    <a:solidFill>
                      <a:srgbClr val="F0F6F3"/>
                    </a:solidFill>
                  </a:tcPr>
                </a:tc>
                <a:tc>
                  <a:txBody>
                    <a:bodyPr/>
                    <a:lstStyle/>
                    <a:p>
                      <a:pPr algn="ctr"/>
                      <a:r>
                        <a:rPr sz="950">
                          <a:solidFill>
                            <a:srgbClr val="1A2E1E"/>
                          </a:solidFill>
                          <a:latin typeface="Calibri"/>
                        </a:rPr>
                        <a:t>332</a:t>
                      </a:r>
                    </a:p>
                  </a:txBody>
                  <a:tcPr>
                    <a:solidFill>
                      <a:srgbClr val="F0F6F3"/>
                    </a:solidFill>
                  </a:tcPr>
                </a:tc>
                <a:tc>
                  <a:txBody>
                    <a:bodyPr/>
                    <a:lstStyle/>
                    <a:p>
                      <a:pPr algn="ctr"/>
                      <a:r>
                        <a:rPr sz="950">
                          <a:solidFill>
                            <a:srgbClr val="1A2E1E"/>
                          </a:solidFill>
                          <a:latin typeface="Calibri"/>
                        </a:rPr>
                        <a:t>cmie_macro_2017_2025.csv</a:t>
                      </a:r>
                    </a:p>
                  </a:txBody>
                  <a:tcPr>
                    <a:solidFill>
                      <a:srgbClr val="F0F6F3"/>
                    </a:solidFill>
                  </a:tcPr>
                </a:tc>
                <a:extLst>
                  <a:ext uri="{0D108BD9-81ED-4DB2-BD59-A6C34878D82A}">
                    <a16:rowId xmlns:a16="http://schemas.microsoft.com/office/drawing/2014/main" val="10002"/>
                  </a:ext>
                </a:extLst>
              </a:tr>
              <a:tr h="528320">
                <a:tc>
                  <a:txBody>
                    <a:bodyPr/>
                    <a:lstStyle/>
                    <a:p>
                      <a:pPr algn="l"/>
                      <a:r>
                        <a:rPr sz="950">
                          <a:solidFill>
                            <a:srgbClr val="1A2E1E"/>
                          </a:solidFill>
                          <a:latin typeface="Calibri"/>
                        </a:rPr>
                        <a:t>11</a:t>
                      </a:r>
                    </a:p>
                  </a:txBody>
                  <a:tcPr>
                    <a:solidFill>
                      <a:srgbClr val="FFFFFF"/>
                    </a:solidFill>
                  </a:tcPr>
                </a:tc>
                <a:tc>
                  <a:txBody>
                    <a:bodyPr/>
                    <a:lstStyle/>
                    <a:p>
                      <a:pPr algn="ctr"/>
                      <a:r>
                        <a:rPr sz="950">
                          <a:solidFill>
                            <a:srgbClr val="1A2E1E"/>
                          </a:solidFill>
                          <a:latin typeface="Calibri"/>
                        </a:rPr>
                        <a:t>Market Selection &amp; Coverage</a:t>
                      </a:r>
                    </a:p>
                  </a:txBody>
                  <a:tcPr>
                    <a:solidFill>
                      <a:srgbClr val="FFFFFF"/>
                    </a:solidFill>
                  </a:tcPr>
                </a:tc>
                <a:tc>
                  <a:txBody>
                    <a:bodyPr/>
                    <a:lstStyle/>
                    <a:p>
                      <a:pPr algn="ctr"/>
                      <a:r>
                        <a:rPr sz="950">
                          <a:solidFill>
                            <a:srgbClr val="1A2E1E"/>
                          </a:solidFill>
                          <a:latin typeface="Calibri"/>
                        </a:rPr>
                        <a:t>358</a:t>
                      </a:r>
                    </a:p>
                  </a:txBody>
                  <a:tcPr>
                    <a:solidFill>
                      <a:srgbClr val="FFFFFF"/>
                    </a:solidFill>
                  </a:tcPr>
                </a:tc>
                <a:tc>
                  <a:txBody>
                    <a:bodyPr/>
                    <a:lstStyle/>
                    <a:p>
                      <a:pPr algn="ctr"/>
                      <a:r>
                        <a:rPr sz="950">
                          <a:solidFill>
                            <a:srgbClr val="1A2E1E"/>
                          </a:solidFill>
                          <a:latin typeface="Calibri"/>
                        </a:rPr>
                        <a:t>filtered_panel_top.csv + 5 figures</a:t>
                      </a:r>
                    </a:p>
                  </a:txBody>
                  <a:tcPr>
                    <a:solidFill>
                      <a:srgbClr val="FFFFFF"/>
                    </a:solidFill>
                  </a:tcPr>
                </a:tc>
                <a:extLst>
                  <a:ext uri="{0D108BD9-81ED-4DB2-BD59-A6C34878D82A}">
                    <a16:rowId xmlns:a16="http://schemas.microsoft.com/office/drawing/2014/main" val="10003"/>
                  </a:ext>
                </a:extLst>
              </a:tr>
              <a:tr h="528320">
                <a:tc>
                  <a:txBody>
                    <a:bodyPr/>
                    <a:lstStyle/>
                    <a:p>
                      <a:pPr algn="l"/>
                      <a:r>
                        <a:rPr sz="950">
                          <a:solidFill>
                            <a:srgbClr val="1A2E1E"/>
                          </a:solidFill>
                          <a:latin typeface="Calibri"/>
                        </a:rPr>
                        <a:t>12</a:t>
                      </a:r>
                    </a:p>
                  </a:txBody>
                  <a:tcPr>
                    <a:solidFill>
                      <a:srgbClr val="F0F6F3"/>
                    </a:solidFill>
                  </a:tcPr>
                </a:tc>
                <a:tc>
                  <a:txBody>
                    <a:bodyPr/>
                    <a:lstStyle/>
                    <a:p>
                      <a:pPr algn="ctr"/>
                      <a:r>
                        <a:rPr sz="950">
                          <a:solidFill>
                            <a:srgbClr val="1A2E1E"/>
                          </a:solidFill>
                          <a:latin typeface="Calibri"/>
                        </a:rPr>
                        <a:t>LightGBM Rolling-Origin CV</a:t>
                      </a:r>
                    </a:p>
                  </a:txBody>
                  <a:tcPr>
                    <a:solidFill>
                      <a:srgbClr val="F0F6F3"/>
                    </a:solidFill>
                  </a:tcPr>
                </a:tc>
                <a:tc>
                  <a:txBody>
                    <a:bodyPr/>
                    <a:lstStyle/>
                    <a:p>
                      <a:pPr algn="ctr"/>
                      <a:r>
                        <a:rPr sz="950">
                          <a:solidFill>
                            <a:srgbClr val="1A2E1E"/>
                          </a:solidFill>
                          <a:latin typeface="Calibri"/>
                        </a:rPr>
                        <a:t>472</a:t>
                      </a:r>
                    </a:p>
                  </a:txBody>
                  <a:tcPr>
                    <a:solidFill>
                      <a:srgbClr val="F0F6F3"/>
                    </a:solidFill>
                  </a:tcPr>
                </a:tc>
                <a:tc>
                  <a:txBody>
                    <a:bodyPr/>
                    <a:lstStyle/>
                    <a:p>
                      <a:pPr algn="ctr"/>
                      <a:r>
                        <a:rPr sz="950">
                          <a:solidFill>
                            <a:srgbClr val="1A2E1E"/>
                          </a:solidFill>
                          <a:latin typeface="Calibri"/>
                        </a:rPr>
                        <a:t>Rolling RMSE/MAPE/R² + SHAP figures</a:t>
                      </a:r>
                    </a:p>
                  </a:txBody>
                  <a:tcPr>
                    <a:solidFill>
                      <a:srgbClr val="F0F6F3"/>
                    </a:solidFill>
                  </a:tcPr>
                </a:tc>
                <a:extLst>
                  <a:ext uri="{0D108BD9-81ED-4DB2-BD59-A6C34878D82A}">
                    <a16:rowId xmlns:a16="http://schemas.microsoft.com/office/drawing/2014/main" val="10004"/>
                  </a:ext>
                </a:extLst>
              </a:tr>
              <a:tr h="528320">
                <a:tc>
                  <a:txBody>
                    <a:bodyPr/>
                    <a:lstStyle/>
                    <a:p>
                      <a:pPr algn="l"/>
                      <a:r>
                        <a:rPr sz="950">
                          <a:solidFill>
                            <a:srgbClr val="1A2E1E"/>
                          </a:solidFill>
                          <a:latin typeface="Calibri"/>
                        </a:rPr>
                        <a:t>13</a:t>
                      </a:r>
                    </a:p>
                  </a:txBody>
                  <a:tcPr>
                    <a:solidFill>
                      <a:srgbClr val="FFFFFF"/>
                    </a:solidFill>
                  </a:tcPr>
                </a:tc>
                <a:tc>
                  <a:txBody>
                    <a:bodyPr/>
                    <a:lstStyle/>
                    <a:p>
                      <a:pPr algn="ctr"/>
                      <a:r>
                        <a:rPr sz="950">
                          <a:solidFill>
                            <a:srgbClr val="1A2E1E"/>
                          </a:solidFill>
                          <a:latin typeface="Calibri"/>
                        </a:rPr>
                        <a:t>Benchmark Models</a:t>
                      </a:r>
                    </a:p>
                  </a:txBody>
                  <a:tcPr>
                    <a:solidFill>
                      <a:srgbClr val="FFFFFF"/>
                    </a:solidFill>
                  </a:tcPr>
                </a:tc>
                <a:tc>
                  <a:txBody>
                    <a:bodyPr/>
                    <a:lstStyle/>
                    <a:p>
                      <a:pPr algn="ctr"/>
                      <a:r>
                        <a:rPr sz="950">
                          <a:solidFill>
                            <a:srgbClr val="1A2E1E"/>
                          </a:solidFill>
                          <a:latin typeface="Calibri"/>
                        </a:rPr>
                        <a:t>366</a:t>
                      </a:r>
                    </a:p>
                  </a:txBody>
                  <a:tcPr>
                    <a:solidFill>
                      <a:srgbClr val="FFFFFF"/>
                    </a:solidFill>
                  </a:tcPr>
                </a:tc>
                <a:tc>
                  <a:txBody>
                    <a:bodyPr/>
                    <a:lstStyle/>
                    <a:p>
                      <a:pPr algn="ctr"/>
                      <a:r>
                        <a:rPr sz="950">
                          <a:solidFill>
                            <a:srgbClr val="1A2E1E"/>
                          </a:solidFill>
                          <a:latin typeface="Calibri"/>
                        </a:rPr>
                        <a:t>Benchmark comparison figures</a:t>
                      </a:r>
                    </a:p>
                  </a:txBody>
                  <a:tcPr>
                    <a:solidFill>
                      <a:srgbClr val="FFFFFF"/>
                    </a:solidFill>
                  </a:tcPr>
                </a:tc>
                <a:extLst>
                  <a:ext uri="{0D108BD9-81ED-4DB2-BD59-A6C34878D82A}">
                    <a16:rowId xmlns:a16="http://schemas.microsoft.com/office/drawing/2014/main" val="10005"/>
                  </a:ext>
                </a:extLst>
              </a:tr>
              <a:tr h="528320">
                <a:tc>
                  <a:txBody>
                    <a:bodyPr/>
                    <a:lstStyle/>
                    <a:p>
                      <a:pPr algn="l"/>
                      <a:r>
                        <a:rPr sz="950">
                          <a:solidFill>
                            <a:srgbClr val="1A2E1E"/>
                          </a:solidFill>
                          <a:latin typeface="Calibri"/>
                        </a:rPr>
                        <a:t>14</a:t>
                      </a:r>
                    </a:p>
                  </a:txBody>
                  <a:tcPr>
                    <a:solidFill>
                      <a:srgbClr val="F0F6F3"/>
                    </a:solidFill>
                  </a:tcPr>
                </a:tc>
                <a:tc>
                  <a:txBody>
                    <a:bodyPr/>
                    <a:lstStyle/>
                    <a:p>
                      <a:pPr algn="ctr"/>
                      <a:r>
                        <a:rPr sz="950">
                          <a:solidFill>
                            <a:srgbClr val="1A2E1E"/>
                          </a:solidFill>
                          <a:latin typeface="Calibri"/>
                        </a:rPr>
                        <a:t>Satellite &amp; Climate Features</a:t>
                      </a:r>
                    </a:p>
                  </a:txBody>
                  <a:tcPr>
                    <a:solidFill>
                      <a:srgbClr val="F0F6F3"/>
                    </a:solidFill>
                  </a:tcPr>
                </a:tc>
                <a:tc>
                  <a:txBody>
                    <a:bodyPr/>
                    <a:lstStyle/>
                    <a:p>
                      <a:pPr algn="ctr"/>
                      <a:r>
                        <a:rPr sz="950">
                          <a:solidFill>
                            <a:srgbClr val="1A2E1E"/>
                          </a:solidFill>
                          <a:latin typeface="Calibri"/>
                        </a:rPr>
                        <a:t>650</a:t>
                      </a:r>
                    </a:p>
                  </a:txBody>
                  <a:tcPr>
                    <a:solidFill>
                      <a:srgbClr val="F0F6F3"/>
                    </a:solidFill>
                  </a:tcPr>
                </a:tc>
                <a:tc>
                  <a:txBody>
                    <a:bodyPr/>
                    <a:lstStyle/>
                    <a:p>
                      <a:pPr algn="ctr"/>
                      <a:r>
                        <a:rPr sz="950">
                          <a:solidFill>
                            <a:srgbClr val="1A2E1E"/>
                          </a:solidFill>
                          <a:latin typeface="Calibri"/>
                        </a:rPr>
                        <a:t>zone_weekly / crop_weekly / market_zone .csv</a:t>
                      </a:r>
                    </a:p>
                  </a:txBody>
                  <a:tcPr>
                    <a:solidFill>
                      <a:srgbClr val="F0F6F3"/>
                    </a:solidFill>
                  </a:tcPr>
                </a:tc>
                <a:extLst>
                  <a:ext uri="{0D108BD9-81ED-4DB2-BD59-A6C34878D82A}">
                    <a16:rowId xmlns:a16="http://schemas.microsoft.com/office/drawing/2014/main" val="10006"/>
                  </a:ext>
                </a:extLst>
              </a:tr>
              <a:tr h="528320">
                <a:tc>
                  <a:txBody>
                    <a:bodyPr/>
                    <a:lstStyle/>
                    <a:p>
                      <a:pPr algn="l"/>
                      <a:r>
                        <a:rPr sz="950">
                          <a:solidFill>
                            <a:srgbClr val="1A2E1E"/>
                          </a:solidFill>
                          <a:latin typeface="Calibri"/>
                        </a:rPr>
                        <a:t>15</a:t>
                      </a:r>
                    </a:p>
                  </a:txBody>
                  <a:tcPr>
                    <a:solidFill>
                      <a:srgbClr val="FFFFFF"/>
                    </a:solidFill>
                  </a:tcPr>
                </a:tc>
                <a:tc>
                  <a:txBody>
                    <a:bodyPr/>
                    <a:lstStyle/>
                    <a:p>
                      <a:pPr algn="ctr"/>
                      <a:r>
                        <a:rPr sz="950">
                          <a:solidFill>
                            <a:srgbClr val="1A2E1E"/>
                          </a:solidFill>
                          <a:latin typeface="Calibri"/>
                        </a:rPr>
                        <a:t>Ablation Study M0–M4</a:t>
                      </a:r>
                    </a:p>
                  </a:txBody>
                  <a:tcPr>
                    <a:solidFill>
                      <a:srgbClr val="FFFFFF"/>
                    </a:solidFill>
                  </a:tcPr>
                </a:tc>
                <a:tc>
                  <a:txBody>
                    <a:bodyPr/>
                    <a:lstStyle/>
                    <a:p>
                      <a:pPr algn="ctr"/>
                      <a:r>
                        <a:rPr sz="950">
                          <a:solidFill>
                            <a:srgbClr val="1A2E1E"/>
                          </a:solidFill>
                          <a:latin typeface="Calibri"/>
                        </a:rPr>
                        <a:t>607</a:t>
                      </a:r>
                    </a:p>
                  </a:txBody>
                  <a:tcPr>
                    <a:solidFill>
                      <a:srgbClr val="FFFFFF"/>
                    </a:solidFill>
                  </a:tcPr>
                </a:tc>
                <a:tc>
                  <a:txBody>
                    <a:bodyPr/>
                    <a:lstStyle/>
                    <a:p>
                      <a:pPr algn="ctr"/>
                      <a:r>
                        <a:rPr sz="950">
                          <a:solidFill>
                            <a:srgbClr val="1A2E1E"/>
                          </a:solidFill>
                          <a:latin typeface="Calibri"/>
                        </a:rPr>
                        <a:t>Ablation MAPE/R² heatmaps</a:t>
                      </a:r>
                    </a:p>
                  </a:txBody>
                  <a:tcPr>
                    <a:solidFill>
                      <a:srgbClr val="FFFFFF"/>
                    </a:solidFill>
                  </a:tcPr>
                </a:tc>
                <a:extLst>
                  <a:ext uri="{0D108BD9-81ED-4DB2-BD59-A6C34878D82A}">
                    <a16:rowId xmlns:a16="http://schemas.microsoft.com/office/drawing/2014/main" val="10007"/>
                  </a:ext>
                </a:extLst>
              </a:tr>
              <a:tr h="528320">
                <a:tc>
                  <a:txBody>
                    <a:bodyPr/>
                    <a:lstStyle/>
                    <a:p>
                      <a:pPr algn="l"/>
                      <a:r>
                        <a:rPr sz="950">
                          <a:solidFill>
                            <a:srgbClr val="1A2E1E"/>
                          </a:solidFill>
                          <a:latin typeface="Calibri"/>
                        </a:rPr>
                        <a:t>16</a:t>
                      </a:r>
                    </a:p>
                  </a:txBody>
                  <a:tcPr>
                    <a:solidFill>
                      <a:srgbClr val="F0F6F3"/>
                    </a:solidFill>
                  </a:tcPr>
                </a:tc>
                <a:tc>
                  <a:txBody>
                    <a:bodyPr/>
                    <a:lstStyle/>
                    <a:p>
                      <a:pPr algn="ctr"/>
                      <a:r>
                        <a:rPr sz="950">
                          <a:solidFill>
                            <a:srgbClr val="1A2E1E"/>
                          </a:solidFill>
                          <a:latin typeface="Calibri"/>
                        </a:rPr>
                        <a:t>Zone Assignment</a:t>
                      </a:r>
                    </a:p>
                  </a:txBody>
                  <a:tcPr>
                    <a:solidFill>
                      <a:srgbClr val="F0F6F3"/>
                    </a:solidFill>
                  </a:tcPr>
                </a:tc>
                <a:tc>
                  <a:txBody>
                    <a:bodyPr/>
                    <a:lstStyle/>
                    <a:p>
                      <a:pPr algn="ctr"/>
                      <a:r>
                        <a:rPr sz="950">
                          <a:solidFill>
                            <a:srgbClr val="1A2E1E"/>
                          </a:solidFill>
                          <a:latin typeface="Calibri"/>
                        </a:rPr>
                        <a:t>443</a:t>
                      </a:r>
                    </a:p>
                  </a:txBody>
                  <a:tcPr>
                    <a:solidFill>
                      <a:srgbClr val="F0F6F3"/>
                    </a:solidFill>
                  </a:tcPr>
                </a:tc>
                <a:tc>
                  <a:txBody>
                    <a:bodyPr/>
                    <a:lstStyle/>
                    <a:p>
                      <a:pPr algn="ctr"/>
                      <a:r>
                        <a:rPr sz="950">
                          <a:solidFill>
                            <a:srgbClr val="1A2E1E"/>
                          </a:solidFill>
                          <a:latin typeface="Calibri"/>
                        </a:rPr>
                        <a:t>zone_assignment.csv + 3 map figures</a:t>
                      </a:r>
                    </a:p>
                  </a:txBody>
                  <a:tcPr>
                    <a:solidFill>
                      <a:srgbClr val="F0F6F3"/>
                    </a:solidFill>
                  </a:tcPr>
                </a:tc>
                <a:extLst>
                  <a:ext uri="{0D108BD9-81ED-4DB2-BD59-A6C34878D82A}">
                    <a16:rowId xmlns:a16="http://schemas.microsoft.com/office/drawing/2014/main" val="10008"/>
                  </a:ext>
                </a:extLst>
              </a:tr>
            </a:tbl>
          </a:graphicData>
        </a:graphic>
      </p:graphicFrame>
      <p:sp>
        <p:nvSpPr>
          <p:cNvPr id="12" name="TextBox 11"/>
          <p:cNvSpPr txBox="1"/>
          <p:nvPr/>
        </p:nvSpPr>
        <p:spPr>
          <a:xfrm>
            <a:off x="182880" y="6309360"/>
            <a:ext cx="7772400" cy="256032"/>
          </a:xfrm>
          <a:prstGeom prst="rect">
            <a:avLst/>
          </a:prstGeom>
          <a:noFill/>
        </p:spPr>
        <p:txBody>
          <a:bodyPr wrap="square">
            <a:spAutoFit/>
          </a:bodyPr>
          <a:lstStyle/>
          <a:p>
            <a:pPr algn="l"/>
            <a:r>
              <a:rPr sz="900" b="0" i="1">
                <a:solidFill>
                  <a:srgbClr val="5A6A60"/>
                </a:solidFill>
                <a:latin typeface="Calibri"/>
              </a:rPr>
              <a:t>GEE scripts: gee_01 ERA5 · gee_02 CHIRPS · gee_03 S2 · gee_04 MODIS NDVI · gee_05 MODIS LST</a:t>
            </a:r>
          </a:p>
        </p:txBody>
      </p:sp>
      <p:sp>
        <p:nvSpPr>
          <p:cNvPr id="13" name="TextBox 12"/>
          <p:cNvSpPr txBox="1"/>
          <p:nvPr/>
        </p:nvSpPr>
        <p:spPr>
          <a:xfrm>
            <a:off x="8229600" y="1097280"/>
            <a:ext cx="3749039" cy="320040"/>
          </a:xfrm>
          <a:prstGeom prst="rect">
            <a:avLst/>
          </a:prstGeom>
          <a:noFill/>
        </p:spPr>
        <p:txBody>
          <a:bodyPr wrap="square">
            <a:spAutoFit/>
          </a:bodyPr>
          <a:lstStyle/>
          <a:p>
            <a:pPr algn="l"/>
            <a:r>
              <a:rPr sz="1100" b="1" i="0">
                <a:solidFill>
                  <a:srgbClr val="1E6B45"/>
                </a:solidFill>
                <a:latin typeface="Calibri"/>
              </a:rPr>
              <a:t>KEY DATA FILES</a:t>
            </a:r>
          </a:p>
        </p:txBody>
      </p:sp>
      <p:graphicFrame>
        <p:nvGraphicFramePr>
          <p:cNvPr id="14" name="Table 13"/>
          <p:cNvGraphicFramePr>
            <a:graphicFrameLocks noGrp="1"/>
          </p:cNvGraphicFramePr>
          <p:nvPr/>
        </p:nvGraphicFramePr>
        <p:xfrm>
          <a:off x="8229600" y="1463040"/>
          <a:ext cx="3749040" cy="3063240"/>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tblGrid>
              <a:tr h="306324">
                <a:tc>
                  <a:txBody>
                    <a:bodyPr/>
                    <a:lstStyle/>
                    <a:p>
                      <a:pPr algn="ctr"/>
                      <a:r>
                        <a:rPr sz="950" b="1">
                          <a:solidFill>
                            <a:srgbClr val="FFFFFF"/>
                          </a:solidFill>
                          <a:latin typeface="Calibri"/>
                        </a:rPr>
                        <a:t>File</a:t>
                      </a:r>
                    </a:p>
                  </a:txBody>
                  <a:tcPr>
                    <a:solidFill>
                      <a:srgbClr val="0D2240"/>
                    </a:solidFill>
                  </a:tcPr>
                </a:tc>
                <a:tc>
                  <a:txBody>
                    <a:bodyPr/>
                    <a:lstStyle/>
                    <a:p>
                      <a:pPr algn="ctr"/>
                      <a:r>
                        <a:rPr sz="950" b="1">
                          <a:solidFill>
                            <a:srgbClr val="FFFFFF"/>
                          </a:solidFill>
                          <a:latin typeface="Calibri"/>
                        </a:rPr>
                        <a:t>Size</a:t>
                      </a:r>
                    </a:p>
                  </a:txBody>
                  <a:tcPr>
                    <a:solidFill>
                      <a:srgbClr val="0D2240"/>
                    </a:solidFill>
                  </a:tcPr>
                </a:tc>
                <a:extLst>
                  <a:ext uri="{0D108BD9-81ED-4DB2-BD59-A6C34878D82A}">
                    <a16:rowId xmlns:a16="http://schemas.microsoft.com/office/drawing/2014/main" val="10000"/>
                  </a:ext>
                </a:extLst>
              </a:tr>
              <a:tr h="306324">
                <a:tc>
                  <a:txBody>
                    <a:bodyPr/>
                    <a:lstStyle/>
                    <a:p>
                      <a:pPr algn="l"/>
                      <a:r>
                        <a:rPr sz="900">
                          <a:solidFill>
                            <a:srgbClr val="1A2E1E"/>
                          </a:solidFill>
                          <a:latin typeface="Calibri"/>
                        </a:rPr>
                        <a:t>tomato_weekly_panel.csv</a:t>
                      </a:r>
                    </a:p>
                  </a:txBody>
                  <a:tcPr>
                    <a:solidFill>
                      <a:srgbClr val="FFFFFF"/>
                    </a:solidFill>
                  </a:tcPr>
                </a:tc>
                <a:tc>
                  <a:txBody>
                    <a:bodyPr/>
                    <a:lstStyle/>
                    <a:p>
                      <a:pPr algn="ctr"/>
                      <a:r>
                        <a:rPr sz="900">
                          <a:solidFill>
                            <a:srgbClr val="1A2E1E"/>
                          </a:solidFill>
                          <a:latin typeface="Calibri"/>
                        </a:rPr>
                        <a:t>70 MB</a:t>
                      </a:r>
                    </a:p>
                  </a:txBody>
                  <a:tcPr>
                    <a:solidFill>
                      <a:srgbClr val="FFFFFF"/>
                    </a:solidFill>
                  </a:tcPr>
                </a:tc>
                <a:extLst>
                  <a:ext uri="{0D108BD9-81ED-4DB2-BD59-A6C34878D82A}">
                    <a16:rowId xmlns:a16="http://schemas.microsoft.com/office/drawing/2014/main" val="10001"/>
                  </a:ext>
                </a:extLst>
              </a:tr>
              <a:tr h="306324">
                <a:tc>
                  <a:txBody>
                    <a:bodyPr/>
                    <a:lstStyle/>
                    <a:p>
                      <a:pPr algn="l"/>
                      <a:r>
                        <a:rPr sz="900">
                          <a:solidFill>
                            <a:srgbClr val="1A2E1E"/>
                          </a:solidFill>
                          <a:latin typeface="Calibri"/>
                        </a:rPr>
                        <a:t>onion_weekly_panel.csv</a:t>
                      </a:r>
                    </a:p>
                  </a:txBody>
                  <a:tcPr>
                    <a:solidFill>
                      <a:srgbClr val="F0F6F3"/>
                    </a:solidFill>
                  </a:tcPr>
                </a:tc>
                <a:tc>
                  <a:txBody>
                    <a:bodyPr/>
                    <a:lstStyle/>
                    <a:p>
                      <a:pPr algn="ctr"/>
                      <a:r>
                        <a:rPr sz="900">
                          <a:solidFill>
                            <a:srgbClr val="1A2E1E"/>
                          </a:solidFill>
                          <a:latin typeface="Calibri"/>
                        </a:rPr>
                        <a:t>35 MB</a:t>
                      </a:r>
                    </a:p>
                  </a:txBody>
                  <a:tcPr>
                    <a:solidFill>
                      <a:srgbClr val="F0F6F3"/>
                    </a:solidFill>
                  </a:tcPr>
                </a:tc>
                <a:extLst>
                  <a:ext uri="{0D108BD9-81ED-4DB2-BD59-A6C34878D82A}">
                    <a16:rowId xmlns:a16="http://schemas.microsoft.com/office/drawing/2014/main" val="10002"/>
                  </a:ext>
                </a:extLst>
              </a:tr>
              <a:tr h="306324">
                <a:tc>
                  <a:txBody>
                    <a:bodyPr/>
                    <a:lstStyle/>
                    <a:p>
                      <a:pPr algn="l"/>
                      <a:r>
                        <a:rPr sz="900">
                          <a:solidFill>
                            <a:srgbClr val="1A2E1E"/>
                          </a:solidFill>
                          <a:latin typeface="Calibri"/>
                        </a:rPr>
                        <a:t>potato_weekly_panel.csv</a:t>
                      </a:r>
                    </a:p>
                  </a:txBody>
                  <a:tcPr>
                    <a:solidFill>
                      <a:srgbClr val="FFFFFF"/>
                    </a:solidFill>
                  </a:tcPr>
                </a:tc>
                <a:tc>
                  <a:txBody>
                    <a:bodyPr/>
                    <a:lstStyle/>
                    <a:p>
                      <a:pPr algn="ctr"/>
                      <a:r>
                        <a:rPr sz="900">
                          <a:solidFill>
                            <a:srgbClr val="1A2E1E"/>
                          </a:solidFill>
                          <a:latin typeface="Calibri"/>
                        </a:rPr>
                        <a:t>4 MB</a:t>
                      </a:r>
                    </a:p>
                  </a:txBody>
                  <a:tcPr>
                    <a:solidFill>
                      <a:srgbClr val="FFFFFF"/>
                    </a:solidFill>
                  </a:tcPr>
                </a:tc>
                <a:extLst>
                  <a:ext uri="{0D108BD9-81ED-4DB2-BD59-A6C34878D82A}">
                    <a16:rowId xmlns:a16="http://schemas.microsoft.com/office/drawing/2014/main" val="10003"/>
                  </a:ext>
                </a:extLst>
              </a:tr>
              <a:tr h="306324">
                <a:tc>
                  <a:txBody>
                    <a:bodyPr/>
                    <a:lstStyle/>
                    <a:p>
                      <a:pPr algn="l"/>
                      <a:r>
                        <a:rPr sz="900">
                          <a:solidFill>
                            <a:srgbClr val="1A2E1E"/>
                          </a:solidFill>
                          <a:latin typeface="Calibri"/>
                        </a:rPr>
                        <a:t>crop_weekly_features.csv</a:t>
                      </a:r>
                    </a:p>
                  </a:txBody>
                  <a:tcPr>
                    <a:solidFill>
                      <a:srgbClr val="F0F6F3"/>
                    </a:solidFill>
                  </a:tcPr>
                </a:tc>
                <a:tc>
                  <a:txBody>
                    <a:bodyPr/>
                    <a:lstStyle/>
                    <a:p>
                      <a:pPr algn="ctr"/>
                      <a:r>
                        <a:rPr sz="900">
                          <a:solidFill>
                            <a:srgbClr val="1A2E1E"/>
                          </a:solidFill>
                          <a:latin typeface="Calibri"/>
                        </a:rPr>
                        <a:t>~800 KB</a:t>
                      </a:r>
                    </a:p>
                  </a:txBody>
                  <a:tcPr>
                    <a:solidFill>
                      <a:srgbClr val="F0F6F3"/>
                    </a:solidFill>
                  </a:tcPr>
                </a:tc>
                <a:extLst>
                  <a:ext uri="{0D108BD9-81ED-4DB2-BD59-A6C34878D82A}">
                    <a16:rowId xmlns:a16="http://schemas.microsoft.com/office/drawing/2014/main" val="10004"/>
                  </a:ext>
                </a:extLst>
              </a:tr>
              <a:tr h="306324">
                <a:tc>
                  <a:txBody>
                    <a:bodyPr/>
                    <a:lstStyle/>
                    <a:p>
                      <a:pPr algn="l"/>
                      <a:r>
                        <a:rPr sz="900">
                          <a:solidFill>
                            <a:srgbClr val="1A2E1E"/>
                          </a:solidFill>
                          <a:latin typeface="Calibri"/>
                        </a:rPr>
                        <a:t>zone_assignment.csv</a:t>
                      </a:r>
                    </a:p>
                  </a:txBody>
                  <a:tcPr>
                    <a:solidFill>
                      <a:srgbClr val="FFFFFF"/>
                    </a:solidFill>
                  </a:tcPr>
                </a:tc>
                <a:tc>
                  <a:txBody>
                    <a:bodyPr/>
                    <a:lstStyle/>
                    <a:p>
                      <a:pPr algn="ctr"/>
                      <a:r>
                        <a:rPr sz="900">
                          <a:solidFill>
                            <a:srgbClr val="1A2E1E"/>
                          </a:solidFill>
                          <a:latin typeface="Calibri"/>
                        </a:rPr>
                        <a:t>313 KB</a:t>
                      </a:r>
                    </a:p>
                  </a:txBody>
                  <a:tcPr>
                    <a:solidFill>
                      <a:srgbClr val="FFFFFF"/>
                    </a:solidFill>
                  </a:tcPr>
                </a:tc>
                <a:extLst>
                  <a:ext uri="{0D108BD9-81ED-4DB2-BD59-A6C34878D82A}">
                    <a16:rowId xmlns:a16="http://schemas.microsoft.com/office/drawing/2014/main" val="10005"/>
                  </a:ext>
                </a:extLst>
              </a:tr>
              <a:tr h="306324">
                <a:tc>
                  <a:txBody>
                    <a:bodyPr/>
                    <a:lstStyle/>
                    <a:p>
                      <a:pPr algn="l"/>
                      <a:r>
                        <a:rPr sz="900">
                          <a:solidFill>
                            <a:srgbClr val="1A2E1E"/>
                          </a:solidFill>
                          <a:latin typeface="Calibri"/>
                        </a:rPr>
                        <a:t>ppac_diesel_lpg_2017_2025.csv</a:t>
                      </a:r>
                    </a:p>
                  </a:txBody>
                  <a:tcPr>
                    <a:solidFill>
                      <a:srgbClr val="F0F6F3"/>
                    </a:solidFill>
                  </a:tcPr>
                </a:tc>
                <a:tc>
                  <a:txBody>
                    <a:bodyPr/>
                    <a:lstStyle/>
                    <a:p>
                      <a:pPr algn="ctr"/>
                      <a:r>
                        <a:rPr sz="900">
                          <a:solidFill>
                            <a:srgbClr val="1A2E1E"/>
                          </a:solidFill>
                          <a:latin typeface="Calibri"/>
                        </a:rPr>
                        <a:t>6 KB</a:t>
                      </a:r>
                    </a:p>
                  </a:txBody>
                  <a:tcPr>
                    <a:solidFill>
                      <a:srgbClr val="F0F6F3"/>
                    </a:solidFill>
                  </a:tcPr>
                </a:tc>
                <a:extLst>
                  <a:ext uri="{0D108BD9-81ED-4DB2-BD59-A6C34878D82A}">
                    <a16:rowId xmlns:a16="http://schemas.microsoft.com/office/drawing/2014/main" val="10006"/>
                  </a:ext>
                </a:extLst>
              </a:tr>
              <a:tr h="306324">
                <a:tc>
                  <a:txBody>
                    <a:bodyPr/>
                    <a:lstStyle/>
                    <a:p>
                      <a:pPr algn="l"/>
                      <a:r>
                        <a:rPr sz="900">
                          <a:solidFill>
                            <a:srgbClr val="1A2E1E"/>
                          </a:solidFill>
                          <a:latin typeface="Calibri"/>
                        </a:rPr>
                        <a:t>rbi_repo_rate_2017_2025.csv</a:t>
                      </a:r>
                    </a:p>
                  </a:txBody>
                  <a:tcPr>
                    <a:solidFill>
                      <a:srgbClr val="FFFFFF"/>
                    </a:solidFill>
                  </a:tcPr>
                </a:tc>
                <a:tc>
                  <a:txBody>
                    <a:bodyPr/>
                    <a:lstStyle/>
                    <a:p>
                      <a:pPr algn="ctr"/>
                      <a:r>
                        <a:rPr sz="900">
                          <a:solidFill>
                            <a:srgbClr val="1A2E1E"/>
                          </a:solidFill>
                          <a:latin typeface="Calibri"/>
                        </a:rPr>
                        <a:t>5 KB</a:t>
                      </a:r>
                    </a:p>
                  </a:txBody>
                  <a:tcPr>
                    <a:solidFill>
                      <a:srgbClr val="FFFFFF"/>
                    </a:solidFill>
                  </a:tcPr>
                </a:tc>
                <a:extLst>
                  <a:ext uri="{0D108BD9-81ED-4DB2-BD59-A6C34878D82A}">
                    <a16:rowId xmlns:a16="http://schemas.microsoft.com/office/drawing/2014/main" val="10007"/>
                  </a:ext>
                </a:extLst>
              </a:tr>
              <a:tr h="306324">
                <a:tc>
                  <a:txBody>
                    <a:bodyPr/>
                    <a:lstStyle/>
                    <a:p>
                      <a:pPr algn="l"/>
                      <a:r>
                        <a:rPr sz="900">
                          <a:solidFill>
                            <a:srgbClr val="1A2E1E"/>
                          </a:solidFill>
                          <a:latin typeface="Calibri"/>
                        </a:rPr>
                        <a:t>rbi_wpi_fruitsvegetables_*.csv</a:t>
                      </a:r>
                    </a:p>
                  </a:txBody>
                  <a:tcPr>
                    <a:solidFill>
                      <a:srgbClr val="F0F6F3"/>
                    </a:solidFill>
                  </a:tcPr>
                </a:tc>
                <a:tc>
                  <a:txBody>
                    <a:bodyPr/>
                    <a:lstStyle/>
                    <a:p>
                      <a:pPr algn="ctr"/>
                      <a:r>
                        <a:rPr sz="900">
                          <a:solidFill>
                            <a:srgbClr val="1A2E1E"/>
                          </a:solidFill>
                          <a:latin typeface="Calibri"/>
                        </a:rPr>
                        <a:t>7 KB</a:t>
                      </a:r>
                    </a:p>
                  </a:txBody>
                  <a:tcPr>
                    <a:solidFill>
                      <a:srgbClr val="F0F6F3"/>
                    </a:solidFill>
                  </a:tcPr>
                </a:tc>
                <a:extLst>
                  <a:ext uri="{0D108BD9-81ED-4DB2-BD59-A6C34878D82A}">
                    <a16:rowId xmlns:a16="http://schemas.microsoft.com/office/drawing/2014/main" val="10008"/>
                  </a:ext>
                </a:extLst>
              </a:tr>
              <a:tr h="306324">
                <a:tc>
                  <a:txBody>
                    <a:bodyPr/>
                    <a:lstStyle/>
                    <a:p>
                      <a:pPr algn="l"/>
                      <a:r>
                        <a:rPr sz="900">
                          <a:solidFill>
                            <a:srgbClr val="1A2E1E"/>
                          </a:solidFill>
                          <a:latin typeface="Calibri"/>
                        </a:rPr>
                        <a:t>geocode_cache.json</a:t>
                      </a:r>
                    </a:p>
                  </a:txBody>
                  <a:tcPr>
                    <a:solidFill>
                      <a:srgbClr val="FFFFFF"/>
                    </a:solidFill>
                  </a:tcPr>
                </a:tc>
                <a:tc>
                  <a:txBody>
                    <a:bodyPr/>
                    <a:lstStyle/>
                    <a:p>
                      <a:pPr algn="ctr"/>
                      <a:r>
                        <a:rPr sz="900">
                          <a:solidFill>
                            <a:srgbClr val="1A2E1E"/>
                          </a:solidFill>
                          <a:latin typeface="Calibri"/>
                        </a:rPr>
                        <a:t>42 KB</a:t>
                      </a:r>
                    </a:p>
                  </a:txBody>
                  <a:tcPr>
                    <a:solidFill>
                      <a:srgbClr val="FFFFFF"/>
                    </a:solidFill>
                  </a:tcPr>
                </a:tc>
                <a:extLst>
                  <a:ext uri="{0D108BD9-81ED-4DB2-BD59-A6C34878D82A}">
                    <a16:rowId xmlns:a16="http://schemas.microsoft.com/office/drawing/2014/main" val="10009"/>
                  </a:ext>
                </a:extLst>
              </a:tr>
            </a:tbl>
          </a:graphicData>
        </a:graphic>
      </p:graphicFrame>
      <p:sp>
        <p:nvSpPr>
          <p:cNvPr id="15" name="TextBox 14"/>
          <p:cNvSpPr txBox="1"/>
          <p:nvPr/>
        </p:nvSpPr>
        <p:spPr>
          <a:xfrm>
            <a:off x="8229600" y="4663440"/>
            <a:ext cx="3749039" cy="320040"/>
          </a:xfrm>
          <a:prstGeom prst="rect">
            <a:avLst/>
          </a:prstGeom>
          <a:noFill/>
        </p:spPr>
        <p:txBody>
          <a:bodyPr wrap="square">
            <a:spAutoFit/>
          </a:bodyPr>
          <a:lstStyle/>
          <a:p>
            <a:pPr algn="l"/>
            <a:r>
              <a:rPr sz="1100" b="1" i="0">
                <a:solidFill>
                  <a:srgbClr val="1E6B45"/>
                </a:solidFill>
                <a:latin typeface="Calibri"/>
              </a:rPr>
              <a:t>GITHUB REPOSITORY</a:t>
            </a:r>
          </a:p>
        </p:txBody>
      </p:sp>
      <p:sp>
        <p:nvSpPr>
          <p:cNvPr id="16" name="TextBox 15"/>
          <p:cNvSpPr txBox="1"/>
          <p:nvPr/>
        </p:nvSpPr>
        <p:spPr>
          <a:xfrm>
            <a:off x="8229600" y="5029200"/>
            <a:ext cx="3749039" cy="1188720"/>
          </a:xfrm>
          <a:prstGeom prst="rect">
            <a:avLst/>
          </a:prstGeom>
          <a:noFill/>
        </p:spPr>
        <p:txBody>
          <a:bodyPr wrap="square">
            <a:spAutoFit/>
          </a:bodyPr>
          <a:lstStyle/>
          <a:p>
            <a:pPr>
              <a:spcBef>
                <a:spcPts val="500"/>
              </a:spcBef>
            </a:pPr>
            <a:r>
              <a:rPr sz="1000">
                <a:solidFill>
                  <a:srgbClr val="1A2E1E"/>
                </a:solidFill>
                <a:latin typeface="Calibri"/>
              </a:rPr>
              <a:t>masroor01/TOP-Digital-Twin</a:t>
            </a:r>
          </a:p>
          <a:p>
            <a:pPr>
              <a:spcBef>
                <a:spcPts val="500"/>
              </a:spcBef>
            </a:pPr>
            <a:r>
              <a:rPr sz="1000">
                <a:solidFill>
                  <a:srgbClr val="1A2E1E"/>
                </a:solidFill>
                <a:latin typeface="Calibri"/>
              </a:rPr>
              <a:t>All scripts · GEE code · .gitignore</a:t>
            </a:r>
          </a:p>
          <a:p>
            <a:pPr>
              <a:spcBef>
                <a:spcPts val="500"/>
              </a:spcBef>
            </a:pPr>
            <a:r>
              <a:rPr sz="1000">
                <a:solidFill>
                  <a:srgbClr val="1A2E1E"/>
                </a:solidFill>
                <a:latin typeface="Calibri"/>
              </a:rPr>
              <a:t>top_weekly_panel.csv excluded</a:t>
            </a:r>
          </a:p>
          <a:p>
            <a:pPr>
              <a:spcBef>
                <a:spcPts val="500"/>
              </a:spcBef>
            </a:pPr>
            <a:r>
              <a:rPr sz="1000">
                <a:solidFill>
                  <a:srgbClr val="1A2E1E"/>
                </a:solidFill>
                <a:latin typeface="Calibri"/>
              </a:rPr>
              <a:t>(107 MB exceeds GitHub 100 MB limit)</a:t>
            </a:r>
          </a:p>
          <a:p>
            <a:pPr>
              <a:spcBef>
                <a:spcPts val="500"/>
              </a:spcBef>
            </a:pPr>
            <a:r>
              <a:rPr sz="1000">
                <a:solidFill>
                  <a:srgbClr val="1A2E1E"/>
                </a:solidFill>
                <a:latin typeface="Calibri"/>
              </a:rPr>
              <a:t>Data available on request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64008" cy="6858000"/>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 y="0"/>
            <a:ext cx="12124944" cy="960120"/>
          </a:xfrm>
          <a:prstGeom prst="rect">
            <a:avLst/>
          </a:prstGeom>
          <a:solidFill>
            <a:srgbClr val="0D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4008" y="960120"/>
            <a:ext cx="12124944" cy="32004"/>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 y="64008"/>
            <a:ext cx="11704320" cy="475488"/>
          </a:xfrm>
          <a:prstGeom prst="rect">
            <a:avLst/>
          </a:prstGeom>
          <a:noFill/>
        </p:spPr>
        <p:txBody>
          <a:bodyPr wrap="square">
            <a:spAutoFit/>
          </a:bodyPr>
          <a:lstStyle/>
          <a:p>
            <a:pPr algn="l"/>
            <a:r>
              <a:rPr sz="2100" b="1" i="0">
                <a:solidFill>
                  <a:srgbClr val="FFFFFF"/>
                </a:solidFill>
                <a:latin typeface="Calibri"/>
              </a:rPr>
              <a:t>Current Status Dashboard</a:t>
            </a:r>
          </a:p>
        </p:txBody>
      </p:sp>
      <p:sp>
        <p:nvSpPr>
          <p:cNvPr id="6" name="TextBox 5"/>
          <p:cNvSpPr txBox="1"/>
          <p:nvPr/>
        </p:nvSpPr>
        <p:spPr>
          <a:xfrm>
            <a:off x="201168" y="548640"/>
            <a:ext cx="11704320" cy="365760"/>
          </a:xfrm>
          <a:prstGeom prst="rect">
            <a:avLst/>
          </a:prstGeom>
          <a:noFill/>
        </p:spPr>
        <p:txBody>
          <a:bodyPr wrap="square">
            <a:spAutoFit/>
          </a:bodyPr>
          <a:lstStyle/>
          <a:p>
            <a:pPr algn="l"/>
            <a:r>
              <a:rPr sz="1300" b="0" i="1">
                <a:solidFill>
                  <a:srgbClr val="C8DDD0"/>
                </a:solidFill>
                <a:latin typeface="Calibri"/>
              </a:rPr>
              <a:t>Progress across all six layers and four modules — as of July 2026</a:t>
            </a:r>
          </a:p>
        </p:txBody>
      </p:sp>
      <p:sp>
        <p:nvSpPr>
          <p:cNvPr id="7" name="Rectangle 6"/>
          <p:cNvSpPr/>
          <p:nvPr/>
        </p:nvSpPr>
        <p:spPr>
          <a:xfrm>
            <a:off x="0" y="6565392"/>
            <a:ext cx="12188952" cy="292608"/>
          </a:xfrm>
          <a:prstGeom prst="rect">
            <a:avLst/>
          </a:prstGeom>
          <a:solidFill>
            <a:srgbClr val="0D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01168" y="6583680"/>
            <a:ext cx="7315200" cy="237744"/>
          </a:xfrm>
          <a:prstGeom prst="rect">
            <a:avLst/>
          </a:prstGeom>
          <a:noFill/>
        </p:spPr>
        <p:txBody>
          <a:bodyPr wrap="square">
            <a:spAutoFit/>
          </a:bodyPr>
          <a:lstStyle/>
          <a:p>
            <a:pPr algn="l"/>
            <a:r>
              <a:rPr sz="850" b="0" i="0">
                <a:solidFill>
                  <a:srgbClr val="C8DDD0"/>
                </a:solidFill>
                <a:latin typeface="Calibri"/>
              </a:rPr>
              <a:t>TOP Digital Twin  ·  SKUAST-K  ·  HADP-04  ·  July 2026</a:t>
            </a:r>
          </a:p>
        </p:txBody>
      </p:sp>
      <p:sp>
        <p:nvSpPr>
          <p:cNvPr id="9" name="TextBox 8"/>
          <p:cNvSpPr txBox="1"/>
          <p:nvPr/>
        </p:nvSpPr>
        <p:spPr>
          <a:xfrm>
            <a:off x="7589520" y="6583680"/>
            <a:ext cx="4389120" cy="237744"/>
          </a:xfrm>
          <a:prstGeom prst="rect">
            <a:avLst/>
          </a:prstGeom>
          <a:noFill/>
        </p:spPr>
        <p:txBody>
          <a:bodyPr wrap="square">
            <a:spAutoFit/>
          </a:bodyPr>
          <a:lstStyle/>
          <a:p>
            <a:pPr algn="r"/>
            <a:r>
              <a:rPr sz="850" b="0" i="0">
                <a:solidFill>
                  <a:srgbClr val="C8DDD0"/>
                </a:solidFill>
                <a:latin typeface="Calibri"/>
              </a:rPr>
              <a:t>CONFIDENTIAL — PI REVIEW</a:t>
            </a:r>
          </a:p>
        </p:txBody>
      </p:sp>
      <p:sp>
        <p:nvSpPr>
          <p:cNvPr id="10" name="Rectangle 9"/>
          <p:cNvSpPr/>
          <p:nvPr/>
        </p:nvSpPr>
        <p:spPr>
          <a:xfrm>
            <a:off x="182880" y="1115568"/>
            <a:ext cx="3794760" cy="987552"/>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182880" y="1115568"/>
            <a:ext cx="3794760" cy="292608"/>
          </a:xfrm>
          <a:prstGeom prst="rect">
            <a:avLst/>
          </a:prstGeom>
          <a:solidFill>
            <a:srgbClr val="0B6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74320" y="1152144"/>
            <a:ext cx="2880360" cy="228600"/>
          </a:xfrm>
          <a:prstGeom prst="rect">
            <a:avLst/>
          </a:prstGeom>
          <a:noFill/>
        </p:spPr>
        <p:txBody>
          <a:bodyPr wrap="square">
            <a:spAutoFit/>
          </a:bodyPr>
          <a:lstStyle/>
          <a:p>
            <a:pPr algn="l"/>
            <a:r>
              <a:rPr sz="1000" b="1" i="0">
                <a:solidFill>
                  <a:srgbClr val="FFFFFF"/>
                </a:solidFill>
                <a:latin typeface="Calibri"/>
              </a:rPr>
              <a:t>L1  Market Prices</a:t>
            </a:r>
          </a:p>
        </p:txBody>
      </p:sp>
      <p:sp>
        <p:nvSpPr>
          <p:cNvPr id="13" name="Rectangle 12"/>
          <p:cNvSpPr/>
          <p:nvPr/>
        </p:nvSpPr>
        <p:spPr>
          <a:xfrm>
            <a:off x="3200400" y="1143000"/>
            <a:ext cx="685800" cy="237744"/>
          </a:xfrm>
          <a:prstGeom prst="rect">
            <a:avLst/>
          </a:prstGeom>
          <a:solidFill>
            <a:srgbClr val="88AA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218688" y="1152144"/>
            <a:ext cx="667512" cy="219456"/>
          </a:xfrm>
          <a:prstGeom prst="rect">
            <a:avLst/>
          </a:prstGeom>
          <a:noFill/>
        </p:spPr>
        <p:txBody>
          <a:bodyPr wrap="square">
            <a:spAutoFit/>
          </a:bodyPr>
          <a:lstStyle/>
          <a:p>
            <a:pPr algn="ctr"/>
            <a:r>
              <a:rPr sz="850" b="1" i="0">
                <a:solidFill>
                  <a:srgbClr val="FFFFFF"/>
                </a:solidFill>
                <a:latin typeface="Calibri"/>
              </a:rPr>
              <a:t>100%</a:t>
            </a:r>
          </a:p>
        </p:txBody>
      </p:sp>
      <p:sp>
        <p:nvSpPr>
          <p:cNvPr id="15" name="TextBox 14"/>
          <p:cNvSpPr txBox="1"/>
          <p:nvPr/>
        </p:nvSpPr>
        <p:spPr>
          <a:xfrm>
            <a:off x="274320" y="1463040"/>
            <a:ext cx="3566160" cy="256032"/>
          </a:xfrm>
          <a:prstGeom prst="rect">
            <a:avLst/>
          </a:prstGeom>
          <a:noFill/>
        </p:spPr>
        <p:txBody>
          <a:bodyPr wrap="square">
            <a:spAutoFit/>
          </a:bodyPr>
          <a:lstStyle/>
          <a:p>
            <a:pPr algn="l"/>
            <a:r>
              <a:rPr sz="900" b="0" i="0">
                <a:solidFill>
                  <a:srgbClr val="5A6A60"/>
                </a:solidFill>
                <a:latin typeface="Calibri"/>
              </a:rPr>
              <a:t>Agmarknet 2017–2025 · 2,495 markets · Script 09</a:t>
            </a:r>
          </a:p>
        </p:txBody>
      </p:sp>
      <p:sp>
        <p:nvSpPr>
          <p:cNvPr id="16" name="TextBox 15"/>
          <p:cNvSpPr txBox="1"/>
          <p:nvPr/>
        </p:nvSpPr>
        <p:spPr>
          <a:xfrm>
            <a:off x="274320" y="1719072"/>
            <a:ext cx="3566160" cy="274320"/>
          </a:xfrm>
          <a:prstGeom prst="rect">
            <a:avLst/>
          </a:prstGeom>
          <a:noFill/>
        </p:spPr>
        <p:txBody>
          <a:bodyPr wrap="square">
            <a:spAutoFit/>
          </a:bodyPr>
          <a:lstStyle/>
          <a:p>
            <a:pPr algn="l"/>
            <a:r>
              <a:rPr sz="950" b="1" i="0">
                <a:solidFill>
                  <a:srgbClr val="1A2E1E"/>
                </a:solidFill>
                <a:latin typeface="Calibri"/>
              </a:rPr>
              <a:t>COMPLETE</a:t>
            </a:r>
          </a:p>
        </p:txBody>
      </p:sp>
      <p:sp>
        <p:nvSpPr>
          <p:cNvPr id="17" name="Rectangle 16"/>
          <p:cNvSpPr/>
          <p:nvPr/>
        </p:nvSpPr>
        <p:spPr>
          <a:xfrm>
            <a:off x="4178808" y="1115568"/>
            <a:ext cx="3794760" cy="987552"/>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178808" y="1115568"/>
            <a:ext cx="3794760" cy="292608"/>
          </a:xfrm>
          <a:prstGeom prst="rect">
            <a:avLst/>
          </a:prstGeom>
          <a:solidFill>
            <a:srgbClr val="0B6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270248" y="1152144"/>
            <a:ext cx="2880360" cy="228600"/>
          </a:xfrm>
          <a:prstGeom prst="rect">
            <a:avLst/>
          </a:prstGeom>
          <a:noFill/>
        </p:spPr>
        <p:txBody>
          <a:bodyPr wrap="square">
            <a:spAutoFit/>
          </a:bodyPr>
          <a:lstStyle/>
          <a:p>
            <a:pPr algn="l"/>
            <a:r>
              <a:rPr sz="1000" b="1" i="0">
                <a:solidFill>
                  <a:srgbClr val="FFFFFF"/>
                </a:solidFill>
                <a:latin typeface="Calibri"/>
              </a:rPr>
              <a:t>L2  Satellite (2017–24)</a:t>
            </a:r>
          </a:p>
        </p:txBody>
      </p:sp>
      <p:sp>
        <p:nvSpPr>
          <p:cNvPr id="20" name="Rectangle 19"/>
          <p:cNvSpPr/>
          <p:nvPr/>
        </p:nvSpPr>
        <p:spPr>
          <a:xfrm>
            <a:off x="7196328" y="1143000"/>
            <a:ext cx="685800" cy="237744"/>
          </a:xfrm>
          <a:prstGeom prst="rect">
            <a:avLst/>
          </a:prstGeom>
          <a:solidFill>
            <a:srgbClr val="88AA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214616" y="1152144"/>
            <a:ext cx="667512" cy="219456"/>
          </a:xfrm>
          <a:prstGeom prst="rect">
            <a:avLst/>
          </a:prstGeom>
          <a:noFill/>
        </p:spPr>
        <p:txBody>
          <a:bodyPr wrap="square">
            <a:spAutoFit/>
          </a:bodyPr>
          <a:lstStyle/>
          <a:p>
            <a:pPr algn="ctr"/>
            <a:r>
              <a:rPr sz="850" b="1" i="0">
                <a:solidFill>
                  <a:srgbClr val="FFFFFF"/>
                </a:solidFill>
                <a:latin typeface="Calibri"/>
              </a:rPr>
              <a:t>100%</a:t>
            </a:r>
          </a:p>
        </p:txBody>
      </p:sp>
      <p:sp>
        <p:nvSpPr>
          <p:cNvPr id="22" name="TextBox 21"/>
          <p:cNvSpPr txBox="1"/>
          <p:nvPr/>
        </p:nvSpPr>
        <p:spPr>
          <a:xfrm>
            <a:off x="4270248" y="1463040"/>
            <a:ext cx="3566160" cy="256032"/>
          </a:xfrm>
          <a:prstGeom prst="rect">
            <a:avLst/>
          </a:prstGeom>
          <a:noFill/>
        </p:spPr>
        <p:txBody>
          <a:bodyPr wrap="square">
            <a:spAutoFit/>
          </a:bodyPr>
          <a:lstStyle/>
          <a:p>
            <a:pPr algn="l"/>
            <a:r>
              <a:rPr sz="900" b="0" i="0">
                <a:solidFill>
                  <a:srgbClr val="5A6A60"/>
                </a:solidFill>
                <a:latin typeface="Calibri"/>
              </a:rPr>
              <a:t>Sentinel-2 + MODIS NDVI/LST · Scripts 14+GEE</a:t>
            </a:r>
          </a:p>
        </p:txBody>
      </p:sp>
      <p:sp>
        <p:nvSpPr>
          <p:cNvPr id="23" name="TextBox 22"/>
          <p:cNvSpPr txBox="1"/>
          <p:nvPr/>
        </p:nvSpPr>
        <p:spPr>
          <a:xfrm>
            <a:off x="4270248" y="1719072"/>
            <a:ext cx="3566160" cy="274320"/>
          </a:xfrm>
          <a:prstGeom prst="rect">
            <a:avLst/>
          </a:prstGeom>
          <a:noFill/>
        </p:spPr>
        <p:txBody>
          <a:bodyPr wrap="square">
            <a:spAutoFit/>
          </a:bodyPr>
          <a:lstStyle/>
          <a:p>
            <a:pPr algn="l"/>
            <a:r>
              <a:rPr sz="950" b="1" i="0">
                <a:solidFill>
                  <a:srgbClr val="1A2E1E"/>
                </a:solidFill>
                <a:latin typeface="Calibri"/>
              </a:rPr>
              <a:t>COMPLETE</a:t>
            </a:r>
          </a:p>
        </p:txBody>
      </p:sp>
      <p:sp>
        <p:nvSpPr>
          <p:cNvPr id="24" name="Rectangle 23"/>
          <p:cNvSpPr/>
          <p:nvPr/>
        </p:nvSpPr>
        <p:spPr>
          <a:xfrm>
            <a:off x="8174736" y="1115568"/>
            <a:ext cx="3794760" cy="987552"/>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8174736" y="1115568"/>
            <a:ext cx="3794760" cy="292608"/>
          </a:xfrm>
          <a:prstGeom prst="rect">
            <a:avLst/>
          </a:prstGeom>
          <a:solidFill>
            <a:srgbClr val="0B6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266175" y="1152144"/>
            <a:ext cx="2880360" cy="228600"/>
          </a:xfrm>
          <a:prstGeom prst="rect">
            <a:avLst/>
          </a:prstGeom>
          <a:noFill/>
        </p:spPr>
        <p:txBody>
          <a:bodyPr wrap="square">
            <a:spAutoFit/>
          </a:bodyPr>
          <a:lstStyle/>
          <a:p>
            <a:pPr algn="l"/>
            <a:r>
              <a:rPr sz="1000" b="1" i="0">
                <a:solidFill>
                  <a:srgbClr val="FFFFFF"/>
                </a:solidFill>
                <a:latin typeface="Calibri"/>
              </a:rPr>
              <a:t>L3  Climate (2017–24)</a:t>
            </a:r>
          </a:p>
        </p:txBody>
      </p:sp>
      <p:sp>
        <p:nvSpPr>
          <p:cNvPr id="27" name="Rectangle 26"/>
          <p:cNvSpPr/>
          <p:nvPr/>
        </p:nvSpPr>
        <p:spPr>
          <a:xfrm>
            <a:off x="11192255" y="1143000"/>
            <a:ext cx="685800" cy="237744"/>
          </a:xfrm>
          <a:prstGeom prst="rect">
            <a:avLst/>
          </a:prstGeom>
          <a:solidFill>
            <a:srgbClr val="88AA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1210544" y="1152144"/>
            <a:ext cx="667512" cy="219456"/>
          </a:xfrm>
          <a:prstGeom prst="rect">
            <a:avLst/>
          </a:prstGeom>
          <a:noFill/>
        </p:spPr>
        <p:txBody>
          <a:bodyPr wrap="square">
            <a:spAutoFit/>
          </a:bodyPr>
          <a:lstStyle/>
          <a:p>
            <a:pPr algn="ctr"/>
            <a:r>
              <a:rPr sz="850" b="1" i="0">
                <a:solidFill>
                  <a:srgbClr val="FFFFFF"/>
                </a:solidFill>
                <a:latin typeface="Calibri"/>
              </a:rPr>
              <a:t>100%</a:t>
            </a:r>
          </a:p>
        </p:txBody>
      </p:sp>
      <p:sp>
        <p:nvSpPr>
          <p:cNvPr id="29" name="TextBox 28"/>
          <p:cNvSpPr txBox="1"/>
          <p:nvPr/>
        </p:nvSpPr>
        <p:spPr>
          <a:xfrm>
            <a:off x="8266175" y="1463040"/>
            <a:ext cx="3566160" cy="256032"/>
          </a:xfrm>
          <a:prstGeom prst="rect">
            <a:avLst/>
          </a:prstGeom>
          <a:noFill/>
        </p:spPr>
        <p:txBody>
          <a:bodyPr wrap="square">
            <a:spAutoFit/>
          </a:bodyPr>
          <a:lstStyle/>
          <a:p>
            <a:pPr algn="l"/>
            <a:r>
              <a:rPr sz="900" b="0" i="0">
                <a:solidFill>
                  <a:srgbClr val="5A6A60"/>
                </a:solidFill>
                <a:latin typeface="Calibri"/>
              </a:rPr>
              <a:t>ERA5 + CHIRPS · Scripts 14+GEE</a:t>
            </a:r>
          </a:p>
        </p:txBody>
      </p:sp>
      <p:sp>
        <p:nvSpPr>
          <p:cNvPr id="30" name="TextBox 29"/>
          <p:cNvSpPr txBox="1"/>
          <p:nvPr/>
        </p:nvSpPr>
        <p:spPr>
          <a:xfrm>
            <a:off x="8266175" y="1719072"/>
            <a:ext cx="3566160" cy="274320"/>
          </a:xfrm>
          <a:prstGeom prst="rect">
            <a:avLst/>
          </a:prstGeom>
          <a:noFill/>
        </p:spPr>
        <p:txBody>
          <a:bodyPr wrap="square">
            <a:spAutoFit/>
          </a:bodyPr>
          <a:lstStyle/>
          <a:p>
            <a:pPr algn="l"/>
            <a:r>
              <a:rPr sz="950" b="1" i="0">
                <a:solidFill>
                  <a:srgbClr val="1A2E1E"/>
                </a:solidFill>
                <a:latin typeface="Calibri"/>
              </a:rPr>
              <a:t>COMPLETE</a:t>
            </a:r>
          </a:p>
        </p:txBody>
      </p:sp>
      <p:sp>
        <p:nvSpPr>
          <p:cNvPr id="31" name="Rectangle 30"/>
          <p:cNvSpPr/>
          <p:nvPr/>
        </p:nvSpPr>
        <p:spPr>
          <a:xfrm>
            <a:off x="182880" y="2194560"/>
            <a:ext cx="3794760" cy="987552"/>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182880" y="2194560"/>
            <a:ext cx="3794760" cy="292608"/>
          </a:xfrm>
          <a:prstGeom prst="rect">
            <a:avLst/>
          </a:prstGeom>
          <a:solidFill>
            <a:srgbClr val="0B6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74320" y="2231136"/>
            <a:ext cx="2880360" cy="228600"/>
          </a:xfrm>
          <a:prstGeom prst="rect">
            <a:avLst/>
          </a:prstGeom>
          <a:noFill/>
        </p:spPr>
        <p:txBody>
          <a:bodyPr wrap="square">
            <a:spAutoFit/>
          </a:bodyPr>
          <a:lstStyle/>
          <a:p>
            <a:pPr algn="l"/>
            <a:r>
              <a:rPr sz="1000" b="1" i="0">
                <a:solidFill>
                  <a:srgbClr val="FFFFFF"/>
                </a:solidFill>
                <a:latin typeface="Calibri"/>
              </a:rPr>
              <a:t>L4  Macro-Logistics</a:t>
            </a:r>
          </a:p>
        </p:txBody>
      </p:sp>
      <p:sp>
        <p:nvSpPr>
          <p:cNvPr id="34" name="Rectangle 33"/>
          <p:cNvSpPr/>
          <p:nvPr/>
        </p:nvSpPr>
        <p:spPr>
          <a:xfrm>
            <a:off x="3200400" y="2221991"/>
            <a:ext cx="685800" cy="237744"/>
          </a:xfrm>
          <a:prstGeom prst="rect">
            <a:avLst/>
          </a:prstGeom>
          <a:solidFill>
            <a:srgbClr val="88AA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218688" y="2231136"/>
            <a:ext cx="667512" cy="219456"/>
          </a:xfrm>
          <a:prstGeom prst="rect">
            <a:avLst/>
          </a:prstGeom>
          <a:noFill/>
        </p:spPr>
        <p:txBody>
          <a:bodyPr wrap="square">
            <a:spAutoFit/>
          </a:bodyPr>
          <a:lstStyle/>
          <a:p>
            <a:pPr algn="ctr"/>
            <a:r>
              <a:rPr sz="850" b="1" i="0">
                <a:solidFill>
                  <a:srgbClr val="FFFFFF"/>
                </a:solidFill>
                <a:latin typeface="Calibri"/>
              </a:rPr>
              <a:t>100%</a:t>
            </a:r>
          </a:p>
        </p:txBody>
      </p:sp>
      <p:sp>
        <p:nvSpPr>
          <p:cNvPr id="36" name="TextBox 35"/>
          <p:cNvSpPr txBox="1"/>
          <p:nvPr/>
        </p:nvSpPr>
        <p:spPr>
          <a:xfrm>
            <a:off x="274320" y="2542032"/>
            <a:ext cx="3566160" cy="256032"/>
          </a:xfrm>
          <a:prstGeom prst="rect">
            <a:avLst/>
          </a:prstGeom>
          <a:noFill/>
        </p:spPr>
        <p:txBody>
          <a:bodyPr wrap="square">
            <a:spAutoFit/>
          </a:bodyPr>
          <a:lstStyle/>
          <a:p>
            <a:pPr algn="l"/>
            <a:r>
              <a:rPr sz="900" b="0" i="0">
                <a:solidFill>
                  <a:srgbClr val="5A6A60"/>
                </a:solidFill>
                <a:latin typeface="Calibri"/>
              </a:rPr>
              <a:t>CMIE · PPAC · RBI DBIE · Scripts 10</a:t>
            </a:r>
          </a:p>
        </p:txBody>
      </p:sp>
      <p:sp>
        <p:nvSpPr>
          <p:cNvPr id="37" name="TextBox 36"/>
          <p:cNvSpPr txBox="1"/>
          <p:nvPr/>
        </p:nvSpPr>
        <p:spPr>
          <a:xfrm>
            <a:off x="274320" y="2798064"/>
            <a:ext cx="3566160" cy="274320"/>
          </a:xfrm>
          <a:prstGeom prst="rect">
            <a:avLst/>
          </a:prstGeom>
          <a:noFill/>
        </p:spPr>
        <p:txBody>
          <a:bodyPr wrap="square">
            <a:spAutoFit/>
          </a:bodyPr>
          <a:lstStyle/>
          <a:p>
            <a:pPr algn="l"/>
            <a:r>
              <a:rPr sz="950" b="1" i="0">
                <a:solidFill>
                  <a:srgbClr val="1A2E1E"/>
                </a:solidFill>
                <a:latin typeface="Calibri"/>
              </a:rPr>
              <a:t>COMPLETE</a:t>
            </a:r>
          </a:p>
        </p:txBody>
      </p:sp>
      <p:sp>
        <p:nvSpPr>
          <p:cNvPr id="38" name="Rectangle 37"/>
          <p:cNvSpPr/>
          <p:nvPr/>
        </p:nvSpPr>
        <p:spPr>
          <a:xfrm>
            <a:off x="4178808" y="2194560"/>
            <a:ext cx="3794760" cy="987552"/>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4178808" y="2194560"/>
            <a:ext cx="3794760" cy="292608"/>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270248" y="2231136"/>
            <a:ext cx="2880360" cy="228600"/>
          </a:xfrm>
          <a:prstGeom prst="rect">
            <a:avLst/>
          </a:prstGeom>
          <a:noFill/>
        </p:spPr>
        <p:txBody>
          <a:bodyPr wrap="square">
            <a:spAutoFit/>
          </a:bodyPr>
          <a:lstStyle/>
          <a:p>
            <a:pPr algn="l"/>
            <a:r>
              <a:rPr sz="1000" b="1" i="0">
                <a:solidFill>
                  <a:srgbClr val="FFFFFF"/>
                </a:solidFill>
                <a:latin typeface="Calibri"/>
              </a:rPr>
              <a:t>L2/L3 2025 Topup</a:t>
            </a:r>
          </a:p>
        </p:txBody>
      </p:sp>
      <p:sp>
        <p:nvSpPr>
          <p:cNvPr id="41" name="Rectangle 40"/>
          <p:cNvSpPr/>
          <p:nvPr/>
        </p:nvSpPr>
        <p:spPr>
          <a:xfrm>
            <a:off x="7196328" y="2221991"/>
            <a:ext cx="685800" cy="237744"/>
          </a:xfrm>
          <a:prstGeom prst="rect">
            <a:avLst/>
          </a:prstGeom>
          <a:solidFill>
            <a:srgbClr val="CCA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214616" y="2231136"/>
            <a:ext cx="667512" cy="219456"/>
          </a:xfrm>
          <a:prstGeom prst="rect">
            <a:avLst/>
          </a:prstGeom>
          <a:noFill/>
        </p:spPr>
        <p:txBody>
          <a:bodyPr wrap="square">
            <a:spAutoFit/>
          </a:bodyPr>
          <a:lstStyle/>
          <a:p>
            <a:pPr algn="ctr"/>
            <a:r>
              <a:rPr sz="850" b="1" i="0">
                <a:solidFill>
                  <a:srgbClr val="FFFFFF"/>
                </a:solidFill>
                <a:latin typeface="Calibri"/>
              </a:rPr>
              <a:t>60%</a:t>
            </a:r>
          </a:p>
        </p:txBody>
      </p:sp>
      <p:sp>
        <p:nvSpPr>
          <p:cNvPr id="43" name="TextBox 42"/>
          <p:cNvSpPr txBox="1"/>
          <p:nvPr/>
        </p:nvSpPr>
        <p:spPr>
          <a:xfrm>
            <a:off x="4270248" y="2542032"/>
            <a:ext cx="3566160" cy="256032"/>
          </a:xfrm>
          <a:prstGeom prst="rect">
            <a:avLst/>
          </a:prstGeom>
          <a:noFill/>
        </p:spPr>
        <p:txBody>
          <a:bodyPr wrap="square">
            <a:spAutoFit/>
          </a:bodyPr>
          <a:lstStyle/>
          <a:p>
            <a:pPr algn="l"/>
            <a:r>
              <a:rPr sz="900" b="0" i="0">
                <a:solidFill>
                  <a:srgbClr val="5A6A60"/>
                </a:solidFill>
                <a:latin typeface="Calibri"/>
              </a:rPr>
              <a:t>GEE scripts written; execution pending</a:t>
            </a:r>
          </a:p>
        </p:txBody>
      </p:sp>
      <p:sp>
        <p:nvSpPr>
          <p:cNvPr id="44" name="TextBox 43"/>
          <p:cNvSpPr txBox="1"/>
          <p:nvPr/>
        </p:nvSpPr>
        <p:spPr>
          <a:xfrm>
            <a:off x="4270248" y="2798064"/>
            <a:ext cx="3566160" cy="274320"/>
          </a:xfrm>
          <a:prstGeom prst="rect">
            <a:avLst/>
          </a:prstGeom>
          <a:noFill/>
        </p:spPr>
        <p:txBody>
          <a:bodyPr wrap="square">
            <a:spAutoFit/>
          </a:bodyPr>
          <a:lstStyle/>
          <a:p>
            <a:pPr algn="l"/>
            <a:r>
              <a:rPr sz="950" b="1" i="0">
                <a:solidFill>
                  <a:srgbClr val="1A2E1E"/>
                </a:solidFill>
                <a:latin typeface="Calibri"/>
              </a:rPr>
              <a:t>NEXT ACTION</a:t>
            </a:r>
          </a:p>
        </p:txBody>
      </p:sp>
      <p:sp>
        <p:nvSpPr>
          <p:cNvPr id="45" name="Rectangle 44"/>
          <p:cNvSpPr/>
          <p:nvPr/>
        </p:nvSpPr>
        <p:spPr>
          <a:xfrm>
            <a:off x="8174736" y="2194560"/>
            <a:ext cx="3794760" cy="987552"/>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8174736" y="2194560"/>
            <a:ext cx="3794760" cy="292608"/>
          </a:xfrm>
          <a:prstGeom prst="rect">
            <a:avLst/>
          </a:prstGeom>
          <a:solidFill>
            <a:srgbClr val="9B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8266175" y="2231136"/>
            <a:ext cx="2880360" cy="228600"/>
          </a:xfrm>
          <a:prstGeom prst="rect">
            <a:avLst/>
          </a:prstGeom>
          <a:noFill/>
        </p:spPr>
        <p:txBody>
          <a:bodyPr wrap="square">
            <a:spAutoFit/>
          </a:bodyPr>
          <a:lstStyle/>
          <a:p>
            <a:pPr algn="l"/>
            <a:r>
              <a:rPr sz="1000" b="1" i="0">
                <a:solidFill>
                  <a:srgbClr val="FFFFFF"/>
                </a:solidFill>
                <a:latin typeface="Calibri"/>
              </a:rPr>
              <a:t>L5  Infrastructure</a:t>
            </a:r>
          </a:p>
        </p:txBody>
      </p:sp>
      <p:sp>
        <p:nvSpPr>
          <p:cNvPr id="48" name="Rectangle 47"/>
          <p:cNvSpPr/>
          <p:nvPr/>
        </p:nvSpPr>
        <p:spPr>
          <a:xfrm>
            <a:off x="11192255" y="2221991"/>
            <a:ext cx="685800" cy="237744"/>
          </a:xfrm>
          <a:prstGeom prst="rect">
            <a:avLst/>
          </a:prstGeom>
          <a:solidFill>
            <a:srgbClr val="9B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11210544" y="2231136"/>
            <a:ext cx="667512" cy="219456"/>
          </a:xfrm>
          <a:prstGeom prst="rect">
            <a:avLst/>
          </a:prstGeom>
          <a:noFill/>
        </p:spPr>
        <p:txBody>
          <a:bodyPr wrap="square">
            <a:spAutoFit/>
          </a:bodyPr>
          <a:lstStyle/>
          <a:p>
            <a:pPr algn="ctr"/>
            <a:r>
              <a:rPr sz="850" b="1" i="0">
                <a:solidFill>
                  <a:srgbClr val="FFFFFF"/>
                </a:solidFill>
                <a:latin typeface="Calibri"/>
              </a:rPr>
              <a:t>0%</a:t>
            </a:r>
          </a:p>
        </p:txBody>
      </p:sp>
      <p:sp>
        <p:nvSpPr>
          <p:cNvPr id="50" name="TextBox 49"/>
          <p:cNvSpPr txBox="1"/>
          <p:nvPr/>
        </p:nvSpPr>
        <p:spPr>
          <a:xfrm>
            <a:off x="8266175" y="2542032"/>
            <a:ext cx="3566160" cy="256032"/>
          </a:xfrm>
          <a:prstGeom prst="rect">
            <a:avLst/>
          </a:prstGeom>
          <a:noFill/>
        </p:spPr>
        <p:txBody>
          <a:bodyPr wrap="square">
            <a:spAutoFit/>
          </a:bodyPr>
          <a:lstStyle/>
          <a:p>
            <a:pPr algn="l"/>
            <a:r>
              <a:rPr sz="900" b="0" i="0">
                <a:solidFill>
                  <a:srgbClr val="5A6A60"/>
                </a:solidFill>
                <a:latin typeface="Calibri"/>
              </a:rPr>
              <a:t>Cold storage · Road density · Rural wages</a:t>
            </a:r>
          </a:p>
        </p:txBody>
      </p:sp>
      <p:sp>
        <p:nvSpPr>
          <p:cNvPr id="51" name="TextBox 50"/>
          <p:cNvSpPr txBox="1"/>
          <p:nvPr/>
        </p:nvSpPr>
        <p:spPr>
          <a:xfrm>
            <a:off x="8266175" y="2798064"/>
            <a:ext cx="3566160" cy="274320"/>
          </a:xfrm>
          <a:prstGeom prst="rect">
            <a:avLst/>
          </a:prstGeom>
          <a:noFill/>
        </p:spPr>
        <p:txBody>
          <a:bodyPr wrap="square">
            <a:spAutoFit/>
          </a:bodyPr>
          <a:lstStyle/>
          <a:p>
            <a:pPr algn="l"/>
            <a:r>
              <a:rPr sz="950" b="1" i="0">
                <a:solidFill>
                  <a:srgbClr val="1A2E1E"/>
                </a:solidFill>
                <a:latin typeface="Calibri"/>
              </a:rPr>
              <a:t>NOT STARTED</a:t>
            </a:r>
          </a:p>
        </p:txBody>
      </p:sp>
      <p:sp>
        <p:nvSpPr>
          <p:cNvPr id="52" name="Rectangle 51"/>
          <p:cNvSpPr/>
          <p:nvPr/>
        </p:nvSpPr>
        <p:spPr>
          <a:xfrm>
            <a:off x="182880" y="3273552"/>
            <a:ext cx="3794760" cy="987552"/>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182880" y="3273552"/>
            <a:ext cx="3794760" cy="292608"/>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274320" y="3310128"/>
            <a:ext cx="2880360" cy="228600"/>
          </a:xfrm>
          <a:prstGeom prst="rect">
            <a:avLst/>
          </a:prstGeom>
          <a:noFill/>
        </p:spPr>
        <p:txBody>
          <a:bodyPr wrap="square">
            <a:spAutoFit/>
          </a:bodyPr>
          <a:lstStyle/>
          <a:p>
            <a:pPr algn="l"/>
            <a:r>
              <a:rPr sz="1000" b="1" i="0">
                <a:solidFill>
                  <a:srgbClr val="FFFFFF"/>
                </a:solidFill>
                <a:latin typeface="Calibri"/>
              </a:rPr>
              <a:t>L6  Policy / Trade</a:t>
            </a:r>
          </a:p>
        </p:txBody>
      </p:sp>
      <p:sp>
        <p:nvSpPr>
          <p:cNvPr id="55" name="Rectangle 54"/>
          <p:cNvSpPr/>
          <p:nvPr/>
        </p:nvSpPr>
        <p:spPr>
          <a:xfrm>
            <a:off x="3200400" y="3300984"/>
            <a:ext cx="685800" cy="237744"/>
          </a:xfrm>
          <a:prstGeom prst="rect">
            <a:avLst/>
          </a:prstGeom>
          <a:solidFill>
            <a:srgbClr val="CCA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3218688" y="3310128"/>
            <a:ext cx="667512" cy="219456"/>
          </a:xfrm>
          <a:prstGeom prst="rect">
            <a:avLst/>
          </a:prstGeom>
          <a:noFill/>
        </p:spPr>
        <p:txBody>
          <a:bodyPr wrap="square">
            <a:spAutoFit/>
          </a:bodyPr>
          <a:lstStyle/>
          <a:p>
            <a:pPr algn="ctr"/>
            <a:r>
              <a:rPr sz="850" b="1" i="0">
                <a:solidFill>
                  <a:srgbClr val="FFFFFF"/>
                </a:solidFill>
                <a:latin typeface="Calibri"/>
              </a:rPr>
              <a:t>15%</a:t>
            </a:r>
          </a:p>
        </p:txBody>
      </p:sp>
      <p:sp>
        <p:nvSpPr>
          <p:cNvPr id="57" name="TextBox 56"/>
          <p:cNvSpPr txBox="1"/>
          <p:nvPr/>
        </p:nvSpPr>
        <p:spPr>
          <a:xfrm>
            <a:off x="274320" y="3621024"/>
            <a:ext cx="3566160" cy="256032"/>
          </a:xfrm>
          <a:prstGeom prst="rect">
            <a:avLst/>
          </a:prstGeom>
          <a:noFill/>
        </p:spPr>
        <p:txBody>
          <a:bodyPr wrap="square">
            <a:spAutoFit/>
          </a:bodyPr>
          <a:lstStyle/>
          <a:p>
            <a:pPr algn="l"/>
            <a:r>
              <a:rPr sz="900" b="0" i="0">
                <a:solidFill>
                  <a:srgbClr val="5A6A60"/>
                </a:solidFill>
                <a:latin typeface="Calibri"/>
              </a:rPr>
              <a:t>Export bans · MEP · NAFED · Letters sent</a:t>
            </a:r>
          </a:p>
        </p:txBody>
      </p:sp>
      <p:sp>
        <p:nvSpPr>
          <p:cNvPr id="58" name="TextBox 57"/>
          <p:cNvSpPr txBox="1"/>
          <p:nvPr/>
        </p:nvSpPr>
        <p:spPr>
          <a:xfrm>
            <a:off x="274320" y="3877056"/>
            <a:ext cx="3566160" cy="274320"/>
          </a:xfrm>
          <a:prstGeom prst="rect">
            <a:avLst/>
          </a:prstGeom>
          <a:noFill/>
        </p:spPr>
        <p:txBody>
          <a:bodyPr wrap="square">
            <a:spAutoFit/>
          </a:bodyPr>
          <a:lstStyle/>
          <a:p>
            <a:pPr algn="l"/>
            <a:r>
              <a:rPr sz="950" b="1" i="0">
                <a:solidFill>
                  <a:srgbClr val="1A2E1E"/>
                </a:solidFill>
                <a:latin typeface="Calibri"/>
              </a:rPr>
              <a:t>IN PROGRESS</a:t>
            </a:r>
          </a:p>
        </p:txBody>
      </p:sp>
      <p:sp>
        <p:nvSpPr>
          <p:cNvPr id="59" name="Rectangle 58"/>
          <p:cNvSpPr/>
          <p:nvPr/>
        </p:nvSpPr>
        <p:spPr>
          <a:xfrm>
            <a:off x="4178808" y="3273552"/>
            <a:ext cx="3794760" cy="987552"/>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4178808" y="3273552"/>
            <a:ext cx="3794760" cy="292608"/>
          </a:xfrm>
          <a:prstGeom prst="rect">
            <a:avLst/>
          </a:prstGeom>
          <a:solidFill>
            <a:srgbClr val="186A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4270248" y="3310128"/>
            <a:ext cx="2880360" cy="228600"/>
          </a:xfrm>
          <a:prstGeom prst="rect">
            <a:avLst/>
          </a:prstGeom>
          <a:noFill/>
        </p:spPr>
        <p:txBody>
          <a:bodyPr wrap="square">
            <a:spAutoFit/>
          </a:bodyPr>
          <a:lstStyle/>
          <a:p>
            <a:pPr algn="l"/>
            <a:r>
              <a:rPr sz="1000" b="1" i="0">
                <a:solidFill>
                  <a:srgbClr val="FFFFFF"/>
                </a:solidFill>
                <a:latin typeface="Calibri"/>
              </a:rPr>
              <a:t>Module A  Supply Signal</a:t>
            </a:r>
          </a:p>
        </p:txBody>
      </p:sp>
      <p:sp>
        <p:nvSpPr>
          <p:cNvPr id="62" name="Rectangle 61"/>
          <p:cNvSpPr/>
          <p:nvPr/>
        </p:nvSpPr>
        <p:spPr>
          <a:xfrm>
            <a:off x="7196328" y="3300984"/>
            <a:ext cx="685800" cy="237744"/>
          </a:xfrm>
          <a:prstGeom prst="rect">
            <a:avLst/>
          </a:prstGeom>
          <a:solidFill>
            <a:srgbClr val="9B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7214616" y="3310128"/>
            <a:ext cx="667512" cy="219456"/>
          </a:xfrm>
          <a:prstGeom prst="rect">
            <a:avLst/>
          </a:prstGeom>
          <a:noFill/>
        </p:spPr>
        <p:txBody>
          <a:bodyPr wrap="square">
            <a:spAutoFit/>
          </a:bodyPr>
          <a:lstStyle/>
          <a:p>
            <a:pPr algn="ctr"/>
            <a:r>
              <a:rPr sz="850" b="1" i="0">
                <a:solidFill>
                  <a:srgbClr val="FFFFFF"/>
                </a:solidFill>
                <a:latin typeface="Calibri"/>
              </a:rPr>
              <a:t>80%</a:t>
            </a:r>
          </a:p>
        </p:txBody>
      </p:sp>
      <p:sp>
        <p:nvSpPr>
          <p:cNvPr id="64" name="TextBox 63"/>
          <p:cNvSpPr txBox="1"/>
          <p:nvPr/>
        </p:nvSpPr>
        <p:spPr>
          <a:xfrm>
            <a:off x="4270248" y="3621024"/>
            <a:ext cx="3566160" cy="256032"/>
          </a:xfrm>
          <a:prstGeom prst="rect">
            <a:avLst/>
          </a:prstGeom>
          <a:noFill/>
        </p:spPr>
        <p:txBody>
          <a:bodyPr wrap="square">
            <a:spAutoFit/>
          </a:bodyPr>
          <a:lstStyle/>
          <a:p>
            <a:pPr algn="l"/>
            <a:r>
              <a:rPr sz="900" b="0" i="0">
                <a:solidFill>
                  <a:srgbClr val="5A6A60"/>
                </a:solidFill>
                <a:latin typeface="Calibri"/>
              </a:rPr>
              <a:t>NDVI anomaly + heat-stress score pipeline</a:t>
            </a:r>
          </a:p>
        </p:txBody>
      </p:sp>
      <p:sp>
        <p:nvSpPr>
          <p:cNvPr id="65" name="TextBox 64"/>
          <p:cNvSpPr txBox="1"/>
          <p:nvPr/>
        </p:nvSpPr>
        <p:spPr>
          <a:xfrm>
            <a:off x="4270248" y="3877056"/>
            <a:ext cx="3566160" cy="274320"/>
          </a:xfrm>
          <a:prstGeom prst="rect">
            <a:avLst/>
          </a:prstGeom>
          <a:noFill/>
        </p:spPr>
        <p:txBody>
          <a:bodyPr wrap="square">
            <a:spAutoFit/>
          </a:bodyPr>
          <a:lstStyle/>
          <a:p>
            <a:pPr algn="l"/>
            <a:r>
              <a:rPr sz="950" b="1" i="0">
                <a:solidFill>
                  <a:srgbClr val="1A2E1E"/>
                </a:solidFill>
                <a:latin typeface="Calibri"/>
              </a:rPr>
              <a:t>BUILT</a:t>
            </a:r>
          </a:p>
        </p:txBody>
      </p:sp>
      <p:sp>
        <p:nvSpPr>
          <p:cNvPr id="66" name="Rectangle 65"/>
          <p:cNvSpPr/>
          <p:nvPr/>
        </p:nvSpPr>
        <p:spPr>
          <a:xfrm>
            <a:off x="8174736" y="3273552"/>
            <a:ext cx="3794760" cy="987552"/>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66"/>
          <p:cNvSpPr/>
          <p:nvPr/>
        </p:nvSpPr>
        <p:spPr>
          <a:xfrm>
            <a:off x="8174736" y="3273552"/>
            <a:ext cx="3794760" cy="292608"/>
          </a:xfrm>
          <a:prstGeom prst="rect">
            <a:avLst/>
          </a:prstGeom>
          <a:solidFill>
            <a:srgbClr val="0B6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8266175" y="3310128"/>
            <a:ext cx="2880360" cy="228600"/>
          </a:xfrm>
          <a:prstGeom prst="rect">
            <a:avLst/>
          </a:prstGeom>
          <a:noFill/>
        </p:spPr>
        <p:txBody>
          <a:bodyPr wrap="square">
            <a:spAutoFit/>
          </a:bodyPr>
          <a:lstStyle/>
          <a:p>
            <a:pPr algn="l"/>
            <a:r>
              <a:rPr sz="1000" b="1" i="0">
                <a:solidFill>
                  <a:srgbClr val="FFFFFF"/>
                </a:solidFill>
                <a:latin typeface="Calibri"/>
              </a:rPr>
              <a:t>Module B  Forecasting</a:t>
            </a:r>
          </a:p>
        </p:txBody>
      </p:sp>
      <p:sp>
        <p:nvSpPr>
          <p:cNvPr id="69" name="Rectangle 68"/>
          <p:cNvSpPr/>
          <p:nvPr/>
        </p:nvSpPr>
        <p:spPr>
          <a:xfrm>
            <a:off x="11192255" y="3300984"/>
            <a:ext cx="685800" cy="237744"/>
          </a:xfrm>
          <a:prstGeom prst="rect">
            <a:avLst/>
          </a:prstGeom>
          <a:solidFill>
            <a:srgbClr val="88AA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11210544" y="3310128"/>
            <a:ext cx="667512" cy="219456"/>
          </a:xfrm>
          <a:prstGeom prst="rect">
            <a:avLst/>
          </a:prstGeom>
          <a:noFill/>
        </p:spPr>
        <p:txBody>
          <a:bodyPr wrap="square">
            <a:spAutoFit/>
          </a:bodyPr>
          <a:lstStyle/>
          <a:p>
            <a:pPr algn="ctr"/>
            <a:r>
              <a:rPr sz="850" b="1" i="0">
                <a:solidFill>
                  <a:srgbClr val="FFFFFF"/>
                </a:solidFill>
                <a:latin typeface="Calibri"/>
              </a:rPr>
              <a:t>90%</a:t>
            </a:r>
          </a:p>
        </p:txBody>
      </p:sp>
      <p:sp>
        <p:nvSpPr>
          <p:cNvPr id="71" name="TextBox 70"/>
          <p:cNvSpPr txBox="1"/>
          <p:nvPr/>
        </p:nvSpPr>
        <p:spPr>
          <a:xfrm>
            <a:off x="8266175" y="3621024"/>
            <a:ext cx="3566160" cy="256032"/>
          </a:xfrm>
          <a:prstGeom prst="rect">
            <a:avLst/>
          </a:prstGeom>
          <a:noFill/>
        </p:spPr>
        <p:txBody>
          <a:bodyPr wrap="square">
            <a:spAutoFit/>
          </a:bodyPr>
          <a:lstStyle/>
          <a:p>
            <a:pPr algn="l"/>
            <a:r>
              <a:rPr sz="900" b="0" i="0">
                <a:solidFill>
                  <a:srgbClr val="5A6A60"/>
                </a:solidFill>
                <a:latin typeface="Calibri"/>
              </a:rPr>
              <a:t>LightGBM + Benchmarks + 4-fold CV · Scripts 12/13</a:t>
            </a:r>
          </a:p>
        </p:txBody>
      </p:sp>
      <p:sp>
        <p:nvSpPr>
          <p:cNvPr id="72" name="TextBox 71"/>
          <p:cNvSpPr txBox="1"/>
          <p:nvPr/>
        </p:nvSpPr>
        <p:spPr>
          <a:xfrm>
            <a:off x="8266175" y="3877056"/>
            <a:ext cx="3566160" cy="274320"/>
          </a:xfrm>
          <a:prstGeom prst="rect">
            <a:avLst/>
          </a:prstGeom>
          <a:noFill/>
        </p:spPr>
        <p:txBody>
          <a:bodyPr wrap="square">
            <a:spAutoFit/>
          </a:bodyPr>
          <a:lstStyle/>
          <a:p>
            <a:pPr algn="l"/>
            <a:r>
              <a:rPr sz="950" b="1" i="0">
                <a:solidFill>
                  <a:srgbClr val="1A2E1E"/>
                </a:solidFill>
                <a:latin typeface="Calibri"/>
              </a:rPr>
              <a:t>RUNNING</a:t>
            </a:r>
          </a:p>
        </p:txBody>
      </p:sp>
      <p:sp>
        <p:nvSpPr>
          <p:cNvPr id="73" name="Rectangle 72"/>
          <p:cNvSpPr/>
          <p:nvPr/>
        </p:nvSpPr>
        <p:spPr>
          <a:xfrm>
            <a:off x="182880" y="4352544"/>
            <a:ext cx="3794760" cy="987552"/>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ectangle 73"/>
          <p:cNvSpPr/>
          <p:nvPr/>
        </p:nvSpPr>
        <p:spPr>
          <a:xfrm>
            <a:off x="182880" y="4352544"/>
            <a:ext cx="3794760" cy="292608"/>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274320" y="4389120"/>
            <a:ext cx="2880360" cy="228600"/>
          </a:xfrm>
          <a:prstGeom prst="rect">
            <a:avLst/>
          </a:prstGeom>
          <a:noFill/>
        </p:spPr>
        <p:txBody>
          <a:bodyPr wrap="square">
            <a:spAutoFit/>
          </a:bodyPr>
          <a:lstStyle/>
          <a:p>
            <a:pPr algn="l"/>
            <a:r>
              <a:rPr sz="1000" b="1" i="0">
                <a:solidFill>
                  <a:srgbClr val="FFFFFF"/>
                </a:solidFill>
                <a:latin typeface="Calibri"/>
              </a:rPr>
              <a:t>Ablation M0–M4</a:t>
            </a:r>
          </a:p>
        </p:txBody>
      </p:sp>
      <p:sp>
        <p:nvSpPr>
          <p:cNvPr id="76" name="Rectangle 75"/>
          <p:cNvSpPr/>
          <p:nvPr/>
        </p:nvSpPr>
        <p:spPr>
          <a:xfrm>
            <a:off x="3200400" y="4379976"/>
            <a:ext cx="685800" cy="237744"/>
          </a:xfrm>
          <a:prstGeom prst="rect">
            <a:avLst/>
          </a:prstGeom>
          <a:solidFill>
            <a:srgbClr val="CCA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3218688" y="4389120"/>
            <a:ext cx="667512" cy="219456"/>
          </a:xfrm>
          <a:prstGeom prst="rect">
            <a:avLst/>
          </a:prstGeom>
          <a:noFill/>
        </p:spPr>
        <p:txBody>
          <a:bodyPr wrap="square">
            <a:spAutoFit/>
          </a:bodyPr>
          <a:lstStyle/>
          <a:p>
            <a:pPr algn="ctr"/>
            <a:r>
              <a:rPr sz="850" b="1" i="0">
                <a:solidFill>
                  <a:srgbClr val="FFFFFF"/>
                </a:solidFill>
                <a:latin typeface="Calibri"/>
              </a:rPr>
              <a:t>70%</a:t>
            </a:r>
          </a:p>
        </p:txBody>
      </p:sp>
      <p:sp>
        <p:nvSpPr>
          <p:cNvPr id="78" name="TextBox 77"/>
          <p:cNvSpPr txBox="1"/>
          <p:nvPr/>
        </p:nvSpPr>
        <p:spPr>
          <a:xfrm>
            <a:off x="274320" y="4700016"/>
            <a:ext cx="3566160" cy="256032"/>
          </a:xfrm>
          <a:prstGeom prst="rect">
            <a:avLst/>
          </a:prstGeom>
          <a:noFill/>
        </p:spPr>
        <p:txBody>
          <a:bodyPr wrap="square">
            <a:spAutoFit/>
          </a:bodyPr>
          <a:lstStyle/>
          <a:p>
            <a:pPr algn="l"/>
            <a:r>
              <a:rPr sz="900" b="0" i="0">
                <a:solidFill>
                  <a:srgbClr val="5A6A60"/>
                </a:solidFill>
                <a:latin typeface="Calibri"/>
              </a:rPr>
              <a:t>Script 15 complete; final 2025 data pending</a:t>
            </a:r>
          </a:p>
        </p:txBody>
      </p:sp>
      <p:sp>
        <p:nvSpPr>
          <p:cNvPr id="79" name="TextBox 78"/>
          <p:cNvSpPr txBox="1"/>
          <p:nvPr/>
        </p:nvSpPr>
        <p:spPr>
          <a:xfrm>
            <a:off x="274320" y="4956048"/>
            <a:ext cx="3566160" cy="274320"/>
          </a:xfrm>
          <a:prstGeom prst="rect">
            <a:avLst/>
          </a:prstGeom>
          <a:noFill/>
        </p:spPr>
        <p:txBody>
          <a:bodyPr wrap="square">
            <a:spAutoFit/>
          </a:bodyPr>
          <a:lstStyle/>
          <a:p>
            <a:pPr algn="l"/>
            <a:r>
              <a:rPr sz="950" b="1" i="0">
                <a:solidFill>
                  <a:srgbClr val="1A2E1E"/>
                </a:solidFill>
                <a:latin typeface="Calibri"/>
              </a:rPr>
              <a:t>IN PROGRESS</a:t>
            </a:r>
          </a:p>
        </p:txBody>
      </p:sp>
      <p:sp>
        <p:nvSpPr>
          <p:cNvPr id="80" name="Rectangle 79"/>
          <p:cNvSpPr/>
          <p:nvPr/>
        </p:nvSpPr>
        <p:spPr>
          <a:xfrm>
            <a:off x="4178808" y="4352544"/>
            <a:ext cx="3794760" cy="987552"/>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Rectangle 80"/>
          <p:cNvSpPr/>
          <p:nvPr/>
        </p:nvSpPr>
        <p:spPr>
          <a:xfrm>
            <a:off x="4178808" y="4352544"/>
            <a:ext cx="3794760" cy="292608"/>
          </a:xfrm>
          <a:prstGeom prst="rect">
            <a:avLst/>
          </a:prstGeom>
          <a:solidFill>
            <a:srgbClr val="9B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4270248" y="4389120"/>
            <a:ext cx="2880360" cy="228600"/>
          </a:xfrm>
          <a:prstGeom prst="rect">
            <a:avLst/>
          </a:prstGeom>
          <a:noFill/>
        </p:spPr>
        <p:txBody>
          <a:bodyPr wrap="square">
            <a:spAutoFit/>
          </a:bodyPr>
          <a:lstStyle/>
          <a:p>
            <a:pPr algn="l"/>
            <a:r>
              <a:rPr sz="1000" b="1" i="0">
                <a:solidFill>
                  <a:srgbClr val="FFFFFF"/>
                </a:solidFill>
                <a:latin typeface="Calibri"/>
              </a:rPr>
              <a:t>Ablation M5–M6</a:t>
            </a:r>
          </a:p>
        </p:txBody>
      </p:sp>
      <p:sp>
        <p:nvSpPr>
          <p:cNvPr id="83" name="Rectangle 82"/>
          <p:cNvSpPr/>
          <p:nvPr/>
        </p:nvSpPr>
        <p:spPr>
          <a:xfrm>
            <a:off x="7196328" y="4379976"/>
            <a:ext cx="685800" cy="237744"/>
          </a:xfrm>
          <a:prstGeom prst="rect">
            <a:avLst/>
          </a:prstGeom>
          <a:solidFill>
            <a:srgbClr val="9B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7214616" y="4389120"/>
            <a:ext cx="667512" cy="219456"/>
          </a:xfrm>
          <a:prstGeom prst="rect">
            <a:avLst/>
          </a:prstGeom>
          <a:noFill/>
        </p:spPr>
        <p:txBody>
          <a:bodyPr wrap="square">
            <a:spAutoFit/>
          </a:bodyPr>
          <a:lstStyle/>
          <a:p>
            <a:pPr algn="ctr"/>
            <a:r>
              <a:rPr sz="850" b="1" i="0">
                <a:solidFill>
                  <a:srgbClr val="FFFFFF"/>
                </a:solidFill>
                <a:latin typeface="Calibri"/>
              </a:rPr>
              <a:t>0%</a:t>
            </a:r>
          </a:p>
        </p:txBody>
      </p:sp>
      <p:sp>
        <p:nvSpPr>
          <p:cNvPr id="85" name="TextBox 84"/>
          <p:cNvSpPr txBox="1"/>
          <p:nvPr/>
        </p:nvSpPr>
        <p:spPr>
          <a:xfrm>
            <a:off x="4270248" y="4700016"/>
            <a:ext cx="3566160" cy="256032"/>
          </a:xfrm>
          <a:prstGeom prst="rect">
            <a:avLst/>
          </a:prstGeom>
          <a:noFill/>
        </p:spPr>
        <p:txBody>
          <a:bodyPr wrap="square">
            <a:spAutoFit/>
          </a:bodyPr>
          <a:lstStyle/>
          <a:p>
            <a:pPr algn="l"/>
            <a:r>
              <a:rPr sz="900" b="0" i="0">
                <a:solidFill>
                  <a:srgbClr val="5A6A60"/>
                </a:solidFill>
                <a:latin typeface="Calibri"/>
              </a:rPr>
              <a:t>Blocked on Layer 5 and 6 data</a:t>
            </a:r>
          </a:p>
        </p:txBody>
      </p:sp>
      <p:sp>
        <p:nvSpPr>
          <p:cNvPr id="86" name="TextBox 85"/>
          <p:cNvSpPr txBox="1"/>
          <p:nvPr/>
        </p:nvSpPr>
        <p:spPr>
          <a:xfrm>
            <a:off x="4270248" y="4956048"/>
            <a:ext cx="3566160" cy="274320"/>
          </a:xfrm>
          <a:prstGeom prst="rect">
            <a:avLst/>
          </a:prstGeom>
          <a:noFill/>
        </p:spPr>
        <p:txBody>
          <a:bodyPr wrap="square">
            <a:spAutoFit/>
          </a:bodyPr>
          <a:lstStyle/>
          <a:p>
            <a:pPr algn="l"/>
            <a:r>
              <a:rPr sz="950" b="1" i="0">
                <a:solidFill>
                  <a:srgbClr val="1A2E1E"/>
                </a:solidFill>
                <a:latin typeface="Calibri"/>
              </a:rPr>
              <a:t>BLOCKED</a:t>
            </a:r>
          </a:p>
        </p:txBody>
      </p:sp>
      <p:sp>
        <p:nvSpPr>
          <p:cNvPr id="87" name="Rectangle 86"/>
          <p:cNvSpPr/>
          <p:nvPr/>
        </p:nvSpPr>
        <p:spPr>
          <a:xfrm>
            <a:off x="8174736" y="4352544"/>
            <a:ext cx="3794760" cy="987552"/>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Rectangle 87"/>
          <p:cNvSpPr/>
          <p:nvPr/>
        </p:nvSpPr>
        <p:spPr>
          <a:xfrm>
            <a:off x="8174736" y="4352544"/>
            <a:ext cx="3794760" cy="292608"/>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8266175" y="4389120"/>
            <a:ext cx="2880360" cy="228600"/>
          </a:xfrm>
          <a:prstGeom prst="rect">
            <a:avLst/>
          </a:prstGeom>
          <a:noFill/>
        </p:spPr>
        <p:txBody>
          <a:bodyPr wrap="square">
            <a:spAutoFit/>
          </a:bodyPr>
          <a:lstStyle/>
          <a:p>
            <a:pPr algn="l"/>
            <a:r>
              <a:rPr sz="1000" b="1" i="0">
                <a:solidFill>
                  <a:srgbClr val="FFFFFF"/>
                </a:solidFill>
                <a:latin typeface="Calibri"/>
              </a:rPr>
              <a:t>Module C  Market Network</a:t>
            </a:r>
          </a:p>
        </p:txBody>
      </p:sp>
      <p:sp>
        <p:nvSpPr>
          <p:cNvPr id="90" name="Rectangle 89"/>
          <p:cNvSpPr/>
          <p:nvPr/>
        </p:nvSpPr>
        <p:spPr>
          <a:xfrm>
            <a:off x="11192255" y="4379976"/>
            <a:ext cx="685800" cy="237744"/>
          </a:xfrm>
          <a:prstGeom prst="rect">
            <a:avLst/>
          </a:prstGeom>
          <a:solidFill>
            <a:srgbClr val="CCA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11210544" y="4389120"/>
            <a:ext cx="667512" cy="219456"/>
          </a:xfrm>
          <a:prstGeom prst="rect">
            <a:avLst/>
          </a:prstGeom>
          <a:noFill/>
        </p:spPr>
        <p:txBody>
          <a:bodyPr wrap="square">
            <a:spAutoFit/>
          </a:bodyPr>
          <a:lstStyle/>
          <a:p>
            <a:pPr algn="ctr"/>
            <a:r>
              <a:rPr sz="850" b="1" i="0">
                <a:solidFill>
                  <a:srgbClr val="FFFFFF"/>
                </a:solidFill>
                <a:latin typeface="Calibri"/>
              </a:rPr>
              <a:t>10%</a:t>
            </a:r>
          </a:p>
        </p:txBody>
      </p:sp>
      <p:sp>
        <p:nvSpPr>
          <p:cNvPr id="92" name="TextBox 91"/>
          <p:cNvSpPr txBox="1"/>
          <p:nvPr/>
        </p:nvSpPr>
        <p:spPr>
          <a:xfrm>
            <a:off x="8266175" y="4700016"/>
            <a:ext cx="3566160" cy="256032"/>
          </a:xfrm>
          <a:prstGeom prst="rect">
            <a:avLst/>
          </a:prstGeom>
          <a:noFill/>
        </p:spPr>
        <p:txBody>
          <a:bodyPr wrap="square">
            <a:spAutoFit/>
          </a:bodyPr>
          <a:lstStyle/>
          <a:p>
            <a:pPr algn="l"/>
            <a:r>
              <a:rPr sz="900" b="0" i="0">
                <a:solidFill>
                  <a:srgbClr val="5A6A60"/>
                </a:solidFill>
                <a:latin typeface="Calibri"/>
              </a:rPr>
              <a:t>Granger causality · leader-follower</a:t>
            </a:r>
          </a:p>
        </p:txBody>
      </p:sp>
      <p:sp>
        <p:nvSpPr>
          <p:cNvPr id="93" name="TextBox 92"/>
          <p:cNvSpPr txBox="1"/>
          <p:nvPr/>
        </p:nvSpPr>
        <p:spPr>
          <a:xfrm>
            <a:off x="8266175" y="4956048"/>
            <a:ext cx="3566160" cy="274320"/>
          </a:xfrm>
          <a:prstGeom prst="rect">
            <a:avLst/>
          </a:prstGeom>
          <a:noFill/>
        </p:spPr>
        <p:txBody>
          <a:bodyPr wrap="square">
            <a:spAutoFit/>
          </a:bodyPr>
          <a:lstStyle/>
          <a:p>
            <a:pPr algn="l"/>
            <a:r>
              <a:rPr sz="950" b="1" i="0">
                <a:solidFill>
                  <a:srgbClr val="1A2E1E"/>
                </a:solidFill>
                <a:latin typeface="Calibri"/>
              </a:rPr>
              <a:t>DESIGNED</a:t>
            </a:r>
          </a:p>
        </p:txBody>
      </p:sp>
      <p:sp>
        <p:nvSpPr>
          <p:cNvPr id="94" name="Rectangle 93"/>
          <p:cNvSpPr/>
          <p:nvPr/>
        </p:nvSpPr>
        <p:spPr>
          <a:xfrm>
            <a:off x="182880" y="5431536"/>
            <a:ext cx="3794760" cy="987552"/>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Rectangle 94"/>
          <p:cNvSpPr/>
          <p:nvPr/>
        </p:nvSpPr>
        <p:spPr>
          <a:xfrm>
            <a:off x="182880" y="5431536"/>
            <a:ext cx="3794760" cy="292608"/>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TextBox 95"/>
          <p:cNvSpPr txBox="1"/>
          <p:nvPr/>
        </p:nvSpPr>
        <p:spPr>
          <a:xfrm>
            <a:off x="274320" y="5468112"/>
            <a:ext cx="2880360" cy="228600"/>
          </a:xfrm>
          <a:prstGeom prst="rect">
            <a:avLst/>
          </a:prstGeom>
          <a:noFill/>
        </p:spPr>
        <p:txBody>
          <a:bodyPr wrap="square">
            <a:spAutoFit/>
          </a:bodyPr>
          <a:lstStyle/>
          <a:p>
            <a:pPr algn="l"/>
            <a:r>
              <a:rPr sz="1000" b="1" i="0">
                <a:solidFill>
                  <a:srgbClr val="FFFFFF"/>
                </a:solidFill>
                <a:latin typeface="Calibri"/>
              </a:rPr>
              <a:t>Module D  Stress Testing</a:t>
            </a:r>
          </a:p>
        </p:txBody>
      </p:sp>
      <p:sp>
        <p:nvSpPr>
          <p:cNvPr id="97" name="Rectangle 96"/>
          <p:cNvSpPr/>
          <p:nvPr/>
        </p:nvSpPr>
        <p:spPr>
          <a:xfrm>
            <a:off x="3200400" y="5458968"/>
            <a:ext cx="685800" cy="237744"/>
          </a:xfrm>
          <a:prstGeom prst="rect">
            <a:avLst/>
          </a:prstGeom>
          <a:solidFill>
            <a:srgbClr val="CCA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97"/>
          <p:cNvSpPr txBox="1"/>
          <p:nvPr/>
        </p:nvSpPr>
        <p:spPr>
          <a:xfrm>
            <a:off x="3218688" y="5468112"/>
            <a:ext cx="667512" cy="219456"/>
          </a:xfrm>
          <a:prstGeom prst="rect">
            <a:avLst/>
          </a:prstGeom>
          <a:noFill/>
        </p:spPr>
        <p:txBody>
          <a:bodyPr wrap="square">
            <a:spAutoFit/>
          </a:bodyPr>
          <a:lstStyle/>
          <a:p>
            <a:pPr algn="ctr"/>
            <a:r>
              <a:rPr sz="850" b="1" i="0">
                <a:solidFill>
                  <a:srgbClr val="FFFFFF"/>
                </a:solidFill>
                <a:latin typeface="Calibri"/>
              </a:rPr>
              <a:t>5%</a:t>
            </a:r>
          </a:p>
        </p:txBody>
      </p:sp>
      <p:sp>
        <p:nvSpPr>
          <p:cNvPr id="99" name="TextBox 98"/>
          <p:cNvSpPr txBox="1"/>
          <p:nvPr/>
        </p:nvSpPr>
        <p:spPr>
          <a:xfrm>
            <a:off x="274320" y="5779007"/>
            <a:ext cx="3566160" cy="256032"/>
          </a:xfrm>
          <a:prstGeom prst="rect">
            <a:avLst/>
          </a:prstGeom>
          <a:noFill/>
        </p:spPr>
        <p:txBody>
          <a:bodyPr wrap="square">
            <a:spAutoFit/>
          </a:bodyPr>
          <a:lstStyle/>
          <a:p>
            <a:pPr algn="l"/>
            <a:r>
              <a:rPr sz="900" b="0" i="0">
                <a:solidFill>
                  <a:srgbClr val="5A6A60"/>
                </a:solidFill>
                <a:latin typeface="Calibri"/>
              </a:rPr>
              <a:t>Export ban / climate / fuel scenarios</a:t>
            </a:r>
          </a:p>
        </p:txBody>
      </p:sp>
      <p:sp>
        <p:nvSpPr>
          <p:cNvPr id="100" name="TextBox 99"/>
          <p:cNvSpPr txBox="1"/>
          <p:nvPr/>
        </p:nvSpPr>
        <p:spPr>
          <a:xfrm>
            <a:off x="274320" y="6035040"/>
            <a:ext cx="3566160" cy="274320"/>
          </a:xfrm>
          <a:prstGeom prst="rect">
            <a:avLst/>
          </a:prstGeom>
          <a:noFill/>
        </p:spPr>
        <p:txBody>
          <a:bodyPr wrap="square">
            <a:spAutoFit/>
          </a:bodyPr>
          <a:lstStyle/>
          <a:p>
            <a:pPr algn="l"/>
            <a:r>
              <a:rPr sz="950" b="1" i="0">
                <a:solidFill>
                  <a:srgbClr val="1A2E1E"/>
                </a:solidFill>
                <a:latin typeface="Calibri"/>
              </a:rPr>
              <a:t>DESIGNED</a:t>
            </a:r>
          </a:p>
        </p:txBody>
      </p:sp>
      <p:sp>
        <p:nvSpPr>
          <p:cNvPr id="101" name="Rectangle 100"/>
          <p:cNvSpPr/>
          <p:nvPr/>
        </p:nvSpPr>
        <p:spPr>
          <a:xfrm>
            <a:off x="4178808" y="5431536"/>
            <a:ext cx="3794760" cy="987552"/>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Rectangle 101"/>
          <p:cNvSpPr/>
          <p:nvPr/>
        </p:nvSpPr>
        <p:spPr>
          <a:xfrm>
            <a:off x="4178808" y="5431536"/>
            <a:ext cx="3794760" cy="292608"/>
          </a:xfrm>
          <a:prstGeom prst="rect">
            <a:avLst/>
          </a:prstGeom>
          <a:solidFill>
            <a:srgbClr val="9B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TextBox 102"/>
          <p:cNvSpPr txBox="1"/>
          <p:nvPr/>
        </p:nvSpPr>
        <p:spPr>
          <a:xfrm>
            <a:off x="4270248" y="5468112"/>
            <a:ext cx="2880360" cy="228600"/>
          </a:xfrm>
          <a:prstGeom prst="rect">
            <a:avLst/>
          </a:prstGeom>
          <a:noFill/>
        </p:spPr>
        <p:txBody>
          <a:bodyPr wrap="square">
            <a:spAutoFit/>
          </a:bodyPr>
          <a:lstStyle/>
          <a:p>
            <a:pPr algn="l"/>
            <a:r>
              <a:rPr sz="1000" b="1" i="0">
                <a:solidFill>
                  <a:srgbClr val="FFFFFF"/>
                </a:solidFill>
                <a:latin typeface="Calibri"/>
              </a:rPr>
              <a:t>Crisis Backtesting</a:t>
            </a:r>
          </a:p>
        </p:txBody>
      </p:sp>
      <p:sp>
        <p:nvSpPr>
          <p:cNvPr id="104" name="Rectangle 103"/>
          <p:cNvSpPr/>
          <p:nvPr/>
        </p:nvSpPr>
        <p:spPr>
          <a:xfrm>
            <a:off x="7196328" y="5458968"/>
            <a:ext cx="685800" cy="237744"/>
          </a:xfrm>
          <a:prstGeom prst="rect">
            <a:avLst/>
          </a:prstGeom>
          <a:solidFill>
            <a:srgbClr val="9B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TextBox 104"/>
          <p:cNvSpPr txBox="1"/>
          <p:nvPr/>
        </p:nvSpPr>
        <p:spPr>
          <a:xfrm>
            <a:off x="7214616" y="5468112"/>
            <a:ext cx="667512" cy="219456"/>
          </a:xfrm>
          <a:prstGeom prst="rect">
            <a:avLst/>
          </a:prstGeom>
          <a:noFill/>
        </p:spPr>
        <p:txBody>
          <a:bodyPr wrap="square">
            <a:spAutoFit/>
          </a:bodyPr>
          <a:lstStyle/>
          <a:p>
            <a:pPr algn="ctr"/>
            <a:r>
              <a:rPr sz="850" b="1" i="0">
                <a:solidFill>
                  <a:srgbClr val="FFFFFF"/>
                </a:solidFill>
                <a:latin typeface="Calibri"/>
              </a:rPr>
              <a:t>0%</a:t>
            </a:r>
          </a:p>
        </p:txBody>
      </p:sp>
      <p:sp>
        <p:nvSpPr>
          <p:cNvPr id="106" name="TextBox 105"/>
          <p:cNvSpPr txBox="1"/>
          <p:nvPr/>
        </p:nvSpPr>
        <p:spPr>
          <a:xfrm>
            <a:off x="4270248" y="5779007"/>
            <a:ext cx="3566160" cy="256032"/>
          </a:xfrm>
          <a:prstGeom prst="rect">
            <a:avLst/>
          </a:prstGeom>
          <a:noFill/>
        </p:spPr>
        <p:txBody>
          <a:bodyPr wrap="square">
            <a:spAutoFit/>
          </a:bodyPr>
          <a:lstStyle/>
          <a:p>
            <a:pPr algn="l"/>
            <a:r>
              <a:rPr sz="900" b="0" i="0">
                <a:solidFill>
                  <a:srgbClr val="5A6A60"/>
                </a:solidFill>
                <a:latin typeface="Calibri"/>
              </a:rPr>
              <a:t>2019 onion · 2023 tomato · COVID 2020</a:t>
            </a:r>
          </a:p>
        </p:txBody>
      </p:sp>
      <p:sp>
        <p:nvSpPr>
          <p:cNvPr id="107" name="TextBox 106"/>
          <p:cNvSpPr txBox="1"/>
          <p:nvPr/>
        </p:nvSpPr>
        <p:spPr>
          <a:xfrm>
            <a:off x="4270248" y="6035040"/>
            <a:ext cx="3566160" cy="274320"/>
          </a:xfrm>
          <a:prstGeom prst="rect">
            <a:avLst/>
          </a:prstGeom>
          <a:noFill/>
        </p:spPr>
        <p:txBody>
          <a:bodyPr wrap="square">
            <a:spAutoFit/>
          </a:bodyPr>
          <a:lstStyle/>
          <a:p>
            <a:pPr algn="l"/>
            <a:r>
              <a:rPr sz="950" b="1" i="0">
                <a:solidFill>
                  <a:srgbClr val="1A2E1E"/>
                </a:solidFill>
                <a:latin typeface="Calibri"/>
              </a:rPr>
              <a:t>NOT STARTED</a:t>
            </a:r>
          </a:p>
        </p:txBody>
      </p:sp>
      <p:sp>
        <p:nvSpPr>
          <p:cNvPr id="108" name="Rectangle 107"/>
          <p:cNvSpPr/>
          <p:nvPr/>
        </p:nvSpPr>
        <p:spPr>
          <a:xfrm>
            <a:off x="8174736" y="5431536"/>
            <a:ext cx="3794760" cy="987552"/>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Rectangle 108"/>
          <p:cNvSpPr/>
          <p:nvPr/>
        </p:nvSpPr>
        <p:spPr>
          <a:xfrm>
            <a:off x="8174736" y="5431536"/>
            <a:ext cx="3794760" cy="292608"/>
          </a:xfrm>
          <a:prstGeom prst="rect">
            <a:avLst/>
          </a:prstGeom>
          <a:solidFill>
            <a:srgbClr val="9B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TextBox 109"/>
          <p:cNvSpPr txBox="1"/>
          <p:nvPr/>
        </p:nvSpPr>
        <p:spPr>
          <a:xfrm>
            <a:off x="8266175" y="5468112"/>
            <a:ext cx="2880360" cy="228600"/>
          </a:xfrm>
          <a:prstGeom prst="rect">
            <a:avLst/>
          </a:prstGeom>
          <a:noFill/>
        </p:spPr>
        <p:txBody>
          <a:bodyPr wrap="square">
            <a:spAutoFit/>
          </a:bodyPr>
          <a:lstStyle/>
          <a:p>
            <a:pPr algn="l"/>
            <a:r>
              <a:rPr sz="1000" b="1" i="0">
                <a:solidFill>
                  <a:srgbClr val="FFFFFF"/>
                </a:solidFill>
                <a:latin typeface="Calibri"/>
              </a:rPr>
              <a:t>Manuscript Draft</a:t>
            </a:r>
          </a:p>
        </p:txBody>
      </p:sp>
      <p:sp>
        <p:nvSpPr>
          <p:cNvPr id="111" name="Rectangle 110"/>
          <p:cNvSpPr/>
          <p:nvPr/>
        </p:nvSpPr>
        <p:spPr>
          <a:xfrm>
            <a:off x="11192255" y="5458968"/>
            <a:ext cx="685800" cy="237744"/>
          </a:xfrm>
          <a:prstGeom prst="rect">
            <a:avLst/>
          </a:prstGeom>
          <a:solidFill>
            <a:srgbClr val="9B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TextBox 111"/>
          <p:cNvSpPr txBox="1"/>
          <p:nvPr/>
        </p:nvSpPr>
        <p:spPr>
          <a:xfrm>
            <a:off x="11210544" y="5468112"/>
            <a:ext cx="667512" cy="219456"/>
          </a:xfrm>
          <a:prstGeom prst="rect">
            <a:avLst/>
          </a:prstGeom>
          <a:noFill/>
        </p:spPr>
        <p:txBody>
          <a:bodyPr wrap="square">
            <a:spAutoFit/>
          </a:bodyPr>
          <a:lstStyle/>
          <a:p>
            <a:pPr algn="ctr"/>
            <a:r>
              <a:rPr sz="850" b="1" i="0">
                <a:solidFill>
                  <a:srgbClr val="FFFFFF"/>
                </a:solidFill>
                <a:latin typeface="Calibri"/>
              </a:rPr>
              <a:t>0%</a:t>
            </a:r>
          </a:p>
        </p:txBody>
      </p:sp>
      <p:sp>
        <p:nvSpPr>
          <p:cNvPr id="113" name="TextBox 112"/>
          <p:cNvSpPr txBox="1"/>
          <p:nvPr/>
        </p:nvSpPr>
        <p:spPr>
          <a:xfrm>
            <a:off x="8266175" y="5779007"/>
            <a:ext cx="3566160" cy="256032"/>
          </a:xfrm>
          <a:prstGeom prst="rect">
            <a:avLst/>
          </a:prstGeom>
          <a:noFill/>
        </p:spPr>
        <p:txBody>
          <a:bodyPr wrap="square">
            <a:spAutoFit/>
          </a:bodyPr>
          <a:lstStyle/>
          <a:p>
            <a:pPr algn="l"/>
            <a:r>
              <a:rPr sz="900" b="0" i="0">
                <a:solidFill>
                  <a:srgbClr val="5A6A60"/>
                </a:solidFill>
                <a:latin typeface="Calibri"/>
              </a:rPr>
              <a:t>Targeting CELA / Agricultural Systems</a:t>
            </a:r>
          </a:p>
        </p:txBody>
      </p:sp>
      <p:sp>
        <p:nvSpPr>
          <p:cNvPr id="114" name="TextBox 113"/>
          <p:cNvSpPr txBox="1"/>
          <p:nvPr/>
        </p:nvSpPr>
        <p:spPr>
          <a:xfrm>
            <a:off x="8266175" y="6035040"/>
            <a:ext cx="3566160" cy="274320"/>
          </a:xfrm>
          <a:prstGeom prst="rect">
            <a:avLst/>
          </a:prstGeom>
          <a:noFill/>
        </p:spPr>
        <p:txBody>
          <a:bodyPr wrap="square">
            <a:spAutoFit/>
          </a:bodyPr>
          <a:lstStyle/>
          <a:p>
            <a:pPr algn="l"/>
            <a:r>
              <a:rPr sz="950" b="1" i="0">
                <a:solidFill>
                  <a:srgbClr val="1A2E1E"/>
                </a:solidFill>
                <a:latin typeface="Calibri"/>
              </a:rPr>
              <a:t>NOT STARTED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64008" cy="6858000"/>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 y="0"/>
            <a:ext cx="12124944" cy="960120"/>
          </a:xfrm>
          <a:prstGeom prst="rect">
            <a:avLst/>
          </a:prstGeom>
          <a:solidFill>
            <a:srgbClr val="0D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4008" y="960120"/>
            <a:ext cx="12124944" cy="32004"/>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 y="64008"/>
            <a:ext cx="11704320" cy="475488"/>
          </a:xfrm>
          <a:prstGeom prst="rect">
            <a:avLst/>
          </a:prstGeom>
          <a:noFill/>
        </p:spPr>
        <p:txBody>
          <a:bodyPr wrap="square">
            <a:spAutoFit/>
          </a:bodyPr>
          <a:lstStyle/>
          <a:p>
            <a:pPr algn="l"/>
            <a:r>
              <a:rPr sz="2100" b="1" i="0">
                <a:solidFill>
                  <a:srgbClr val="FFFFFF"/>
                </a:solidFill>
                <a:latin typeface="Calibri"/>
              </a:rPr>
              <a:t>Pending Actions &amp; Outstanding Data Gaps</a:t>
            </a:r>
          </a:p>
        </p:txBody>
      </p:sp>
      <p:sp>
        <p:nvSpPr>
          <p:cNvPr id="6" name="TextBox 5"/>
          <p:cNvSpPr txBox="1"/>
          <p:nvPr/>
        </p:nvSpPr>
        <p:spPr>
          <a:xfrm>
            <a:off x="201168" y="548640"/>
            <a:ext cx="11704320" cy="365760"/>
          </a:xfrm>
          <a:prstGeom prst="rect">
            <a:avLst/>
          </a:prstGeom>
          <a:noFill/>
        </p:spPr>
        <p:txBody>
          <a:bodyPr wrap="square">
            <a:spAutoFit/>
          </a:bodyPr>
          <a:lstStyle/>
          <a:p>
            <a:pPr algn="l"/>
            <a:r>
              <a:rPr sz="1300" b="0" i="1">
                <a:solidFill>
                  <a:srgbClr val="C8DDD0"/>
                </a:solidFill>
                <a:latin typeface="Calibri"/>
              </a:rPr>
              <a:t>Clear prioritisation of what is needed before manuscript submission</a:t>
            </a:r>
          </a:p>
        </p:txBody>
      </p:sp>
      <p:sp>
        <p:nvSpPr>
          <p:cNvPr id="7" name="Rectangle 6"/>
          <p:cNvSpPr/>
          <p:nvPr/>
        </p:nvSpPr>
        <p:spPr>
          <a:xfrm>
            <a:off x="0" y="6565392"/>
            <a:ext cx="12188952" cy="292608"/>
          </a:xfrm>
          <a:prstGeom prst="rect">
            <a:avLst/>
          </a:prstGeom>
          <a:solidFill>
            <a:srgbClr val="0D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01168" y="6583680"/>
            <a:ext cx="7315200" cy="237744"/>
          </a:xfrm>
          <a:prstGeom prst="rect">
            <a:avLst/>
          </a:prstGeom>
          <a:noFill/>
        </p:spPr>
        <p:txBody>
          <a:bodyPr wrap="square">
            <a:spAutoFit/>
          </a:bodyPr>
          <a:lstStyle/>
          <a:p>
            <a:pPr algn="l"/>
            <a:r>
              <a:rPr sz="850" b="0" i="0">
                <a:solidFill>
                  <a:srgbClr val="C8DDD0"/>
                </a:solidFill>
                <a:latin typeface="Calibri"/>
              </a:rPr>
              <a:t>TOP Digital Twin  ·  SKUAST-K  ·  HADP-04  ·  July 2026</a:t>
            </a:r>
          </a:p>
        </p:txBody>
      </p:sp>
      <p:sp>
        <p:nvSpPr>
          <p:cNvPr id="9" name="TextBox 8"/>
          <p:cNvSpPr txBox="1"/>
          <p:nvPr/>
        </p:nvSpPr>
        <p:spPr>
          <a:xfrm>
            <a:off x="7589520" y="6583680"/>
            <a:ext cx="4389120" cy="237744"/>
          </a:xfrm>
          <a:prstGeom prst="rect">
            <a:avLst/>
          </a:prstGeom>
          <a:noFill/>
        </p:spPr>
        <p:txBody>
          <a:bodyPr wrap="square">
            <a:spAutoFit/>
          </a:bodyPr>
          <a:lstStyle/>
          <a:p>
            <a:pPr algn="r"/>
            <a:r>
              <a:rPr sz="850" b="0" i="0">
                <a:solidFill>
                  <a:srgbClr val="C8DDD0"/>
                </a:solidFill>
                <a:latin typeface="Calibri"/>
              </a:rPr>
              <a:t>CONFIDENTIAL — PI REVIEW</a:t>
            </a:r>
          </a:p>
        </p:txBody>
      </p:sp>
      <p:sp>
        <p:nvSpPr>
          <p:cNvPr id="10" name="Rectangle 9"/>
          <p:cNvSpPr/>
          <p:nvPr/>
        </p:nvSpPr>
        <p:spPr>
          <a:xfrm>
            <a:off x="182880" y="1097280"/>
            <a:ext cx="11750040" cy="320040"/>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20040" y="1115568"/>
            <a:ext cx="11430000" cy="274320"/>
          </a:xfrm>
          <a:prstGeom prst="rect">
            <a:avLst/>
          </a:prstGeom>
          <a:noFill/>
        </p:spPr>
        <p:txBody>
          <a:bodyPr wrap="square">
            <a:spAutoFit/>
          </a:bodyPr>
          <a:lstStyle/>
          <a:p>
            <a:pPr algn="l"/>
            <a:r>
              <a:rPr sz="1100" b="1" i="0">
                <a:solidFill>
                  <a:srgbClr val="FFFFFF"/>
                </a:solidFill>
                <a:latin typeface="Calibri"/>
              </a:rPr>
              <a:t>IMMEDIATE — THIS WEEK</a:t>
            </a:r>
          </a:p>
        </p:txBody>
      </p:sp>
      <p:sp>
        <p:nvSpPr>
          <p:cNvPr id="12" name="TextBox 11"/>
          <p:cNvSpPr txBox="1"/>
          <p:nvPr/>
        </p:nvSpPr>
        <p:spPr>
          <a:xfrm>
            <a:off x="182880" y="1481328"/>
            <a:ext cx="11612880" cy="1179810"/>
          </a:xfrm>
          <a:prstGeom prst="rect">
            <a:avLst/>
          </a:prstGeom>
          <a:noFill/>
        </p:spPr>
        <p:txBody>
          <a:bodyPr wrap="square">
            <a:spAutoFit/>
          </a:bodyPr>
          <a:lstStyle/>
          <a:p>
            <a:pPr>
              <a:spcBef>
                <a:spcPts val="400"/>
              </a:spcBef>
            </a:pPr>
            <a:r>
              <a:rPr sz="900" dirty="0">
                <a:solidFill>
                  <a:srgbClr val="1A2E1E"/>
                </a:solidFill>
                <a:latin typeface="Calibri"/>
              </a:rPr>
              <a:t>1.  Run 5 GEE scripts in Google Earth Engine Code Editor (gee_01 through gee_05)</a:t>
            </a:r>
          </a:p>
          <a:p>
            <a:pPr>
              <a:spcBef>
                <a:spcPts val="400"/>
              </a:spcBef>
            </a:pPr>
            <a:r>
              <a:rPr sz="900" dirty="0">
                <a:solidFill>
                  <a:srgbClr val="1A2E1E"/>
                </a:solidFill>
                <a:latin typeface="Calibri"/>
              </a:rPr>
              <a:t>    →  Click Tasks tab → Run all 17 export tasks per script (85 total CSV files)</a:t>
            </a:r>
          </a:p>
          <a:p>
            <a:pPr>
              <a:spcBef>
                <a:spcPts val="400"/>
              </a:spcBef>
            </a:pPr>
            <a:r>
              <a:rPr sz="900" dirty="0">
                <a:solidFill>
                  <a:srgbClr val="1A2E1E"/>
                </a:solidFill>
                <a:latin typeface="Calibri"/>
              </a:rPr>
              <a:t>    →  Download from Google Drive folder 'TOP_Digital_Twin_GEE_2025'</a:t>
            </a:r>
          </a:p>
          <a:p>
            <a:pPr>
              <a:spcBef>
                <a:spcPts val="400"/>
              </a:spcBef>
            </a:pPr>
            <a:r>
              <a:rPr sz="900" dirty="0">
                <a:solidFill>
                  <a:srgbClr val="1A2E1E"/>
                </a:solidFill>
                <a:latin typeface="Calibri"/>
              </a:rPr>
              <a:t>    →  </a:t>
            </a:r>
            <a:r>
              <a:rPr sz="900" dirty="0" err="1">
                <a:solidFill>
                  <a:srgbClr val="1A2E1E"/>
                </a:solidFill>
                <a:latin typeface="Calibri"/>
              </a:rPr>
              <a:t>Organise</a:t>
            </a:r>
            <a:r>
              <a:rPr sz="900" dirty="0">
                <a:solidFill>
                  <a:srgbClr val="1A2E1E"/>
                </a:solidFill>
                <a:latin typeface="Calibri"/>
              </a:rPr>
              <a:t> into Downloads\GEE_2025\{era5, chirps, s2, </a:t>
            </a:r>
            <a:r>
              <a:rPr sz="900" dirty="0" err="1">
                <a:solidFill>
                  <a:srgbClr val="1A2E1E"/>
                </a:solidFill>
                <a:latin typeface="Calibri"/>
              </a:rPr>
              <a:t>modis</a:t>
            </a:r>
            <a:r>
              <a:rPr sz="900" dirty="0">
                <a:solidFill>
                  <a:srgbClr val="1A2E1E"/>
                </a:solidFill>
                <a:latin typeface="Calibri"/>
              </a:rPr>
              <a:t>}</a:t>
            </a:r>
          </a:p>
          <a:p>
            <a:pPr>
              <a:spcBef>
                <a:spcPts val="400"/>
              </a:spcBef>
            </a:pPr>
            <a:r>
              <a:rPr sz="900" dirty="0">
                <a:solidFill>
                  <a:srgbClr val="1A2E1E"/>
                </a:solidFill>
                <a:latin typeface="Calibri"/>
              </a:rPr>
              <a:t>    →  Re-run Script 14 to generate 2025-extended crop_weekly_features.csv (470 weeks)</a:t>
            </a:r>
          </a:p>
          <a:p>
            <a:pPr>
              <a:spcBef>
                <a:spcPts val="400"/>
              </a:spcBef>
            </a:pPr>
            <a:r>
              <a:rPr sz="900" dirty="0">
                <a:solidFill>
                  <a:srgbClr val="1A2E1E"/>
                </a:solidFill>
                <a:latin typeface="Calibri"/>
              </a:rPr>
              <a:t>    →  Re-run Script 15 to update ablation M0–M4 with full 2025 fold</a:t>
            </a:r>
          </a:p>
        </p:txBody>
      </p:sp>
      <p:sp>
        <p:nvSpPr>
          <p:cNvPr id="13" name="Rectangle 12"/>
          <p:cNvSpPr/>
          <p:nvPr/>
        </p:nvSpPr>
        <p:spPr>
          <a:xfrm>
            <a:off x="182880" y="2697480"/>
            <a:ext cx="11750040" cy="320040"/>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20040" y="2715768"/>
            <a:ext cx="11430000" cy="274320"/>
          </a:xfrm>
          <a:prstGeom prst="rect">
            <a:avLst/>
          </a:prstGeom>
          <a:noFill/>
        </p:spPr>
        <p:txBody>
          <a:bodyPr wrap="square">
            <a:spAutoFit/>
          </a:bodyPr>
          <a:lstStyle/>
          <a:p>
            <a:pPr algn="l"/>
            <a:r>
              <a:rPr sz="1100" b="1" i="0">
                <a:solidFill>
                  <a:srgbClr val="FFFFFF"/>
                </a:solidFill>
                <a:latin typeface="Calibri"/>
              </a:rPr>
              <a:t>SHORT TERM — 2–4 WEEKS</a:t>
            </a:r>
          </a:p>
        </p:txBody>
      </p:sp>
      <p:sp>
        <p:nvSpPr>
          <p:cNvPr id="15" name="TextBox 14"/>
          <p:cNvSpPr txBox="1"/>
          <p:nvPr/>
        </p:nvSpPr>
        <p:spPr>
          <a:xfrm>
            <a:off x="182880" y="3081528"/>
            <a:ext cx="11612880" cy="1436291"/>
          </a:xfrm>
          <a:prstGeom prst="rect">
            <a:avLst/>
          </a:prstGeom>
          <a:noFill/>
        </p:spPr>
        <p:txBody>
          <a:bodyPr wrap="square">
            <a:spAutoFit/>
          </a:bodyPr>
          <a:lstStyle/>
          <a:p>
            <a:pPr>
              <a:spcBef>
                <a:spcPts val="400"/>
              </a:spcBef>
            </a:pPr>
            <a:r>
              <a:rPr sz="800" dirty="0">
                <a:solidFill>
                  <a:srgbClr val="1A2E1E"/>
                </a:solidFill>
                <a:latin typeface="Calibri"/>
              </a:rPr>
              <a:t>2.  Layer 6 — Policy/Trade database:</a:t>
            </a:r>
          </a:p>
          <a:p>
            <a:pPr>
              <a:spcBef>
                <a:spcPts val="400"/>
              </a:spcBef>
            </a:pPr>
            <a:r>
              <a:rPr sz="800" dirty="0">
                <a:solidFill>
                  <a:srgbClr val="1A2E1E"/>
                </a:solidFill>
                <a:latin typeface="Calibri"/>
              </a:rPr>
              <a:t>    ·  Export ban dates from APEDA and </a:t>
            </a:r>
            <a:r>
              <a:rPr sz="800" dirty="0" err="1">
                <a:solidFill>
                  <a:srgbClr val="1A2E1E"/>
                </a:solidFill>
                <a:latin typeface="Calibri"/>
              </a:rPr>
              <a:t>MoC</a:t>
            </a:r>
            <a:r>
              <a:rPr sz="800" dirty="0">
                <a:solidFill>
                  <a:srgbClr val="1A2E1E"/>
                </a:solidFill>
                <a:latin typeface="Calibri"/>
              </a:rPr>
              <a:t> notifications (2017–2025, searchable online)</a:t>
            </a:r>
          </a:p>
          <a:p>
            <a:pPr>
              <a:spcBef>
                <a:spcPts val="400"/>
              </a:spcBef>
            </a:pPr>
            <a:r>
              <a:rPr sz="800" dirty="0">
                <a:solidFill>
                  <a:srgbClr val="1A2E1E"/>
                </a:solidFill>
                <a:latin typeface="Calibri"/>
              </a:rPr>
              <a:t>    ·  MEP (Minimum Export Price) time series from APEDA circulars</a:t>
            </a:r>
          </a:p>
          <a:p>
            <a:pPr>
              <a:spcBef>
                <a:spcPts val="400"/>
              </a:spcBef>
            </a:pPr>
            <a:r>
              <a:rPr sz="800" dirty="0">
                <a:solidFill>
                  <a:srgbClr val="1A2E1E"/>
                </a:solidFill>
                <a:latin typeface="Calibri"/>
              </a:rPr>
              <a:t>    ·  NAFED/NCCF intervention dates and quantities from annual reports</a:t>
            </a:r>
          </a:p>
          <a:p>
            <a:pPr>
              <a:spcBef>
                <a:spcPts val="400"/>
              </a:spcBef>
            </a:pPr>
            <a:r>
              <a:rPr sz="800" dirty="0">
                <a:solidFill>
                  <a:srgbClr val="1A2E1E"/>
                </a:solidFill>
                <a:latin typeface="Calibri"/>
              </a:rPr>
              <a:t>    ·  Await IMD and NAFED formal data response (letters sent)</a:t>
            </a:r>
          </a:p>
          <a:p>
            <a:pPr>
              <a:spcBef>
                <a:spcPts val="400"/>
              </a:spcBef>
            </a:pPr>
            <a:r>
              <a:rPr sz="800" dirty="0">
                <a:solidFill>
                  <a:srgbClr val="1A2E1E"/>
                </a:solidFill>
                <a:latin typeface="Calibri"/>
              </a:rPr>
              <a:t>3.  Layer 5 — Infrastructure data:</a:t>
            </a:r>
          </a:p>
          <a:p>
            <a:pPr>
              <a:spcBef>
                <a:spcPts val="400"/>
              </a:spcBef>
            </a:pPr>
            <a:r>
              <a:rPr sz="800" dirty="0">
                <a:solidFill>
                  <a:srgbClr val="1A2E1E"/>
                </a:solidFill>
                <a:latin typeface="Calibri"/>
              </a:rPr>
              <a:t>    ·  Cold storage capacity: NHB State Horticulture Mission reports (available online)</a:t>
            </a:r>
          </a:p>
          <a:p>
            <a:pPr>
              <a:spcBef>
                <a:spcPts val="400"/>
              </a:spcBef>
            </a:pPr>
            <a:r>
              <a:rPr sz="800" dirty="0">
                <a:solidFill>
                  <a:srgbClr val="1A2E1E"/>
                </a:solidFill>
                <a:latin typeface="Calibri"/>
              </a:rPr>
              <a:t>    ·  Road connectivity index: PMGSY district-level data (available from MoRTH portal)</a:t>
            </a:r>
          </a:p>
        </p:txBody>
      </p:sp>
      <p:sp>
        <p:nvSpPr>
          <p:cNvPr id="16" name="Rectangle 15"/>
          <p:cNvSpPr/>
          <p:nvPr/>
        </p:nvSpPr>
        <p:spPr>
          <a:xfrm>
            <a:off x="182880" y="4553712"/>
            <a:ext cx="11750040" cy="320040"/>
          </a:xfrm>
          <a:prstGeom prst="rect">
            <a:avLst/>
          </a:prstGeom>
          <a:solidFill>
            <a:srgbClr val="1435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20040" y="4572000"/>
            <a:ext cx="11430000" cy="274320"/>
          </a:xfrm>
          <a:prstGeom prst="rect">
            <a:avLst/>
          </a:prstGeom>
          <a:noFill/>
        </p:spPr>
        <p:txBody>
          <a:bodyPr wrap="square">
            <a:spAutoFit/>
          </a:bodyPr>
          <a:lstStyle/>
          <a:p>
            <a:pPr algn="l"/>
            <a:r>
              <a:rPr sz="1100" b="1" i="0">
                <a:solidFill>
                  <a:srgbClr val="FFFFFF"/>
                </a:solidFill>
                <a:latin typeface="Calibri"/>
              </a:rPr>
              <a:t>MEDIUM TERM — 4–8 WEEKS</a:t>
            </a:r>
          </a:p>
        </p:txBody>
      </p:sp>
      <p:sp>
        <p:nvSpPr>
          <p:cNvPr id="18" name="TextBox 17"/>
          <p:cNvSpPr txBox="1"/>
          <p:nvPr/>
        </p:nvSpPr>
        <p:spPr>
          <a:xfrm>
            <a:off x="182880" y="4937760"/>
            <a:ext cx="11612880" cy="1179810"/>
          </a:xfrm>
          <a:prstGeom prst="rect">
            <a:avLst/>
          </a:prstGeom>
          <a:noFill/>
        </p:spPr>
        <p:txBody>
          <a:bodyPr wrap="square">
            <a:spAutoFit/>
          </a:bodyPr>
          <a:lstStyle/>
          <a:p>
            <a:pPr>
              <a:spcBef>
                <a:spcPts val="400"/>
              </a:spcBef>
            </a:pPr>
            <a:r>
              <a:rPr sz="900" dirty="0">
                <a:solidFill>
                  <a:srgbClr val="1A2E1E"/>
                </a:solidFill>
                <a:latin typeface="Calibri"/>
              </a:rPr>
              <a:t>4.  Run Module C (Granger causality + market network) — Script to be written</a:t>
            </a:r>
          </a:p>
          <a:p>
            <a:pPr>
              <a:spcBef>
                <a:spcPts val="400"/>
              </a:spcBef>
            </a:pPr>
            <a:r>
              <a:rPr sz="900" dirty="0">
                <a:solidFill>
                  <a:srgbClr val="1A2E1E"/>
                </a:solidFill>
                <a:latin typeface="Calibri"/>
              </a:rPr>
              <a:t>5.  Run Module D (Scenario stress tests: export ban, climate shock, fuel price shock) — Script to be written</a:t>
            </a:r>
          </a:p>
          <a:p>
            <a:pPr>
              <a:spcBef>
                <a:spcPts val="400"/>
              </a:spcBef>
            </a:pPr>
            <a:r>
              <a:rPr sz="900" dirty="0">
                <a:solidFill>
                  <a:srgbClr val="1A2E1E"/>
                </a:solidFill>
                <a:latin typeface="Calibri"/>
              </a:rPr>
              <a:t>6.  Crisis </a:t>
            </a:r>
            <a:r>
              <a:rPr sz="900" dirty="0" err="1">
                <a:solidFill>
                  <a:srgbClr val="1A2E1E"/>
                </a:solidFill>
                <a:latin typeface="Calibri"/>
              </a:rPr>
              <a:t>backtesting</a:t>
            </a:r>
            <a:r>
              <a:rPr sz="900" dirty="0">
                <a:solidFill>
                  <a:srgbClr val="1A2E1E"/>
                </a:solidFill>
                <a:latin typeface="Calibri"/>
              </a:rPr>
              <a:t>: 2019 onion crisis, 2023 tomato spike, COVID-2020 disruption</a:t>
            </a:r>
          </a:p>
          <a:p>
            <a:pPr>
              <a:spcBef>
                <a:spcPts val="400"/>
              </a:spcBef>
            </a:pPr>
            <a:r>
              <a:rPr sz="900" dirty="0">
                <a:solidFill>
                  <a:srgbClr val="1A2E1E"/>
                </a:solidFill>
                <a:latin typeface="Calibri"/>
              </a:rPr>
              <a:t>7.  Diebold-Mariano tests for statistical comparison of </a:t>
            </a:r>
            <a:r>
              <a:rPr sz="900" dirty="0" err="1">
                <a:solidFill>
                  <a:srgbClr val="1A2E1E"/>
                </a:solidFill>
                <a:latin typeface="Calibri"/>
              </a:rPr>
              <a:t>LightGBM</a:t>
            </a:r>
            <a:r>
              <a:rPr sz="900" dirty="0">
                <a:solidFill>
                  <a:srgbClr val="1A2E1E"/>
                </a:solidFill>
                <a:latin typeface="Calibri"/>
              </a:rPr>
              <a:t> vs ARIMA forecast errors</a:t>
            </a:r>
          </a:p>
          <a:p>
            <a:pPr>
              <a:spcBef>
                <a:spcPts val="400"/>
              </a:spcBef>
            </a:pPr>
            <a:r>
              <a:rPr sz="900" dirty="0">
                <a:solidFill>
                  <a:srgbClr val="1A2E1E"/>
                </a:solidFill>
                <a:latin typeface="Calibri"/>
              </a:rPr>
              <a:t>8.  Generate remaining manuscript figures (missing-data heatmap, imputation summary table,</a:t>
            </a:r>
          </a:p>
          <a:p>
            <a:pPr>
              <a:spcBef>
                <a:spcPts val="400"/>
              </a:spcBef>
            </a:pPr>
            <a:r>
              <a:rPr sz="900" dirty="0">
                <a:solidFill>
                  <a:srgbClr val="1A2E1E"/>
                </a:solidFill>
                <a:latin typeface="Calibri"/>
              </a:rPr>
              <a:t>    market integration network diagram, scenario stress-test outputs)</a:t>
            </a:r>
          </a:p>
        </p:txBody>
      </p:sp>
      <p:sp>
        <p:nvSpPr>
          <p:cNvPr id="19" name="TextBox 18"/>
          <p:cNvSpPr txBox="1"/>
          <p:nvPr/>
        </p:nvSpPr>
        <p:spPr>
          <a:xfrm>
            <a:off x="137160" y="6227181"/>
            <a:ext cx="11795760" cy="228600"/>
          </a:xfrm>
          <a:prstGeom prst="rect">
            <a:avLst/>
          </a:prstGeom>
          <a:noFill/>
        </p:spPr>
        <p:txBody>
          <a:bodyPr wrap="square">
            <a:spAutoFit/>
          </a:bodyPr>
          <a:lstStyle/>
          <a:p>
            <a:pPr algn="l"/>
            <a:r>
              <a:rPr sz="950" b="1" i="0" dirty="0">
                <a:solidFill>
                  <a:srgbClr val="14355A"/>
                </a:solidFill>
                <a:latin typeface="Calibri"/>
              </a:rPr>
              <a:t>DECISION POINT FOR PI:  Ablation M0–M4 alone is sufficient for a strong Q1 paper.  Proceeding without M5/M6 while disclosing as future work is the recommended submission strategy.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64008" cy="6858000"/>
          </a:xfrm>
          <a:prstGeom prst="rect">
            <a:avLst/>
          </a:prstGeom>
          <a:solidFill>
            <a:srgbClr val="1E6B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 y="0"/>
            <a:ext cx="12124944" cy="960120"/>
          </a:xfrm>
          <a:prstGeom prst="rect">
            <a:avLst/>
          </a:prstGeom>
          <a:solidFill>
            <a:srgbClr val="0D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4008" y="960120"/>
            <a:ext cx="12124944" cy="32004"/>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 y="64008"/>
            <a:ext cx="11704320" cy="475488"/>
          </a:xfrm>
          <a:prstGeom prst="rect">
            <a:avLst/>
          </a:prstGeom>
          <a:noFill/>
        </p:spPr>
        <p:txBody>
          <a:bodyPr wrap="square">
            <a:spAutoFit/>
          </a:bodyPr>
          <a:lstStyle/>
          <a:p>
            <a:pPr algn="l"/>
            <a:r>
              <a:rPr sz="2100" b="1" i="0">
                <a:solidFill>
                  <a:srgbClr val="FFFFFF"/>
                </a:solidFill>
                <a:latin typeface="Calibri"/>
              </a:rPr>
              <a:t>Timeline to Submission</a:t>
            </a:r>
          </a:p>
        </p:txBody>
      </p:sp>
      <p:sp>
        <p:nvSpPr>
          <p:cNvPr id="6" name="TextBox 5"/>
          <p:cNvSpPr txBox="1"/>
          <p:nvPr/>
        </p:nvSpPr>
        <p:spPr>
          <a:xfrm>
            <a:off x="201168" y="548640"/>
            <a:ext cx="11704320" cy="365760"/>
          </a:xfrm>
          <a:prstGeom prst="rect">
            <a:avLst/>
          </a:prstGeom>
          <a:noFill/>
        </p:spPr>
        <p:txBody>
          <a:bodyPr wrap="square">
            <a:spAutoFit/>
          </a:bodyPr>
          <a:lstStyle/>
          <a:p>
            <a:pPr algn="l"/>
            <a:r>
              <a:rPr sz="1300" b="0" i="1">
                <a:solidFill>
                  <a:srgbClr val="C8DDD0"/>
                </a:solidFill>
                <a:latin typeface="Calibri"/>
              </a:rPr>
              <a:t>Estimated 12–14 weeks from today to manuscript submission — targeting Q4 2026</a:t>
            </a:r>
          </a:p>
        </p:txBody>
      </p:sp>
      <p:sp>
        <p:nvSpPr>
          <p:cNvPr id="7" name="Rectangle 6"/>
          <p:cNvSpPr/>
          <p:nvPr/>
        </p:nvSpPr>
        <p:spPr>
          <a:xfrm>
            <a:off x="0" y="6565392"/>
            <a:ext cx="12188952" cy="292608"/>
          </a:xfrm>
          <a:prstGeom prst="rect">
            <a:avLst/>
          </a:prstGeom>
          <a:solidFill>
            <a:srgbClr val="0D22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01168" y="6583680"/>
            <a:ext cx="7315200" cy="237744"/>
          </a:xfrm>
          <a:prstGeom prst="rect">
            <a:avLst/>
          </a:prstGeom>
          <a:noFill/>
        </p:spPr>
        <p:txBody>
          <a:bodyPr wrap="square">
            <a:spAutoFit/>
          </a:bodyPr>
          <a:lstStyle/>
          <a:p>
            <a:pPr algn="l"/>
            <a:r>
              <a:rPr sz="850" b="0" i="0">
                <a:solidFill>
                  <a:srgbClr val="C8DDD0"/>
                </a:solidFill>
                <a:latin typeface="Calibri"/>
              </a:rPr>
              <a:t>TOP Digital Twin  ·  SKUAST-K  ·  HADP-04  ·  July 2026</a:t>
            </a:r>
          </a:p>
        </p:txBody>
      </p:sp>
      <p:sp>
        <p:nvSpPr>
          <p:cNvPr id="9" name="TextBox 8"/>
          <p:cNvSpPr txBox="1"/>
          <p:nvPr/>
        </p:nvSpPr>
        <p:spPr>
          <a:xfrm>
            <a:off x="7589520" y="6583680"/>
            <a:ext cx="4389120" cy="237744"/>
          </a:xfrm>
          <a:prstGeom prst="rect">
            <a:avLst/>
          </a:prstGeom>
          <a:noFill/>
        </p:spPr>
        <p:txBody>
          <a:bodyPr wrap="square">
            <a:spAutoFit/>
          </a:bodyPr>
          <a:lstStyle/>
          <a:p>
            <a:pPr algn="r"/>
            <a:r>
              <a:rPr sz="850" b="0" i="0">
                <a:solidFill>
                  <a:srgbClr val="C8DDD0"/>
                </a:solidFill>
                <a:latin typeface="Calibri"/>
              </a:rPr>
              <a:t>CONFIDENTIAL — PI REVIEW</a:t>
            </a:r>
          </a:p>
        </p:txBody>
      </p:sp>
      <p:sp>
        <p:nvSpPr>
          <p:cNvPr id="10" name="TextBox 9"/>
          <p:cNvSpPr txBox="1"/>
          <p:nvPr/>
        </p:nvSpPr>
        <p:spPr>
          <a:xfrm>
            <a:off x="182880" y="1097280"/>
            <a:ext cx="11795760" cy="320040"/>
          </a:xfrm>
          <a:prstGeom prst="rect">
            <a:avLst/>
          </a:prstGeom>
          <a:noFill/>
        </p:spPr>
        <p:txBody>
          <a:bodyPr wrap="square">
            <a:spAutoFit/>
          </a:bodyPr>
          <a:lstStyle/>
          <a:p>
            <a:pPr algn="l"/>
            <a:r>
              <a:rPr sz="1100" b="1" i="0">
                <a:solidFill>
                  <a:srgbClr val="1E6B45"/>
                </a:solidFill>
                <a:latin typeface="Calibri"/>
              </a:rPr>
              <a:t>PHASE TIMELINE  (week estimates from July 2026)</a:t>
            </a:r>
          </a:p>
        </p:txBody>
      </p:sp>
      <p:sp>
        <p:nvSpPr>
          <p:cNvPr id="11" name="Rectangle 10"/>
          <p:cNvSpPr/>
          <p:nvPr/>
        </p:nvSpPr>
        <p:spPr>
          <a:xfrm>
            <a:off x="182880" y="1508760"/>
            <a:ext cx="5760720" cy="877824"/>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182880" y="1508760"/>
            <a:ext cx="411480" cy="877824"/>
          </a:xfrm>
          <a:prstGeom prst="rect">
            <a:avLst/>
          </a:prstGeom>
          <a:solidFill>
            <a:srgbClr val="0B6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56032" y="1783080"/>
            <a:ext cx="320040" cy="320040"/>
          </a:xfrm>
          <a:prstGeom prst="rect">
            <a:avLst/>
          </a:prstGeom>
          <a:noFill/>
        </p:spPr>
        <p:txBody>
          <a:bodyPr wrap="square">
            <a:spAutoFit/>
          </a:bodyPr>
          <a:lstStyle/>
          <a:p>
            <a:pPr algn="ctr"/>
            <a:r>
              <a:rPr sz="1300" b="1" i="0">
                <a:solidFill>
                  <a:srgbClr val="FFFFFF"/>
                </a:solidFill>
                <a:latin typeface="Calibri"/>
              </a:rPr>
              <a:t>1</a:t>
            </a:r>
          </a:p>
        </p:txBody>
      </p:sp>
      <p:sp>
        <p:nvSpPr>
          <p:cNvPr id="14" name="Rectangle 13"/>
          <p:cNvSpPr/>
          <p:nvPr/>
        </p:nvSpPr>
        <p:spPr>
          <a:xfrm>
            <a:off x="621792" y="1508760"/>
            <a:ext cx="5321808" cy="877824"/>
          </a:xfrm>
          <a:prstGeom prst="rect">
            <a:avLst/>
          </a:prstGeom>
          <a:solidFill>
            <a:srgbClr val="F0F6F3"/>
          </a:solidFill>
          <a:ln>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1563624"/>
            <a:ext cx="3017520" cy="292608"/>
          </a:xfrm>
          <a:prstGeom prst="rect">
            <a:avLst/>
          </a:prstGeom>
          <a:noFill/>
        </p:spPr>
        <p:txBody>
          <a:bodyPr wrap="square">
            <a:spAutoFit/>
          </a:bodyPr>
          <a:lstStyle/>
          <a:p>
            <a:pPr algn="l"/>
            <a:r>
              <a:rPr sz="1100" b="1" i="0">
                <a:solidFill>
                  <a:srgbClr val="1A2E1E"/>
                </a:solidFill>
                <a:latin typeface="Calibri"/>
              </a:rPr>
              <a:t>Data Finalization</a:t>
            </a:r>
          </a:p>
        </p:txBody>
      </p:sp>
      <p:sp>
        <p:nvSpPr>
          <p:cNvPr id="16" name="TextBox 15"/>
          <p:cNvSpPr txBox="1"/>
          <p:nvPr/>
        </p:nvSpPr>
        <p:spPr>
          <a:xfrm>
            <a:off x="3886200" y="1563624"/>
            <a:ext cx="1920240" cy="274320"/>
          </a:xfrm>
          <a:prstGeom prst="rect">
            <a:avLst/>
          </a:prstGeom>
          <a:noFill/>
        </p:spPr>
        <p:txBody>
          <a:bodyPr wrap="square">
            <a:spAutoFit/>
          </a:bodyPr>
          <a:lstStyle/>
          <a:p>
            <a:pPr algn="r"/>
            <a:r>
              <a:rPr sz="1000" b="1" i="0">
                <a:solidFill>
                  <a:srgbClr val="0B6E4F"/>
                </a:solidFill>
                <a:latin typeface="Calibri"/>
              </a:rPr>
              <a:t>Wks 1–2</a:t>
            </a:r>
          </a:p>
        </p:txBody>
      </p:sp>
      <p:sp>
        <p:nvSpPr>
          <p:cNvPr id="17" name="TextBox 16"/>
          <p:cNvSpPr txBox="1"/>
          <p:nvPr/>
        </p:nvSpPr>
        <p:spPr>
          <a:xfrm>
            <a:off x="731520" y="1874519"/>
            <a:ext cx="5074920" cy="457200"/>
          </a:xfrm>
          <a:prstGeom prst="rect">
            <a:avLst/>
          </a:prstGeom>
          <a:noFill/>
        </p:spPr>
        <p:txBody>
          <a:bodyPr wrap="square">
            <a:spAutoFit/>
          </a:bodyPr>
          <a:lstStyle/>
          <a:p>
            <a:pPr algn="l"/>
            <a:r>
              <a:rPr sz="900" b="0" i="0">
                <a:solidFill>
                  <a:srgbClr val="5A6A60"/>
                </a:solidFill>
                <a:latin typeface="Calibri"/>
              </a:rPr>
              <a:t>GEE 2025 topup execution + Layer 6 policy events compilation + Layer 5 infrastructure data</a:t>
            </a:r>
          </a:p>
        </p:txBody>
      </p:sp>
      <p:sp>
        <p:nvSpPr>
          <p:cNvPr id="18" name="Rectangle 17"/>
          <p:cNvSpPr/>
          <p:nvPr/>
        </p:nvSpPr>
        <p:spPr>
          <a:xfrm>
            <a:off x="6172200" y="1508760"/>
            <a:ext cx="5760720" cy="877824"/>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172200" y="1508760"/>
            <a:ext cx="411480" cy="877824"/>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245352" y="1783080"/>
            <a:ext cx="320040" cy="320040"/>
          </a:xfrm>
          <a:prstGeom prst="rect">
            <a:avLst/>
          </a:prstGeom>
          <a:noFill/>
        </p:spPr>
        <p:txBody>
          <a:bodyPr wrap="square">
            <a:spAutoFit/>
          </a:bodyPr>
          <a:lstStyle/>
          <a:p>
            <a:pPr algn="ctr"/>
            <a:r>
              <a:rPr sz="1300" b="1" i="0">
                <a:solidFill>
                  <a:srgbClr val="FFFFFF"/>
                </a:solidFill>
                <a:latin typeface="Calibri"/>
              </a:rPr>
              <a:t>2</a:t>
            </a:r>
          </a:p>
        </p:txBody>
      </p:sp>
      <p:sp>
        <p:nvSpPr>
          <p:cNvPr id="21" name="Rectangle 20"/>
          <p:cNvSpPr/>
          <p:nvPr/>
        </p:nvSpPr>
        <p:spPr>
          <a:xfrm>
            <a:off x="6611112" y="1508760"/>
            <a:ext cx="5321808" cy="877824"/>
          </a:xfrm>
          <a:prstGeom prst="rect">
            <a:avLst/>
          </a:prstGeom>
          <a:solidFill>
            <a:srgbClr val="F0F6F3"/>
          </a:solidFill>
          <a:ln>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720840" y="1563624"/>
            <a:ext cx="3017520" cy="292608"/>
          </a:xfrm>
          <a:prstGeom prst="rect">
            <a:avLst/>
          </a:prstGeom>
          <a:noFill/>
        </p:spPr>
        <p:txBody>
          <a:bodyPr wrap="square">
            <a:spAutoFit/>
          </a:bodyPr>
          <a:lstStyle/>
          <a:p>
            <a:pPr algn="l"/>
            <a:r>
              <a:rPr sz="1100" b="1" i="0">
                <a:solidFill>
                  <a:srgbClr val="1A2E1E"/>
                </a:solidFill>
                <a:latin typeface="Calibri"/>
              </a:rPr>
              <a:t>Satellite &amp; Climate Ext.</a:t>
            </a:r>
          </a:p>
        </p:txBody>
      </p:sp>
      <p:sp>
        <p:nvSpPr>
          <p:cNvPr id="23" name="TextBox 22"/>
          <p:cNvSpPr txBox="1"/>
          <p:nvPr/>
        </p:nvSpPr>
        <p:spPr>
          <a:xfrm>
            <a:off x="9875520" y="1563624"/>
            <a:ext cx="1920240" cy="274320"/>
          </a:xfrm>
          <a:prstGeom prst="rect">
            <a:avLst/>
          </a:prstGeom>
          <a:noFill/>
        </p:spPr>
        <p:txBody>
          <a:bodyPr wrap="square">
            <a:spAutoFit/>
          </a:bodyPr>
          <a:lstStyle/>
          <a:p>
            <a:pPr algn="r"/>
            <a:r>
              <a:rPr sz="1000" b="1" i="0">
                <a:solidFill>
                  <a:srgbClr val="E8A020"/>
                </a:solidFill>
                <a:latin typeface="Calibri"/>
              </a:rPr>
              <a:t>Wks 1–2</a:t>
            </a:r>
          </a:p>
        </p:txBody>
      </p:sp>
      <p:sp>
        <p:nvSpPr>
          <p:cNvPr id="24" name="TextBox 23"/>
          <p:cNvSpPr txBox="1"/>
          <p:nvPr/>
        </p:nvSpPr>
        <p:spPr>
          <a:xfrm>
            <a:off x="6720840" y="1874519"/>
            <a:ext cx="5074920" cy="457200"/>
          </a:xfrm>
          <a:prstGeom prst="rect">
            <a:avLst/>
          </a:prstGeom>
          <a:noFill/>
        </p:spPr>
        <p:txBody>
          <a:bodyPr wrap="square">
            <a:spAutoFit/>
          </a:bodyPr>
          <a:lstStyle/>
          <a:p>
            <a:pPr algn="l"/>
            <a:r>
              <a:rPr sz="900" b="0" i="0">
                <a:solidFill>
                  <a:srgbClr val="5A6A60"/>
                </a:solidFill>
                <a:latin typeface="Calibri"/>
              </a:rPr>
              <a:t>Re-run Script 14 with 2025 data → 470-week crop_weekly_features.csv complete</a:t>
            </a:r>
          </a:p>
        </p:txBody>
      </p:sp>
      <p:sp>
        <p:nvSpPr>
          <p:cNvPr id="25" name="Rectangle 24"/>
          <p:cNvSpPr/>
          <p:nvPr/>
        </p:nvSpPr>
        <p:spPr>
          <a:xfrm>
            <a:off x="182880" y="2478024"/>
            <a:ext cx="5760720" cy="877824"/>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182880" y="2478024"/>
            <a:ext cx="411480" cy="877824"/>
          </a:xfrm>
          <a:prstGeom prst="rect">
            <a:avLst/>
          </a:prstGeom>
          <a:solidFill>
            <a:srgbClr val="E8A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56032" y="2752344"/>
            <a:ext cx="320040" cy="320040"/>
          </a:xfrm>
          <a:prstGeom prst="rect">
            <a:avLst/>
          </a:prstGeom>
          <a:noFill/>
        </p:spPr>
        <p:txBody>
          <a:bodyPr wrap="square">
            <a:spAutoFit/>
          </a:bodyPr>
          <a:lstStyle/>
          <a:p>
            <a:pPr algn="ctr"/>
            <a:r>
              <a:rPr sz="1300" b="1" i="0">
                <a:solidFill>
                  <a:srgbClr val="FFFFFF"/>
                </a:solidFill>
                <a:latin typeface="Calibri"/>
              </a:rPr>
              <a:t>3</a:t>
            </a:r>
          </a:p>
        </p:txBody>
      </p:sp>
      <p:sp>
        <p:nvSpPr>
          <p:cNvPr id="28" name="Rectangle 27"/>
          <p:cNvSpPr/>
          <p:nvPr/>
        </p:nvSpPr>
        <p:spPr>
          <a:xfrm>
            <a:off x="621792" y="2478024"/>
            <a:ext cx="5321808" cy="877824"/>
          </a:xfrm>
          <a:prstGeom prst="rect">
            <a:avLst/>
          </a:prstGeom>
          <a:solidFill>
            <a:srgbClr val="F0F6F3"/>
          </a:solidFill>
          <a:ln>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31520" y="2532888"/>
            <a:ext cx="3017520" cy="292608"/>
          </a:xfrm>
          <a:prstGeom prst="rect">
            <a:avLst/>
          </a:prstGeom>
          <a:noFill/>
        </p:spPr>
        <p:txBody>
          <a:bodyPr wrap="square">
            <a:spAutoFit/>
          </a:bodyPr>
          <a:lstStyle/>
          <a:p>
            <a:pPr algn="l"/>
            <a:r>
              <a:rPr sz="1100" b="1" i="0">
                <a:solidFill>
                  <a:srgbClr val="1A2E1E"/>
                </a:solidFill>
                <a:latin typeface="Calibri"/>
              </a:rPr>
              <a:t>Ablation M0–M4 Final</a:t>
            </a:r>
          </a:p>
        </p:txBody>
      </p:sp>
      <p:sp>
        <p:nvSpPr>
          <p:cNvPr id="30" name="TextBox 29"/>
          <p:cNvSpPr txBox="1"/>
          <p:nvPr/>
        </p:nvSpPr>
        <p:spPr>
          <a:xfrm>
            <a:off x="3886200" y="2532888"/>
            <a:ext cx="1920240" cy="274320"/>
          </a:xfrm>
          <a:prstGeom prst="rect">
            <a:avLst/>
          </a:prstGeom>
          <a:noFill/>
        </p:spPr>
        <p:txBody>
          <a:bodyPr wrap="square">
            <a:spAutoFit/>
          </a:bodyPr>
          <a:lstStyle/>
          <a:p>
            <a:pPr algn="r"/>
            <a:r>
              <a:rPr sz="1000" b="1" i="0">
                <a:solidFill>
                  <a:srgbClr val="E8A020"/>
                </a:solidFill>
                <a:latin typeface="Calibri"/>
              </a:rPr>
              <a:t>Wks 2–3</a:t>
            </a:r>
          </a:p>
        </p:txBody>
      </p:sp>
      <p:sp>
        <p:nvSpPr>
          <p:cNvPr id="31" name="TextBox 30"/>
          <p:cNvSpPr txBox="1"/>
          <p:nvPr/>
        </p:nvSpPr>
        <p:spPr>
          <a:xfrm>
            <a:off x="731520" y="2843784"/>
            <a:ext cx="5074920" cy="457200"/>
          </a:xfrm>
          <a:prstGeom prst="rect">
            <a:avLst/>
          </a:prstGeom>
          <a:noFill/>
        </p:spPr>
        <p:txBody>
          <a:bodyPr wrap="square">
            <a:spAutoFit/>
          </a:bodyPr>
          <a:lstStyle/>
          <a:p>
            <a:pPr algn="l"/>
            <a:r>
              <a:rPr sz="900" b="0" i="0">
                <a:solidFill>
                  <a:srgbClr val="5A6A60"/>
                </a:solidFill>
                <a:latin typeface="Calibri"/>
              </a:rPr>
              <a:t>Complete 4-fold CV with 2025 fold → finalize ablation table → paper Table 3</a:t>
            </a:r>
          </a:p>
        </p:txBody>
      </p:sp>
      <p:sp>
        <p:nvSpPr>
          <p:cNvPr id="32" name="Rectangle 31"/>
          <p:cNvSpPr/>
          <p:nvPr/>
        </p:nvSpPr>
        <p:spPr>
          <a:xfrm>
            <a:off x="6172200" y="2478024"/>
            <a:ext cx="5760720" cy="877824"/>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6172200" y="2478024"/>
            <a:ext cx="411480" cy="877824"/>
          </a:xfrm>
          <a:prstGeom prst="rect">
            <a:avLst/>
          </a:prstGeom>
          <a:solidFill>
            <a:srgbClr val="9B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245352" y="2752344"/>
            <a:ext cx="320040" cy="320040"/>
          </a:xfrm>
          <a:prstGeom prst="rect">
            <a:avLst/>
          </a:prstGeom>
          <a:noFill/>
        </p:spPr>
        <p:txBody>
          <a:bodyPr wrap="square">
            <a:spAutoFit/>
          </a:bodyPr>
          <a:lstStyle/>
          <a:p>
            <a:pPr algn="ctr"/>
            <a:r>
              <a:rPr sz="1300" b="1" i="0">
                <a:solidFill>
                  <a:srgbClr val="FFFFFF"/>
                </a:solidFill>
                <a:latin typeface="Calibri"/>
              </a:rPr>
              <a:t>4</a:t>
            </a:r>
          </a:p>
        </p:txBody>
      </p:sp>
      <p:sp>
        <p:nvSpPr>
          <p:cNvPr id="35" name="Rectangle 34"/>
          <p:cNvSpPr/>
          <p:nvPr/>
        </p:nvSpPr>
        <p:spPr>
          <a:xfrm>
            <a:off x="6611112" y="2478024"/>
            <a:ext cx="5321808" cy="877824"/>
          </a:xfrm>
          <a:prstGeom prst="rect">
            <a:avLst/>
          </a:prstGeom>
          <a:solidFill>
            <a:srgbClr val="F0F6F3"/>
          </a:solidFill>
          <a:ln>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720840" y="2532888"/>
            <a:ext cx="3017520" cy="292608"/>
          </a:xfrm>
          <a:prstGeom prst="rect">
            <a:avLst/>
          </a:prstGeom>
          <a:noFill/>
        </p:spPr>
        <p:txBody>
          <a:bodyPr wrap="square">
            <a:spAutoFit/>
          </a:bodyPr>
          <a:lstStyle/>
          <a:p>
            <a:pPr algn="l"/>
            <a:r>
              <a:rPr sz="1100" b="1" i="0">
                <a:solidFill>
                  <a:srgbClr val="1A2E1E"/>
                </a:solidFill>
                <a:latin typeface="Calibri"/>
              </a:rPr>
              <a:t>Ablation M5–M6</a:t>
            </a:r>
          </a:p>
        </p:txBody>
      </p:sp>
      <p:sp>
        <p:nvSpPr>
          <p:cNvPr id="37" name="TextBox 36"/>
          <p:cNvSpPr txBox="1"/>
          <p:nvPr/>
        </p:nvSpPr>
        <p:spPr>
          <a:xfrm>
            <a:off x="9875520" y="2532888"/>
            <a:ext cx="1920240" cy="274320"/>
          </a:xfrm>
          <a:prstGeom prst="rect">
            <a:avLst/>
          </a:prstGeom>
          <a:noFill/>
        </p:spPr>
        <p:txBody>
          <a:bodyPr wrap="square">
            <a:spAutoFit/>
          </a:bodyPr>
          <a:lstStyle/>
          <a:p>
            <a:pPr algn="r"/>
            <a:r>
              <a:rPr sz="1000" b="1" i="0">
                <a:solidFill>
                  <a:srgbClr val="9B2D2D"/>
                </a:solidFill>
                <a:latin typeface="Calibri"/>
              </a:rPr>
              <a:t>Wks 3–5</a:t>
            </a:r>
          </a:p>
        </p:txBody>
      </p:sp>
      <p:sp>
        <p:nvSpPr>
          <p:cNvPr id="38" name="TextBox 37"/>
          <p:cNvSpPr txBox="1"/>
          <p:nvPr/>
        </p:nvSpPr>
        <p:spPr>
          <a:xfrm>
            <a:off x="6720840" y="2843784"/>
            <a:ext cx="5074920" cy="457200"/>
          </a:xfrm>
          <a:prstGeom prst="rect">
            <a:avLst/>
          </a:prstGeom>
          <a:noFill/>
        </p:spPr>
        <p:txBody>
          <a:bodyPr wrap="square">
            <a:spAutoFit/>
          </a:bodyPr>
          <a:lstStyle/>
          <a:p>
            <a:pPr algn="l"/>
            <a:r>
              <a:rPr sz="900" b="0" i="0">
                <a:solidFill>
                  <a:srgbClr val="5A6A60"/>
                </a:solidFill>
                <a:latin typeface="Calibri"/>
              </a:rPr>
              <a:t>Incorporate infrastructure + policy layers → extend ablation table [IF data available]</a:t>
            </a:r>
          </a:p>
        </p:txBody>
      </p:sp>
      <p:sp>
        <p:nvSpPr>
          <p:cNvPr id="39" name="Rectangle 38"/>
          <p:cNvSpPr/>
          <p:nvPr/>
        </p:nvSpPr>
        <p:spPr>
          <a:xfrm>
            <a:off x="182880" y="3447288"/>
            <a:ext cx="5760720" cy="877824"/>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182880" y="3447288"/>
            <a:ext cx="411480" cy="877824"/>
          </a:xfrm>
          <a:prstGeom prst="rect">
            <a:avLst/>
          </a:prstGeom>
          <a:solidFill>
            <a:srgbClr val="9B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256032" y="3721608"/>
            <a:ext cx="320040" cy="320040"/>
          </a:xfrm>
          <a:prstGeom prst="rect">
            <a:avLst/>
          </a:prstGeom>
          <a:noFill/>
        </p:spPr>
        <p:txBody>
          <a:bodyPr wrap="square">
            <a:spAutoFit/>
          </a:bodyPr>
          <a:lstStyle/>
          <a:p>
            <a:pPr algn="ctr"/>
            <a:r>
              <a:rPr sz="1300" b="1" i="0">
                <a:solidFill>
                  <a:srgbClr val="FFFFFF"/>
                </a:solidFill>
                <a:latin typeface="Calibri"/>
              </a:rPr>
              <a:t>5</a:t>
            </a:r>
          </a:p>
        </p:txBody>
      </p:sp>
      <p:sp>
        <p:nvSpPr>
          <p:cNvPr id="42" name="Rectangle 41"/>
          <p:cNvSpPr/>
          <p:nvPr/>
        </p:nvSpPr>
        <p:spPr>
          <a:xfrm>
            <a:off x="621792" y="3447288"/>
            <a:ext cx="5321808" cy="877824"/>
          </a:xfrm>
          <a:prstGeom prst="rect">
            <a:avLst/>
          </a:prstGeom>
          <a:solidFill>
            <a:srgbClr val="FFFFFF"/>
          </a:solidFill>
          <a:ln>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731520" y="3502152"/>
            <a:ext cx="3017520" cy="292608"/>
          </a:xfrm>
          <a:prstGeom prst="rect">
            <a:avLst/>
          </a:prstGeom>
          <a:noFill/>
        </p:spPr>
        <p:txBody>
          <a:bodyPr wrap="square">
            <a:spAutoFit/>
          </a:bodyPr>
          <a:lstStyle/>
          <a:p>
            <a:pPr algn="l"/>
            <a:r>
              <a:rPr sz="1100" b="1" i="0">
                <a:solidFill>
                  <a:srgbClr val="1A2E1E"/>
                </a:solidFill>
                <a:latin typeface="Calibri"/>
              </a:rPr>
              <a:t>Module C — Network</a:t>
            </a:r>
          </a:p>
        </p:txBody>
      </p:sp>
      <p:sp>
        <p:nvSpPr>
          <p:cNvPr id="44" name="TextBox 43"/>
          <p:cNvSpPr txBox="1"/>
          <p:nvPr/>
        </p:nvSpPr>
        <p:spPr>
          <a:xfrm>
            <a:off x="3886200" y="3502152"/>
            <a:ext cx="1920240" cy="274320"/>
          </a:xfrm>
          <a:prstGeom prst="rect">
            <a:avLst/>
          </a:prstGeom>
          <a:noFill/>
        </p:spPr>
        <p:txBody>
          <a:bodyPr wrap="square">
            <a:spAutoFit/>
          </a:bodyPr>
          <a:lstStyle/>
          <a:p>
            <a:pPr algn="r"/>
            <a:r>
              <a:rPr sz="1000" b="1" i="0">
                <a:solidFill>
                  <a:srgbClr val="9B2D2D"/>
                </a:solidFill>
                <a:latin typeface="Calibri"/>
              </a:rPr>
              <a:t>Wks 4–6</a:t>
            </a:r>
          </a:p>
        </p:txBody>
      </p:sp>
      <p:sp>
        <p:nvSpPr>
          <p:cNvPr id="45" name="TextBox 44"/>
          <p:cNvSpPr txBox="1"/>
          <p:nvPr/>
        </p:nvSpPr>
        <p:spPr>
          <a:xfrm>
            <a:off x="731520" y="3813048"/>
            <a:ext cx="5074920" cy="457200"/>
          </a:xfrm>
          <a:prstGeom prst="rect">
            <a:avLst/>
          </a:prstGeom>
          <a:noFill/>
        </p:spPr>
        <p:txBody>
          <a:bodyPr wrap="square">
            <a:spAutoFit/>
          </a:bodyPr>
          <a:lstStyle/>
          <a:p>
            <a:pPr algn="l"/>
            <a:r>
              <a:rPr sz="900" b="0" i="0">
                <a:solidFill>
                  <a:srgbClr val="5A6A60"/>
                </a:solidFill>
                <a:latin typeface="Calibri"/>
              </a:rPr>
              <a:t>Granger causality across markets → identify price leaders → network visualization</a:t>
            </a:r>
          </a:p>
        </p:txBody>
      </p:sp>
      <p:sp>
        <p:nvSpPr>
          <p:cNvPr id="46" name="Rectangle 45"/>
          <p:cNvSpPr/>
          <p:nvPr/>
        </p:nvSpPr>
        <p:spPr>
          <a:xfrm>
            <a:off x="6172200" y="3447288"/>
            <a:ext cx="5760720" cy="877824"/>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6172200" y="3447288"/>
            <a:ext cx="411480" cy="877824"/>
          </a:xfrm>
          <a:prstGeom prst="rect">
            <a:avLst/>
          </a:prstGeom>
          <a:solidFill>
            <a:srgbClr val="9B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245352" y="3721608"/>
            <a:ext cx="320040" cy="320040"/>
          </a:xfrm>
          <a:prstGeom prst="rect">
            <a:avLst/>
          </a:prstGeom>
          <a:noFill/>
        </p:spPr>
        <p:txBody>
          <a:bodyPr wrap="square">
            <a:spAutoFit/>
          </a:bodyPr>
          <a:lstStyle/>
          <a:p>
            <a:pPr algn="ctr"/>
            <a:r>
              <a:rPr sz="1300" b="1" i="0">
                <a:solidFill>
                  <a:srgbClr val="FFFFFF"/>
                </a:solidFill>
                <a:latin typeface="Calibri"/>
              </a:rPr>
              <a:t>6</a:t>
            </a:r>
          </a:p>
        </p:txBody>
      </p:sp>
      <p:sp>
        <p:nvSpPr>
          <p:cNvPr id="49" name="Rectangle 48"/>
          <p:cNvSpPr/>
          <p:nvPr/>
        </p:nvSpPr>
        <p:spPr>
          <a:xfrm>
            <a:off x="6611112" y="3447288"/>
            <a:ext cx="5321808" cy="877824"/>
          </a:xfrm>
          <a:prstGeom prst="rect">
            <a:avLst/>
          </a:prstGeom>
          <a:solidFill>
            <a:srgbClr val="FFFFFF"/>
          </a:solidFill>
          <a:ln>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720840" y="3502152"/>
            <a:ext cx="3017520" cy="292608"/>
          </a:xfrm>
          <a:prstGeom prst="rect">
            <a:avLst/>
          </a:prstGeom>
          <a:noFill/>
        </p:spPr>
        <p:txBody>
          <a:bodyPr wrap="square">
            <a:spAutoFit/>
          </a:bodyPr>
          <a:lstStyle/>
          <a:p>
            <a:pPr algn="l"/>
            <a:r>
              <a:rPr sz="1100" b="1" i="0">
                <a:solidFill>
                  <a:srgbClr val="1A2E1E"/>
                </a:solidFill>
                <a:latin typeface="Calibri"/>
              </a:rPr>
              <a:t>Module D — Scenarios</a:t>
            </a:r>
          </a:p>
        </p:txBody>
      </p:sp>
      <p:sp>
        <p:nvSpPr>
          <p:cNvPr id="51" name="TextBox 50"/>
          <p:cNvSpPr txBox="1"/>
          <p:nvPr/>
        </p:nvSpPr>
        <p:spPr>
          <a:xfrm>
            <a:off x="9875520" y="3502152"/>
            <a:ext cx="1920240" cy="274320"/>
          </a:xfrm>
          <a:prstGeom prst="rect">
            <a:avLst/>
          </a:prstGeom>
          <a:noFill/>
        </p:spPr>
        <p:txBody>
          <a:bodyPr wrap="square">
            <a:spAutoFit/>
          </a:bodyPr>
          <a:lstStyle/>
          <a:p>
            <a:pPr algn="r"/>
            <a:r>
              <a:rPr sz="1000" b="1" i="0">
                <a:solidFill>
                  <a:srgbClr val="9B2D2D"/>
                </a:solidFill>
                <a:latin typeface="Calibri"/>
              </a:rPr>
              <a:t>Wks 5–7</a:t>
            </a:r>
          </a:p>
        </p:txBody>
      </p:sp>
      <p:sp>
        <p:nvSpPr>
          <p:cNvPr id="52" name="TextBox 51"/>
          <p:cNvSpPr txBox="1"/>
          <p:nvPr/>
        </p:nvSpPr>
        <p:spPr>
          <a:xfrm>
            <a:off x="6720840" y="3813048"/>
            <a:ext cx="5074920" cy="457200"/>
          </a:xfrm>
          <a:prstGeom prst="rect">
            <a:avLst/>
          </a:prstGeom>
          <a:noFill/>
        </p:spPr>
        <p:txBody>
          <a:bodyPr wrap="square">
            <a:spAutoFit/>
          </a:bodyPr>
          <a:lstStyle/>
          <a:p>
            <a:pPr algn="l"/>
            <a:r>
              <a:rPr sz="900" b="0" i="0">
                <a:solidFill>
                  <a:srgbClr val="5A6A60"/>
                </a:solidFill>
                <a:latin typeface="Calibri"/>
              </a:rPr>
              <a:t>Stress tests: export ban / climate shock / fuel price shock → scenario figures</a:t>
            </a:r>
          </a:p>
        </p:txBody>
      </p:sp>
      <p:sp>
        <p:nvSpPr>
          <p:cNvPr id="53" name="Rectangle 52"/>
          <p:cNvSpPr/>
          <p:nvPr/>
        </p:nvSpPr>
        <p:spPr>
          <a:xfrm>
            <a:off x="182880" y="4416552"/>
            <a:ext cx="5760720" cy="877824"/>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182880" y="4416552"/>
            <a:ext cx="411480" cy="877824"/>
          </a:xfrm>
          <a:prstGeom prst="rect">
            <a:avLst/>
          </a:prstGeom>
          <a:solidFill>
            <a:srgbClr val="9B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256032" y="4690872"/>
            <a:ext cx="320040" cy="320040"/>
          </a:xfrm>
          <a:prstGeom prst="rect">
            <a:avLst/>
          </a:prstGeom>
          <a:noFill/>
        </p:spPr>
        <p:txBody>
          <a:bodyPr wrap="square">
            <a:spAutoFit/>
          </a:bodyPr>
          <a:lstStyle/>
          <a:p>
            <a:pPr algn="ctr"/>
            <a:r>
              <a:rPr sz="1300" b="1" i="0">
                <a:solidFill>
                  <a:srgbClr val="FFFFFF"/>
                </a:solidFill>
                <a:latin typeface="Calibri"/>
              </a:rPr>
              <a:t>7</a:t>
            </a:r>
          </a:p>
        </p:txBody>
      </p:sp>
      <p:sp>
        <p:nvSpPr>
          <p:cNvPr id="56" name="Rectangle 55"/>
          <p:cNvSpPr/>
          <p:nvPr/>
        </p:nvSpPr>
        <p:spPr>
          <a:xfrm>
            <a:off x="621792" y="4416552"/>
            <a:ext cx="5321808" cy="877824"/>
          </a:xfrm>
          <a:prstGeom prst="rect">
            <a:avLst/>
          </a:prstGeom>
          <a:solidFill>
            <a:srgbClr val="FFFFFF"/>
          </a:solidFill>
          <a:ln>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731520" y="4471416"/>
            <a:ext cx="3017520" cy="292608"/>
          </a:xfrm>
          <a:prstGeom prst="rect">
            <a:avLst/>
          </a:prstGeom>
          <a:noFill/>
        </p:spPr>
        <p:txBody>
          <a:bodyPr wrap="square">
            <a:spAutoFit/>
          </a:bodyPr>
          <a:lstStyle/>
          <a:p>
            <a:pPr algn="l"/>
            <a:r>
              <a:rPr sz="1100" b="1" i="0">
                <a:solidFill>
                  <a:srgbClr val="1A2E1E"/>
                </a:solidFill>
                <a:latin typeface="Calibri"/>
              </a:rPr>
              <a:t>Crisis Backtesting</a:t>
            </a:r>
          </a:p>
        </p:txBody>
      </p:sp>
      <p:sp>
        <p:nvSpPr>
          <p:cNvPr id="58" name="TextBox 57"/>
          <p:cNvSpPr txBox="1"/>
          <p:nvPr/>
        </p:nvSpPr>
        <p:spPr>
          <a:xfrm>
            <a:off x="3886200" y="4471416"/>
            <a:ext cx="1920240" cy="274320"/>
          </a:xfrm>
          <a:prstGeom prst="rect">
            <a:avLst/>
          </a:prstGeom>
          <a:noFill/>
        </p:spPr>
        <p:txBody>
          <a:bodyPr wrap="square">
            <a:spAutoFit/>
          </a:bodyPr>
          <a:lstStyle/>
          <a:p>
            <a:pPr algn="r"/>
            <a:r>
              <a:rPr sz="1000" b="1" i="0">
                <a:solidFill>
                  <a:srgbClr val="9B2D2D"/>
                </a:solidFill>
                <a:latin typeface="Calibri"/>
              </a:rPr>
              <a:t>Wks 6–8</a:t>
            </a:r>
          </a:p>
        </p:txBody>
      </p:sp>
      <p:sp>
        <p:nvSpPr>
          <p:cNvPr id="59" name="TextBox 58"/>
          <p:cNvSpPr txBox="1"/>
          <p:nvPr/>
        </p:nvSpPr>
        <p:spPr>
          <a:xfrm>
            <a:off x="731520" y="4782312"/>
            <a:ext cx="5074920" cy="457200"/>
          </a:xfrm>
          <a:prstGeom prst="rect">
            <a:avLst/>
          </a:prstGeom>
          <a:noFill/>
        </p:spPr>
        <p:txBody>
          <a:bodyPr wrap="square">
            <a:spAutoFit/>
          </a:bodyPr>
          <a:lstStyle/>
          <a:p>
            <a:pPr algn="l"/>
            <a:r>
              <a:rPr sz="900" b="0" i="0">
                <a:solidFill>
                  <a:srgbClr val="5A6A60"/>
                </a:solidFill>
                <a:latin typeface="Calibri"/>
              </a:rPr>
              <a:t>Validate against 2019 onion crash, 2023 tomato spike, COVID 2020</a:t>
            </a:r>
          </a:p>
        </p:txBody>
      </p:sp>
      <p:sp>
        <p:nvSpPr>
          <p:cNvPr id="60" name="Rectangle 59"/>
          <p:cNvSpPr/>
          <p:nvPr/>
        </p:nvSpPr>
        <p:spPr>
          <a:xfrm>
            <a:off x="6172200" y="4416552"/>
            <a:ext cx="5760720" cy="877824"/>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6172200" y="4416552"/>
            <a:ext cx="411480" cy="877824"/>
          </a:xfrm>
          <a:prstGeom prst="rect">
            <a:avLst/>
          </a:prstGeom>
          <a:solidFill>
            <a:srgbClr val="9B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6245352" y="4690872"/>
            <a:ext cx="320040" cy="320040"/>
          </a:xfrm>
          <a:prstGeom prst="rect">
            <a:avLst/>
          </a:prstGeom>
          <a:noFill/>
        </p:spPr>
        <p:txBody>
          <a:bodyPr wrap="square">
            <a:spAutoFit/>
          </a:bodyPr>
          <a:lstStyle/>
          <a:p>
            <a:pPr algn="ctr"/>
            <a:r>
              <a:rPr sz="1300" b="1" i="0">
                <a:solidFill>
                  <a:srgbClr val="FFFFFF"/>
                </a:solidFill>
                <a:latin typeface="Calibri"/>
              </a:rPr>
              <a:t>8</a:t>
            </a:r>
          </a:p>
        </p:txBody>
      </p:sp>
      <p:sp>
        <p:nvSpPr>
          <p:cNvPr id="63" name="Rectangle 62"/>
          <p:cNvSpPr/>
          <p:nvPr/>
        </p:nvSpPr>
        <p:spPr>
          <a:xfrm>
            <a:off x="6611112" y="4416552"/>
            <a:ext cx="5321808" cy="877824"/>
          </a:xfrm>
          <a:prstGeom prst="rect">
            <a:avLst/>
          </a:prstGeom>
          <a:solidFill>
            <a:srgbClr val="FFFFFF"/>
          </a:solidFill>
          <a:ln>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6720840" y="4471416"/>
            <a:ext cx="3017520" cy="292608"/>
          </a:xfrm>
          <a:prstGeom prst="rect">
            <a:avLst/>
          </a:prstGeom>
          <a:noFill/>
        </p:spPr>
        <p:txBody>
          <a:bodyPr wrap="square">
            <a:spAutoFit/>
          </a:bodyPr>
          <a:lstStyle/>
          <a:p>
            <a:pPr algn="l"/>
            <a:r>
              <a:rPr sz="1100" b="1" i="0">
                <a:solidFill>
                  <a:srgbClr val="1A2E1E"/>
                </a:solidFill>
                <a:latin typeface="Calibri"/>
              </a:rPr>
              <a:t>Manuscript Draft</a:t>
            </a:r>
          </a:p>
        </p:txBody>
      </p:sp>
      <p:sp>
        <p:nvSpPr>
          <p:cNvPr id="65" name="TextBox 64"/>
          <p:cNvSpPr txBox="1"/>
          <p:nvPr/>
        </p:nvSpPr>
        <p:spPr>
          <a:xfrm>
            <a:off x="9875520" y="4471416"/>
            <a:ext cx="1920240" cy="274320"/>
          </a:xfrm>
          <a:prstGeom prst="rect">
            <a:avLst/>
          </a:prstGeom>
          <a:noFill/>
        </p:spPr>
        <p:txBody>
          <a:bodyPr wrap="square">
            <a:spAutoFit/>
          </a:bodyPr>
          <a:lstStyle/>
          <a:p>
            <a:pPr algn="r"/>
            <a:r>
              <a:rPr sz="1000" b="1" i="0">
                <a:solidFill>
                  <a:srgbClr val="9B2D2D"/>
                </a:solidFill>
                <a:latin typeface="Calibri"/>
              </a:rPr>
              <a:t>Wks 8–11</a:t>
            </a:r>
          </a:p>
        </p:txBody>
      </p:sp>
      <p:sp>
        <p:nvSpPr>
          <p:cNvPr id="66" name="TextBox 65"/>
          <p:cNvSpPr txBox="1"/>
          <p:nvPr/>
        </p:nvSpPr>
        <p:spPr>
          <a:xfrm>
            <a:off x="6720840" y="4782312"/>
            <a:ext cx="5074920" cy="457200"/>
          </a:xfrm>
          <a:prstGeom prst="rect">
            <a:avLst/>
          </a:prstGeom>
          <a:noFill/>
        </p:spPr>
        <p:txBody>
          <a:bodyPr wrap="square">
            <a:spAutoFit/>
          </a:bodyPr>
          <a:lstStyle/>
          <a:p>
            <a:pPr algn="l"/>
            <a:r>
              <a:rPr sz="900" b="0" i="0">
                <a:solidFill>
                  <a:srgbClr val="5A6A60"/>
                </a:solidFill>
                <a:latin typeface="Calibri"/>
              </a:rPr>
              <a:t>Write all sections · Final figure production · Internal review</a:t>
            </a:r>
          </a:p>
        </p:txBody>
      </p:sp>
      <p:sp>
        <p:nvSpPr>
          <p:cNvPr id="67" name="Rectangle 66"/>
          <p:cNvSpPr/>
          <p:nvPr/>
        </p:nvSpPr>
        <p:spPr>
          <a:xfrm>
            <a:off x="182880" y="5385816"/>
            <a:ext cx="5760720" cy="877824"/>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ectangle 67"/>
          <p:cNvSpPr/>
          <p:nvPr/>
        </p:nvSpPr>
        <p:spPr>
          <a:xfrm>
            <a:off x="182880" y="5385816"/>
            <a:ext cx="411480" cy="877824"/>
          </a:xfrm>
          <a:prstGeom prst="rect">
            <a:avLst/>
          </a:prstGeom>
          <a:solidFill>
            <a:srgbClr val="9B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256032" y="5660136"/>
            <a:ext cx="320040" cy="320040"/>
          </a:xfrm>
          <a:prstGeom prst="rect">
            <a:avLst/>
          </a:prstGeom>
          <a:noFill/>
        </p:spPr>
        <p:txBody>
          <a:bodyPr wrap="square">
            <a:spAutoFit/>
          </a:bodyPr>
          <a:lstStyle/>
          <a:p>
            <a:pPr algn="ctr"/>
            <a:r>
              <a:rPr sz="1300" b="1" i="0">
                <a:solidFill>
                  <a:srgbClr val="FFFFFF"/>
                </a:solidFill>
                <a:latin typeface="Calibri"/>
              </a:rPr>
              <a:t>9</a:t>
            </a:r>
          </a:p>
        </p:txBody>
      </p:sp>
      <p:sp>
        <p:nvSpPr>
          <p:cNvPr id="70" name="Rectangle 69"/>
          <p:cNvSpPr/>
          <p:nvPr/>
        </p:nvSpPr>
        <p:spPr>
          <a:xfrm>
            <a:off x="621792" y="5385816"/>
            <a:ext cx="5321808" cy="877824"/>
          </a:xfrm>
          <a:prstGeom prst="rect">
            <a:avLst/>
          </a:prstGeom>
          <a:solidFill>
            <a:srgbClr val="FFFFFF"/>
          </a:solidFill>
          <a:ln>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731520" y="5440680"/>
            <a:ext cx="3017520" cy="292608"/>
          </a:xfrm>
          <a:prstGeom prst="rect">
            <a:avLst/>
          </a:prstGeom>
          <a:noFill/>
        </p:spPr>
        <p:txBody>
          <a:bodyPr wrap="square">
            <a:spAutoFit/>
          </a:bodyPr>
          <a:lstStyle/>
          <a:p>
            <a:pPr algn="l"/>
            <a:r>
              <a:rPr sz="1100" b="1" i="0">
                <a:solidFill>
                  <a:srgbClr val="1A2E1E"/>
                </a:solidFill>
                <a:latin typeface="Calibri"/>
              </a:rPr>
              <a:t>PI / Co-author Review</a:t>
            </a:r>
          </a:p>
        </p:txBody>
      </p:sp>
      <p:sp>
        <p:nvSpPr>
          <p:cNvPr id="72" name="TextBox 71"/>
          <p:cNvSpPr txBox="1"/>
          <p:nvPr/>
        </p:nvSpPr>
        <p:spPr>
          <a:xfrm>
            <a:off x="3886200" y="5440680"/>
            <a:ext cx="1920240" cy="274320"/>
          </a:xfrm>
          <a:prstGeom prst="rect">
            <a:avLst/>
          </a:prstGeom>
          <a:noFill/>
        </p:spPr>
        <p:txBody>
          <a:bodyPr wrap="square">
            <a:spAutoFit/>
          </a:bodyPr>
          <a:lstStyle/>
          <a:p>
            <a:pPr algn="r"/>
            <a:r>
              <a:rPr sz="1000" b="1" i="0">
                <a:solidFill>
                  <a:srgbClr val="9B2D2D"/>
                </a:solidFill>
                <a:latin typeface="Calibri"/>
              </a:rPr>
              <a:t>Wks 11–12</a:t>
            </a:r>
          </a:p>
        </p:txBody>
      </p:sp>
      <p:sp>
        <p:nvSpPr>
          <p:cNvPr id="73" name="TextBox 72"/>
          <p:cNvSpPr txBox="1"/>
          <p:nvPr/>
        </p:nvSpPr>
        <p:spPr>
          <a:xfrm>
            <a:off x="731520" y="5751576"/>
            <a:ext cx="5074920" cy="457200"/>
          </a:xfrm>
          <a:prstGeom prst="rect">
            <a:avLst/>
          </a:prstGeom>
          <a:noFill/>
        </p:spPr>
        <p:txBody>
          <a:bodyPr wrap="square">
            <a:spAutoFit/>
          </a:bodyPr>
          <a:lstStyle/>
          <a:p>
            <a:pPr algn="l"/>
            <a:r>
              <a:rPr sz="900" b="0" i="0">
                <a:solidFill>
                  <a:srgbClr val="5A6A60"/>
                </a:solidFill>
                <a:latin typeface="Calibri"/>
              </a:rPr>
              <a:t>Revise draft · Statistical review · Journal selection finalisation</a:t>
            </a:r>
          </a:p>
        </p:txBody>
      </p:sp>
      <p:sp>
        <p:nvSpPr>
          <p:cNvPr id="74" name="Rectangle 73"/>
          <p:cNvSpPr/>
          <p:nvPr/>
        </p:nvSpPr>
        <p:spPr>
          <a:xfrm>
            <a:off x="6172200" y="5385816"/>
            <a:ext cx="5760720" cy="877824"/>
          </a:xfrm>
          <a:prstGeom prst="rect">
            <a:avLst/>
          </a:prstGeom>
          <a:solidFill>
            <a:srgbClr val="FFFFFF"/>
          </a:solidFill>
          <a:ln w="6350">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Rectangle 74"/>
          <p:cNvSpPr/>
          <p:nvPr/>
        </p:nvSpPr>
        <p:spPr>
          <a:xfrm>
            <a:off x="6172200" y="5385816"/>
            <a:ext cx="411480" cy="877824"/>
          </a:xfrm>
          <a:prstGeom prst="rect">
            <a:avLst/>
          </a:prstGeom>
          <a:solidFill>
            <a:srgbClr val="9B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6245352" y="5660136"/>
            <a:ext cx="320040" cy="320040"/>
          </a:xfrm>
          <a:prstGeom prst="rect">
            <a:avLst/>
          </a:prstGeom>
          <a:noFill/>
        </p:spPr>
        <p:txBody>
          <a:bodyPr wrap="square">
            <a:spAutoFit/>
          </a:bodyPr>
          <a:lstStyle/>
          <a:p>
            <a:pPr algn="ctr"/>
            <a:r>
              <a:rPr sz="1300" b="1" i="0">
                <a:solidFill>
                  <a:srgbClr val="FFFFFF"/>
                </a:solidFill>
                <a:latin typeface="Calibri"/>
              </a:rPr>
              <a:t>10</a:t>
            </a:r>
          </a:p>
        </p:txBody>
      </p:sp>
      <p:sp>
        <p:nvSpPr>
          <p:cNvPr id="77" name="Rectangle 76"/>
          <p:cNvSpPr/>
          <p:nvPr/>
        </p:nvSpPr>
        <p:spPr>
          <a:xfrm>
            <a:off x="6611112" y="5385816"/>
            <a:ext cx="5321808" cy="877824"/>
          </a:xfrm>
          <a:prstGeom prst="rect">
            <a:avLst/>
          </a:prstGeom>
          <a:solidFill>
            <a:srgbClr val="FFFFFF"/>
          </a:solidFill>
          <a:ln>
            <a:solidFill>
              <a:srgbClr val="D5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6720840" y="5440680"/>
            <a:ext cx="3017520" cy="292608"/>
          </a:xfrm>
          <a:prstGeom prst="rect">
            <a:avLst/>
          </a:prstGeom>
          <a:noFill/>
        </p:spPr>
        <p:txBody>
          <a:bodyPr wrap="square">
            <a:spAutoFit/>
          </a:bodyPr>
          <a:lstStyle/>
          <a:p>
            <a:pPr algn="l"/>
            <a:r>
              <a:rPr sz="1100" b="1" i="0">
                <a:solidFill>
                  <a:srgbClr val="1A2E1E"/>
                </a:solidFill>
                <a:latin typeface="Calibri"/>
              </a:rPr>
              <a:t>Submission</a:t>
            </a:r>
          </a:p>
        </p:txBody>
      </p:sp>
      <p:sp>
        <p:nvSpPr>
          <p:cNvPr id="79" name="TextBox 78"/>
          <p:cNvSpPr txBox="1"/>
          <p:nvPr/>
        </p:nvSpPr>
        <p:spPr>
          <a:xfrm>
            <a:off x="9875520" y="5440680"/>
            <a:ext cx="1920240" cy="274320"/>
          </a:xfrm>
          <a:prstGeom prst="rect">
            <a:avLst/>
          </a:prstGeom>
          <a:noFill/>
        </p:spPr>
        <p:txBody>
          <a:bodyPr wrap="square">
            <a:spAutoFit/>
          </a:bodyPr>
          <a:lstStyle/>
          <a:p>
            <a:pPr algn="r"/>
            <a:r>
              <a:rPr sz="1000" b="1" i="0">
                <a:solidFill>
                  <a:srgbClr val="9B2D2D"/>
                </a:solidFill>
                <a:latin typeface="Calibri"/>
              </a:rPr>
              <a:t>Wk 13–14</a:t>
            </a:r>
          </a:p>
        </p:txBody>
      </p:sp>
      <p:sp>
        <p:nvSpPr>
          <p:cNvPr id="80" name="TextBox 79"/>
          <p:cNvSpPr txBox="1"/>
          <p:nvPr/>
        </p:nvSpPr>
        <p:spPr>
          <a:xfrm>
            <a:off x="6720840" y="5751576"/>
            <a:ext cx="5074920" cy="457200"/>
          </a:xfrm>
          <a:prstGeom prst="rect">
            <a:avLst/>
          </a:prstGeom>
          <a:noFill/>
        </p:spPr>
        <p:txBody>
          <a:bodyPr wrap="square">
            <a:spAutoFit/>
          </a:bodyPr>
          <a:lstStyle/>
          <a:p>
            <a:pPr algn="l"/>
            <a:r>
              <a:rPr sz="900" b="0" i="0">
                <a:solidFill>
                  <a:srgbClr val="5A6A60"/>
                </a:solidFill>
                <a:latin typeface="Calibri"/>
              </a:rPr>
              <a:t>Final polish · Cover letter · Submit to Computers &amp; Electronics in Agriculture</a:t>
            </a:r>
          </a:p>
        </p:txBody>
      </p:sp>
      <p:sp>
        <p:nvSpPr>
          <p:cNvPr id="81" name="TextBox 80"/>
          <p:cNvSpPr txBox="1"/>
          <p:nvPr/>
        </p:nvSpPr>
        <p:spPr>
          <a:xfrm>
            <a:off x="182880" y="6355080"/>
            <a:ext cx="11795760" cy="256032"/>
          </a:xfrm>
          <a:prstGeom prst="rect">
            <a:avLst/>
          </a:prstGeom>
          <a:noFill/>
        </p:spPr>
        <p:txBody>
          <a:bodyPr wrap="square">
            <a:spAutoFit/>
          </a:bodyPr>
          <a:lstStyle/>
          <a:p>
            <a:pPr algn="l"/>
            <a:r>
              <a:rPr sz="1000" b="1" i="0">
                <a:solidFill>
                  <a:srgbClr val="14355A"/>
                </a:solidFill>
                <a:latin typeface="Calibri"/>
              </a:rPr>
              <a:t>CRITICAL PATH:  GEE topup (Wk 1)  →  Ablation M0–M4 complete (Wk 3)  →  Manuscript draft (Wks 8–11)  →  SUBMISSION (Wk 13–14 = October/November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110</TotalTime>
  <Words>10632</Words>
  <Application>Microsoft Office PowerPoint</Application>
  <PresentationFormat>Custom</PresentationFormat>
  <Paragraphs>969</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Dar Masroor</cp:lastModifiedBy>
  <cp:revision>4</cp:revision>
  <dcterms:created xsi:type="dcterms:W3CDTF">2013-01-27T09:14:16Z</dcterms:created>
  <dcterms:modified xsi:type="dcterms:W3CDTF">2026-07-17T11:36:58Z</dcterms:modified>
  <cp:category/>
</cp:coreProperties>
</file>